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5" r:id="rId12"/>
    <p:sldId id="266" r:id="rId13"/>
    <p:sldId id="267" r:id="rId14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6" Type="http://schemas.openxmlformats.org/officeDocument/2006/relationships/notesSlide" Target="../notesSlides/notesSlide2.xml"/><Relationship Id="rId25" Type="http://schemas.openxmlformats.org/officeDocument/2006/relationships/slideLayout" Target="../slideLayouts/slideLayout1.xml"/><Relationship Id="rId24" Type="http://schemas.openxmlformats.org/officeDocument/2006/relationships/tags" Target="../tags/tag24.xml"/><Relationship Id="rId23" Type="http://schemas.openxmlformats.org/officeDocument/2006/relationships/tags" Target="../tags/tag23.xml"/><Relationship Id="rId22" Type="http://schemas.openxmlformats.org/officeDocument/2006/relationships/tags" Target="../tags/tag22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33.xml"/><Relationship Id="rId8" Type="http://schemas.openxmlformats.org/officeDocument/2006/relationships/tags" Target="../tags/tag32.xml"/><Relationship Id="rId7" Type="http://schemas.openxmlformats.org/officeDocument/2006/relationships/tags" Target="../tags/tag31.xml"/><Relationship Id="rId6" Type="http://schemas.openxmlformats.org/officeDocument/2006/relationships/tags" Target="../tags/tag30.xml"/><Relationship Id="rId5" Type="http://schemas.openxmlformats.org/officeDocument/2006/relationships/tags" Target="../tags/tag29.xml"/><Relationship Id="rId4" Type="http://schemas.openxmlformats.org/officeDocument/2006/relationships/tags" Target="../tags/tag28.xml"/><Relationship Id="rId3" Type="http://schemas.openxmlformats.org/officeDocument/2006/relationships/tags" Target="../tags/tag27.xml"/><Relationship Id="rId25" Type="http://schemas.openxmlformats.org/officeDocument/2006/relationships/notesSlide" Target="../notesSlides/notesSlide8.xml"/><Relationship Id="rId24" Type="http://schemas.openxmlformats.org/officeDocument/2006/relationships/slideLayout" Target="../slideLayouts/slideLayout1.xml"/><Relationship Id="rId23" Type="http://schemas.openxmlformats.org/officeDocument/2006/relationships/tags" Target="../tags/tag47.xml"/><Relationship Id="rId22" Type="http://schemas.openxmlformats.org/officeDocument/2006/relationships/tags" Target="../tags/tag46.xml"/><Relationship Id="rId21" Type="http://schemas.openxmlformats.org/officeDocument/2006/relationships/tags" Target="../tags/tag45.xml"/><Relationship Id="rId20" Type="http://schemas.openxmlformats.org/officeDocument/2006/relationships/tags" Target="../tags/tag44.xml"/><Relationship Id="rId2" Type="http://schemas.openxmlformats.org/officeDocument/2006/relationships/tags" Target="../tags/tag26.xml"/><Relationship Id="rId19" Type="http://schemas.openxmlformats.org/officeDocument/2006/relationships/tags" Target="../tags/tag43.xml"/><Relationship Id="rId18" Type="http://schemas.openxmlformats.org/officeDocument/2006/relationships/tags" Target="../tags/tag42.xml"/><Relationship Id="rId17" Type="http://schemas.openxmlformats.org/officeDocument/2006/relationships/tags" Target="../tags/tag41.xml"/><Relationship Id="rId16" Type="http://schemas.openxmlformats.org/officeDocument/2006/relationships/tags" Target="../tags/tag40.xml"/><Relationship Id="rId15" Type="http://schemas.openxmlformats.org/officeDocument/2006/relationships/tags" Target="../tags/tag39.xml"/><Relationship Id="rId14" Type="http://schemas.openxmlformats.org/officeDocument/2006/relationships/tags" Target="../tags/tag38.xml"/><Relationship Id="rId13" Type="http://schemas.openxmlformats.org/officeDocument/2006/relationships/tags" Target="../tags/tag37.xml"/><Relationship Id="rId12" Type="http://schemas.openxmlformats.org/officeDocument/2006/relationships/tags" Target="../tags/tag36.xml"/><Relationship Id="rId11" Type="http://schemas.openxmlformats.org/officeDocument/2006/relationships/tags" Target="../tags/tag35.xml"/><Relationship Id="rId10" Type="http://schemas.openxmlformats.org/officeDocument/2006/relationships/tags" Target="../tags/tag34.xml"/><Relationship Id="rId1" Type="http://schemas.openxmlformats.org/officeDocument/2006/relationships/tags" Target="../tags/tag2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FF5C00"/>
          </a:solidFill>
          <a:ln w="12700">
            <a:solidFill>
              <a:srgbClr val="FF5C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777240"/>
            <a:ext cx="786384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chemeClr val="tx1"/>
                </a:solidFill>
              </a:rPr>
              <a:t>LLM 辅助</a:t>
            </a:r>
            <a:endParaRPr lang="en-US" sz="5200" b="1" dirty="0">
              <a:solidFill>
                <a:schemeClr val="tx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822960" y="1737360"/>
            <a:ext cx="786384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chemeClr val="tx1"/>
                </a:solidFill>
              </a:rPr>
              <a:t>Linux 内核程序缺陷修复</a:t>
            </a:r>
            <a:endParaRPr lang="en-US" sz="3600" dirty="0">
              <a:solidFill>
                <a:schemeClr val="tx1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822960" y="2788920"/>
            <a:ext cx="5029200" cy="0"/>
          </a:xfrm>
          <a:prstGeom prst="line">
            <a:avLst/>
          </a:prstGeom>
          <a:noFill/>
          <a:ln w="19050">
            <a:solidFill>
              <a:srgbClr val="FF5C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971800"/>
            <a:ext cx="73152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开题汇报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8" name="Text 5"/>
          <p:cNvSpPr/>
          <p:nvPr/>
        </p:nvSpPr>
        <p:spPr>
          <a:xfrm>
            <a:off x="822960" y="3310255"/>
            <a:ext cx="7315200" cy="10947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algn="l">
              <a:buClrTx/>
              <a:buSzTx/>
              <a:buFontTx/>
              <a:buNone/>
            </a:pPr>
            <a:r>
              <a:rPr lang="en-US" sz="1400" dirty="0">
                <a:solidFill>
                  <a:schemeClr val="tx1"/>
                </a:solidFill>
              </a:rPr>
              <a:t>组员：</a:t>
            </a:r>
            <a:r>
              <a:rPr lang="zh-CN" altLang="en-US" sz="1400" dirty="0">
                <a:solidFill>
                  <a:schemeClr val="tx1"/>
                </a:solidFill>
              </a:rPr>
              <a:t>龚晨阳</a:t>
            </a:r>
            <a:r>
              <a:rPr lang="en-US" altLang="zh-CN" sz="1400" dirty="0">
                <a:solidFill>
                  <a:schemeClr val="tx1"/>
                </a:solidFill>
              </a:rPr>
              <a:t>   </a:t>
            </a:r>
            <a:r>
              <a:rPr lang="zh-CN" altLang="en-US" sz="1400" dirty="0">
                <a:solidFill>
                  <a:schemeClr val="tx1"/>
                </a:solidFill>
              </a:rPr>
              <a:t>于东旭</a:t>
            </a:r>
            <a:r>
              <a:rPr lang="en-US" altLang="zh-CN" sz="1400" dirty="0">
                <a:solidFill>
                  <a:schemeClr val="tx1"/>
                </a:solidFill>
              </a:rPr>
              <a:t>   </a:t>
            </a:r>
            <a:r>
              <a:rPr lang="zh-CN" altLang="en-US" sz="1400" dirty="0">
                <a:solidFill>
                  <a:schemeClr val="tx1"/>
                </a:solidFill>
              </a:rPr>
              <a:t>李京秦</a:t>
            </a:r>
            <a:endParaRPr lang="zh-CN" altLang="en-US" sz="1400" dirty="0">
              <a:solidFill>
                <a:schemeClr val="tx1"/>
              </a:solidFill>
            </a:endParaRPr>
          </a:p>
          <a:p>
            <a:pPr marL="0" indent="457200" algn="l">
              <a:buClrTx/>
              <a:buSzTx/>
              <a:buFontTx/>
              <a:buNone/>
            </a:pPr>
            <a:r>
              <a:rPr lang="zh-CN" altLang="en-US" sz="1400" dirty="0">
                <a:solidFill>
                  <a:schemeClr val="tx1"/>
                </a:solidFill>
              </a:rPr>
              <a:t> </a:t>
            </a:r>
            <a:r>
              <a:rPr lang="en-US" altLang="zh-CN" sz="1400" dirty="0">
                <a:solidFill>
                  <a:schemeClr val="tx1"/>
                </a:solidFill>
              </a:rPr>
              <a:t> </a:t>
            </a:r>
            <a:r>
              <a:rPr lang="zh-CN" altLang="en-US" sz="1400" dirty="0">
                <a:solidFill>
                  <a:schemeClr val="tx1"/>
                </a:solidFill>
              </a:rPr>
              <a:t>何浩天</a:t>
            </a:r>
            <a:r>
              <a:rPr lang="en-US" altLang="zh-CN" sz="1400" dirty="0">
                <a:solidFill>
                  <a:schemeClr val="tx1"/>
                </a:solidFill>
              </a:rPr>
              <a:t>   </a:t>
            </a:r>
            <a:r>
              <a:rPr lang="zh-CN" altLang="en-US" sz="1400" dirty="0">
                <a:solidFill>
                  <a:schemeClr val="tx1"/>
                </a:solidFill>
              </a:rPr>
              <a:t>文逸才</a:t>
            </a:r>
            <a:endParaRPr lang="zh-CN" altLang="en-US" sz="1400" dirty="0">
              <a:solidFill>
                <a:schemeClr val="tx1"/>
              </a:solidFill>
            </a:endParaRPr>
          </a:p>
          <a:p>
            <a:pPr marL="0" algn="l">
              <a:buClrTx/>
              <a:buSzTx/>
              <a:buFontTx/>
              <a:buNone/>
            </a:pPr>
            <a:endParaRPr lang="zh-CN" altLang="en-US" sz="14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5C00"/>
          </a:solidFill>
          <a:ln w="12700">
            <a:solidFill>
              <a:srgbClr val="FF5C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502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5C00"/>
                </a:solidFill>
              </a:rPr>
              <a:t>00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60120" y="137160"/>
            <a:ext cx="77724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</a:rPr>
              <a:t>汇报提纲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630936"/>
            <a:ext cx="832104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8" name="Text 6"/>
          <p:cNvSpPr/>
          <p:nvPr>
            <p:custDataLst>
              <p:tags r:id="rId1"/>
            </p:custDataLst>
          </p:nvPr>
        </p:nvSpPr>
        <p:spPr>
          <a:xfrm>
            <a:off x="411480" y="868680"/>
            <a:ext cx="6400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5C00"/>
                </a:solidFill>
              </a:rPr>
              <a:t>01</a:t>
            </a:r>
            <a:endParaRPr lang="en-US" sz="3600" dirty="0"/>
          </a:p>
        </p:txBody>
      </p:sp>
      <p:sp>
        <p:nvSpPr>
          <p:cNvPr id="9" name="Shape 7"/>
          <p:cNvSpPr/>
          <p:nvPr>
            <p:custDataLst>
              <p:tags r:id="rId2"/>
            </p:custDataLst>
          </p:nvPr>
        </p:nvSpPr>
        <p:spPr>
          <a:xfrm>
            <a:off x="1069848" y="941832"/>
            <a:ext cx="0" cy="45720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10" name="Text 8"/>
          <p:cNvSpPr/>
          <p:nvPr>
            <p:custDataLst>
              <p:tags r:id="rId3"/>
            </p:custDataLst>
          </p:nvPr>
        </p:nvSpPr>
        <p:spPr>
          <a:xfrm>
            <a:off x="1234440" y="941832"/>
            <a:ext cx="338328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</a:rPr>
              <a:t>领域背景 &amp; 研究动机</a:t>
            </a:r>
            <a:endParaRPr lang="en-US" sz="1500" dirty="0"/>
          </a:p>
        </p:txBody>
      </p:sp>
      <p:sp>
        <p:nvSpPr>
          <p:cNvPr id="11" name="Shape 9"/>
          <p:cNvSpPr/>
          <p:nvPr>
            <p:custDataLst>
              <p:tags r:id="rId4"/>
            </p:custDataLst>
          </p:nvPr>
        </p:nvSpPr>
        <p:spPr>
          <a:xfrm>
            <a:off x="411480" y="1618488"/>
            <a:ext cx="397764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2" name="Text 10"/>
          <p:cNvSpPr/>
          <p:nvPr>
            <p:custDataLst>
              <p:tags r:id="rId5"/>
            </p:custDataLst>
          </p:nvPr>
        </p:nvSpPr>
        <p:spPr>
          <a:xfrm>
            <a:off x="411480" y="2167128"/>
            <a:ext cx="6400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5C00"/>
                </a:solidFill>
              </a:rPr>
              <a:t>02</a:t>
            </a:r>
            <a:endParaRPr lang="en-US" sz="3600" dirty="0"/>
          </a:p>
        </p:txBody>
      </p:sp>
      <p:sp>
        <p:nvSpPr>
          <p:cNvPr id="13" name="Shape 11"/>
          <p:cNvSpPr/>
          <p:nvPr>
            <p:custDataLst>
              <p:tags r:id="rId6"/>
            </p:custDataLst>
          </p:nvPr>
        </p:nvSpPr>
        <p:spPr>
          <a:xfrm>
            <a:off x="1069848" y="2240280"/>
            <a:ext cx="0" cy="45720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14" name="Text 12"/>
          <p:cNvSpPr/>
          <p:nvPr>
            <p:custDataLst>
              <p:tags r:id="rId7"/>
            </p:custDataLst>
          </p:nvPr>
        </p:nvSpPr>
        <p:spPr>
          <a:xfrm>
            <a:off x="1234440" y="2240280"/>
            <a:ext cx="338328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</a:rPr>
              <a:t>领域调研：两篇核心论文</a:t>
            </a:r>
            <a:endParaRPr lang="en-US" sz="1500" dirty="0"/>
          </a:p>
        </p:txBody>
      </p:sp>
      <p:sp>
        <p:nvSpPr>
          <p:cNvPr id="15" name="Shape 13"/>
          <p:cNvSpPr/>
          <p:nvPr>
            <p:custDataLst>
              <p:tags r:id="rId8"/>
            </p:custDataLst>
          </p:nvPr>
        </p:nvSpPr>
        <p:spPr>
          <a:xfrm>
            <a:off x="411480" y="2916936"/>
            <a:ext cx="397764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6" name="Text 14"/>
          <p:cNvSpPr/>
          <p:nvPr>
            <p:custDataLst>
              <p:tags r:id="rId9"/>
            </p:custDataLst>
          </p:nvPr>
        </p:nvSpPr>
        <p:spPr>
          <a:xfrm>
            <a:off x="411480" y="3465576"/>
            <a:ext cx="6400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5C00"/>
                </a:solidFill>
              </a:rPr>
              <a:t>03</a:t>
            </a:r>
            <a:endParaRPr lang="en-US" sz="3600" dirty="0"/>
          </a:p>
        </p:txBody>
      </p:sp>
      <p:sp>
        <p:nvSpPr>
          <p:cNvPr id="17" name="Shape 15"/>
          <p:cNvSpPr/>
          <p:nvPr>
            <p:custDataLst>
              <p:tags r:id="rId10"/>
            </p:custDataLst>
          </p:nvPr>
        </p:nvSpPr>
        <p:spPr>
          <a:xfrm>
            <a:off x="1069848" y="3538728"/>
            <a:ext cx="0" cy="45720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18" name="Text 16"/>
          <p:cNvSpPr/>
          <p:nvPr>
            <p:custDataLst>
              <p:tags r:id="rId11"/>
            </p:custDataLst>
          </p:nvPr>
        </p:nvSpPr>
        <p:spPr>
          <a:xfrm>
            <a:off x="1234440" y="3538728"/>
            <a:ext cx="338328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</a:rPr>
              <a:t>开源项目选择</a:t>
            </a:r>
            <a:endParaRPr lang="en-US" sz="1500" dirty="0"/>
          </a:p>
        </p:txBody>
      </p:sp>
      <p:sp>
        <p:nvSpPr>
          <p:cNvPr id="19" name="Shape 17"/>
          <p:cNvSpPr/>
          <p:nvPr>
            <p:custDataLst>
              <p:tags r:id="rId12"/>
            </p:custDataLst>
          </p:nvPr>
        </p:nvSpPr>
        <p:spPr>
          <a:xfrm>
            <a:off x="411480" y="4215384"/>
            <a:ext cx="397764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20" name="Text 18"/>
          <p:cNvSpPr/>
          <p:nvPr>
            <p:custDataLst>
              <p:tags r:id="rId13"/>
            </p:custDataLst>
          </p:nvPr>
        </p:nvSpPr>
        <p:spPr>
          <a:xfrm>
            <a:off x="4846320" y="868680"/>
            <a:ext cx="6400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5C00"/>
                </a:solidFill>
              </a:rPr>
              <a:t>04</a:t>
            </a:r>
            <a:endParaRPr lang="en-US" sz="3600" dirty="0"/>
          </a:p>
        </p:txBody>
      </p:sp>
      <p:sp>
        <p:nvSpPr>
          <p:cNvPr id="21" name="Shape 19"/>
          <p:cNvSpPr/>
          <p:nvPr>
            <p:custDataLst>
              <p:tags r:id="rId14"/>
            </p:custDataLst>
          </p:nvPr>
        </p:nvSpPr>
        <p:spPr>
          <a:xfrm>
            <a:off x="5504688" y="941832"/>
            <a:ext cx="0" cy="45720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22" name="Text 20"/>
          <p:cNvSpPr/>
          <p:nvPr>
            <p:custDataLst>
              <p:tags r:id="rId15"/>
            </p:custDataLst>
          </p:nvPr>
        </p:nvSpPr>
        <p:spPr>
          <a:xfrm>
            <a:off x="5669280" y="941832"/>
            <a:ext cx="338328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</a:rPr>
              <a:t>复现策略与可行性</a:t>
            </a:r>
            <a:endParaRPr lang="en-US" sz="1500" dirty="0"/>
          </a:p>
        </p:txBody>
      </p:sp>
      <p:sp>
        <p:nvSpPr>
          <p:cNvPr id="23" name="Shape 21"/>
          <p:cNvSpPr/>
          <p:nvPr>
            <p:custDataLst>
              <p:tags r:id="rId16"/>
            </p:custDataLst>
          </p:nvPr>
        </p:nvSpPr>
        <p:spPr>
          <a:xfrm>
            <a:off x="4846320" y="1618488"/>
            <a:ext cx="397764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24" name="Text 22"/>
          <p:cNvSpPr/>
          <p:nvPr>
            <p:custDataLst>
              <p:tags r:id="rId17"/>
            </p:custDataLst>
          </p:nvPr>
        </p:nvSpPr>
        <p:spPr>
          <a:xfrm>
            <a:off x="4846320" y="2167128"/>
            <a:ext cx="6400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5C00"/>
                </a:solidFill>
              </a:rPr>
              <a:t>05</a:t>
            </a:r>
            <a:endParaRPr lang="en-US" sz="3600" dirty="0"/>
          </a:p>
        </p:txBody>
      </p:sp>
      <p:sp>
        <p:nvSpPr>
          <p:cNvPr id="25" name="Shape 23"/>
          <p:cNvSpPr/>
          <p:nvPr>
            <p:custDataLst>
              <p:tags r:id="rId18"/>
            </p:custDataLst>
          </p:nvPr>
        </p:nvSpPr>
        <p:spPr>
          <a:xfrm>
            <a:off x="5504688" y="2240280"/>
            <a:ext cx="0" cy="45720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26" name="Text 24"/>
          <p:cNvSpPr/>
          <p:nvPr>
            <p:custDataLst>
              <p:tags r:id="rId19"/>
            </p:custDataLst>
          </p:nvPr>
        </p:nvSpPr>
        <p:spPr>
          <a:xfrm>
            <a:off x="5669280" y="2240280"/>
            <a:ext cx="338328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</a:rPr>
              <a:t>可能的改进思路</a:t>
            </a:r>
            <a:endParaRPr lang="en-US" sz="1500" dirty="0"/>
          </a:p>
        </p:txBody>
      </p:sp>
      <p:sp>
        <p:nvSpPr>
          <p:cNvPr id="27" name="Shape 25"/>
          <p:cNvSpPr/>
          <p:nvPr>
            <p:custDataLst>
              <p:tags r:id="rId20"/>
            </p:custDataLst>
          </p:nvPr>
        </p:nvSpPr>
        <p:spPr>
          <a:xfrm>
            <a:off x="4846320" y="2916936"/>
            <a:ext cx="397764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28" name="Text 26"/>
          <p:cNvSpPr/>
          <p:nvPr>
            <p:custDataLst>
              <p:tags r:id="rId21"/>
            </p:custDataLst>
          </p:nvPr>
        </p:nvSpPr>
        <p:spPr>
          <a:xfrm>
            <a:off x="4846320" y="3465576"/>
            <a:ext cx="6400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5C00"/>
                </a:solidFill>
              </a:rPr>
              <a:t>06</a:t>
            </a:r>
            <a:endParaRPr lang="en-US" sz="3600" dirty="0"/>
          </a:p>
        </p:txBody>
      </p:sp>
      <p:sp>
        <p:nvSpPr>
          <p:cNvPr id="29" name="Shape 27"/>
          <p:cNvSpPr/>
          <p:nvPr>
            <p:custDataLst>
              <p:tags r:id="rId22"/>
            </p:custDataLst>
          </p:nvPr>
        </p:nvSpPr>
        <p:spPr>
          <a:xfrm>
            <a:off x="5504688" y="3538728"/>
            <a:ext cx="0" cy="45720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30" name="Text 28"/>
          <p:cNvSpPr/>
          <p:nvPr>
            <p:custDataLst>
              <p:tags r:id="rId23"/>
            </p:custDataLst>
          </p:nvPr>
        </p:nvSpPr>
        <p:spPr>
          <a:xfrm>
            <a:off x="5669280" y="3538728"/>
            <a:ext cx="338328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</a:rPr>
              <a:t>预期成果 </a:t>
            </a:r>
            <a:endParaRPr lang="en-US" sz="1500" dirty="0"/>
          </a:p>
        </p:txBody>
      </p:sp>
      <p:sp>
        <p:nvSpPr>
          <p:cNvPr id="31" name="Shape 29"/>
          <p:cNvSpPr/>
          <p:nvPr>
            <p:custDataLst>
              <p:tags r:id="rId24"/>
            </p:custDataLst>
          </p:nvPr>
        </p:nvSpPr>
        <p:spPr>
          <a:xfrm>
            <a:off x="4846320" y="4215384"/>
            <a:ext cx="397764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5C00"/>
          </a:solidFill>
          <a:ln w="12700">
            <a:solidFill>
              <a:srgbClr val="FF5C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502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5C00"/>
                </a:solidFill>
              </a:rPr>
              <a:t>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60120" y="137160"/>
            <a:ext cx="77724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</a:rPr>
              <a:t>领域背景 &amp; 研究动机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630936"/>
            <a:ext cx="832104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822960"/>
            <a:ext cx="256032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5C00"/>
                </a:solidFill>
              </a:rPr>
              <a:t>5,000+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11480" y="1490472"/>
            <a:ext cx="25603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Syzkaller 已报告的内核 Bug（持续增长）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063240" y="822960"/>
            <a:ext cx="0" cy="100584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46120" y="822960"/>
            <a:ext cx="256032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5C00"/>
                </a:solidFill>
              </a:rPr>
              <a:t>~20M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3246120" y="1490472"/>
            <a:ext cx="25603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内核代码量（~50K 文件，C + 汇编）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897880" y="822960"/>
            <a:ext cx="0" cy="100584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80760" y="822960"/>
            <a:ext cx="256032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5C00"/>
                </a:solidFill>
              </a:rPr>
              <a:t>279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6080760" y="1490472"/>
            <a:ext cx="25603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kBenchSyz 基准规模（本研究使用）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1480" y="1993392"/>
            <a:ext cx="832104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244090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FF5C00"/>
                </a:solidFill>
              </a:rPr>
              <a:t>核心挑战</a:t>
            </a:r>
            <a:endParaRPr lang="en-US" sz="1600" b="1" kern="0" spc="200" dirty="0">
              <a:solidFill>
                <a:srgbClr val="FF5C00"/>
              </a:solidFill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11480" y="2737993"/>
            <a:ext cx="91440" cy="91440"/>
          </a:xfrm>
          <a:prstGeom prst="rect">
            <a:avLst/>
          </a:prstGeom>
          <a:solidFill>
            <a:srgbClr val="FF5C00"/>
          </a:solidFill>
          <a:ln w="12700">
            <a:solidFill>
              <a:srgbClr val="FF5C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2696845"/>
            <a:ext cx="3931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</a:rPr>
              <a:t>崩溃报告仅含机器生成的堆栈信息与寄存器内容，无自然语言 Bug 描述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11480" y="3240913"/>
            <a:ext cx="91440" cy="91440"/>
          </a:xfrm>
          <a:prstGeom prst="rect">
            <a:avLst/>
          </a:prstGeom>
          <a:solidFill>
            <a:srgbClr val="FF5C00"/>
          </a:solidFill>
          <a:ln w="12700">
            <a:solidFill>
              <a:srgbClr val="FF5C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3199765"/>
            <a:ext cx="3931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</a:rPr>
              <a:t>Linux 是大规模低层并发代码库（C+汇编），LLM 训练数据覆盖严重不足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663440" y="2737993"/>
            <a:ext cx="91440" cy="91440"/>
          </a:xfrm>
          <a:prstGeom prst="rect">
            <a:avLst/>
          </a:prstGeom>
          <a:solidFill>
            <a:srgbClr val="FF5C00"/>
          </a:solidFill>
          <a:ln w="12700">
            <a:solidFill>
              <a:srgbClr val="FF5C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2696845"/>
            <a:ext cx="3931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</a:rPr>
              <a:t>Fuzzer 只报告 fail-stop 崩溃，不附带正确性规范，语义修复正确性难以验证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663440" y="3240913"/>
            <a:ext cx="91440" cy="91440"/>
          </a:xfrm>
          <a:prstGeom prst="rect">
            <a:avLst/>
          </a:prstGeom>
          <a:solidFill>
            <a:srgbClr val="FF5C00"/>
          </a:solidFill>
          <a:ln w="12700">
            <a:solidFill>
              <a:srgbClr val="FF5C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3199765"/>
            <a:ext cx="3931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</a:rPr>
              <a:t>每次内核完整构建耗时约 19 分钟，LLM Agent 需要大量迭代，成本极高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0" y="4617720"/>
            <a:ext cx="9144000" cy="256032"/>
          </a:xfrm>
          <a:prstGeom prst="rect">
            <a:avLst/>
          </a:prstGeom>
          <a:solidFill>
            <a:srgbClr val="FFE8D6"/>
          </a:solidFill>
          <a:ln w="12700">
            <a:solidFill>
              <a:srgbClr val="FFE8D6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5C00"/>
          </a:solidFill>
          <a:ln w="12700">
            <a:solidFill>
              <a:srgbClr val="FF5C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502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5C00"/>
                </a:solidFill>
              </a:rPr>
              <a:t>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60120" y="137160"/>
            <a:ext cx="77724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</a:rPr>
              <a:t>领域调研 — 论文一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630936"/>
            <a:ext cx="832104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749808"/>
            <a:ext cx="8321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AAAAA"/>
                </a:solidFill>
              </a:rPr>
              <a:t>Sobania et al.  An Analysis of the Automatic Bug Fixing Performance of ChatGPT 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115568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FF5C00"/>
                </a:solidFill>
              </a:rPr>
              <a:t>主要发现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11480" y="1389888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</a:rPr>
              <a:t>QuixBugs 基准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1664208"/>
            <a:ext cx="45720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40 个 Python 算法小程序，每个含单一人为引入的缺陷，不提供自然语言描述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2139696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</a:rPr>
              <a:t>单轮修复率 47.5%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1480" y="2414016"/>
            <a:ext cx="45720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19/40，与 CoCoNut（19）和 Codex（21）持平；传统 APR 仅 7/40（过滤掉测试集过拟合后）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2889504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</a:rPr>
              <a:t>回答分类（论文核心发现）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1480" y="3163824"/>
            <a:ext cx="45720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最常见回答：要求更多信息 &gt; 未发现 Bug &gt; 提供正确修复；可见对话引导的重要性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1480" y="3639312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</a:rPr>
              <a:t>对话系统（Hint）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11480" y="3913632"/>
            <a:ext cx="45720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在未成功的样本中补充一条失败用例作为 Hint，整体修复率提升至 31/40 = 77.5%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532120" y="1124458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FF5C00"/>
                </a:solidFill>
              </a:rPr>
              <a:t>修复数量对比</a:t>
            </a:r>
            <a:endParaRPr lang="en-US" sz="1600" b="1" kern="0" spc="200" dirty="0">
              <a:solidFill>
                <a:srgbClr val="FF5C00"/>
              </a:solidFill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532120" y="2011807"/>
            <a:ext cx="475488" cy="1984248"/>
          </a:xfrm>
          <a:prstGeom prst="rect">
            <a:avLst/>
          </a:prstGeom>
          <a:solidFill>
            <a:srgbClr val="FF5C00"/>
          </a:solidFill>
          <a:ln w="12700">
            <a:solidFill>
              <a:srgbClr val="FF5C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32120" y="1755775"/>
            <a:ext cx="475488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5C00"/>
                </a:solidFill>
              </a:rPr>
              <a:t>31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0" y="4041775"/>
            <a:ext cx="566928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55555"/>
                </a:solidFill>
              </a:rPr>
              <a:t>ChatGPT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555555"/>
                </a:solidFill>
              </a:rPr>
              <a:t>+Hint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190488" y="2651887"/>
            <a:ext cx="475488" cy="1344168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90488" y="2395855"/>
            <a:ext cx="475488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33333"/>
                </a:solidFill>
              </a:rPr>
              <a:t>21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144768" y="4041775"/>
            <a:ext cx="566928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55555"/>
                </a:solidFill>
              </a:rPr>
              <a:t>Codex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848856" y="2779903"/>
            <a:ext cx="475488" cy="1216152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48856" y="2523871"/>
            <a:ext cx="475488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33333"/>
                </a:solidFill>
              </a:rPr>
              <a:t>19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803136" y="4041775"/>
            <a:ext cx="566928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55555"/>
                </a:solidFill>
              </a:rPr>
              <a:t>ChatGPT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7507224" y="2779903"/>
            <a:ext cx="475488" cy="1216152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507224" y="2523871"/>
            <a:ext cx="475488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33333"/>
                </a:solidFill>
              </a:rPr>
              <a:t>19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461504" y="4041775"/>
            <a:ext cx="566928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55555"/>
                </a:solidFill>
              </a:rPr>
              <a:t>CoCoNut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8165592" y="3547999"/>
            <a:ext cx="475488" cy="448056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65592" y="3291967"/>
            <a:ext cx="475488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CCCCC"/>
                </a:solidFill>
              </a:rPr>
              <a:t>7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119872" y="4041775"/>
            <a:ext cx="566928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55555"/>
                </a:solidFill>
              </a:rPr>
              <a:t>Standard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555555"/>
                </a:solidFill>
              </a:rPr>
              <a:t>APR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577840" y="4572000"/>
            <a:ext cx="324612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5C00"/>
          </a:solidFill>
          <a:ln w="12700">
            <a:solidFill>
              <a:srgbClr val="FF5C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502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5C00"/>
                </a:solidFill>
              </a:rPr>
              <a:t>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60120" y="137160"/>
            <a:ext cx="77724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</a:rPr>
              <a:t>领域调研 — 论文二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630936"/>
            <a:ext cx="832104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0" y="4919472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11480" y="749808"/>
            <a:ext cx="8321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AAAAA"/>
                </a:solidFill>
              </a:rPr>
              <a:t>Mathai et al.  CrashFixer: A crash resolution agent for the Linux kernel  · 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097280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FF5C00"/>
                </a:solidFill>
              </a:rPr>
              <a:t>CRASHFIXER 流水线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11480" y="1353312"/>
            <a:ext cx="1078992" cy="475488"/>
          </a:xfrm>
          <a:prstGeom prst="rect">
            <a:avLst/>
          </a:prstGeom>
          <a:solidFill>
            <a:srgbClr val="FF5C00"/>
          </a:solidFill>
          <a:ln w="12700">
            <a:solidFill>
              <a:srgbClr val="FF5C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353312"/>
            <a:ext cx="1078992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执行轨迹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+崩溃报告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+源码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490472" y="1591056"/>
            <a:ext cx="73152" cy="0"/>
          </a:xfrm>
          <a:prstGeom prst="line">
            <a:avLst/>
          </a:prstGeom>
          <a:noFill/>
          <a:ln w="19050">
            <a:solidFill>
              <a:srgbClr val="DDDDD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63624" y="1353312"/>
            <a:ext cx="1078992" cy="47548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563624" y="1353312"/>
            <a:ext cx="1078992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假设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生成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642616" y="1591056"/>
            <a:ext cx="73152" cy="0"/>
          </a:xfrm>
          <a:prstGeom prst="line">
            <a:avLst/>
          </a:prstGeom>
          <a:noFill/>
          <a:ln w="19050">
            <a:solidFill>
              <a:srgbClr val="DDDDD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15768" y="1353312"/>
            <a:ext cx="1078992" cy="47548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15768" y="1353312"/>
            <a:ext cx="1078992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自我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反思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(选hypothesis)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794760" y="1591056"/>
            <a:ext cx="73152" cy="0"/>
          </a:xfrm>
          <a:prstGeom prst="line">
            <a:avLst/>
          </a:prstGeom>
          <a:noFill/>
          <a:ln w="19050">
            <a:solidFill>
              <a:srgbClr val="DDDDD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67912" y="1353312"/>
            <a:ext cx="1078992" cy="47548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67912" y="1353312"/>
            <a:ext cx="1078992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补丁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生成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946904" y="1591056"/>
            <a:ext cx="73152" cy="0"/>
          </a:xfrm>
          <a:prstGeom prst="line">
            <a:avLst/>
          </a:prstGeom>
          <a:noFill/>
          <a:ln w="19050">
            <a:solidFill>
              <a:srgbClr val="DDDDD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0056" y="1353312"/>
            <a:ext cx="1078992" cy="47548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0056" y="1353312"/>
            <a:ext cx="1078992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编译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检查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099048" y="1591056"/>
            <a:ext cx="73152" cy="0"/>
          </a:xfrm>
          <a:prstGeom prst="line">
            <a:avLst/>
          </a:prstGeom>
          <a:noFill/>
          <a:ln w="19050">
            <a:solidFill>
              <a:srgbClr val="DDDDD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72200" y="1353312"/>
            <a:ext cx="1078992" cy="47548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72200" y="1353312"/>
            <a:ext cx="1078992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自洽性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选择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(选patch)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251192" y="1591056"/>
            <a:ext cx="73152" cy="0"/>
          </a:xfrm>
          <a:prstGeom prst="line">
            <a:avLst/>
          </a:prstGeom>
          <a:noFill/>
          <a:ln w="19050">
            <a:solidFill>
              <a:srgbClr val="DDDDD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324344" y="1353312"/>
            <a:ext cx="1078992" cy="475488"/>
          </a:xfrm>
          <a:prstGeom prst="rect">
            <a:avLst/>
          </a:prstGeom>
          <a:solidFill>
            <a:srgbClr val="FF5C00"/>
          </a:solidFill>
          <a:ln w="12700">
            <a:solidFill>
              <a:srgbClr val="FF5C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24344" y="1353312"/>
            <a:ext cx="1078992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内核构建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&amp; 验证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11480" y="2029968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FF5C00"/>
                </a:solidFill>
              </a:rPr>
              <a:t>关键结果（KBENCHSYZ，文件级定位辅助）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11480" y="2286000"/>
            <a:ext cx="25603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5C00"/>
                </a:solidFill>
              </a:rPr>
              <a:t>~58/117</a:t>
            </a:r>
            <a:endParaRPr lang="en-US" sz="3400" dirty="0"/>
          </a:p>
        </p:txBody>
      </p:sp>
      <p:sp>
        <p:nvSpPr>
          <p:cNvPr id="32" name="Text 30"/>
          <p:cNvSpPr/>
          <p:nvPr/>
        </p:nvSpPr>
        <p:spPr>
          <a:xfrm>
            <a:off x="411480" y="2834640"/>
            <a:ext cx="26517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SCS 崩溃修复数（Gemini 1.5-pro，最终策略）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136392" y="2286000"/>
            <a:ext cx="0" cy="96012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64408" y="2286000"/>
            <a:ext cx="25603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1A1A"/>
                </a:solidFill>
              </a:rPr>
              <a:t>~76/117</a:t>
            </a:r>
            <a:endParaRPr lang="en-US" sz="3400" dirty="0"/>
          </a:p>
        </p:txBody>
      </p:sp>
      <p:sp>
        <p:nvSpPr>
          <p:cNvPr id="35" name="Text 33"/>
          <p:cNvSpPr/>
          <p:nvPr/>
        </p:nvSpPr>
        <p:spPr>
          <a:xfrm>
            <a:off x="3264408" y="2834640"/>
            <a:ext cx="26517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SCS 崩溃修复数（Gemini 2.5-pro，最强模型）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989320" y="2286000"/>
            <a:ext cx="0" cy="96012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17336" y="2286000"/>
            <a:ext cx="25603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1A1A"/>
                </a:solidFill>
              </a:rPr>
              <a:t>26/79</a:t>
            </a:r>
            <a:endParaRPr lang="en-US" sz="3400" dirty="0"/>
          </a:p>
        </p:txBody>
      </p:sp>
      <p:sp>
        <p:nvSpPr>
          <p:cNvPr id="38" name="Text 36"/>
          <p:cNvSpPr/>
          <p:nvPr/>
        </p:nvSpPr>
        <p:spPr>
          <a:xfrm>
            <a:off x="6117336" y="2834640"/>
            <a:ext cx="26517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人工评估语义等价可信补丁（2.5-pro + 执行轨迹）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11480" y="3337560"/>
            <a:ext cx="832104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11480" y="3456432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FF5C00"/>
                </a:solidFill>
              </a:rPr>
              <a:t>KGYMSUITE 平台改进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11480" y="3753612"/>
            <a:ext cx="91440" cy="91440"/>
          </a:xfrm>
          <a:prstGeom prst="rect">
            <a:avLst/>
          </a:prstGeom>
          <a:solidFill>
            <a:srgbClr val="FF5C00"/>
          </a:solidFill>
          <a:ln w="12700">
            <a:solidFill>
              <a:srgbClr val="FF5C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4360" y="3712464"/>
            <a:ext cx="8138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</a:rPr>
              <a:t>最小执行轨迹：kDump + crash-trace 提取，平均压缩至 12 条函数记录；执行轨迹在 LCS 带来 +14.6%（2.5-pro）相对提升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411480" y="4119372"/>
            <a:ext cx="91440" cy="91440"/>
          </a:xfrm>
          <a:prstGeom prst="rect">
            <a:avLst/>
          </a:prstGeom>
          <a:solidFill>
            <a:srgbClr val="FF5C00"/>
          </a:solidFill>
          <a:ln w="12700">
            <a:solidFill>
              <a:srgbClr val="FF5C0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94360" y="4078224"/>
            <a:ext cx="8138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</a:rPr>
              <a:t>SuiteCache 增量构建：build 时间从 19 分钟降至 3 分钟以内，平均加速 42.69%（8-vCPU 机器）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411480" y="4485132"/>
            <a:ext cx="91440" cy="91440"/>
          </a:xfrm>
          <a:prstGeom prst="rect">
            <a:avLst/>
          </a:prstGeom>
          <a:solidFill>
            <a:srgbClr val="FF5C00"/>
          </a:solidFill>
          <a:ln w="12700">
            <a:solidFill>
              <a:srgbClr val="FF5C0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94360" y="4443984"/>
            <a:ext cx="8138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</a:rPr>
              <a:t>快速编译检查：2~3 秒过滤不可编译补丁，255/279 个 Bug 成功提取到执行轨迹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5C00"/>
          </a:solidFill>
          <a:ln w="12700">
            <a:solidFill>
              <a:srgbClr val="FF5C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502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5C00"/>
                </a:solidFill>
              </a:rPr>
              <a:t>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60120" y="137160"/>
            <a:ext cx="77724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</a:rPr>
              <a:t>研究脉络：从对话修复到内核 Agent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630936"/>
            <a:ext cx="832104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0" y="4919472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11480" y="905256"/>
            <a:ext cx="804672" cy="4572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905256"/>
            <a:ext cx="80467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2023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3816" y="1362456"/>
            <a:ext cx="0" cy="804672"/>
          </a:xfrm>
          <a:prstGeom prst="line">
            <a:avLst/>
          </a:prstGeom>
          <a:noFill/>
          <a:ln w="1905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17320" y="831723"/>
            <a:ext cx="71323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</a:rPr>
              <a:t>ChatGPT 潜力验证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17320" y="1142619"/>
            <a:ext cx="713232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</a:rPr>
              <a:t>QuixBugs 小程序修复，Hint 对话机制将修复率从 47.5% 提升至 77.5%；验证 LLM 在自动程序修复中的潜力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417320" y="1599819"/>
            <a:ext cx="726948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2167128"/>
            <a:ext cx="804672" cy="4572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167128"/>
            <a:ext cx="80467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2024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3816" y="2624328"/>
            <a:ext cx="0" cy="804672"/>
          </a:xfrm>
          <a:prstGeom prst="line">
            <a:avLst/>
          </a:prstGeom>
          <a:noFill/>
          <a:ln w="19050">
            <a:solidFill>
              <a:srgbClr val="DDDD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17320" y="2093595"/>
            <a:ext cx="71323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</a:rPr>
              <a:t>kGym 平台与 kBenchSyz 基准（NeurIPS 2024）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17320" y="2404491"/>
            <a:ext cx="713232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</a:rPr>
              <a:t>构建首个内核级 APR 平台与标准测试集（279 个 Syzkaller Bug），验证 one-shot 修复，暴露上下文与构建成本瓶颈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417320" y="2861691"/>
            <a:ext cx="726948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" y="3429000"/>
            <a:ext cx="804672" cy="457200"/>
          </a:xfrm>
          <a:prstGeom prst="rect">
            <a:avLst/>
          </a:prstGeom>
          <a:solidFill>
            <a:srgbClr val="FF5C00"/>
          </a:solidFill>
          <a:ln w="12700">
            <a:solidFill>
              <a:srgbClr val="FF5C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3429000"/>
            <a:ext cx="80467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2025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417320" y="3355467"/>
            <a:ext cx="71323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5C00"/>
                </a:solidFill>
              </a:rPr>
              <a:t>CrashFixer Agent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417320" y="3666363"/>
            <a:ext cx="713232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</a:rPr>
              <a:t>假设生成 + 迭代验证 + 最小执行轨迹；SCS 最终修复 ~58（1.5-pro）/ ~76（2.5-pro），首个面向内核 Fuzzer Bug 的执行感知修复 Agent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417320" y="4123563"/>
            <a:ext cx="726948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4617720"/>
            <a:ext cx="9144000" cy="256032"/>
          </a:xfrm>
          <a:prstGeom prst="rect">
            <a:avLst/>
          </a:prstGeom>
          <a:solidFill>
            <a:srgbClr val="FFE8D6"/>
          </a:solidFill>
          <a:ln w="12700">
            <a:solidFill>
              <a:srgbClr val="FFE8D6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5C00"/>
          </a:solidFill>
          <a:ln w="12700">
            <a:solidFill>
              <a:srgbClr val="FF5C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502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5C00"/>
                </a:solidFill>
              </a:rPr>
              <a:t>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60120" y="137160"/>
            <a:ext cx="77724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2200" dirty="0"/>
              <a:t>kGymSuite + CrashFixer </a:t>
            </a:r>
            <a:r>
              <a:rPr lang="zh-CN" altLang="en-US" sz="2200" dirty="0"/>
              <a:t>框架</a:t>
            </a:r>
            <a:endParaRPr lang="zh-CN" alt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630936"/>
            <a:ext cx="832104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0" y="4919472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11480" y="804672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FF5C00"/>
                </a:solidFill>
              </a:rPr>
              <a:t>选择理由</a:t>
            </a:r>
            <a:endParaRPr lang="en-US" b="1" kern="0" spc="200" dirty="0">
              <a:solidFill>
                <a:srgbClr val="FF5C00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58775" y="1513713"/>
            <a:ext cx="91440" cy="237744"/>
          </a:xfrm>
          <a:prstGeom prst="rect">
            <a:avLst/>
          </a:prstGeom>
          <a:solidFill>
            <a:srgbClr val="FF5C00"/>
          </a:solidFill>
          <a:ln w="12700">
            <a:solidFill>
              <a:srgbClr val="FF5C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9087" y="1449705"/>
            <a:ext cx="39319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</a:rPr>
              <a:t>数据完备</a:t>
            </a:r>
            <a:endParaRPr lang="en-US" sz="1400" b="1" dirty="0">
              <a:solidFill>
                <a:srgbClr val="1A1A1A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569087" y="1760601"/>
            <a:ext cx="3931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</a:rPr>
              <a:t>kBenchSyz 提供 279 个真实 Bug，含复现脚本、开发补丁、邮件讨论</a:t>
            </a:r>
            <a:endParaRPr lang="en-US" sz="1200" dirty="0">
              <a:solidFill>
                <a:srgbClr val="555555"/>
              </a:solidFill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58775" y="2382393"/>
            <a:ext cx="91440" cy="237744"/>
          </a:xfrm>
          <a:prstGeom prst="rect">
            <a:avLst/>
          </a:prstGeom>
          <a:solidFill>
            <a:srgbClr val="FF5C00"/>
          </a:solidFill>
          <a:ln w="12700">
            <a:solidFill>
              <a:srgbClr val="FF5C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9087" y="2318385"/>
            <a:ext cx="39319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</a:rPr>
              <a:t>实际意义大</a:t>
            </a:r>
            <a:endParaRPr lang="en-US" sz="1400" b="1" dirty="0">
              <a:solidFill>
                <a:srgbClr val="1A1A1A"/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569087" y="2629281"/>
            <a:ext cx="3931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</a:rPr>
              <a:t>内核开发者严重过载，自动补丁生成可直接提升系统安全性</a:t>
            </a:r>
            <a:endParaRPr lang="en-US" sz="1200" dirty="0">
              <a:solidFill>
                <a:srgbClr val="555555"/>
              </a:solidFill>
            </a:endParaRPr>
          </a:p>
        </p:txBody>
      </p:sp>
      <p:sp>
        <p:nvSpPr>
          <p:cNvPr id="18" name="Shape 16"/>
          <p:cNvSpPr/>
          <p:nvPr/>
        </p:nvSpPr>
        <p:spPr>
          <a:xfrm>
            <a:off x="358775" y="3251073"/>
            <a:ext cx="91440" cy="237744"/>
          </a:xfrm>
          <a:prstGeom prst="rect">
            <a:avLst/>
          </a:prstGeom>
          <a:solidFill>
            <a:srgbClr val="FF5C00"/>
          </a:solidFill>
          <a:ln w="12700">
            <a:solidFill>
              <a:srgbClr val="FF5C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9087" y="3187065"/>
            <a:ext cx="39319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</a:rPr>
              <a:t>工具链完整</a:t>
            </a:r>
            <a:endParaRPr lang="en-US" sz="1400" b="1" dirty="0">
              <a:solidFill>
                <a:srgbClr val="1A1A1A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569087" y="3497961"/>
            <a:ext cx="3931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</a:rPr>
              <a:t>Syzkaller + kGymSuite + Gemini API 开箱即用，本科阶段可复现</a:t>
            </a:r>
            <a:endParaRPr lang="en-US" sz="1200" dirty="0">
              <a:solidFill>
                <a:srgbClr val="555555"/>
              </a:solidFill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800600" y="804672"/>
            <a:ext cx="0" cy="402336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0" y="804672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5C00"/>
                </a:solidFill>
              </a:rPr>
              <a:t>KBENCHSYZ 基准测试集</a:t>
            </a:r>
            <a:endParaRPr lang="en-US" sz="1200" b="1" kern="0" spc="200" dirty="0">
              <a:solidFill>
                <a:srgbClr val="FF5C00"/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5029200" y="1097280"/>
            <a:ext cx="77724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5C00"/>
                </a:solidFill>
              </a:rPr>
              <a:t>279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5833872" y="1188720"/>
            <a:ext cx="30175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</a:rPr>
              <a:t>个真实 Syzkaller Bug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29200" y="1664208"/>
            <a:ext cx="77724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5C00"/>
                </a:solidFill>
              </a:rPr>
              <a:t>117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5833872" y="1755648"/>
            <a:ext cx="30175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</a:rPr>
              <a:t>个小上下文（SCS，&lt; 16K tokens）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029200" y="2231136"/>
            <a:ext cx="77724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5C00"/>
                </a:solidFill>
              </a:rPr>
              <a:t>162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5833872" y="2322576"/>
            <a:ext cx="30175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</a:rPr>
              <a:t>个大上下文（LCS，最多 50K tokens）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029200" y="2880360"/>
            <a:ext cx="374904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0" y="2999232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5C00"/>
                </a:solidFill>
              </a:rPr>
              <a:t>包含的 BUG 类型</a:t>
            </a:r>
            <a:endParaRPr lang="en-US" sz="1200" b="1" kern="0" spc="200" dirty="0">
              <a:solidFill>
                <a:srgbClr val="FF5C00"/>
              </a:solidFill>
            </a:endParaRPr>
          </a:p>
        </p:txBody>
      </p:sp>
      <p:sp>
        <p:nvSpPr>
          <p:cNvPr id="31" name="Shape 29"/>
          <p:cNvSpPr/>
          <p:nvPr/>
        </p:nvSpPr>
        <p:spPr>
          <a:xfrm>
            <a:off x="5029200" y="3287268"/>
            <a:ext cx="91440" cy="91440"/>
          </a:xfrm>
          <a:prstGeom prst="rect">
            <a:avLst/>
          </a:prstGeom>
          <a:solidFill>
            <a:srgbClr val="FF5C00"/>
          </a:solidFill>
          <a:ln w="12700">
            <a:solidFill>
              <a:srgbClr val="FF5C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12080" y="3195955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</a:rPr>
              <a:t>内存泄漏 (Memory Leak)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029200" y="3653028"/>
            <a:ext cx="91440" cy="91440"/>
          </a:xfrm>
          <a:prstGeom prst="rect">
            <a:avLst/>
          </a:prstGeom>
          <a:solidFill>
            <a:srgbClr val="FF5C00"/>
          </a:solidFill>
          <a:ln w="12700">
            <a:solidFill>
              <a:srgbClr val="FF5C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12080" y="3561715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</a:rPr>
              <a:t>空指针解引用 (Null Ptr Deref)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029200" y="4018788"/>
            <a:ext cx="91440" cy="91440"/>
          </a:xfrm>
          <a:prstGeom prst="rect">
            <a:avLst/>
          </a:prstGeom>
          <a:solidFill>
            <a:srgbClr val="FF5C00"/>
          </a:solidFill>
          <a:ln w="12700">
            <a:solidFill>
              <a:srgbClr val="FF5C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212080" y="3927475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</a:rPr>
              <a:t>越界访问 (Out of Bounds)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029200" y="4384548"/>
            <a:ext cx="91440" cy="91440"/>
          </a:xfrm>
          <a:prstGeom prst="rect">
            <a:avLst/>
          </a:prstGeom>
          <a:solidFill>
            <a:srgbClr val="FF5C00"/>
          </a:solidFill>
          <a:ln w="12700">
            <a:solidFill>
              <a:srgbClr val="FF5C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212080" y="4293235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</a:rPr>
              <a:t>UAF / UBSAN 类错误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5C00"/>
          </a:solidFill>
          <a:ln w="12700">
            <a:solidFill>
              <a:srgbClr val="FF5C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502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5C00"/>
                </a:solidFill>
              </a:rPr>
              <a:t>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60120" y="137160"/>
            <a:ext cx="77724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</a:rPr>
              <a:t> 可行性分析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630936"/>
            <a:ext cx="832104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0" y="4919472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AAAAA"/>
                </a:solidFill>
              </a:rPr>
              <a:t>8</a:t>
            </a:r>
            <a:endParaRPr lang="en-US" sz="800" dirty="0"/>
          </a:p>
        </p:txBody>
      </p:sp>
      <p:sp>
        <p:nvSpPr>
          <p:cNvPr id="8" name="Text 6"/>
          <p:cNvSpPr/>
          <p:nvPr>
            <p:custDataLst>
              <p:tags r:id="rId1"/>
            </p:custDataLst>
          </p:nvPr>
        </p:nvSpPr>
        <p:spPr>
          <a:xfrm>
            <a:off x="411480" y="841248"/>
            <a:ext cx="566928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5C00"/>
                </a:solidFill>
              </a:rPr>
              <a:t>01</a:t>
            </a:r>
            <a:endParaRPr lang="en-US" sz="2800" dirty="0"/>
          </a:p>
        </p:txBody>
      </p:sp>
      <p:sp>
        <p:nvSpPr>
          <p:cNvPr id="9" name="Shape 7"/>
          <p:cNvSpPr/>
          <p:nvPr>
            <p:custDataLst>
              <p:tags r:id="rId2"/>
            </p:custDataLst>
          </p:nvPr>
        </p:nvSpPr>
        <p:spPr>
          <a:xfrm>
            <a:off x="1005840" y="877824"/>
            <a:ext cx="0" cy="41148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10" name="Text 8"/>
          <p:cNvSpPr/>
          <p:nvPr>
            <p:custDataLst>
              <p:tags r:id="rId3"/>
            </p:custDataLst>
          </p:nvPr>
        </p:nvSpPr>
        <p:spPr>
          <a:xfrm>
            <a:off x="1170432" y="782193"/>
            <a:ext cx="74980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</a:rPr>
              <a:t>工具功能解析</a:t>
            </a:r>
            <a:endParaRPr lang="en-US" sz="1500" dirty="0"/>
          </a:p>
        </p:txBody>
      </p:sp>
      <p:sp>
        <p:nvSpPr>
          <p:cNvPr id="11" name="Shape 9"/>
          <p:cNvSpPr/>
          <p:nvPr>
            <p:custDataLst>
              <p:tags r:id="rId4"/>
            </p:custDataLst>
          </p:nvPr>
        </p:nvSpPr>
        <p:spPr>
          <a:xfrm>
            <a:off x="1170432" y="1230122"/>
            <a:ext cx="91440" cy="91440"/>
          </a:xfrm>
          <a:prstGeom prst="rect">
            <a:avLst/>
          </a:prstGeom>
          <a:solidFill>
            <a:srgbClr val="FF5C00"/>
          </a:solidFill>
          <a:ln w="12700">
            <a:solidFill>
              <a:srgbClr val="FF5C00"/>
            </a:solidFill>
            <a:prstDash val="solid"/>
          </a:ln>
        </p:spPr>
      </p:sp>
      <p:sp>
        <p:nvSpPr>
          <p:cNvPr id="12" name="Text 10"/>
          <p:cNvSpPr/>
          <p:nvPr>
            <p:custDataLst>
              <p:tags r:id="rId5"/>
            </p:custDataLst>
          </p:nvPr>
        </p:nvSpPr>
        <p:spPr>
          <a:xfrm>
            <a:off x="1353312" y="1147699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</a:rPr>
              <a:t>搭建 kGymSuite 环境，理解 SuiteCache 增量构建、kDump 执行轨迹提取、快速编译检查三大核心机制</a:t>
            </a:r>
            <a:endParaRPr lang="en-US" sz="1200" dirty="0"/>
          </a:p>
        </p:txBody>
      </p:sp>
      <p:sp>
        <p:nvSpPr>
          <p:cNvPr id="13" name="Shape 11"/>
          <p:cNvSpPr/>
          <p:nvPr>
            <p:custDataLst>
              <p:tags r:id="rId6"/>
            </p:custDataLst>
          </p:nvPr>
        </p:nvSpPr>
        <p:spPr>
          <a:xfrm>
            <a:off x="1170432" y="1522730"/>
            <a:ext cx="91440" cy="91440"/>
          </a:xfrm>
          <a:prstGeom prst="rect">
            <a:avLst/>
          </a:prstGeom>
          <a:solidFill>
            <a:srgbClr val="FF5C00"/>
          </a:solidFill>
          <a:ln w="12700">
            <a:solidFill>
              <a:srgbClr val="FF5C00"/>
            </a:solidFill>
            <a:prstDash val="solid"/>
          </a:ln>
        </p:spPr>
      </p:sp>
      <p:sp>
        <p:nvSpPr>
          <p:cNvPr id="14" name="Text 12"/>
          <p:cNvSpPr/>
          <p:nvPr>
            <p:custDataLst>
              <p:tags r:id="rId7"/>
            </p:custDataLst>
          </p:nvPr>
        </p:nvSpPr>
        <p:spPr>
          <a:xfrm>
            <a:off x="1353312" y="1440307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</a:rPr>
              <a:t>从 kBenchSyz 精选 5~8 个代表性 Bug，收集崩溃报告、复现脚本、开发补丁，逐步跑通完整 debug 流程</a:t>
            </a:r>
            <a:endParaRPr lang="en-US" sz="1200" dirty="0"/>
          </a:p>
        </p:txBody>
      </p:sp>
      <p:sp>
        <p:nvSpPr>
          <p:cNvPr id="15" name="Shape 13"/>
          <p:cNvSpPr/>
          <p:nvPr>
            <p:custDataLst>
              <p:tags r:id="rId8"/>
            </p:custDataLst>
          </p:nvPr>
        </p:nvSpPr>
        <p:spPr>
          <a:xfrm>
            <a:off x="1170432" y="1815338"/>
            <a:ext cx="91440" cy="91440"/>
          </a:xfrm>
          <a:prstGeom prst="rect">
            <a:avLst/>
          </a:prstGeom>
          <a:solidFill>
            <a:srgbClr val="FF5C00"/>
          </a:solidFill>
          <a:ln w="12700">
            <a:solidFill>
              <a:srgbClr val="FF5C00"/>
            </a:solidFill>
            <a:prstDash val="solid"/>
          </a:ln>
        </p:spPr>
      </p:sp>
      <p:sp>
        <p:nvSpPr>
          <p:cNvPr id="16" name="Text 14"/>
          <p:cNvSpPr/>
          <p:nvPr>
            <p:custDataLst>
              <p:tags r:id="rId9"/>
            </p:custDataLst>
          </p:nvPr>
        </p:nvSpPr>
        <p:spPr>
          <a:xfrm>
            <a:off x="1353312" y="1732915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</a:rPr>
              <a:t>记录每个工具模块的输入输出格式，形成工具功能解析文档</a:t>
            </a:r>
            <a:endParaRPr lang="en-US" sz="1200" dirty="0"/>
          </a:p>
        </p:txBody>
      </p:sp>
      <p:sp>
        <p:nvSpPr>
          <p:cNvPr id="17" name="Shape 15"/>
          <p:cNvSpPr/>
          <p:nvPr>
            <p:custDataLst>
              <p:tags r:id="rId10"/>
            </p:custDataLst>
          </p:nvPr>
        </p:nvSpPr>
        <p:spPr>
          <a:xfrm>
            <a:off x="411480" y="2057400"/>
            <a:ext cx="832104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8" name="Text 16"/>
          <p:cNvSpPr/>
          <p:nvPr>
            <p:custDataLst>
              <p:tags r:id="rId11"/>
            </p:custDataLst>
          </p:nvPr>
        </p:nvSpPr>
        <p:spPr>
          <a:xfrm>
            <a:off x="411480" y="2167128"/>
            <a:ext cx="566928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5C00"/>
                </a:solidFill>
              </a:rPr>
              <a:t>02</a:t>
            </a:r>
            <a:endParaRPr lang="en-US" sz="2800" dirty="0"/>
          </a:p>
        </p:txBody>
      </p:sp>
      <p:sp>
        <p:nvSpPr>
          <p:cNvPr id="19" name="Shape 17"/>
          <p:cNvSpPr/>
          <p:nvPr>
            <p:custDataLst>
              <p:tags r:id="rId12"/>
            </p:custDataLst>
          </p:nvPr>
        </p:nvSpPr>
        <p:spPr>
          <a:xfrm>
            <a:off x="1005840" y="2203704"/>
            <a:ext cx="0" cy="41148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20" name="Text 18"/>
          <p:cNvSpPr/>
          <p:nvPr>
            <p:custDataLst>
              <p:tags r:id="rId13"/>
            </p:custDataLst>
          </p:nvPr>
        </p:nvSpPr>
        <p:spPr>
          <a:xfrm>
            <a:off x="1170432" y="2108073"/>
            <a:ext cx="74980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</a:rPr>
              <a:t>复现论文实验结果</a:t>
            </a:r>
            <a:endParaRPr lang="en-US" sz="1500" dirty="0"/>
          </a:p>
        </p:txBody>
      </p:sp>
      <p:sp>
        <p:nvSpPr>
          <p:cNvPr id="21" name="Shape 19"/>
          <p:cNvSpPr/>
          <p:nvPr>
            <p:custDataLst>
              <p:tags r:id="rId14"/>
            </p:custDataLst>
          </p:nvPr>
        </p:nvSpPr>
        <p:spPr>
          <a:xfrm>
            <a:off x="1170432" y="2556002"/>
            <a:ext cx="91440" cy="91440"/>
          </a:xfrm>
          <a:prstGeom prst="rect">
            <a:avLst/>
          </a:prstGeom>
          <a:solidFill>
            <a:srgbClr val="FF5C00"/>
          </a:solidFill>
          <a:ln w="12700">
            <a:solidFill>
              <a:srgbClr val="FF5C00"/>
            </a:solidFill>
            <a:prstDash val="solid"/>
          </a:ln>
        </p:spPr>
      </p:sp>
      <p:sp>
        <p:nvSpPr>
          <p:cNvPr id="22" name="Text 20"/>
          <p:cNvSpPr/>
          <p:nvPr>
            <p:custDataLst>
              <p:tags r:id="rId15"/>
            </p:custDataLst>
          </p:nvPr>
        </p:nvSpPr>
        <p:spPr>
          <a:xfrm>
            <a:off x="1353312" y="2473579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</a:rPr>
              <a:t>复现 CrashFixer 核心流程</a:t>
            </a:r>
            <a:endParaRPr lang="en-US" sz="1200" dirty="0"/>
          </a:p>
        </p:txBody>
      </p:sp>
      <p:sp>
        <p:nvSpPr>
          <p:cNvPr id="23" name="Shape 21"/>
          <p:cNvSpPr/>
          <p:nvPr>
            <p:custDataLst>
              <p:tags r:id="rId16"/>
            </p:custDataLst>
          </p:nvPr>
        </p:nvSpPr>
        <p:spPr>
          <a:xfrm>
            <a:off x="1170432" y="2848610"/>
            <a:ext cx="91440" cy="91440"/>
          </a:xfrm>
          <a:prstGeom prst="rect">
            <a:avLst/>
          </a:prstGeom>
          <a:solidFill>
            <a:srgbClr val="FF5C00"/>
          </a:solidFill>
          <a:ln w="12700">
            <a:solidFill>
              <a:srgbClr val="FF5C00"/>
            </a:solidFill>
            <a:prstDash val="solid"/>
          </a:ln>
        </p:spPr>
      </p:sp>
      <p:sp>
        <p:nvSpPr>
          <p:cNvPr id="24" name="Text 22"/>
          <p:cNvSpPr/>
          <p:nvPr>
            <p:custDataLst>
              <p:tags r:id="rId17"/>
            </p:custDataLst>
          </p:nvPr>
        </p:nvSpPr>
        <p:spPr>
          <a:xfrm>
            <a:off x="1353312" y="2766187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</a:rPr>
              <a:t>对比【仅崩溃信息】vs【含最小执行轨迹】两种输入，验证论文结论</a:t>
            </a:r>
            <a:endParaRPr lang="en-US" sz="1200" dirty="0"/>
          </a:p>
        </p:txBody>
      </p:sp>
      <p:sp>
        <p:nvSpPr>
          <p:cNvPr id="25" name="Shape 23"/>
          <p:cNvSpPr/>
          <p:nvPr>
            <p:custDataLst>
              <p:tags r:id="rId18"/>
            </p:custDataLst>
          </p:nvPr>
        </p:nvSpPr>
        <p:spPr>
          <a:xfrm>
            <a:off x="1170432" y="3141218"/>
            <a:ext cx="91440" cy="91440"/>
          </a:xfrm>
          <a:prstGeom prst="rect">
            <a:avLst/>
          </a:prstGeom>
          <a:solidFill>
            <a:srgbClr val="FF5C00"/>
          </a:solidFill>
          <a:ln w="12700">
            <a:solidFill>
              <a:srgbClr val="FF5C00"/>
            </a:solidFill>
            <a:prstDash val="solid"/>
          </a:ln>
        </p:spPr>
      </p:sp>
      <p:sp>
        <p:nvSpPr>
          <p:cNvPr id="26" name="Text 24"/>
          <p:cNvSpPr/>
          <p:nvPr>
            <p:custDataLst>
              <p:tags r:id="rId19"/>
            </p:custDataLst>
          </p:nvPr>
        </p:nvSpPr>
        <p:spPr>
          <a:xfrm>
            <a:off x="1353312" y="3058795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</a:rPr>
              <a:t>按论文 Table 3 标准对补丁分类：plausible / helpful / incorrect（截肢式），与论文对比</a:t>
            </a:r>
            <a:endParaRPr lang="en-US" sz="1200" dirty="0"/>
          </a:p>
        </p:txBody>
      </p:sp>
      <p:sp>
        <p:nvSpPr>
          <p:cNvPr id="27" name="Shape 25"/>
          <p:cNvSpPr/>
          <p:nvPr>
            <p:custDataLst>
              <p:tags r:id="rId20"/>
            </p:custDataLst>
          </p:nvPr>
        </p:nvSpPr>
        <p:spPr>
          <a:xfrm>
            <a:off x="411480" y="3383280"/>
            <a:ext cx="832104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28" name="Text 26"/>
          <p:cNvSpPr/>
          <p:nvPr>
            <p:custDataLst>
              <p:tags r:id="rId21"/>
            </p:custDataLst>
          </p:nvPr>
        </p:nvSpPr>
        <p:spPr>
          <a:xfrm>
            <a:off x="411480" y="3493008"/>
            <a:ext cx="566928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5C00"/>
                </a:solidFill>
              </a:rPr>
              <a:t>03</a:t>
            </a:r>
            <a:endParaRPr lang="en-US" sz="2800" dirty="0"/>
          </a:p>
        </p:txBody>
      </p:sp>
      <p:sp>
        <p:nvSpPr>
          <p:cNvPr id="29" name="Shape 27"/>
          <p:cNvSpPr/>
          <p:nvPr>
            <p:custDataLst>
              <p:tags r:id="rId22"/>
            </p:custDataLst>
          </p:nvPr>
        </p:nvSpPr>
        <p:spPr>
          <a:xfrm>
            <a:off x="1005840" y="3529584"/>
            <a:ext cx="0" cy="41148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30" name="Text 28"/>
          <p:cNvSpPr/>
          <p:nvPr>
            <p:custDataLst>
              <p:tags r:id="rId23"/>
            </p:custDataLst>
          </p:nvPr>
        </p:nvSpPr>
        <p:spPr>
          <a:xfrm>
            <a:off x="1170432" y="3433953"/>
            <a:ext cx="74980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500" b="1" dirty="0">
                <a:solidFill>
                  <a:srgbClr val="FF5C00"/>
                </a:solidFill>
              </a:rPr>
              <a:t>可能的</a:t>
            </a:r>
            <a:r>
              <a:rPr lang="en-US" sz="1500" b="1" dirty="0">
                <a:solidFill>
                  <a:srgbClr val="FF5C00"/>
                </a:solidFill>
              </a:rPr>
              <a:t>改进工作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1170432" y="3963797"/>
            <a:ext cx="91440" cy="91440"/>
          </a:xfrm>
          <a:prstGeom prst="rect">
            <a:avLst/>
          </a:prstGeom>
          <a:solidFill>
            <a:srgbClr val="FF5C00"/>
          </a:solidFill>
          <a:ln w="12700">
            <a:solidFill>
              <a:srgbClr val="FF5C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353312" y="388137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</a:rPr>
              <a:t>提出一种“语义约束 + 多角色验证”的 LLM 修复增强方法，用于减少 incorrect patch</a:t>
            </a:r>
            <a:endParaRPr lang="en-US" sz="1200" dirty="0">
              <a:solidFill>
                <a:srgbClr val="1A1A1A"/>
              </a:solidFill>
            </a:endParaRPr>
          </a:p>
        </p:txBody>
      </p:sp>
      <p:sp>
        <p:nvSpPr>
          <p:cNvPr id="35" name="Shape 33"/>
          <p:cNvSpPr/>
          <p:nvPr/>
        </p:nvSpPr>
        <p:spPr>
          <a:xfrm>
            <a:off x="0" y="4617720"/>
            <a:ext cx="9144000" cy="256032"/>
          </a:xfrm>
          <a:prstGeom prst="rect">
            <a:avLst/>
          </a:prstGeom>
          <a:solidFill>
            <a:srgbClr val="FFE8D6"/>
          </a:solidFill>
          <a:ln w="12700">
            <a:solidFill>
              <a:srgbClr val="FFE8D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4626864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5C00"/>
          </a:solidFill>
          <a:ln w="12700">
            <a:solidFill>
              <a:srgbClr val="FF5C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502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5C00"/>
                </a:solidFill>
              </a:rPr>
              <a:t>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60120" y="137160"/>
            <a:ext cx="77724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</a:rPr>
              <a:t>可能的改进思路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630936"/>
            <a:ext cx="832104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0" y="4919472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11480" y="841248"/>
            <a:ext cx="502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5C00"/>
                </a:solidFill>
              </a:rPr>
              <a:t>01</a:t>
            </a:r>
            <a:endParaRPr lang="en-US" sz="3200" b="1" dirty="0">
              <a:solidFill>
                <a:srgbClr val="FF5C00"/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932688" y="877824"/>
            <a:ext cx="0" cy="36576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841248"/>
            <a:ext cx="7589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</a:rPr>
              <a:t>防止「截肢式修复」(Amputation) — 论文开放问题</a:t>
            </a:r>
            <a:endParaRPr lang="en-US" b="1" dirty="0">
              <a:solidFill>
                <a:srgbClr val="1A1A1A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1078865" y="1408430"/>
            <a:ext cx="5943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55555"/>
                </a:solidFill>
              </a:rPr>
              <a:t>问题  </a:t>
            </a:r>
            <a:endParaRPr lang="en-US" sz="1400" b="1" dirty="0">
              <a:solidFill>
                <a:srgbClr val="555555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1645793" y="1408430"/>
            <a:ext cx="7040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</a:rPr>
              <a:t>论文手工分析 79 个补丁：26 个语义等价（plausible），12 个方向正确（helpful），41 个虽消除崩溃但通过删除或绕过功能代码实现，属于 incorrect patch</a:t>
            </a:r>
            <a:endParaRPr lang="en-US" sz="1400" dirty="0">
              <a:solidFill>
                <a:srgbClr val="555555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1038860" y="1906778"/>
            <a:ext cx="5943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5C00"/>
                </a:solidFill>
              </a:rPr>
              <a:t>方案  </a:t>
            </a:r>
            <a:endParaRPr lang="en-US" sz="1400" b="1" dirty="0">
              <a:solidFill>
                <a:srgbClr val="FF5C00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1605788" y="1906778"/>
            <a:ext cx="70408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</a:rPr>
              <a:t>在 Prompt 中加入语义保护约束，要求 LLM 解释每处修改如何保留原有功能；可辅以静态分析检测非预期的代码删除</a:t>
            </a:r>
            <a:endParaRPr lang="en-US" sz="1400" dirty="0">
              <a:solidFill>
                <a:srgbClr val="1A1A1A"/>
              </a:solidFill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11480" y="2552573"/>
            <a:ext cx="832104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785" y="3202686"/>
            <a:ext cx="502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5C00"/>
                </a:solidFill>
              </a:rPr>
              <a:t>02</a:t>
            </a:r>
            <a:endParaRPr lang="en-US" sz="3200" b="1" dirty="0">
              <a:solidFill>
                <a:srgbClr val="FF5C00"/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941578" y="3276092"/>
            <a:ext cx="0" cy="36576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3075686"/>
            <a:ext cx="7589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</a:rPr>
              <a:t>优化假设生成质量 — 对抗幻觉</a:t>
            </a:r>
            <a:endParaRPr lang="en-US" b="1" dirty="0">
              <a:solidFill>
                <a:srgbClr val="1A1A1A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1124585" y="3641598"/>
            <a:ext cx="5943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55555"/>
                </a:solidFill>
              </a:rPr>
              <a:t>问题  </a:t>
            </a:r>
            <a:endParaRPr lang="en-US" sz="1400" b="1" dirty="0">
              <a:solidFill>
                <a:srgbClr val="555555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1691513" y="3641598"/>
            <a:ext cx="7040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</a:rPr>
              <a:t>LLM 有时生成与执行轨迹矛盾的根因假设，例如提议修改从未在复现运行中被调用的函数（论文第 4 节 Challenge 2）</a:t>
            </a:r>
            <a:endParaRPr lang="en-US" sz="1400" dirty="0">
              <a:solidFill>
                <a:srgbClr val="555555"/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1097280" y="4097401"/>
            <a:ext cx="5943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5C00"/>
                </a:solidFill>
              </a:rPr>
              <a:t>方案  </a:t>
            </a:r>
            <a:endParaRPr lang="en-US" sz="1400" b="1" dirty="0">
              <a:solidFill>
                <a:srgbClr val="FF5C00"/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1664208" y="4097401"/>
            <a:ext cx="70408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</a:rPr>
              <a:t>设计多角色验证 Prompt：角色A 依据执行轨迹生成假设，角色B 从内核编码规范角度审查补丁合理性，形成对抗式迭代收敛</a:t>
            </a:r>
            <a:endParaRPr lang="en-US" sz="1400" dirty="0">
              <a:solidFill>
                <a:srgbClr val="1A1A1A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5C00"/>
          </a:solidFill>
          <a:ln w="12700">
            <a:solidFill>
              <a:srgbClr val="FF5C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502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5C00"/>
                </a:solidFill>
              </a:rPr>
              <a:t>06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60120" y="137160"/>
            <a:ext cx="77724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</a:rPr>
              <a:t>预期成果 &amp; 时间计划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630936"/>
            <a:ext cx="832104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804672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FF5C00"/>
                </a:solidFill>
              </a:rPr>
              <a:t>工具链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11480" y="1092708"/>
            <a:ext cx="91440" cy="91440"/>
          </a:xfrm>
          <a:prstGeom prst="rect">
            <a:avLst/>
          </a:prstGeom>
          <a:solidFill>
            <a:srgbClr val="FF5C00"/>
          </a:solidFill>
          <a:ln w="12700">
            <a:solidFill>
              <a:srgbClr val="FF5C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1990" y="1005840"/>
            <a:ext cx="3840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</a:rPr>
              <a:t>LLM API：Gemini 2.5-pro / GPT-4o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1480" y="1458468"/>
            <a:ext cx="91440" cy="91440"/>
          </a:xfrm>
          <a:prstGeom prst="rect">
            <a:avLst/>
          </a:prstGeom>
          <a:solidFill>
            <a:srgbClr val="FF5C00"/>
          </a:solidFill>
          <a:ln w="12700">
            <a:solidFill>
              <a:srgbClr val="FF5C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1990" y="1371600"/>
            <a:ext cx="3840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</a:rPr>
              <a:t>Linux VM + kGymSuite（执行轨迹提取 &amp; 增量构建）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11480" y="1824228"/>
            <a:ext cx="91440" cy="91440"/>
          </a:xfrm>
          <a:prstGeom prst="rect">
            <a:avLst/>
          </a:prstGeom>
          <a:solidFill>
            <a:srgbClr val="FF5C00"/>
          </a:solidFill>
          <a:ln w="12700">
            <a:solidFill>
              <a:srgbClr val="FF5C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1990" y="1737360"/>
            <a:ext cx="3840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</a:rPr>
              <a:t>kDump + crash-trace：内核崩溃内存快照解析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" y="2189988"/>
            <a:ext cx="91440" cy="91440"/>
          </a:xfrm>
          <a:prstGeom prst="rect">
            <a:avLst/>
          </a:prstGeom>
          <a:solidFill>
            <a:srgbClr val="FF5C00"/>
          </a:solidFill>
          <a:ln w="12700">
            <a:solidFill>
              <a:srgbClr val="FF5C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1990" y="2103120"/>
            <a:ext cx="3840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</a:rPr>
              <a:t>Syzkaller 崩溃报告 + kBenchSyz 测试集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11480" y="2555748"/>
            <a:ext cx="91440" cy="91440"/>
          </a:xfrm>
          <a:prstGeom prst="rect">
            <a:avLst/>
          </a:prstGeom>
          <a:solidFill>
            <a:srgbClr val="FF5C00"/>
          </a:solidFill>
          <a:ln w="12700">
            <a:solidFill>
              <a:srgbClr val="FF5C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1990" y="2468880"/>
            <a:ext cx="3840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</a:rPr>
              <a:t>Python 实验脚本 + GitHub 代码仓库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63440" y="804672"/>
            <a:ext cx="0" cy="237744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804672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FF5C00"/>
                </a:solidFill>
              </a:rPr>
              <a:t>预期产出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846320" y="1092708"/>
            <a:ext cx="91440" cy="91440"/>
          </a:xfrm>
          <a:prstGeom prst="rect">
            <a:avLst/>
          </a:prstGeom>
          <a:solidFill>
            <a:srgbClr val="FF5C00"/>
          </a:solidFill>
          <a:ln w="12700">
            <a:solidFill>
              <a:srgbClr val="FF5C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74920" y="1005840"/>
            <a:ext cx="3749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</a:rPr>
              <a:t>kGymSuite 工具功能解析文档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846320" y="1458468"/>
            <a:ext cx="91440" cy="91440"/>
          </a:xfrm>
          <a:prstGeom prst="rect">
            <a:avLst/>
          </a:prstGeom>
          <a:solidFill>
            <a:srgbClr val="FF5C00"/>
          </a:solidFill>
          <a:ln w="12700">
            <a:solidFill>
              <a:srgbClr val="FF5C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74920" y="1371600"/>
            <a:ext cx="3749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</a:rPr>
              <a:t>精选 Bug 复现实验报告 + 修复率统计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846320" y="1824228"/>
            <a:ext cx="91440" cy="91440"/>
          </a:xfrm>
          <a:prstGeom prst="rect">
            <a:avLst/>
          </a:prstGeom>
          <a:solidFill>
            <a:srgbClr val="FF5C00"/>
          </a:solidFill>
          <a:ln w="12700">
            <a:solidFill>
              <a:srgbClr val="FF5C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74920" y="1737360"/>
            <a:ext cx="3749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</a:rPr>
              <a:t>执行轨迹消融对比分析，验证论文结论（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846320" y="2189988"/>
            <a:ext cx="91440" cy="91440"/>
          </a:xfrm>
          <a:prstGeom prst="rect">
            <a:avLst/>
          </a:prstGeom>
          <a:solidFill>
            <a:srgbClr val="FF5C00"/>
          </a:solidFill>
          <a:ln w="12700">
            <a:solidFill>
              <a:srgbClr val="FF5C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74920" y="2103120"/>
            <a:ext cx="3749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</a:rPr>
              <a:t>防截肢 Prompt 改进实验 + 对比数据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846320" y="2555748"/>
            <a:ext cx="91440" cy="91440"/>
          </a:xfrm>
          <a:prstGeom prst="rect">
            <a:avLst/>
          </a:prstGeom>
          <a:solidFill>
            <a:srgbClr val="FF5C00"/>
          </a:solidFill>
          <a:ln w="12700">
            <a:solidFill>
              <a:srgbClr val="FF5C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74920" y="2468880"/>
            <a:ext cx="3749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</a:rPr>
              <a:t>GitHub 项目 + 软件学报格式报告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11480" y="3291840"/>
            <a:ext cx="832104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3401568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FF5C00"/>
                </a:solidFill>
              </a:rPr>
              <a:t>里程碑时间线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11480" y="4133088"/>
            <a:ext cx="8321040" cy="0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0040" y="4078224"/>
            <a:ext cx="182880" cy="182880"/>
          </a:xfrm>
          <a:prstGeom prst="ellipse">
            <a:avLst/>
          </a:prstGeom>
          <a:solidFill>
            <a:srgbClr val="FF5C00"/>
          </a:solidFill>
          <a:ln w="12700">
            <a:solidFill>
              <a:srgbClr val="FF5C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-45720" y="451713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</a:rPr>
              <a:t>环境搭建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-45720" y="3767328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</a:rPr>
              <a:t>环境搭建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11480" y="3995928"/>
            <a:ext cx="0" cy="9144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984248" y="4078224"/>
            <a:ext cx="182880" cy="182880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618488" y="451713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</a:rPr>
              <a:t>样本精选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648456" y="4078224"/>
            <a:ext cx="182880" cy="182880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282696" y="451713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</a:rPr>
              <a:t>流程复现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3282696" y="3767328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</a:rPr>
              <a:t>流程复现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739896" y="3995928"/>
            <a:ext cx="0" cy="9144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312664" y="4078224"/>
            <a:ext cx="182880" cy="182880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946904" y="451713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</a:rPr>
              <a:t>改进实施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976872" y="4078224"/>
            <a:ext cx="182880" cy="182880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611112" y="451713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</a:rPr>
              <a:t>评估分析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611112" y="3767328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</a:rPr>
              <a:t>评估分析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7068312" y="3995928"/>
            <a:ext cx="0" cy="9144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641080" y="4078224"/>
            <a:ext cx="182880" cy="182880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275320" y="429768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1A"/>
                </a:solidFill>
              </a:rPr>
              <a:t>W13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8275320" y="451713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</a:rPr>
              <a:t>报告撰写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2629535" y="2242820"/>
            <a:ext cx="78638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dirty="0">
                <a:solidFill>
                  <a:schemeClr val="tx1"/>
                </a:solidFill>
                <a:sym typeface="+mn-ea"/>
              </a:rPr>
              <a:t>感谢</a:t>
            </a:r>
            <a:endParaRPr lang="en-US" sz="7200" dirty="0">
              <a:solidFill>
                <a:schemeClr val="tx1"/>
              </a:solidFill>
              <a:sym typeface="+mn-ea"/>
            </a:endParaRPr>
          </a:p>
          <a:p>
            <a:pPr marL="914400" lvl="2" indent="457200">
              <a:buNone/>
            </a:pPr>
            <a:r>
              <a:rPr lang="en-US" sz="7200" dirty="0">
                <a:solidFill>
                  <a:schemeClr val="tx1"/>
                </a:solidFill>
                <a:sym typeface="+mn-ea"/>
              </a:rPr>
              <a:t> 聆听</a:t>
            </a:r>
            <a:endParaRPr lang="en-US" sz="7200" dirty="0">
              <a:solidFill>
                <a:schemeClr val="tx1"/>
              </a:solidFill>
              <a:sym typeface="+mn-ea"/>
            </a:endParaRPr>
          </a:p>
        </p:txBody>
      </p:sp>
      <p:sp>
        <p:nvSpPr>
          <p:cNvPr id="12" name="Text 10"/>
          <p:cNvSpPr/>
          <p:nvPr>
            <p:custDataLst>
              <p:tags r:id="rId1"/>
            </p:custDataLst>
          </p:nvPr>
        </p:nvSpPr>
        <p:spPr>
          <a:xfrm>
            <a:off x="1024128" y="3712464"/>
            <a:ext cx="7498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63.52,&quot;left&quot;:32.4,&quot;top&quot;:68.4,&quot;width&quot;:680.4}"/>
</p:tagLst>
</file>

<file path=ppt/tags/tag2.xml><?xml version="1.0" encoding="utf-8"?>
<p:tagLst xmlns:p="http://schemas.openxmlformats.org/presentationml/2006/main">
  <p:tag name="KSO_WM_DIAGRAM_VIRTUALLY_FRAME" val="{&quot;height&quot;:263.52,&quot;left&quot;:32.4,&quot;top&quot;:68.4,&quot;width&quot;:680.4}"/>
</p:tagLst>
</file>

<file path=ppt/tags/tag3.xml><?xml version="1.0" encoding="utf-8"?>
<p:tagLst xmlns:p="http://schemas.openxmlformats.org/presentationml/2006/main">
  <p:tag name="KSO_WM_DIAGRAM_VIRTUALLY_FRAME" val="{&quot;height&quot;:263.52,&quot;left&quot;:32.4,&quot;top&quot;:68.4,&quot;width&quot;:680.4}"/>
</p:tagLst>
</file>

<file path=ppt/tags/tag4.xml><?xml version="1.0" encoding="utf-8"?>
<p:tagLst xmlns:p="http://schemas.openxmlformats.org/presentationml/2006/main">
  <p:tag name="KSO_WM_DIAGRAM_VIRTUALLY_FRAME" val="{&quot;height&quot;:263.52,&quot;left&quot;:32.4,&quot;top&quot;:68.4,&quot;width&quot;:680.4}"/>
</p:tagLst>
</file>

<file path=ppt/tags/tag5.xml><?xml version="1.0" encoding="utf-8"?>
<p:tagLst xmlns:p="http://schemas.openxmlformats.org/presentationml/2006/main">
  <p:tag name="KSO_WM_DIAGRAM_VIRTUALLY_FRAME" val="{&quot;height&quot;:263.52,&quot;left&quot;:32.4,&quot;top&quot;:68.4,&quot;width&quot;:680.4}"/>
</p:tagLst>
</file>

<file path=ppt/tags/tag6.xml><?xml version="1.0" encoding="utf-8"?>
<p:tagLst xmlns:p="http://schemas.openxmlformats.org/presentationml/2006/main">
  <p:tag name="KSO_WM_DIAGRAM_VIRTUALLY_FRAME" val="{&quot;height&quot;:263.52,&quot;left&quot;:32.4,&quot;top&quot;:68.4,&quot;width&quot;:680.4}"/>
</p:tagLst>
</file>

<file path=ppt/tags/tag7.xml><?xml version="1.0" encoding="utf-8"?>
<p:tagLst xmlns:p="http://schemas.openxmlformats.org/presentationml/2006/main">
  <p:tag name="KSO_WM_DIAGRAM_VIRTUALLY_FRAME" val="{&quot;height&quot;:263.52,&quot;left&quot;:32.4,&quot;top&quot;:68.4,&quot;width&quot;:680.4}"/>
</p:tagLst>
</file>

<file path=ppt/tags/tag8.xml><?xml version="1.0" encoding="utf-8"?>
<p:tagLst xmlns:p="http://schemas.openxmlformats.org/presentationml/2006/main">
  <p:tag name="KSO_WM_DIAGRAM_VIRTUALLY_FRAME" val="{&quot;height&quot;:263.52,&quot;left&quot;:32.4,&quot;top&quot;:68.4,&quot;width&quot;:680.4}"/>
</p:tagLst>
</file>

<file path=ppt/tags/tag9.xml><?xml version="1.0" encoding="utf-8"?>
<p:tagLst xmlns:p="http://schemas.openxmlformats.org/presentationml/2006/main">
  <p:tag name="KSO_WM_DIAGRAM_VIRTUALLY_FRAME" val="{&quot;height&quot;:263.52,&quot;left&quot;:32.4,&quot;top&quot;:68.4,&quot;width&quot;:680.4}"/>
</p:tagLst>
</file>

<file path=ppt/tags/tag10.xml><?xml version="1.0" encoding="utf-8"?>
<p:tagLst xmlns:p="http://schemas.openxmlformats.org/presentationml/2006/main">
  <p:tag name="KSO_WM_DIAGRAM_VIRTUALLY_FRAME" val="{&quot;height&quot;:263.52,&quot;left&quot;:32.4,&quot;top&quot;:68.4,&quot;width&quot;:680.4}"/>
</p:tagLst>
</file>

<file path=ppt/tags/tag11.xml><?xml version="1.0" encoding="utf-8"?>
<p:tagLst xmlns:p="http://schemas.openxmlformats.org/presentationml/2006/main">
  <p:tag name="KSO_WM_DIAGRAM_VIRTUALLY_FRAME" val="{&quot;height&quot;:263.52,&quot;left&quot;:32.4,&quot;top&quot;:68.4,&quot;width&quot;:680.4}"/>
</p:tagLst>
</file>

<file path=ppt/tags/tag12.xml><?xml version="1.0" encoding="utf-8"?>
<p:tagLst xmlns:p="http://schemas.openxmlformats.org/presentationml/2006/main">
  <p:tag name="KSO_WM_DIAGRAM_VIRTUALLY_FRAME" val="{&quot;height&quot;:263.52,&quot;left&quot;:32.4,&quot;top&quot;:68.4,&quot;width&quot;:680.4}"/>
</p:tagLst>
</file>

<file path=ppt/tags/tag13.xml><?xml version="1.0" encoding="utf-8"?>
<p:tagLst xmlns:p="http://schemas.openxmlformats.org/presentationml/2006/main">
  <p:tag name="KSO_WM_DIAGRAM_VIRTUALLY_FRAME" val="{&quot;height&quot;:263.52,&quot;left&quot;:32.4,&quot;top&quot;:68.4,&quot;width&quot;:680.4}"/>
</p:tagLst>
</file>

<file path=ppt/tags/tag14.xml><?xml version="1.0" encoding="utf-8"?>
<p:tagLst xmlns:p="http://schemas.openxmlformats.org/presentationml/2006/main">
  <p:tag name="KSO_WM_DIAGRAM_VIRTUALLY_FRAME" val="{&quot;height&quot;:263.52,&quot;left&quot;:32.4,&quot;top&quot;:68.4,&quot;width&quot;:680.4}"/>
</p:tagLst>
</file>

<file path=ppt/tags/tag15.xml><?xml version="1.0" encoding="utf-8"?>
<p:tagLst xmlns:p="http://schemas.openxmlformats.org/presentationml/2006/main">
  <p:tag name="KSO_WM_DIAGRAM_VIRTUALLY_FRAME" val="{&quot;height&quot;:263.52,&quot;left&quot;:32.4,&quot;top&quot;:68.4,&quot;width&quot;:680.4}"/>
</p:tagLst>
</file>

<file path=ppt/tags/tag16.xml><?xml version="1.0" encoding="utf-8"?>
<p:tagLst xmlns:p="http://schemas.openxmlformats.org/presentationml/2006/main">
  <p:tag name="KSO_WM_DIAGRAM_VIRTUALLY_FRAME" val="{&quot;height&quot;:263.52,&quot;left&quot;:32.4,&quot;top&quot;:68.4,&quot;width&quot;:680.4}"/>
</p:tagLst>
</file>

<file path=ppt/tags/tag17.xml><?xml version="1.0" encoding="utf-8"?>
<p:tagLst xmlns:p="http://schemas.openxmlformats.org/presentationml/2006/main">
  <p:tag name="KSO_WM_DIAGRAM_VIRTUALLY_FRAME" val="{&quot;height&quot;:263.52,&quot;left&quot;:32.4,&quot;top&quot;:68.4,&quot;width&quot;:680.4}"/>
</p:tagLst>
</file>

<file path=ppt/tags/tag18.xml><?xml version="1.0" encoding="utf-8"?>
<p:tagLst xmlns:p="http://schemas.openxmlformats.org/presentationml/2006/main">
  <p:tag name="KSO_WM_DIAGRAM_VIRTUALLY_FRAME" val="{&quot;height&quot;:263.52,&quot;left&quot;:32.4,&quot;top&quot;:68.4,&quot;width&quot;:680.4}"/>
</p:tagLst>
</file>

<file path=ppt/tags/tag19.xml><?xml version="1.0" encoding="utf-8"?>
<p:tagLst xmlns:p="http://schemas.openxmlformats.org/presentationml/2006/main">
  <p:tag name="KSO_WM_DIAGRAM_VIRTUALLY_FRAME" val="{&quot;height&quot;:263.52,&quot;left&quot;:32.4,&quot;top&quot;:68.4,&quot;width&quot;:680.4}"/>
</p:tagLst>
</file>

<file path=ppt/tags/tag20.xml><?xml version="1.0" encoding="utf-8"?>
<p:tagLst xmlns:p="http://schemas.openxmlformats.org/presentationml/2006/main">
  <p:tag name="KSO_WM_DIAGRAM_VIRTUALLY_FRAME" val="{&quot;height&quot;:263.52,&quot;left&quot;:32.4,&quot;top&quot;:68.4,&quot;width&quot;:680.4}"/>
</p:tagLst>
</file>

<file path=ppt/tags/tag21.xml><?xml version="1.0" encoding="utf-8"?>
<p:tagLst xmlns:p="http://schemas.openxmlformats.org/presentationml/2006/main">
  <p:tag name="KSO_WM_DIAGRAM_VIRTUALLY_FRAME" val="{&quot;height&quot;:263.52,&quot;left&quot;:32.4,&quot;top&quot;:68.4,&quot;width&quot;:680.4}"/>
</p:tagLst>
</file>

<file path=ppt/tags/tag22.xml><?xml version="1.0" encoding="utf-8"?>
<p:tagLst xmlns:p="http://schemas.openxmlformats.org/presentationml/2006/main">
  <p:tag name="KSO_WM_DIAGRAM_VIRTUALLY_FRAME" val="{&quot;height&quot;:263.52,&quot;left&quot;:32.4,&quot;top&quot;:68.4,&quot;width&quot;:680.4}"/>
</p:tagLst>
</file>

<file path=ppt/tags/tag23.xml><?xml version="1.0" encoding="utf-8"?>
<p:tagLst xmlns:p="http://schemas.openxmlformats.org/presentationml/2006/main">
  <p:tag name="KSO_WM_DIAGRAM_VIRTUALLY_FRAME" val="{&quot;height&quot;:263.52,&quot;left&quot;:32.4,&quot;top&quot;:68.4,&quot;width&quot;:680.4}"/>
</p:tagLst>
</file>

<file path=ppt/tags/tag24.xml><?xml version="1.0" encoding="utf-8"?>
<p:tagLst xmlns:p="http://schemas.openxmlformats.org/presentationml/2006/main">
  <p:tag name="KSO_WM_DIAGRAM_VIRTUALLY_FRAME" val="{&quot;height&quot;:263.52,&quot;left&quot;:32.4,&quot;top&quot;:68.4,&quot;width&quot;:680.4}"/>
</p:tagLst>
</file>

<file path=ppt/tags/tag25.xml><?xml version="1.0" encoding="utf-8"?>
<p:tagLst xmlns:p="http://schemas.openxmlformats.org/presentationml/2006/main">
  <p:tag name="KSO_WM_DIAGRAM_VIRTUALLY_FRAME" val="{&quot;height&quot;:249.11999999999998,&quot;left&quot;:32.4,&quot;top&quot;:66.24,&quot;width&quot;:655.2}"/>
</p:tagLst>
</file>

<file path=ppt/tags/tag26.xml><?xml version="1.0" encoding="utf-8"?>
<p:tagLst xmlns:p="http://schemas.openxmlformats.org/presentationml/2006/main">
  <p:tag name="KSO_WM_DIAGRAM_VIRTUALLY_FRAME" val="{&quot;height&quot;:249.11999999999998,&quot;left&quot;:32.4,&quot;top&quot;:66.24,&quot;width&quot;:655.2}"/>
</p:tagLst>
</file>

<file path=ppt/tags/tag27.xml><?xml version="1.0" encoding="utf-8"?>
<p:tagLst xmlns:p="http://schemas.openxmlformats.org/presentationml/2006/main">
  <p:tag name="KSO_WM_DIAGRAM_VIRTUALLY_FRAME" val="{&quot;height&quot;:249.11999999999998,&quot;left&quot;:32.4,&quot;top&quot;:66.24,&quot;width&quot;:655.2}"/>
</p:tagLst>
</file>

<file path=ppt/tags/tag28.xml><?xml version="1.0" encoding="utf-8"?>
<p:tagLst xmlns:p="http://schemas.openxmlformats.org/presentationml/2006/main">
  <p:tag name="KSO_WM_DIAGRAM_VIRTUALLY_FRAME" val="{&quot;height&quot;:249.11999999999998,&quot;left&quot;:32.4,&quot;top&quot;:66.24,&quot;width&quot;:655.2}"/>
</p:tagLst>
</file>

<file path=ppt/tags/tag29.xml><?xml version="1.0" encoding="utf-8"?>
<p:tagLst xmlns:p="http://schemas.openxmlformats.org/presentationml/2006/main">
  <p:tag name="KSO_WM_DIAGRAM_VIRTUALLY_FRAME" val="{&quot;height&quot;:249.11999999999998,&quot;left&quot;:32.4,&quot;top&quot;:66.24,&quot;width&quot;:655.2}"/>
</p:tagLst>
</file>

<file path=ppt/tags/tag30.xml><?xml version="1.0" encoding="utf-8"?>
<p:tagLst xmlns:p="http://schemas.openxmlformats.org/presentationml/2006/main">
  <p:tag name="KSO_WM_DIAGRAM_VIRTUALLY_FRAME" val="{&quot;height&quot;:249.11999999999998,&quot;left&quot;:32.4,&quot;top&quot;:66.24,&quot;width&quot;:655.2}"/>
</p:tagLst>
</file>

<file path=ppt/tags/tag31.xml><?xml version="1.0" encoding="utf-8"?>
<p:tagLst xmlns:p="http://schemas.openxmlformats.org/presentationml/2006/main">
  <p:tag name="KSO_WM_DIAGRAM_VIRTUALLY_FRAME" val="{&quot;height&quot;:249.11999999999998,&quot;left&quot;:32.4,&quot;top&quot;:66.24,&quot;width&quot;:655.2}"/>
</p:tagLst>
</file>

<file path=ppt/tags/tag32.xml><?xml version="1.0" encoding="utf-8"?>
<p:tagLst xmlns:p="http://schemas.openxmlformats.org/presentationml/2006/main">
  <p:tag name="KSO_WM_DIAGRAM_VIRTUALLY_FRAME" val="{&quot;height&quot;:249.11999999999998,&quot;left&quot;:32.4,&quot;top&quot;:66.24,&quot;width&quot;:655.2}"/>
</p:tagLst>
</file>

<file path=ppt/tags/tag33.xml><?xml version="1.0" encoding="utf-8"?>
<p:tagLst xmlns:p="http://schemas.openxmlformats.org/presentationml/2006/main">
  <p:tag name="KSO_WM_DIAGRAM_VIRTUALLY_FRAME" val="{&quot;height&quot;:249.11999999999998,&quot;left&quot;:32.4,&quot;top&quot;:66.24,&quot;width&quot;:655.2}"/>
</p:tagLst>
</file>

<file path=ppt/tags/tag34.xml><?xml version="1.0" encoding="utf-8"?>
<p:tagLst xmlns:p="http://schemas.openxmlformats.org/presentationml/2006/main">
  <p:tag name="KSO_WM_DIAGRAM_VIRTUALLY_FRAME" val="{&quot;height&quot;:249.11999999999998,&quot;left&quot;:32.4,&quot;top&quot;:66.24,&quot;width&quot;:655.2}"/>
</p:tagLst>
</file>

<file path=ppt/tags/tag35.xml><?xml version="1.0" encoding="utf-8"?>
<p:tagLst xmlns:p="http://schemas.openxmlformats.org/presentationml/2006/main">
  <p:tag name="KSO_WM_DIAGRAM_VIRTUALLY_FRAME" val="{&quot;height&quot;:249.11999999999998,&quot;left&quot;:32.4,&quot;top&quot;:66.24,&quot;width&quot;:655.2}"/>
</p:tagLst>
</file>

<file path=ppt/tags/tag36.xml><?xml version="1.0" encoding="utf-8"?>
<p:tagLst xmlns:p="http://schemas.openxmlformats.org/presentationml/2006/main">
  <p:tag name="KSO_WM_DIAGRAM_VIRTUALLY_FRAME" val="{&quot;height&quot;:249.11999999999998,&quot;left&quot;:32.4,&quot;top&quot;:66.24,&quot;width&quot;:655.2}"/>
</p:tagLst>
</file>

<file path=ppt/tags/tag37.xml><?xml version="1.0" encoding="utf-8"?>
<p:tagLst xmlns:p="http://schemas.openxmlformats.org/presentationml/2006/main">
  <p:tag name="KSO_WM_DIAGRAM_VIRTUALLY_FRAME" val="{&quot;height&quot;:249.11999999999998,&quot;left&quot;:32.4,&quot;top&quot;:66.24,&quot;width&quot;:655.2}"/>
</p:tagLst>
</file>

<file path=ppt/tags/tag38.xml><?xml version="1.0" encoding="utf-8"?>
<p:tagLst xmlns:p="http://schemas.openxmlformats.org/presentationml/2006/main">
  <p:tag name="KSO_WM_DIAGRAM_VIRTUALLY_FRAME" val="{&quot;height&quot;:249.11999999999998,&quot;left&quot;:32.4,&quot;top&quot;:66.24,&quot;width&quot;:655.2}"/>
</p:tagLst>
</file>

<file path=ppt/tags/tag39.xml><?xml version="1.0" encoding="utf-8"?>
<p:tagLst xmlns:p="http://schemas.openxmlformats.org/presentationml/2006/main">
  <p:tag name="KSO_WM_DIAGRAM_VIRTUALLY_FRAME" val="{&quot;height&quot;:249.11999999999998,&quot;left&quot;:32.4,&quot;top&quot;:66.24,&quot;width&quot;:655.2}"/>
</p:tagLst>
</file>

<file path=ppt/tags/tag40.xml><?xml version="1.0" encoding="utf-8"?>
<p:tagLst xmlns:p="http://schemas.openxmlformats.org/presentationml/2006/main">
  <p:tag name="KSO_WM_DIAGRAM_VIRTUALLY_FRAME" val="{&quot;height&quot;:249.11999999999998,&quot;left&quot;:32.4,&quot;top&quot;:66.24,&quot;width&quot;:655.2}"/>
</p:tagLst>
</file>

<file path=ppt/tags/tag41.xml><?xml version="1.0" encoding="utf-8"?>
<p:tagLst xmlns:p="http://schemas.openxmlformats.org/presentationml/2006/main">
  <p:tag name="KSO_WM_DIAGRAM_VIRTUALLY_FRAME" val="{&quot;height&quot;:249.11999999999998,&quot;left&quot;:32.4,&quot;top&quot;:66.24,&quot;width&quot;:655.2}"/>
</p:tagLst>
</file>

<file path=ppt/tags/tag42.xml><?xml version="1.0" encoding="utf-8"?>
<p:tagLst xmlns:p="http://schemas.openxmlformats.org/presentationml/2006/main">
  <p:tag name="KSO_WM_DIAGRAM_VIRTUALLY_FRAME" val="{&quot;height&quot;:249.11999999999998,&quot;left&quot;:32.4,&quot;top&quot;:66.24,&quot;width&quot;:655.2}"/>
</p:tagLst>
</file>

<file path=ppt/tags/tag43.xml><?xml version="1.0" encoding="utf-8"?>
<p:tagLst xmlns:p="http://schemas.openxmlformats.org/presentationml/2006/main">
  <p:tag name="KSO_WM_DIAGRAM_VIRTUALLY_FRAME" val="{&quot;height&quot;:249.11999999999998,&quot;left&quot;:32.4,&quot;top&quot;:66.24,&quot;width&quot;:655.2}"/>
</p:tagLst>
</file>

<file path=ppt/tags/tag44.xml><?xml version="1.0" encoding="utf-8"?>
<p:tagLst xmlns:p="http://schemas.openxmlformats.org/presentationml/2006/main">
  <p:tag name="KSO_WM_DIAGRAM_VIRTUALLY_FRAME" val="{&quot;height&quot;:249.11999999999998,&quot;left&quot;:32.4,&quot;top&quot;:66.24,&quot;width&quot;:655.2}"/>
</p:tagLst>
</file>

<file path=ppt/tags/tag45.xml><?xml version="1.0" encoding="utf-8"?>
<p:tagLst xmlns:p="http://schemas.openxmlformats.org/presentationml/2006/main">
  <p:tag name="KSO_WM_DIAGRAM_VIRTUALLY_FRAME" val="{&quot;height&quot;:249.11999999999998,&quot;left&quot;:32.4,&quot;top&quot;:66.24,&quot;width&quot;:655.2}"/>
</p:tagLst>
</file>

<file path=ppt/tags/tag46.xml><?xml version="1.0" encoding="utf-8"?>
<p:tagLst xmlns:p="http://schemas.openxmlformats.org/presentationml/2006/main">
  <p:tag name="KSO_WM_DIAGRAM_VIRTUALLY_FRAME" val="{&quot;height&quot;:249.11999999999998,&quot;left&quot;:32.4,&quot;top&quot;:66.24,&quot;width&quot;:655.2}"/>
</p:tagLst>
</file>

<file path=ppt/tags/tag47.xml><?xml version="1.0" encoding="utf-8"?>
<p:tagLst xmlns:p="http://schemas.openxmlformats.org/presentationml/2006/main">
  <p:tag name="KSO_WM_DIAGRAM_VIRTUALLY_FRAME" val="{&quot;height&quot;:249.11999999999998,&quot;left&quot;:32.4,&quot;top&quot;:66.24,&quot;width&quot;:655.2}"/>
</p:tagLst>
</file>

<file path=ppt/tags/tag48.xml><?xml version="1.0" encoding="utf-8"?>
<p:tagLst xmlns:p="http://schemas.openxmlformats.org/presentationml/2006/main">
  <p:tag name="KSO_WM_DIAGRAM_VIRTUALLY_FRAME" val="{&quot;height&quot;:197.27999999999997,&quot;left&quot;:64.8,&quot;top&quot;:123.84,&quot;width&quot;:606.24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2907</Words>
  <Application>WPS 演示</Application>
  <PresentationFormat>On-screen Show (16:9)</PresentationFormat>
  <Paragraphs>343</Paragraphs>
  <Slides>11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9" baseType="lpstr">
      <vt:lpstr>Arial</vt:lpstr>
      <vt:lpstr>宋体</vt:lpstr>
      <vt:lpstr>Wingdings</vt:lpstr>
      <vt:lpstr>Calibri</vt:lpstr>
      <vt:lpstr>微软雅黑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LLM辅助Linux内核程序缺陷修复</dc:title>
  <dc:creator>PptxGenJS</dc:creator>
  <dc:subject>PptxGenJS Presentation</dc:subject>
  <cp:lastModifiedBy>jin</cp:lastModifiedBy>
  <cp:revision>7</cp:revision>
  <dcterms:created xsi:type="dcterms:W3CDTF">2026-03-27T06:27:00Z</dcterms:created>
  <dcterms:modified xsi:type="dcterms:W3CDTF">2026-03-27T13:41:54Z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AC94A449691F4E5BB9A668768CBAABA2_12</vt:lpwstr>
  </property>
</Properties>
</file>