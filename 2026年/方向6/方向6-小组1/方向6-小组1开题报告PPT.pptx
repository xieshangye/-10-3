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9" r:id="rId5"/>
    <p:sldId id="263" r:id="rId6"/>
    <p:sldId id="265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11520487" cy="6858000"/>
            <a:chOff x="1" y="0"/>
            <a:chExt cx="11520487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l="46136"/>
            <a:stretch>
              <a:fillRect/>
            </a:stretch>
          </p:blipFill>
          <p:spPr>
            <a:xfrm>
              <a:off x="5413829" y="34714"/>
              <a:ext cx="6106659" cy="6823286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100000"/>
            </a:blip>
            <a:srcRect l="9475" t="12972" r="72033" b="50546"/>
            <a:stretch>
              <a:fillRect/>
            </a:stretch>
          </p:blipFill>
          <p:spPr>
            <a:xfrm>
              <a:off x="1" y="0"/>
              <a:ext cx="2728686" cy="3149600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00000"/>
          </a:blip>
          <a:srcRect l="9475" t="12972" r="72033" b="50546"/>
          <a:stretch>
            <a:fillRect/>
          </a:stretch>
        </p:blipFill>
        <p:spPr>
          <a:xfrm flipH="1">
            <a:off x="9463314" y="0"/>
            <a:ext cx="2728686" cy="3149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00000"/>
          </a:blip>
          <a:srcRect l="46136"/>
          <a:stretch>
            <a:fillRect/>
          </a:stretch>
        </p:blipFill>
        <p:spPr>
          <a:xfrm flipH="1">
            <a:off x="0" y="2584495"/>
            <a:ext cx="3594219" cy="4016007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1" y="0"/>
            <a:ext cx="11520487" cy="6858000"/>
            <a:chOff x="1" y="0"/>
            <a:chExt cx="11520487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l="46136"/>
            <a:stretch>
              <a:fillRect/>
            </a:stretch>
          </p:blipFill>
          <p:spPr>
            <a:xfrm>
              <a:off x="5413829" y="34714"/>
              <a:ext cx="6106659" cy="6823286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100000"/>
            </a:blip>
            <a:srcRect l="9475" t="12972" r="72033" b="50546"/>
            <a:stretch>
              <a:fillRect/>
            </a:stretch>
          </p:blipFill>
          <p:spPr>
            <a:xfrm>
              <a:off x="1" y="0"/>
              <a:ext cx="2728686" cy="3149600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473200"/>
            <a:ext cx="4834965" cy="21252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7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LLM辅助</a:t>
            </a:r>
            <a:r>
              <a:rPr lang="en-US" sz="2700" b="1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Linux Kernel</a:t>
            </a:r>
            <a:endParaRPr lang="en-US" sz="2700" b="1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7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缺陷发现与修复闭环研究</a:t>
            </a:r>
            <a:endParaRPr lang="en-US" sz="2700" b="1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7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（基于KernelGPT）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4013200"/>
            <a:ext cx="4834965" cy="974166"/>
          </a:xfrm>
          <a:prstGeom prst="rect">
            <a:avLst/>
          </a:prstGeom>
          <a:ln>
            <a:headEnd type="none"/>
            <a:tailEnd type="none"/>
          </a:ln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45230" y="1500505"/>
            <a:ext cx="7773670" cy="256667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研究背景</a:t>
            </a:r>
            <a:endParaRPr lang="en-US" sz="18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/>
            </a:pPr>
            <a:endParaRPr lang="en-US" sz="1100"/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选择KernelGPT的理由</a:t>
            </a:r>
            <a:endParaRPr lang="en-US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endParaRPr lang="en-US"/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KernelGPT工作流</a:t>
            </a:r>
            <a:endParaRPr lang="en-US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endParaRPr lang="zh-CN" altLang="en-US" i="0">
              <a:solidFill>
                <a:srgbClr val="000000">
                  <a:alpha val="100000"/>
                </a:srgbClr>
              </a:solidFill>
              <a:latin typeface="Arial" panose="020B0604020202020204"/>
              <a:ea typeface="SimSun" pitchFamily="2" charset="-122"/>
              <a:cs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改进方向一：</a:t>
            </a:r>
            <a:r>
              <a:rPr lang="zh-CN" altLang="en-US"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基于</a:t>
            </a:r>
            <a:r>
              <a:rPr lang="en-US" altLang="zh-CN"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LLM </a:t>
            </a:r>
            <a:r>
              <a:rPr lang="zh-CN" altLang="en-US"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的自动化崩溃原因分析</a:t>
            </a:r>
            <a:endParaRPr lang="zh-CN" altLang="en-US" sz="18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endParaRPr lang="zh-CN" altLang="en-US" sz="18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改进方向二：</a:t>
            </a:r>
            <a:r>
              <a:rPr lang="en-US" altLang="zh-CN"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LLM </a:t>
            </a:r>
            <a:r>
              <a:rPr lang="zh-CN" altLang="en-US" sz="18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驱动的自动修复与动态验证</a:t>
            </a:r>
            <a:endParaRPr sz="18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1500187"/>
            <a:ext cx="2836562" cy="91566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cc176ec-2ed2-461c-80de-1ceab374a9b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0" y="1130301"/>
            <a:ext cx="11531600" cy="5003799"/>
            <a:chOff x="0" y="1130301"/>
            <a:chExt cx="11531600" cy="5003799"/>
          </a:xfrm>
        </p:grpSpPr>
        <p:sp>
          <p:nvSpPr>
            <p:cNvPr id="4" name="AutoShape 4"/>
            <p:cNvSpPr/>
            <p:nvPr/>
          </p:nvSpPr>
          <p:spPr>
            <a:xfrm flipH="1">
              <a:off x="0" y="1835072"/>
              <a:ext cx="10614452" cy="0"/>
            </a:xfrm>
            <a:prstGeom prst="line">
              <a:avLst/>
            </a:prstGeom>
            <a:ln w="12700">
              <a:solidFill>
                <a:srgbClr val="602E1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 flipV="1">
              <a:off x="10614452" y="1835072"/>
              <a:ext cx="147995" cy="154422"/>
            </a:xfrm>
            <a:prstGeom prst="line">
              <a:avLst/>
            </a:prstGeom>
            <a:ln w="12700">
              <a:solidFill>
                <a:srgbClr val="602E1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0762447" y="1989494"/>
              <a:ext cx="611725" cy="0"/>
            </a:xfrm>
            <a:prstGeom prst="line">
              <a:avLst/>
            </a:prstGeom>
            <a:ln w="12700">
              <a:solidFill>
                <a:srgbClr val="602E1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1376844" y="1912116"/>
              <a:ext cx="154756" cy="154756"/>
            </a:xfrm>
            <a:prstGeom prst="rect">
              <a:avLst/>
            </a:prstGeom>
            <a:solidFill>
              <a:srgbClr val="602E1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660399" y="1130301"/>
              <a:ext cx="10858500" cy="624871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rot="0">
              <a:off x="660400" y="2146438"/>
              <a:ext cx="10858500" cy="1808286"/>
              <a:chOff x="660400" y="2146438"/>
              <a:chExt cx="10858500" cy="180828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074321" y="2545029"/>
                <a:ext cx="10444579" cy="14096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Linux Kernel体量大、模块复杂，这使得对其进行维护和发展面临诸多挑战。如此庞大的代码量和复杂的模块结构，导致人工编写fuzzing规格和人工修复的成本</a:t>
                </a:r>
                <a:r>
                  <a:rPr lang="zh-CN" altLang="en-US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较高</a:t>
                </a: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。</a:t>
                </a:r>
                <a:endParaRPr lang="en-US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74321" y="2146438"/>
                <a:ext cx="10444579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Linux Kernel特点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0400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602E1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60400" y="4325815"/>
              <a:ext cx="10858500" cy="1808285"/>
              <a:chOff x="660400" y="4325815"/>
              <a:chExt cx="10858500" cy="180828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074321" y="4724405"/>
                <a:ext cx="10444579" cy="14096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程序修复链路包含一系列关键步骤，依次为缺陷发现、触发复现、根因定位、补丁生成和回归验证。</a:t>
                </a:r>
                <a:endParaRPr lang="en-US" sz="1800" b="0" i="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8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我们的目标是利用大语言模型的推理能力，自动化完成程序缺陷修复链路，来达到降低成本的效果。</a:t>
                </a:r>
                <a:endParaRPr lang="en-US" altLang="zh-CN" sz="180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74321" y="4325815"/>
                <a:ext cx="10444579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程序修复链路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0400" y="4325815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602E1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研究背景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6e18ec2-eb76-4b5a-afc5-9bbcf3ed8bbf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78179" y="727075"/>
            <a:ext cx="10858500" cy="5003800"/>
            <a:chOff x="660399" y="1130300"/>
            <a:chExt cx="10858500" cy="5003800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1049196" y="2148654"/>
              <a:ext cx="4624420" cy="1811994"/>
              <a:chOff x="1611862" y="2101850"/>
              <a:chExt cx="3560234" cy="1905602"/>
            </a:xfrm>
          </p:grpSpPr>
          <p:sp>
            <p:nvSpPr>
              <p:cNvPr id="5" name="AutoShape 5"/>
              <p:cNvSpPr/>
              <p:nvPr>
                <p:custDataLst>
                  <p:tags r:id="rId2"/>
                </p:custDataLst>
              </p:nvPr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602E1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项目特点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该项目的核心工作是利用</a:t>
                </a:r>
                <a:r>
                  <a:rPr lang="en-US" altLang="zh-CN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LLM</a:t>
                </a: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生成内核模糊测试的规范模板来发现漏洞。它构建了完整的</a:t>
                </a:r>
                <a:r>
                  <a:rPr lang="en-US" altLang="zh-CN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Linux </a:t>
                </a: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编译和</a:t>
                </a:r>
                <a:r>
                  <a:rPr lang="en-US" altLang="zh-CN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Syzkaller </a:t>
                </a: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运行环境，能持续产出高质量的真实缺陷数据</a:t>
                </a: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。</a:t>
                </a:r>
                <a:endParaRPr lang="en-US" sz="16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505684" y="2148654"/>
              <a:ext cx="4624420" cy="1811994"/>
              <a:chOff x="3645551" y="2101850"/>
              <a:chExt cx="3560234" cy="1905602"/>
            </a:xfrm>
          </p:grpSpPr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3707303" y="2698750"/>
                <a:ext cx="3409015" cy="49892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645552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349917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项目文档</a:t>
                </a:r>
                <a:endParaRPr lang="zh-CN" altLang="en-US" sz="1800" b="1" i="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645551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  <a:sym typeface="+mn-ea"/>
                  </a:rPr>
                  <a:t>仓库中</a:t>
                </a:r>
                <a:r>
                  <a:rPr 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  <a:sym typeface="+mn-ea"/>
                  </a:rPr>
                  <a:t>相关的文档资料较为完整。</a:t>
                </a:r>
                <a:r>
                  <a:rPr lang="zh-CN" alt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  <a:sym typeface="+mn-ea"/>
                  </a:rPr>
                  <a:t>提供了操作指引，</a:t>
                </a:r>
                <a:r>
                  <a:rPr 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  <a:sym typeface="+mn-ea"/>
                  </a:rPr>
                  <a:t>便于我们进行复现和</a:t>
                </a:r>
                <a:r>
                  <a:rPr lang="zh-CN" alt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  <a:sym typeface="+mn-ea"/>
                  </a:rPr>
                  <a:t>改进</a:t>
                </a:r>
                <a:r>
                  <a:rPr 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  <a:sym typeface="+mn-ea"/>
                  </a:rPr>
                  <a:t>工作</a:t>
                </a:r>
                <a:r>
                  <a:rPr lang="zh-CN" alt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  <a:sym typeface="+mn-ea"/>
                  </a:rPr>
                  <a:t>。</a:t>
                </a:r>
                <a:endParaRPr lang="en-US" sz="1600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660399" y="1130300"/>
              <a:ext cx="10858500" cy="567579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 rot="0">
              <a:off x="1049196" y="4322106"/>
              <a:ext cx="4624420" cy="1811994"/>
              <a:chOff x="1611862" y="2101850"/>
              <a:chExt cx="3560234" cy="1905602"/>
            </a:xfrm>
          </p:grpSpPr>
          <p:sp>
            <p:nvSpPr>
              <p:cNvPr id="16" name="AutoShape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项目价值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项目已在真实内核场景中验证价值，它能够发现新的bug。这充分证明了该项目的工程可信度，在实际应用中具有一定的实用性和可靠性。</a:t>
                </a:r>
                <a:endParaRPr lang="en-US" sz="16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6505371" y="4322106"/>
              <a:ext cx="4624420" cy="1811994"/>
              <a:chOff x="3645224" y="2101850"/>
              <a:chExt cx="3560234" cy="1905602"/>
            </a:xfrm>
          </p:grpSpPr>
          <p:sp>
            <p:nvSpPr>
              <p:cNvPr id="21" name="AutoShape 21"/>
              <p:cNvSpPr/>
              <p:nvPr>
                <p:custDataLst>
                  <p:tags r:id="rId14"/>
                </p:custDataLst>
              </p:nvPr>
            </p:nvSpPr>
            <p:spPr>
              <a:xfrm>
                <a:off x="3706976" y="2698750"/>
                <a:ext cx="3409015" cy="49892"/>
              </a:xfrm>
              <a:prstGeom prst="rect">
                <a:avLst/>
              </a:prstGeom>
              <a:solidFill>
                <a:srgbClr val="602E1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645225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349590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扩展性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645224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该项目作为基线可自然扩展到“发现 - 修复”闭环研究。我们可以在此基础上</a:t>
                </a: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作出改进</a:t>
                </a: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，构建完整的程序修复闭环系统。</a:t>
                </a:r>
                <a:endParaRPr lang="en-US" sz="16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选择KernelGPT的理由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0a23a30-0ca6-49f6-ab83-eba0f5be153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KernelGPT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SimSun" pitchFamily="2" charset="-122"/>
                <a:cs typeface="Arial" panose="020B0604020202020204"/>
              </a:rPr>
              <a:t>工作流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Arial" panose="020B0604020202020204"/>
              <a:ea typeface="SimSun" pitchFamily="2" charset="-122"/>
              <a:cs typeface="Arial" panose="020B0604020202020204"/>
            </a:endParaRPr>
          </a:p>
        </p:txBody>
      </p:sp>
      <p:grpSp>
        <p:nvGrpSpPr>
          <p:cNvPr id="53" name="Group 3"/>
          <p:cNvGrpSpPr/>
          <p:nvPr>
            <p:custDataLst>
              <p:tags r:id="rId1"/>
            </p:custDataLst>
          </p:nvPr>
        </p:nvGrpSpPr>
        <p:grpSpPr>
          <a:xfrm rot="0">
            <a:off x="601344" y="570230"/>
            <a:ext cx="10858500" cy="5003800"/>
            <a:chOff x="660399" y="1130300"/>
            <a:chExt cx="10858500" cy="5003800"/>
          </a:xfrm>
        </p:grpSpPr>
        <p:grpSp>
          <p:nvGrpSpPr>
            <p:cNvPr id="54" name="Group 4"/>
            <p:cNvGrpSpPr/>
            <p:nvPr/>
          </p:nvGrpSpPr>
          <p:grpSpPr>
            <a:xfrm rot="0">
              <a:off x="1049196" y="2148654"/>
              <a:ext cx="4624420" cy="1811994"/>
              <a:chOff x="1611862" y="2101850"/>
              <a:chExt cx="3560234" cy="1905602"/>
            </a:xfrm>
          </p:grpSpPr>
          <p:sp>
            <p:nvSpPr>
              <p:cNvPr id="55" name="AutoShape 5"/>
              <p:cNvSpPr/>
              <p:nvPr>
                <p:custDataLst>
                  <p:tags r:id="rId2"/>
                </p:custDataLst>
              </p:nvPr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602E1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5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静态提取</a:t>
                </a:r>
                <a:endParaRPr lang="zh-CN" altLang="en-US" sz="1800" b="1" i="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5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zh-CN" alt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利用基于</a:t>
                </a:r>
                <a:r>
                  <a:rPr lang="en-US" altLang="zh-CN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Clang </a:t>
                </a:r>
                <a:r>
                  <a:rPr lang="zh-CN" alt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开发的静态分析工具，扫描</a:t>
                </a:r>
                <a:r>
                  <a:rPr lang="en-US" altLang="zh-CN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Linux </a:t>
                </a:r>
                <a:r>
                  <a:rPr lang="zh-CN" altLang="en-US" sz="160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源码，提取目标内核模块的函数签名、结构体定义以及调用关系等基础信息。</a:t>
                </a:r>
                <a:endParaRPr lang="zh-CN" altLang="en-US" sz="160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59" name="Group 9"/>
            <p:cNvGrpSpPr/>
            <p:nvPr/>
          </p:nvGrpSpPr>
          <p:grpSpPr>
            <a:xfrm rot="0">
              <a:off x="6505684" y="2148654"/>
              <a:ext cx="4624420" cy="1811994"/>
              <a:chOff x="3645551" y="2101850"/>
              <a:chExt cx="3560234" cy="1905602"/>
            </a:xfrm>
          </p:grpSpPr>
          <p:sp>
            <p:nvSpPr>
              <p:cNvPr id="6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3707303" y="2698750"/>
                <a:ext cx="3409015" cy="49892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645552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6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349917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altLang="zh-CN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LLM</a:t>
                </a: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生成规格</a:t>
                </a:r>
                <a:endParaRPr lang="zh-CN" altLang="en-US" sz="1800" b="1" i="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6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645551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600"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将提取的静态源码信息输入给大语言模型，由</a:t>
                </a:r>
                <a:r>
                  <a:rPr lang="en-US" altLang="zh-CN" sz="1600"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LLM </a:t>
                </a:r>
                <a:r>
                  <a:rPr lang="zh-CN" altLang="en-US" sz="1600"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自动化生成并迭代推导出符合</a:t>
                </a:r>
                <a:r>
                  <a:rPr lang="en-US" altLang="zh-CN" sz="1600"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Syzkaller </a:t>
                </a:r>
                <a:r>
                  <a:rPr lang="zh-CN" altLang="en-US" sz="1600"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语法的系统调用规范</a:t>
                </a:r>
                <a:r>
                  <a:rPr lang="en-US" altLang="zh-CN" sz="1600"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</a:t>
                </a:r>
                <a:endParaRPr lang="en-US" altLang="zh-CN" sz="1600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sp>
          <p:nvSpPr>
            <p:cNvPr id="64" name="AutoShape 14"/>
            <p:cNvSpPr/>
            <p:nvPr/>
          </p:nvSpPr>
          <p:spPr>
            <a:xfrm>
              <a:off x="660399" y="1130300"/>
              <a:ext cx="10858500" cy="567579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65" name="Group 15"/>
            <p:cNvGrpSpPr/>
            <p:nvPr/>
          </p:nvGrpSpPr>
          <p:grpSpPr>
            <a:xfrm rot="0">
              <a:off x="1049196" y="4322106"/>
              <a:ext cx="4624420" cy="1811994"/>
              <a:chOff x="1611862" y="2101850"/>
              <a:chExt cx="3560234" cy="1905602"/>
            </a:xfrm>
          </p:grpSpPr>
          <p:sp>
            <p:nvSpPr>
              <p:cNvPr id="66" name="AutoShape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6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模糊测试执行</a:t>
                </a:r>
                <a:endParaRPr lang="en-US" sz="1100"/>
              </a:p>
            </p:txBody>
          </p:sp>
          <p:sp>
            <p:nvSpPr>
              <p:cNvPr id="6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将生成的规范注入</a:t>
                </a:r>
                <a:r>
                  <a:rPr lang="en-US" altLang="zh-CN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Syzkaller </a:t>
                </a: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引擎，指导其生成结构化的系统调用序列对内核进行动态测试</a:t>
                </a: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。</a:t>
                </a:r>
                <a:endParaRPr lang="en-US" sz="1600"/>
              </a:p>
            </p:txBody>
          </p:sp>
        </p:grpSp>
        <p:grpSp>
          <p:nvGrpSpPr>
            <p:cNvPr id="70" name="Group 20"/>
            <p:cNvGrpSpPr/>
            <p:nvPr/>
          </p:nvGrpSpPr>
          <p:grpSpPr>
            <a:xfrm rot="0">
              <a:off x="6505371" y="4322106"/>
              <a:ext cx="4624420" cy="1811994"/>
              <a:chOff x="3645224" y="2101850"/>
              <a:chExt cx="3560234" cy="1905602"/>
            </a:xfrm>
          </p:grpSpPr>
          <p:sp>
            <p:nvSpPr>
              <p:cNvPr id="71" name="AutoShape 21"/>
              <p:cNvSpPr/>
              <p:nvPr>
                <p:custDataLst>
                  <p:tags r:id="rId14"/>
                </p:custDataLst>
              </p:nvPr>
            </p:nvSpPr>
            <p:spPr>
              <a:xfrm>
                <a:off x="3706976" y="2698750"/>
                <a:ext cx="3409015" cy="49892"/>
              </a:xfrm>
              <a:prstGeom prst="rect">
                <a:avLst/>
              </a:prstGeom>
              <a:solidFill>
                <a:srgbClr val="602E1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645225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7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349590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崩溃捕获</a:t>
                </a:r>
                <a:endParaRPr lang="en-US" sz="1100"/>
              </a:p>
            </p:txBody>
          </p:sp>
          <p:sp>
            <p:nvSpPr>
              <p:cNvPr id="7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645224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当触发内核异常时，系统持久化崩溃日志与</a:t>
                </a:r>
                <a:r>
                  <a:rPr lang="en-US" altLang="zh-CN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 C </a:t>
                </a:r>
                <a:r>
                  <a:rPr lang="zh-CN" altLang="en-US" sz="1600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语言复现代码，并通过脚本进行基础的告警。</a:t>
                </a:r>
                <a:endParaRPr lang="en-US" sz="160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193f6a-a947-4588-a307-40afdce2a03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533400"/>
            <a:ext cx="10864850" cy="5975350"/>
            <a:chOff x="660400" y="1129439"/>
            <a:chExt cx="10864850" cy="5004660"/>
          </a:xfrm>
        </p:grpSpPr>
        <p:sp>
          <p:nvSpPr>
            <p:cNvPr id="4" name="AutoShape 4"/>
            <p:cNvSpPr/>
            <p:nvPr/>
          </p:nvSpPr>
          <p:spPr>
            <a:xfrm>
              <a:off x="666750" y="1129439"/>
              <a:ext cx="10858500" cy="609600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1841499"/>
              <a:ext cx="10858500" cy="4292600"/>
              <a:chOff x="660400" y="1831598"/>
              <a:chExt cx="10858500" cy="3188997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660400" y="1831598"/>
                <a:ext cx="10858500" cy="993397"/>
                <a:chOff x="1362074" y="1831598"/>
                <a:chExt cx="10858500" cy="993397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1362074" y="1942067"/>
                  <a:ext cx="425639" cy="315586"/>
                </a:xfrm>
                <a:prstGeom prst="roundRect">
                  <a:avLst>
                    <a:gd name="adj" fmla="val 8500"/>
                  </a:avLst>
                </a:prstGeom>
                <a:solidFill>
                  <a:srgbClr val="602E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852840" y="2296000"/>
                  <a:ext cx="10367734" cy="52899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buClrTx/>
                    <a:buSzTx/>
                    <a:buNone/>
                    <a:defRPr/>
                  </a:pP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1. 项目工作流在成功触发内核缺陷后即告终止。面对产出的复杂崩溃日志，缺乏自动化的缺陷归因、根因定位与修复机制，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需要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人工逆向排查。</a:t>
                  </a:r>
                  <a:endParaRPr lang="en-US" altLang="zh-CN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  <a:p>
                  <a:pPr algn="l">
                    <a:lnSpc>
                      <a:spcPct val="120000"/>
                    </a:lnSpc>
                    <a:buClrTx/>
                    <a:buSzTx/>
                    <a:buNone/>
                    <a:defRPr/>
                  </a:pP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2. 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原始崩溃日志对人类不友好，直接丢给大模型又容易因缺乏上下文而产生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“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幻觉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”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。</a:t>
                  </a:r>
                  <a:endParaRPr lang="zh-CN" altLang="en-US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852840" y="1831598"/>
                  <a:ext cx="10367734" cy="4644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zh-CN" alt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为什么改？</a:t>
                  </a:r>
                  <a:endParaRPr lang="en-US" sz="1100"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 rot="0">
                <a:off x="660400" y="2929398"/>
                <a:ext cx="10858500" cy="1700556"/>
                <a:chOff x="1362074" y="2929398"/>
                <a:chExt cx="10858500" cy="1700556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1362074" y="3039867"/>
                  <a:ext cx="425639" cy="315586"/>
                </a:xfrm>
                <a:prstGeom prst="roundRect">
                  <a:avLst>
                    <a:gd name="adj" fmla="val 8500"/>
                  </a:avLst>
                </a:prstGeom>
                <a:solidFill>
                  <a:srgbClr val="602E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852929" y="3393653"/>
                  <a:ext cx="10367645" cy="123630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indent="0" algn="l">
                    <a:lnSpc>
                      <a:spcPct val="120000"/>
                    </a:lnSpc>
                    <a:defRPr/>
                  </a:pP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1.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提取日志：自动解析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Syzkaller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的报错信息，提取崩溃点（如哪个函数报了空指针）。</a:t>
                  </a:r>
                  <a:endParaRPr lang="zh-CN" altLang="en-US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  <a:p>
                  <a:pPr indent="0" algn="l">
                    <a:lnSpc>
                      <a:spcPct val="120000"/>
                    </a:lnSpc>
                    <a:defRPr/>
                  </a:pP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2.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静态检索：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复用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KernelGPT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原有的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Clang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静态分析工具，自动检索出该函数的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源代码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以及相关的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结构体定义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。</a:t>
                  </a:r>
                  <a:endParaRPr lang="zh-CN" altLang="en-US" b="0" i="0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  <a:p>
                  <a:pPr indent="0" algn="l">
                    <a:lnSpc>
                      <a:spcPct val="120000"/>
                    </a:lnSpc>
                    <a:defRPr/>
                  </a:pP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3. LLM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诊断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：将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“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精简后的崩溃日志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+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检索到的代码上下文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”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打包成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Prompt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交给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LLM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。让</a:t>
                  </a:r>
                  <a:r>
                    <a:rPr lang="en-US" altLang="zh-CN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LLM </a:t>
                  </a:r>
                  <a:r>
                    <a:rPr lang="zh-CN" alt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输出一份人类可读的结构化漏洞诊断报告，减少人工排查成本。</a:t>
                  </a:r>
                  <a:br>
                    <a:rPr lang="en-US" b="0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</a:br>
                  <a:endParaRPr lang="en-US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852840" y="2929398"/>
                  <a:ext cx="10367734" cy="4644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zh-CN" alt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如何改进？</a:t>
                  </a:r>
                  <a:endParaRPr lang="en-US" sz="1100"/>
                </a:p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151166" y="4491600"/>
                <a:ext cx="10367734" cy="5289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endParaRPr lang="zh-CN" altLang="en-US" b="0" i="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改进点一：基于</a:t>
            </a:r>
            <a:r>
              <a:rPr lang="en-US" altLang="zh-CN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LLM 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的自动化崩溃原因分析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193f6a-a947-4588-a307-40afdce2a03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533400"/>
            <a:ext cx="10864850" cy="5975350"/>
            <a:chOff x="660400" y="1129439"/>
            <a:chExt cx="10864850" cy="5004660"/>
          </a:xfrm>
        </p:grpSpPr>
        <p:sp>
          <p:nvSpPr>
            <p:cNvPr id="4" name="AutoShape 4"/>
            <p:cNvSpPr/>
            <p:nvPr/>
          </p:nvSpPr>
          <p:spPr>
            <a:xfrm>
              <a:off x="666750" y="1129439"/>
              <a:ext cx="10858500" cy="609600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1841499"/>
              <a:ext cx="10858500" cy="4292600"/>
              <a:chOff x="660400" y="1831598"/>
              <a:chExt cx="10858500" cy="3188997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660400" y="1831598"/>
                <a:ext cx="10858500" cy="1232350"/>
                <a:chOff x="1362074" y="1831598"/>
                <a:chExt cx="10858500" cy="1232350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1362074" y="1942067"/>
                  <a:ext cx="425639" cy="315586"/>
                </a:xfrm>
                <a:prstGeom prst="roundRect">
                  <a:avLst>
                    <a:gd name="adj" fmla="val 8500"/>
                  </a:avLst>
                </a:prstGeom>
                <a:solidFill>
                  <a:srgbClr val="602E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852929" y="2295853"/>
                  <a:ext cx="10367645" cy="76809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buClrTx/>
                    <a:buSzTx/>
                    <a:buNone/>
                    <a:defRPr/>
                  </a:pP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Linux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内核逻辑复杂，手写补丁门槛极高，且容易引入二次漏洞。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LLM 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预训练阶段学习了海量开源内核的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Commit 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历史与安全补丁（如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CVE 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修复），能关联出针对此类漏洞（如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 UAF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:r>
                    <a:rPr lang="en-US" altLang="zh-CN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Race Condition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）的经典修复模式（如加锁、增加判空机制、调整引用计数）。</a:t>
                  </a:r>
                  <a:endParaRPr lang="zh-CN" altLang="en-US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852840" y="1831598"/>
                  <a:ext cx="10367734" cy="4644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zh-CN" alt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为什么改？</a:t>
                  </a:r>
                  <a:endParaRPr lang="en-US" sz="1100"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 rot="0">
                <a:off x="660400" y="2929398"/>
                <a:ext cx="10858500" cy="1700556"/>
                <a:chOff x="1362074" y="2929398"/>
                <a:chExt cx="10858500" cy="1700556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1362074" y="3039867"/>
                  <a:ext cx="425639" cy="315586"/>
                </a:xfrm>
                <a:prstGeom prst="roundRect">
                  <a:avLst>
                    <a:gd name="adj" fmla="val 8500"/>
                  </a:avLst>
                </a:prstGeom>
                <a:solidFill>
                  <a:srgbClr val="602E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852929" y="3393653"/>
                  <a:ext cx="10367645" cy="123630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indent="0" algn="l">
                    <a:lnSpc>
                      <a:spcPct val="120000"/>
                    </a:lnSpc>
                    <a:defRPr/>
                  </a:pPr>
                  <a:r>
                    <a:rPr lang="en-US" altLang="zh-CN"/>
                    <a:t>1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. </a:t>
                  </a: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生成补丁：基于“改进点一”的分析结果，让 LLM 生成修复该漏洞的代码补丁（Diff）。</a:t>
                  </a:r>
                  <a:endParaRPr lang="zh-CN" altLang="en-US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  <a:p>
                  <a:pPr indent="0" algn="l">
                    <a:lnSpc>
                      <a:spcPct val="120000"/>
                    </a:lnSpc>
                    <a:defRPr/>
                  </a:pP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2. 自动打补丁编译：脚本自动将补丁应用到 Linux 源码并尝试编译。如果编译报错，将 GCC 错误日志发回给 LLM 重新修改。</a:t>
                  </a:r>
                  <a:endParaRPr lang="zh-CN" altLang="en-US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  <a:p>
                  <a:pPr indent="0" algn="l">
                    <a:lnSpc>
                      <a:spcPct val="120000"/>
                    </a:lnSpc>
                    <a:defRPr/>
                  </a:pPr>
                  <a:r>
                    <a:rPr lang="zh-CN" altLang="en-US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3. 动态验证闭环：利用 Syzkaller 捕获到的触发该漏洞的 C 语言复现代码（Reproducer），在打过补丁的虚拟机中再次执行。如果系统不再崩溃，则证明修复有效</a:t>
                  </a:r>
                  <a:endParaRPr lang="en-US" altLang="zh-CN">
                    <a:solidFill>
                      <a:srgbClr val="000000">
                        <a:alpha val="100000"/>
                      </a:srgb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852840" y="2929398"/>
                  <a:ext cx="10367734" cy="4644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zh-CN" alt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如何改进？</a:t>
                  </a:r>
                  <a:endParaRPr lang="en-US" sz="1100"/>
                </a:p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151166" y="4491600"/>
                <a:ext cx="10367734" cy="5289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endParaRPr lang="zh-CN" altLang="en-US" b="0" i="0">
                  <a:solidFill>
                    <a:srgbClr val="000000">
                      <a:alpha val="100000"/>
                    </a:srgb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改进点二：</a:t>
            </a:r>
            <a:r>
              <a:rPr lang="en-US" altLang="zh-CN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LLM 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驱动的自动修复与动态验证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2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3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4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5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6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7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8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9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0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1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2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3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4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5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6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7.xml><?xml version="1.0" encoding="utf-8"?>
<p:tagLst xmlns:p="http://schemas.openxmlformats.org/presentationml/2006/main">
  <p:tag name="KSO_WM_DIAGRAM_VIRTUALLY_FRAME" val="{&quot;height&quot;:425.75,&quot;left&quot;:51.999921259842516,&quot;top&quot;:57.25,&quot;width&quot;:856.4}"/>
</p:tagLst>
</file>

<file path=ppt/tags/tag18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19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0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1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2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3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4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5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6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7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8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29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30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31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32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33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ags/tag34.xml><?xml version="1.0" encoding="utf-8"?>
<p:tagLst xmlns:p="http://schemas.openxmlformats.org/presentationml/2006/main">
  <p:tag name="KSO_WM_DIAGRAM_VIRTUALLY_FRAME" val="{&quot;height&quot;:438.1,&quot;left&quot;:47.34992125984252,&quot;top&quot;:44.9,&quot;width&quot;:859.65}"/>
</p:tagLst>
</file>

<file path=ppt/theme/theme1.xml><?xml version="1.0" encoding="utf-8"?>
<a:theme xmlns:a="http://schemas.openxmlformats.org/drawingml/2006/main" name="a39e166c-c014-4ee9-9ada-bc09d9f624e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WPS 演示</Application>
  <PresentationFormat>On-screen Show (4:3)</PresentationFormat>
  <Paragraphs>128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DejaVu Sans</vt:lpstr>
      <vt:lpstr>Microsoft YaHei</vt:lpstr>
      <vt:lpstr>Droid Sans Fallback</vt:lpstr>
      <vt:lpstr>Arial</vt:lpstr>
      <vt:lpstr>Calibri</vt:lpstr>
      <vt:lpstr>Arial Unicode MS</vt:lpstr>
      <vt:lpstr>Noto Serif CJK SC</vt:lpstr>
      <vt:lpstr>SimSun</vt:lpstr>
      <vt:lpstr>a39e166c-c014-4ee9-9ada-bc09d9f624e0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晦还明</cp:lastModifiedBy>
  <cp:revision>25</cp:revision>
  <dcterms:created xsi:type="dcterms:W3CDTF">2026-04-04T13:23:24Z</dcterms:created>
  <dcterms:modified xsi:type="dcterms:W3CDTF">2026-04-04T13:23:24Z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3745E49ADC794BBF993854B9E53E09FD_13</vt:lpwstr>
  </property>
  <property fmtid="{D5CDD505-2E9C-101B-9397-08002B2CF9AE}" pid="3" name="KSOProductBuildVer">
    <vt:lpwstr>2052-12.1.2.24722</vt:lpwstr>
  </property>
</Properties>
</file>