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9" r:id="rId5"/>
    <p:sldId id="258" r:id="rId6"/>
    <p:sldId id="269" r:id="rId7"/>
    <p:sldId id="270" r:id="rId8"/>
    <p:sldId id="273" r:id="rId9"/>
    <p:sldId id="261" r:id="rId10"/>
    <p:sldId id="275" r:id="rId11"/>
    <p:sldId id="276" r:id="rId12"/>
    <p:sldId id="277" r:id="rId13"/>
    <p:sldId id="280" r:id="rId14"/>
    <p:sldId id="281" r:id="rId15"/>
    <p:sldId id="265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2" autoAdjust="0"/>
    <p:restoredTop sz="71809" autoAdjust="0"/>
  </p:normalViewPr>
  <p:slideViewPr>
    <p:cSldViewPr snapToGrid="0">
      <p:cViewPr varScale="1">
        <p:scale>
          <a:sx n="69" d="100"/>
          <a:sy n="69" d="100"/>
        </p:scale>
        <p:origin x="957" y="45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我们小组选择的是题目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《智能视觉感知软件的对抗鲁棒性测试与自动化评估》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汇报主要分为四个部分：前期的领域调研工作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开源项目的介绍和选择理由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工具选型与技术路线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后续的改进思路与优化方向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虽然深度神经网络在分类任务中表现优异，但存在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“高精度、高脆弱“的悖论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—— 比如在自动驾驶场景中，一个微小的对抗扰动，就可能让系统把“停止”标志误判为“限速”，导致严重的交通事故；在人脸识别领域，攻击者也可以通过简单的手段来冒充他人，威胁信息安全；在智能收银场景中，对抗贴纸的攻击可能造成直接的经济损失。所以，研究视觉模型的对抗鲁棒性，防御这些攻击，具有重要的现实意义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简单来说，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对抗样本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就是在正常图片上添加一些人眼看不见的噪声，就能让深度学习模型认错东西。下面这幅图最早出现在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Goodfellow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ICLR 2015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发表的论文《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Explaining and Harnessing Adversarial Examples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》中，文中提出了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FGSM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这种快速的单步对抗攻击方法：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通过计算损失函数对输入</a:t>
            </a:r>
            <a:r>
              <a:rPr lang="en-US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的梯度，取它的符号方向</a:t>
            </a:r>
            <a:r>
              <a:rPr lang="en-US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，再乘上一个微小的扰动系数 ε，最后叠加到原图上；熊猫就被错误识别为长臂猿，且置信度高达</a:t>
            </a:r>
            <a:r>
              <a:rPr lang="en-US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99%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！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它揭示了一个反直觉的结论：神经网络之所以容易受到微小扰动的攻击，本质上是因为它们在高维空间中的线性特性，而非此前认为的过于非线性或过拟合；这一理论为我们理解对抗样本的生成逻辑奠定了基础。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636CE-C190-CA3E-B452-8D48A53D2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EDE213-6111-3314-3D63-5B02FAAA74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FE988-5FB3-9723-5A8B-78C5543E1FC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5DE4652-F302-D789-B416-3AD21353F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DFF8A06-4237-933C-EDD8-2BFB632C5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简单来说，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对抗样本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就是在正常图片上添加一些人眼看不见的噪声，就能让深度学习模型认错东西。下面这幅图最早出现在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Goodfellow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ICLR 2015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发表的论文《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Explaining and Harnessing Adversarial Examples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》中，文中提出了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FGSM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这种快速的单步对抗攻击方法：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通过计算损失函数对输入</a:t>
            </a:r>
            <a:r>
              <a:rPr lang="en-US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的梯度，取它的符号方向</a:t>
            </a:r>
            <a:r>
              <a:rPr lang="en-US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，再乘上一个微小的扰动系数 ε，最后叠加到原图上；熊猫就被错误识别为长臂猿，且置信度高达</a:t>
            </a:r>
            <a:r>
              <a:rPr lang="en-US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99%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！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它揭示了一个反直觉的结论：神经网络之所以容易受到微小扰动的攻击，本质上是因为它们在高维空间中的线性特性，而非此前认为的过于非线性或过拟合；这一理论为我们理解对抗样本的生成逻辑奠定了基础。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E2907-98D3-8C79-BBDA-919A09DC2F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6F3A7-9449-FD61-F587-7526CBE58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44600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12F18-F0F4-43A9-1806-D1995528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BF91A1-8219-8072-B986-F867401EE8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79BC0B-E9F2-6ED9-7BF2-2CB0402740B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EC0BEAC-0E31-B6B3-07CC-F876D105D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5871415-F57D-BAB5-943B-B88E38896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为了掌握评估模型鲁棒性的核心手段，我们研读了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Madry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ICLR 2018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发表的论文《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Towards Deep Learning Models Resistant to Adversarial Attacks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》—— 文中提出的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PGD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是一种更强的迭代攻击方法：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通过多次迭代优化扰动，并将其投影到合理范围内，能突破简单的防御机制，是评估模型鲁棒性的标准方法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；我们后续的实验也将严格以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PGD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下的准确率作为核心评估指标。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F46A8-30D2-DDC1-B199-26DF6BD9BC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3BAB6-FF2E-6849-0FF8-88D007E0A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55196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EBB9-DEFF-C081-A1D4-74B6C858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BE6E92-659B-F8DC-7C7C-D56116FD80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59A67-A925-436F-884E-FEC031E9A96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7682F38-2E51-A70E-9D0E-7A2D3B5211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F6A0CBC-D5A3-57D3-8336-954B772BD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4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在模型层面，我们引用了何恺明团队在</a:t>
            </a:r>
            <a:r>
              <a:rPr lang="en-US" altLang="zh-CN" sz="14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CVPR 2016</a:t>
            </a:r>
            <a:r>
              <a:rPr lang="zh-CN" altLang="zh-CN" sz="14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发表的经典论文《</a:t>
            </a:r>
            <a:r>
              <a:rPr lang="en-US" altLang="zh-CN" sz="14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Residual Learning for Image Recognition</a:t>
            </a:r>
            <a:r>
              <a:rPr lang="zh-CN" altLang="zh-CN" sz="14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》：</a:t>
            </a:r>
            <a:r>
              <a:rPr lang="en-US" altLang="zh-CN" sz="14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</a:t>
            </a:r>
            <a:r>
              <a:rPr lang="zh-CN" altLang="zh-CN" sz="14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是残差网络，是图像分类领域的经典基准模型。它的核心创新在于引入了残差连接结构，依靠捷径支路实现跨层信息传递，缓解了深层神经网络训练时极易出现的梯度消失问题，让网络能够稳定搭建至上百层，兼顾了模型深度与分类性能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054AB-DDC9-76BC-EC77-11718D19A6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5738C-D03C-5198-339D-EBEEBEDA3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75012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结合上述调研工作，我们小组选择了一个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ResNet-18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网络架构的果蔬识别系统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作为实验载体。①这个项目的在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上开源，功能比较完备：它能够实现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多类别图像分类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，涵盖了苹果、香蕉、生姜等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种日常果蔬；②在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工程实现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上，它集成了完整的训练循环、验证逻辑以及基于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TensorBoard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的可视化监控；还支持模型持久化，能够随时保存和加载权重进行断点续训，并输出预测类别及置信度；③在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实际应用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中，这类系统广泛部署于农业自动化分拣、移动端饮食管理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，以及我们最常见的超市自助收银机上。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我们选择该项目作为实验载体，主要有三个理由：</a:t>
            </a:r>
          </a:p>
          <a:p>
            <a:pPr lvl="0"/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首先，它的可行性很高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该项目的代码架构非常清晰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，采用了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argparse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进行参数管理，并调用了成熟的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timm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模型库，这种模块化的设计方便我们后续直接嵌入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PGD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攻击代码；同时，</a:t>
            </a:r>
            <a:r>
              <a:rPr lang="en-US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ResNet-18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属于轻量化模型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，计算开销小，我们在笔记本电脑上就能实现对抗样本的快速生成和实验迭代。</a:t>
            </a:r>
          </a:p>
          <a:p>
            <a:pPr lvl="0"/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其次，它具有很好的代表性：</a:t>
            </a:r>
            <a:r>
              <a:rPr lang="en-US" altLang="zh-CN" sz="1400" b="0" i="0" u="wavy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架构经典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，很多工业级识别系统都以它作为基准网络，选择它能保证我们的研究结论具有普适性；此外，果蔬识别任务本身涉及光照变化、遮挡等自然扰动，是典型的视觉感知任务，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非常适合用来测试模型的鲁棒性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0"/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最后，这个项目在实际应用中存在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安全风险和经济风险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，研究其鲁棒性具有实际价值。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AEC42-6BEF-745A-EC89-FD61F38A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42F6C8-7447-2628-574C-DC3DBADB0E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D7A4B6-5B15-974F-2946-E6E204AF177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EEDFD01-B18C-1F75-E85F-42166F5A3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34FB59F-8D1E-117E-39AC-0FC98594E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为了高效完成实验，我们将搭建基于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的开发环境：</a:t>
            </a:r>
          </a:p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① 选用</a:t>
            </a:r>
            <a:r>
              <a:rPr lang="en-US" altLang="zh-CN" sz="14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TorchAttacks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作为核心库：它是一款轻量化攻击工具，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直接封装了</a:t>
            </a:r>
            <a:r>
              <a:rPr lang="en-US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FGSM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PGD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等主流算法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，让我们可以跳过繁琐的公式推导，直接进行算法调用与复现，提升开发效率；</a:t>
            </a:r>
          </a:p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② 利用</a:t>
            </a:r>
            <a:r>
              <a:rPr lang="en-US" altLang="zh-CN" sz="14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TorchVision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进行数据处理，复用原项目的图像预处理、数据集加载逻辑，保障对抗样本有效；</a:t>
            </a:r>
          </a:p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③ 最后利用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进行核心指标的量化统计，并配合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实现结果的可视化绘图。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05C2D-2885-C15E-830D-78B4D9B265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B0E7C-C1FC-EE4F-4E96-16D98C017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63552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38BCF-87A2-4636-F756-DC96B1F2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1933A1-E763-677F-1831-09BFA6C84F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EED21-FA57-0314-68EB-68C7544550C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4F98C9-59D6-71EB-835E-EC1F4EC1C0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DAE950F-BC69-8FD9-65AA-000A8426E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我们的技术路线分为四个关键环节：</a:t>
            </a:r>
          </a:p>
          <a:p>
            <a:pPr lvl="0"/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首先基于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框架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复刻开源项目的运行环境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，搭配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TorchVision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完成数据适配，同步安装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TorchAttacks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等核心依赖库；紧接着加载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预训练权重，复用原项目的测试集接口，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先跑通清洁样本的推理流程，统计出模型的基准准确率，为后续对抗测试做好对照铺垫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0"/>
            <a:endParaRPr lang="en-US" altLang="zh-CN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进入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核心攻击复现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环节，我们会把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模型固定为推理模式，借助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TorchAttacks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工具库调用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FGSM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PGD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算法，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观察模型在不同扰动强度下产生的误分类行为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zh-CN" altLang="zh-CN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在评估阶段，我们参考了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Croce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等人发表在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NeurIPS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2020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的《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RobustBench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standardized adversarial robustness benchmark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》：这篇论文指出了目前鲁棒性评估中常见的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梯度掩盖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导致的虚假安全感问题，并提倡使用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AutoAttack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集成攻击进行标准化评估 —— 这启发我们构建一个自动化评估框架，自动遍历不同的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PGD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攻击强度，利用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监测清洁准确率、对抗准确率、攻击成功率以及扰动范数这几项核心指标，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批量测试不同扰动强度、不同攻击方式下的模型性能衰减规律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49980-297E-5307-59F6-B9EF1A6D79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B5521-37AD-3DEE-6E15-6E23096AB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80486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9D5DC-A4FD-2FC1-43BD-B6D3465AF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26143F-F90D-4831-FD65-C59B6A994F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444FC-D0E9-7D9E-8D87-B9455C76BE5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C2DD8A-5183-9AC7-70EB-E3D965AC5E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07D89D7-4E77-47CA-8C71-411DF4E0EB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我们的技术路线分为四个关键环节：</a:t>
            </a:r>
          </a:p>
          <a:p>
            <a:pPr lvl="0"/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首先基于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框架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复刻开源项目的运行环境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，搭配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TorchVision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完成数据适配，同步安装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TorchAttacks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等核心依赖库；紧接着加载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预训练权重，复用原项目的测试集接口，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先跑通清洁样本的推理流程，统计出模型的基准准确率，为后续对抗测试做好对照铺垫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0"/>
            <a:endParaRPr lang="en-US" altLang="zh-CN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进入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核心攻击复现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环节，我们会把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模型固定为推理模式，借助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TorchAttacks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工具库调用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FGSM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PGD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算法，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观察模型在不同扰动强度下产生的误分类行为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zh-CN" altLang="zh-CN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在评估阶段，我们参考了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Croce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等人发表在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NeurIPS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2020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的《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RobustBench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standardized adversarial robustness benchmark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》：这篇论文指出了目前鲁棒性评估中常见的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梯度掩盖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导致的虚假安全感问题，并提倡使用</a:t>
            </a:r>
            <a:r>
              <a:rPr lang="en-US" altLang="zh-CN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AutoAttack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集成攻击进行标准化评估 —— 这启发我们构建一个自动化评估框架，自动遍历不同的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PGD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攻击强度，利用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监测清洁准确率、对抗准确率、攻击成功率以及扰动范数这几项核心指标，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批量测试不同扰动强度、不同攻击方式下的模型性能衰减规律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47FBD-7A50-402C-CBCE-99FE5D63EB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70376-EFB5-F6E6-881F-8B482A036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0205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9451B-DC1F-6386-8E4A-4946077D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89299-BAB7-A7D6-AB22-9078255D15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321E1-39EF-A1BD-0F29-DC73D044630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58F0AF-3378-4F51-6FE7-847AE1F4C0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BE0173E-14FE-3928-33A0-854C793DB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lvl="0"/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最后可以搭建简易的</a:t>
            </a:r>
            <a:r>
              <a:rPr lang="zh-CN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防御模块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，尝试通过</a:t>
            </a:r>
            <a:r>
              <a:rPr lang="zh-CN" altLang="zh-CN" sz="1400" b="0" i="0" u="wavy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输入预处理或轻量对抗训练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来加固模型，并对比防御前后的指标变化，验证优化方案的有效性，这也是我们后续的改进和优化方向：</a:t>
            </a:r>
          </a:p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① 输入预处理：在图像进入模型推理前，可以尝试加入轻微的高斯模糊或位深缩减；验证这些简单的图像处理手段是否能清洗掉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PGD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注入的微小梯度噪声，分析其在保护软件质量方面的成本与收益。</a:t>
            </a:r>
          </a:p>
          <a:p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② 对抗训练：修改原有的训练循环，实时用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PGD</a:t>
            </a: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算法生成一部分对抗样本，把它按比例混合到原始训练集中；通过让模型在训练时“见过”这些恶意扰动，提升其抗风险能力。</a:t>
            </a: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EB2FB-65DB-6F91-787B-58CB35877D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530CF-BB70-9501-6ADC-4030FDBE5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21638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以上就是我们小组的汇报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hyperlink" Target="https://arxiv.org/abs/1412.6572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hyperlink" Target="https://arxiv.org/abs/1412.657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hyperlink" Target="https://arxiv.org/abs/1706.06083" TargetMode="Externa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arxiv.org/abs/1512.03385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jpeg"/><Relationship Id="rId7" Type="http://schemas.openxmlformats.org/officeDocument/2006/relationships/hyperlink" Target="https://github.com/Red9th/Maize-Classification-By-ResNet" TargetMode="External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hyperlink" Target="https://www.bilibili.com/video/BV1vZ4y1h7X9/?spm_id_from=333.788&amp;vd_source=a58f6b519d98ff42c9ce3e3758a070f2" TargetMode="External"/><Relationship Id="rId5" Type="http://schemas.openxmlformats.org/officeDocument/2006/relationships/image" Target="../media/image21.svg"/><Relationship Id="rId10" Type="http://schemas.openxmlformats.org/officeDocument/2006/relationships/image" Target="../media/image24.png"/><Relationship Id="rId4" Type="http://schemas.openxmlformats.org/officeDocument/2006/relationships/image" Target="../media/image20.svg"/><Relationship Id="rId9" Type="http://schemas.openxmlformats.org/officeDocument/2006/relationships/hyperlink" Target="https://aistudio.baidu.com/datasetdetail/119023/0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11" Type="http://schemas.openxmlformats.org/officeDocument/2006/relationships/image" Target="../media/image23.png"/><Relationship Id="rId5" Type="http://schemas.openxmlformats.org/officeDocument/2006/relationships/image" Target="../media/image27.svg"/><Relationship Id="rId10" Type="http://schemas.openxmlformats.org/officeDocument/2006/relationships/hyperlink" Target="https://github.com/Red9th/Maize-Classification-By-ResNet" TargetMode="External"/><Relationship Id="rId4" Type="http://schemas.openxmlformats.org/officeDocument/2006/relationships/image" Target="../media/image26.sv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0.sv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svg"/><Relationship Id="rId4" Type="http://schemas.openxmlformats.org/officeDocument/2006/relationships/image" Target="../media/image3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0.09670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13.sv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1778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智能视觉感知软件的对抗鲁棒性测试与自动化评估</a:t>
            </a:r>
            <a:endParaRPr lang="en-US" sz="1100" dirty="0"/>
          </a:p>
        </p:txBody>
      </p:sp>
      <p:cxnSp>
        <p:nvCxnSpPr>
          <p:cNvPr id="6" name="Connector 6"/>
          <p:cNvCxnSpPr/>
          <p:nvPr/>
        </p:nvCxnSpPr>
        <p:spPr>
          <a:xfrm rot="-17188">
            <a:off x="4826016" y="2914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spc="400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方向</a:t>
            </a:r>
            <a:r>
              <a:rPr lang="en-US" altLang="zh-CN" sz="2000" spc="400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8-</a:t>
            </a:r>
            <a:r>
              <a:rPr lang="zh-CN" altLang="en-US" sz="2000" spc="400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小组</a:t>
            </a:r>
            <a:r>
              <a:rPr lang="en-US" altLang="zh-CN" sz="2000" spc="400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zh-CN" altLang="en-US" sz="2000" spc="400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开</a:t>
            </a:r>
            <a:r>
              <a:rPr lang="en-US" sz="2000" b="0" i="0" u="none" strike="noStrike" spc="400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题汇报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406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2026年3月22</a:t>
            </a:r>
            <a:r>
              <a:rPr lang="zh-CN" alt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508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048000" y="1143000"/>
            <a:ext cx="762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238500" y="1397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7000" y="1498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445000" y="1295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领域调研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与相关工作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4445000" y="16764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智能视觉系统的风险 </a:t>
            </a:r>
            <a:r>
              <a:rPr lang="en-US" altLang="zh-CN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 </a:t>
            </a:r>
            <a:r>
              <a:rPr lang="en-US" sz="12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对抗鲁棒性领域的核心</a:t>
            </a:r>
            <a:r>
              <a:rPr lang="zh-CN" altLang="en-US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理论 </a:t>
            </a:r>
            <a:r>
              <a:rPr lang="en-US" altLang="zh-CN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 </a:t>
            </a:r>
            <a:r>
              <a:rPr lang="en-US" altLang="zh-CN" sz="12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ResNet</a:t>
            </a:r>
            <a:r>
              <a:rPr lang="en-US" altLang="zh-CN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核心论文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3048000" y="2286000"/>
            <a:ext cx="762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238500" y="2540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7000" y="2641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445000" y="2438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开源项目介绍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与选择理由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4445000" y="28194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altLang="zh-CN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ResNet</a:t>
            </a:r>
            <a:r>
              <a:rPr lang="en-US" altLang="zh-CN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en-US" altLang="zh-CN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18</a:t>
            </a:r>
            <a:r>
              <a:rPr lang="zh-CN" altLang="en-US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网络架构的果蔬识别系统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3048000" y="3429000"/>
            <a:ext cx="762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238500" y="3683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7000" y="3784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445000" y="3581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工具选型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与技术路线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4445000" y="39624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Pytorch</a:t>
            </a:r>
            <a:r>
              <a:rPr lang="en-US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Ecosystem / </a:t>
            </a:r>
            <a:r>
              <a:rPr lang="zh-CN" altLang="en-US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复刻运行环境 → 对抗攻击复现 → 自动化评估 → 防御验证</a:t>
            </a:r>
            <a:r>
              <a:rPr lang="en-US" altLang="zh-CN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3048000" y="4572000"/>
            <a:ext cx="762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3238500" y="4826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7000" y="4927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445000" y="4724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改进思路与优化方向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4445000" y="51054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测试侧 </a:t>
            </a:r>
            <a:r>
              <a:rPr lang="en-US" altLang="zh-CN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 </a:t>
            </a:r>
            <a:r>
              <a:rPr lang="zh-CN" altLang="en-US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防御侧 </a:t>
            </a:r>
            <a:r>
              <a:rPr lang="en-US" altLang="zh-CN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 </a:t>
            </a:r>
            <a:r>
              <a:rPr lang="zh-CN" altLang="en-US" sz="12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领域调研</a:t>
            </a:r>
            <a:r>
              <a:rPr lang="en-US" sz="3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3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</a:t>
            </a: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视觉</a:t>
            </a:r>
            <a:r>
              <a:rPr lang="zh-CN" altLang="en-US" sz="3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</a:t>
            </a: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风险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587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20" r="19"/>
          <a:stretch>
            <a:fillRect/>
          </a:stretch>
        </p:blipFill>
        <p:spPr>
          <a:xfrm>
            <a:off x="1354600" y="2173887"/>
            <a:ext cx="2116799" cy="144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AutoShape 6"/>
          <p:cNvSpPr/>
          <p:nvPr/>
        </p:nvSpPr>
        <p:spPr>
          <a:xfrm>
            <a:off x="889000" y="3837211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自动驾驶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6000" y="4151084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对抗样本可能导致系统误判交通</a:t>
            </a:r>
            <a:r>
              <a:rPr lang="zh-CN" altLang="en-US" dirty="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标志</a:t>
            </a:r>
            <a:r>
              <a:rPr lang="en-US" sz="1400" b="0" i="0" u="none" strike="noStrike" dirty="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400" b="0" i="0" u="none" strike="noStrike" dirty="0" err="1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引发严重交通事故</a:t>
            </a:r>
            <a:r>
              <a:rPr lang="en-US" sz="1400" b="0" i="0" u="none" strike="noStrike" dirty="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72000" y="3837211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64FFDA"/>
                </a:solidFill>
                <a:latin typeface="Noto Sans SC"/>
                <a:ea typeface="Noto Sans SC"/>
                <a:sym typeface="Noto Sans SC"/>
              </a:rPr>
              <a:t>人脸识别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572000" y="4151084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攻击者可通过特殊眼镜或图案欺骗系统，冒充他人身份，严重威胁信息安全</a:t>
            </a:r>
            <a:r>
              <a:rPr lang="en-US" sz="1400" b="0" i="0" u="none" strike="noStrike" dirty="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8128000" y="2032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255000" y="3837211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64FFDA"/>
                </a:solidFill>
                <a:latin typeface="Noto Sans SC"/>
                <a:ea typeface="Noto Sans SC"/>
                <a:sym typeface="Noto Sans SC"/>
              </a:rPr>
              <a:t>智能收银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8255000" y="4151083"/>
            <a:ext cx="3048000" cy="95068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zh-CN" altLang="en-US" sz="1400" b="0" i="0" u="none" strike="noStrike" dirty="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攻击者通过“对抗贴纸”将昂贵果蔬识别成便宜品种，造成直接经济损失</a:t>
            </a:r>
            <a:r>
              <a:rPr lang="en-US" sz="1400" b="0" i="0" u="none" strike="noStrike" dirty="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030" name="Picture 6" descr="Amazon Go Grocery: This Is The Future Of Shopping, Whether We Like It Or Not">
            <a:extLst>
              <a:ext uri="{FF2B5EF4-FFF2-40B4-BE49-F238E27FC236}">
                <a16:creationId xmlns:a16="http://schemas.microsoft.com/office/drawing/2014/main" id="{C3DCDF0A-38BA-5A59-E8B9-834E5B2A1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000" y="2173887"/>
            <a:ext cx="2559999" cy="144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ace Recognition with AI: Technologies and Trends - ITChronicles">
            <a:extLst>
              <a:ext uri="{FF2B5EF4-FFF2-40B4-BE49-F238E27FC236}">
                <a16:creationId xmlns:a16="http://schemas.microsoft.com/office/drawing/2014/main" id="{7A7A3625-0984-E68B-4883-520AEEC78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714" y="2173887"/>
            <a:ext cx="2340572" cy="144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领域调研</a:t>
            </a:r>
            <a:r>
              <a:rPr lang="zh-CN" altLang="en-US" sz="3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：对抗鲁棒性领域的核心理论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1" y="1422401"/>
            <a:ext cx="5546998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656443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499" y="1618343"/>
            <a:ext cx="412387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对抗样本</a:t>
            </a:r>
            <a:r>
              <a:rPr lang="en-US" sz="2000" b="1" i="0" u="none" strike="noStrike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 (Adversarial Examples)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952500" y="2037443"/>
            <a:ext cx="5230586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原始输入中添加微小的、精心设计的扰动，使得模型产生错误输出的样本。这些扰动通常人眼无法察觉，但足以欺骗深度学习模型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054" name="Picture 6" descr="NIPS'17 Adversarial Learning Competition - Preferred Networks Tech Blog">
            <a:extLst>
              <a:ext uri="{FF2B5EF4-FFF2-40B4-BE49-F238E27FC236}">
                <a16:creationId xmlns:a16="http://schemas.microsoft.com/office/drawing/2014/main" id="{03FA2AE0-C5BC-C494-0C66-17013D411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417238"/>
            <a:ext cx="5558971" cy="22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图片 23">
            <a:hlinkClick r:id="rId5"/>
            <a:extLst>
              <a:ext uri="{FF2B5EF4-FFF2-40B4-BE49-F238E27FC236}">
                <a16:creationId xmlns:a16="http://schemas.microsoft.com/office/drawing/2014/main" id="{DB707505-2CE1-841C-3FB3-24B2486363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498" y="1422401"/>
            <a:ext cx="5177765" cy="4242787"/>
          </a:xfrm>
          <a:prstGeom prst="rect">
            <a:avLst/>
          </a:prstGeom>
        </p:spPr>
      </p:pic>
      <p:pic>
        <p:nvPicPr>
          <p:cNvPr id="25" name="Picture 11">
            <a:extLst>
              <a:ext uri="{FF2B5EF4-FFF2-40B4-BE49-F238E27FC236}">
                <a16:creationId xmlns:a16="http://schemas.microsoft.com/office/drawing/2014/main" id="{0981CB8A-34E1-6FF2-BA1F-2E8EAB36A8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6079781"/>
            <a:ext cx="297543" cy="297543"/>
          </a:xfrm>
          <a:prstGeom prst="rect">
            <a:avLst/>
          </a:prstGeom>
        </p:spPr>
      </p:pic>
      <p:sp>
        <p:nvSpPr>
          <p:cNvPr id="26" name="AutoShape 12">
            <a:extLst>
              <a:ext uri="{FF2B5EF4-FFF2-40B4-BE49-F238E27FC236}">
                <a16:creationId xmlns:a16="http://schemas.microsoft.com/office/drawing/2014/main" id="{EFE7EFCE-27F7-BF66-8B09-3A22CDCA3730}"/>
              </a:ext>
            </a:extLst>
          </p:cNvPr>
          <p:cNvSpPr/>
          <p:nvPr/>
        </p:nvSpPr>
        <p:spPr>
          <a:xfrm>
            <a:off x="1143000" y="5956409"/>
            <a:ext cx="8995229" cy="8418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Paper</a:t>
            </a:r>
            <a:r>
              <a:rPr lang="zh-CN" altLang="en-US" sz="1600" b="1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1" u="sng" strike="noStrike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Explaining and Harnessing Adversarial Examples</a:t>
            </a:r>
            <a:r>
              <a:rPr lang="en-US" sz="1600" b="1" strike="noStrike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en-US" altLang="zh-CN" sz="16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(Goodfellow et al. ICLR 2015)</a:t>
            </a:r>
            <a:endParaRPr lang="en-US" altLang="zh-CN" sz="1200" dirty="0"/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u="sng" strike="noStrike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200" u="sng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13847-7515-7CEE-C99A-362F144A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F5BB919-5870-51DD-9196-92EE339735A9}"/>
              </a:ext>
            </a:extLst>
          </p:cNvPr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领域调研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：对抗鲁棒性领域的核心理论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7EECA5D-EAE1-CF97-13C6-4CD560CB9CAE}"/>
              </a:ext>
            </a:extLst>
          </p:cNvPr>
          <p:cNvSpPr/>
          <p:nvPr/>
        </p:nvSpPr>
        <p:spPr>
          <a:xfrm>
            <a:off x="762000" y="1016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9B0B17A-9763-0C81-212A-3945E31228F0}"/>
              </a:ext>
            </a:extLst>
          </p:cNvPr>
          <p:cNvSpPr/>
          <p:nvPr/>
        </p:nvSpPr>
        <p:spPr>
          <a:xfrm>
            <a:off x="762001" y="1422401"/>
            <a:ext cx="5546998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54" name="Picture 6" descr="NIPS'17 Adversarial Learning Competition - Preferred Networks Tech Blog">
            <a:extLst>
              <a:ext uri="{FF2B5EF4-FFF2-40B4-BE49-F238E27FC236}">
                <a16:creationId xmlns:a16="http://schemas.microsoft.com/office/drawing/2014/main" id="{D0DB33EF-55C0-54F6-3E43-DBF08C803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417238"/>
            <a:ext cx="5558971" cy="2247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图片 23">
            <a:hlinkClick r:id="rId4"/>
            <a:extLst>
              <a:ext uri="{FF2B5EF4-FFF2-40B4-BE49-F238E27FC236}">
                <a16:creationId xmlns:a16="http://schemas.microsoft.com/office/drawing/2014/main" id="{DBCDE67D-D161-38E0-DA7A-240814A70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498" y="1422401"/>
            <a:ext cx="5177765" cy="42427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11">
            <a:extLst>
              <a:ext uri="{FF2B5EF4-FFF2-40B4-BE49-F238E27FC236}">
                <a16:creationId xmlns:a16="http://schemas.microsoft.com/office/drawing/2014/main" id="{BE625509-21DA-5D99-D1C9-C5E2AAFCD5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6079781"/>
            <a:ext cx="297543" cy="297543"/>
          </a:xfrm>
          <a:prstGeom prst="rect">
            <a:avLst/>
          </a:prstGeom>
        </p:spPr>
      </p:pic>
      <p:sp>
        <p:nvSpPr>
          <p:cNvPr id="26" name="AutoShape 12">
            <a:extLst>
              <a:ext uri="{FF2B5EF4-FFF2-40B4-BE49-F238E27FC236}">
                <a16:creationId xmlns:a16="http://schemas.microsoft.com/office/drawing/2014/main" id="{7F9E2A3C-9681-4EF5-F6E2-19AD6ADCB290}"/>
              </a:ext>
            </a:extLst>
          </p:cNvPr>
          <p:cNvSpPr/>
          <p:nvPr/>
        </p:nvSpPr>
        <p:spPr>
          <a:xfrm>
            <a:off x="1143000" y="5956409"/>
            <a:ext cx="8995229" cy="8418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Paper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kumimoji="0" lang="en-US" sz="1600" b="1" i="0" u="sng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Explaining and Harnessing Adversarial Examples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(Goodfellow et al. ICLR 2015)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sng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kumimoji="0" lang="en-US" sz="12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B331DB1D-DA05-C25B-4C5A-BADA097760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1634681"/>
            <a:ext cx="276338" cy="304800"/>
          </a:xfrm>
          <a:prstGeom prst="rect">
            <a:avLst/>
          </a:prstGeom>
        </p:spPr>
      </p:pic>
      <p:sp>
        <p:nvSpPr>
          <p:cNvPr id="10" name="AutoShape 11">
            <a:extLst>
              <a:ext uri="{FF2B5EF4-FFF2-40B4-BE49-F238E27FC236}">
                <a16:creationId xmlns:a16="http://schemas.microsoft.com/office/drawing/2014/main" id="{A774A862-2EBC-19DE-84CD-1E2E8E237F49}"/>
              </a:ext>
            </a:extLst>
          </p:cNvPr>
          <p:cNvSpPr/>
          <p:nvPr/>
        </p:nvSpPr>
        <p:spPr>
          <a:xfrm>
            <a:off x="1333500" y="1596581"/>
            <a:ext cx="3454222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FGSM (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快速梯度符号法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37175B4D-FA12-5BDD-7856-CBE8C4E27933}"/>
              </a:ext>
            </a:extLst>
          </p:cNvPr>
          <p:cNvSpPr/>
          <p:nvPr/>
        </p:nvSpPr>
        <p:spPr>
          <a:xfrm>
            <a:off x="952499" y="2001165"/>
            <a:ext cx="520881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一种快速的单步对抗攻击方法。通过计算损失函数对输入的梯度，并沿梯度方向添加扰动来生成对抗样本，计算效率高，是白盒攻击的基础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031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B642FA-B8CD-62C6-FCF8-BD2950A6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2CBE595-DA84-69E9-8C4F-FFD20E91189F}"/>
              </a:ext>
            </a:extLst>
          </p:cNvPr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领域调研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：对抗鲁棒性领域的核心理论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0438A1E-1C0A-6AC4-C531-18EF682121EB}"/>
              </a:ext>
            </a:extLst>
          </p:cNvPr>
          <p:cNvSpPr/>
          <p:nvPr/>
        </p:nvSpPr>
        <p:spPr>
          <a:xfrm>
            <a:off x="762000" y="1016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EED868A-3A6A-50C8-6349-73C5DABA02D8}"/>
              </a:ext>
            </a:extLst>
          </p:cNvPr>
          <p:cNvSpPr/>
          <p:nvPr/>
        </p:nvSpPr>
        <p:spPr>
          <a:xfrm>
            <a:off x="762001" y="1422401"/>
            <a:ext cx="5546998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5" name="Picture 11">
            <a:extLst>
              <a:ext uri="{FF2B5EF4-FFF2-40B4-BE49-F238E27FC236}">
                <a16:creationId xmlns:a16="http://schemas.microsoft.com/office/drawing/2014/main" id="{6D9642C9-1873-C807-F097-F5558EE46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079781"/>
            <a:ext cx="297543" cy="297543"/>
          </a:xfrm>
          <a:prstGeom prst="rect">
            <a:avLst/>
          </a:prstGeom>
        </p:spPr>
      </p:pic>
      <p:sp>
        <p:nvSpPr>
          <p:cNvPr id="26" name="AutoShape 12">
            <a:extLst>
              <a:ext uri="{FF2B5EF4-FFF2-40B4-BE49-F238E27FC236}">
                <a16:creationId xmlns:a16="http://schemas.microsoft.com/office/drawing/2014/main" id="{41FEB1D0-B02B-B708-53BF-A1AED6844E78}"/>
              </a:ext>
            </a:extLst>
          </p:cNvPr>
          <p:cNvSpPr/>
          <p:nvPr/>
        </p:nvSpPr>
        <p:spPr>
          <a:xfrm>
            <a:off x="1143000" y="5956409"/>
            <a:ext cx="10120086" cy="8418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Paper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kumimoji="0" lang="en-US" altLang="zh-CN" sz="1600" b="1" i="0" u="sng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Towards Deep Learning Models Resistant to Adversarial Attacks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(Madry et al. ICLR 2018)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sng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kumimoji="0" lang="en-US" sz="12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15">
            <a:extLst>
              <a:ext uri="{FF2B5EF4-FFF2-40B4-BE49-F238E27FC236}">
                <a16:creationId xmlns:a16="http://schemas.microsoft.com/office/drawing/2014/main" id="{BC0E8C5D-20F8-02D8-8BA9-644827927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602025"/>
            <a:ext cx="304800" cy="304800"/>
          </a:xfrm>
          <a:prstGeom prst="rect">
            <a:avLst/>
          </a:prstGeom>
        </p:spPr>
      </p:pic>
      <p:sp>
        <p:nvSpPr>
          <p:cNvPr id="6" name="AutoShape 16">
            <a:extLst>
              <a:ext uri="{FF2B5EF4-FFF2-40B4-BE49-F238E27FC236}">
                <a16:creationId xmlns:a16="http://schemas.microsoft.com/office/drawing/2014/main" id="{8F651C9C-5C6A-677E-3322-84F518BE480E}"/>
              </a:ext>
            </a:extLst>
          </p:cNvPr>
          <p:cNvSpPr/>
          <p:nvPr/>
        </p:nvSpPr>
        <p:spPr>
          <a:xfrm>
            <a:off x="1333500" y="1563925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PGD (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投影梯度下降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7D2FC4DD-989B-AB73-00D2-BDD6D722171F}"/>
              </a:ext>
            </a:extLst>
          </p:cNvPr>
          <p:cNvSpPr/>
          <p:nvPr/>
        </p:nvSpPr>
        <p:spPr>
          <a:xfrm>
            <a:off x="869040" y="2019311"/>
            <a:ext cx="5356499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一种更强的迭代攻击方法。通过多次迭代优化扰动，并将其投影到合理范围内，能突破简单的防御机制，是评估模型鲁棒性的标准方法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图片 11">
            <a:hlinkClick r:id="rId5"/>
            <a:extLst>
              <a:ext uri="{FF2B5EF4-FFF2-40B4-BE49-F238E27FC236}">
                <a16:creationId xmlns:a16="http://schemas.microsoft.com/office/drawing/2014/main" id="{D9534A27-0296-5C9A-40F4-E3A1F7FF61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498" y="1422401"/>
            <a:ext cx="5362305" cy="43837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97143AA-A7A1-F567-EB76-05188A422E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222172"/>
            <a:ext cx="7430815" cy="24825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10851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2A5D1-28F9-2FAF-42AA-1160C4A13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4">
            <a:extLst>
              <a:ext uri="{FF2B5EF4-FFF2-40B4-BE49-F238E27FC236}">
                <a16:creationId xmlns:a16="http://schemas.microsoft.com/office/drawing/2014/main" id="{EE9B692B-BD42-64A2-36DB-062F8AD7A97A}"/>
              </a:ext>
            </a:extLst>
          </p:cNvPr>
          <p:cNvSpPr/>
          <p:nvPr/>
        </p:nvSpPr>
        <p:spPr>
          <a:xfrm>
            <a:off x="761999" y="1333898"/>
            <a:ext cx="10538045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3A836F3-6406-EE66-7329-5C744E682DFC}"/>
              </a:ext>
            </a:extLst>
          </p:cNvPr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领域调研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ResNet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核心论文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47BB275-81A2-0C45-992E-FF7D6A791894}"/>
              </a:ext>
            </a:extLst>
          </p:cNvPr>
          <p:cNvSpPr/>
          <p:nvPr/>
        </p:nvSpPr>
        <p:spPr>
          <a:xfrm>
            <a:off x="762000" y="1016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5" name="Picture 11">
            <a:extLst>
              <a:ext uri="{FF2B5EF4-FFF2-40B4-BE49-F238E27FC236}">
                <a16:creationId xmlns:a16="http://schemas.microsoft.com/office/drawing/2014/main" id="{CB9F8954-EC28-753E-C22E-7A13924A63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545" y="1551352"/>
            <a:ext cx="297543" cy="297543"/>
          </a:xfrm>
          <a:prstGeom prst="rect">
            <a:avLst/>
          </a:prstGeom>
        </p:spPr>
      </p:pic>
      <p:sp>
        <p:nvSpPr>
          <p:cNvPr id="26" name="AutoShape 12">
            <a:extLst>
              <a:ext uri="{FF2B5EF4-FFF2-40B4-BE49-F238E27FC236}">
                <a16:creationId xmlns:a16="http://schemas.microsoft.com/office/drawing/2014/main" id="{4BE0943C-B69E-F1F7-2F55-0901AB339A64}"/>
              </a:ext>
            </a:extLst>
          </p:cNvPr>
          <p:cNvSpPr/>
          <p:nvPr/>
        </p:nvSpPr>
        <p:spPr>
          <a:xfrm>
            <a:off x="1313545" y="1427980"/>
            <a:ext cx="10120086" cy="8418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Paper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kumimoji="0" lang="en-US" altLang="zh-CN" sz="1600" b="1" i="0" u="sng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Deep Residual Learning for Image Recognition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(He et al. </a:t>
            </a:r>
            <a:r>
              <a:rPr lang="en-US" altLang="zh-CN" sz="16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CVPR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2016)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sng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kumimoji="0" lang="en-US" sz="12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图片 7">
            <a:hlinkClick r:id="rId4"/>
            <a:extLst>
              <a:ext uri="{FF2B5EF4-FFF2-40B4-BE49-F238E27FC236}">
                <a16:creationId xmlns:a16="http://schemas.microsoft.com/office/drawing/2014/main" id="{BB116044-D2D5-F910-B28C-9768699B8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27" y="3318681"/>
            <a:ext cx="5413490" cy="28644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E972DAA-F311-FDC7-EA30-D7B595C972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042" y="3317449"/>
            <a:ext cx="5107747" cy="28644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840524F-297A-0585-822E-DF3AB0845867}"/>
              </a:ext>
            </a:extLst>
          </p:cNvPr>
          <p:cNvSpPr txBox="1"/>
          <p:nvPr/>
        </p:nvSpPr>
        <p:spPr>
          <a:xfrm>
            <a:off x="1081316" y="2114440"/>
            <a:ext cx="95279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提出了残差网络（ResNet）架构，通过</a:t>
            </a:r>
            <a:r>
              <a:rPr lang="zh-CN" altLang="en-US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引入</a:t>
            </a:r>
            <a:r>
              <a:rPr lang="en-US" altLang="zh-CN" sz="16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残差连接</a:t>
            </a:r>
            <a:r>
              <a:rPr lang="zh-CN" altLang="en-US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结构，缓解</a:t>
            </a:r>
            <a:r>
              <a:rPr lang="en-US" altLang="zh-CN" sz="16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了深层神经网络训练中的梯度消失问题</a:t>
            </a:r>
            <a:endParaRPr lang="en-US" altLang="zh-CN" sz="1600" b="0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r>
              <a:rPr lang="en-US" altLang="zh-CN" sz="1600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 </a:t>
            </a:r>
            <a:r>
              <a:rPr lang="zh-CN" altLang="en-US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是图像分类领域极具代表性的经典基准模型，也是深度学习视觉任务的常用</a:t>
            </a:r>
            <a:r>
              <a:rPr lang="en-US" altLang="zh-CN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backbone</a:t>
            </a:r>
            <a:r>
              <a:rPr lang="zh-CN" altLang="en-US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346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1999" y="508000"/>
            <a:ext cx="9797144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开源项目</a:t>
            </a:r>
            <a:r>
              <a:rPr lang="zh-CN" altLang="en-US" sz="3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：基于</a:t>
            </a:r>
            <a:r>
              <a:rPr lang="en-US" altLang="zh-CN" sz="3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ResNet-18</a:t>
            </a:r>
            <a:r>
              <a:rPr lang="zh-CN" altLang="en-US" sz="3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的果蔬识别系统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334000" cy="2413947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5" name="AutoShape 5"/>
          <p:cNvSpPr/>
          <p:nvPr/>
        </p:nvSpPr>
        <p:spPr>
          <a:xfrm>
            <a:off x="1016000" y="1543956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项目概况</a:t>
            </a:r>
            <a:endParaRPr lang="en-US" sz="11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460" y="2051956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031372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实现36种果蔬图像分类，支持自动化训练、评估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及模型持久化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460" y="2660466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7130" y="2666372"/>
            <a:ext cx="4553651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</a:t>
            </a: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农业自动化分拣、移动端饮食管理App、无人零售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智能收银</a:t>
            </a:r>
            <a:r>
              <a:rPr lang="en-US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……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460" y="3279863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7130" y="3261358"/>
            <a:ext cx="4704443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开源地址：</a:t>
            </a:r>
            <a:r>
              <a:rPr lang="en-US" sz="12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github.com/Red9th/Maize-Classification-By-</a:t>
            </a:r>
            <a:r>
              <a:rPr lang="en-US" sz="12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ResNet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1016000" y="508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23" name="图片 22">
            <a:hlinkClick r:id="rId7"/>
            <a:extLst>
              <a:ext uri="{FF2B5EF4-FFF2-40B4-BE49-F238E27FC236}">
                <a16:creationId xmlns:a16="http://schemas.microsoft.com/office/drawing/2014/main" id="{9C093042-BC7E-FB57-B1FE-B1B5ED9789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99" y="4076191"/>
            <a:ext cx="5334000" cy="2007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图片 24">
            <a:hlinkClick r:id="rId9"/>
            <a:extLst>
              <a:ext uri="{FF2B5EF4-FFF2-40B4-BE49-F238E27FC236}">
                <a16:creationId xmlns:a16="http://schemas.microsoft.com/office/drawing/2014/main" id="{1FE6ED9A-BE78-EA47-E8F1-7ABF62429F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6286" y="4644476"/>
            <a:ext cx="8073365" cy="10256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" name="图片 28">
            <a:hlinkClick r:id="rId11"/>
            <a:extLst>
              <a:ext uri="{FF2B5EF4-FFF2-40B4-BE49-F238E27FC236}">
                <a16:creationId xmlns:a16="http://schemas.microsoft.com/office/drawing/2014/main" id="{AB551E09-2634-A5B2-ED05-DA1FF7FAE5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3000" y="1397000"/>
            <a:ext cx="5696651" cy="2993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350000" y="1397000"/>
            <a:ext cx="5080000" cy="2413947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3" name="AutoShape 13"/>
          <p:cNvSpPr/>
          <p:nvPr/>
        </p:nvSpPr>
        <p:spPr>
          <a:xfrm>
            <a:off x="6604000" y="151783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选择理由</a:t>
            </a:r>
            <a:endParaRPr lang="en-US" sz="1100" dirty="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715" y="2027286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48715" y="2002972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高可行性：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ResNet-18轻量高效，代码架构清晰，计算开销小，利于快速迭代。</a:t>
            </a:r>
            <a:endParaRPr lang="en-US" sz="1100" dirty="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7715" y="2585724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48715" y="2574472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强代表性：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ResNet是CV经典模型，果蔬识别是典型视觉感知任务，具有广泛参考价值。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7715" y="3192056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48715" y="3171372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安全必要性：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智能收银场景下误判成本高，对模型鲁棒性与安全性有严格要求。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4076191"/>
            <a:ext cx="5080000" cy="2032947"/>
          </a:xfrm>
          <a:prstGeom prst="roundRect">
            <a:avLst>
              <a:gd name="adj" fmla="val 12500"/>
            </a:avLst>
          </a:prstGeom>
          <a:solidFill>
            <a:srgbClr val="64FFDA">
              <a:alpha val="10000"/>
            </a:srgbClr>
          </a:solidFill>
          <a:ln w="12700" cap="flat" cmpd="sng">
            <a:solidFill>
              <a:srgbClr val="64FFDA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558642" y="4450407"/>
            <a:ext cx="4662715" cy="12845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该项目不仅提供了完整的代码实现，更重要的是其应用场景的</a:t>
            </a:r>
            <a:r>
              <a:rPr lang="en-US" sz="16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真实性与挑战性</a:t>
            </a:r>
            <a:r>
              <a:rPr lang="en-US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为我们研究模型的鲁棒性提供了极佳的实验载体</a:t>
            </a:r>
            <a:r>
              <a:rPr lang="en-US" sz="16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2" name="AutoShape 3">
            <a:extLst>
              <a:ext uri="{FF2B5EF4-FFF2-40B4-BE49-F238E27FC236}">
                <a16:creationId xmlns:a16="http://schemas.microsoft.com/office/drawing/2014/main" id="{B3CE8225-15DB-31CC-F05D-7B177F44A2F2}"/>
              </a:ext>
            </a:extLst>
          </p:cNvPr>
          <p:cNvSpPr/>
          <p:nvPr/>
        </p:nvSpPr>
        <p:spPr>
          <a:xfrm>
            <a:off x="761999" y="508000"/>
            <a:ext cx="9797144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开源项目</a:t>
            </a:r>
            <a:r>
              <a:rPr lang="zh-CN" altLang="en-US" sz="3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：基于</a:t>
            </a:r>
            <a:r>
              <a:rPr lang="en-US" altLang="zh-CN" sz="3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ResNet-18</a:t>
            </a:r>
            <a:r>
              <a:rPr lang="zh-CN" altLang="en-US" sz="3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的果蔬识别系统</a:t>
            </a:r>
            <a:endParaRPr lang="en-US" sz="1100" dirty="0"/>
          </a:p>
        </p:txBody>
      </p:sp>
      <p:sp>
        <p:nvSpPr>
          <p:cNvPr id="23" name="AutoShape 4">
            <a:extLst>
              <a:ext uri="{FF2B5EF4-FFF2-40B4-BE49-F238E27FC236}">
                <a16:creationId xmlns:a16="http://schemas.microsoft.com/office/drawing/2014/main" id="{0DD58E01-5656-D8CC-6889-2D2C45ECEAE9}"/>
              </a:ext>
            </a:extLst>
          </p:cNvPr>
          <p:cNvSpPr/>
          <p:nvPr/>
        </p:nvSpPr>
        <p:spPr>
          <a:xfrm>
            <a:off x="762000" y="1397000"/>
            <a:ext cx="5334000" cy="2413947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E803BB1C-E7E6-FC10-A200-EC698D074BE7}"/>
              </a:ext>
            </a:extLst>
          </p:cNvPr>
          <p:cNvSpPr/>
          <p:nvPr/>
        </p:nvSpPr>
        <p:spPr>
          <a:xfrm>
            <a:off x="1016000" y="1543956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项目概况</a:t>
            </a:r>
            <a:endParaRPr lang="en-US" sz="1100" dirty="0"/>
          </a:p>
        </p:txBody>
      </p:sp>
      <p:pic>
        <p:nvPicPr>
          <p:cNvPr id="25" name="Picture 6">
            <a:extLst>
              <a:ext uri="{FF2B5EF4-FFF2-40B4-BE49-F238E27FC236}">
                <a16:creationId xmlns:a16="http://schemas.microsoft.com/office/drawing/2014/main" id="{2450C80F-CBF9-5774-EAFF-2F93C076E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2460" y="2051956"/>
            <a:ext cx="254000" cy="254000"/>
          </a:xfrm>
          <a:prstGeom prst="rect">
            <a:avLst/>
          </a:prstGeom>
        </p:spPr>
      </p:pic>
      <p:sp>
        <p:nvSpPr>
          <p:cNvPr id="26" name="AutoShape 7">
            <a:extLst>
              <a:ext uri="{FF2B5EF4-FFF2-40B4-BE49-F238E27FC236}">
                <a16:creationId xmlns:a16="http://schemas.microsoft.com/office/drawing/2014/main" id="{5C5710C2-1F7F-0FD7-C73C-06B09D203AEB}"/>
              </a:ext>
            </a:extLst>
          </p:cNvPr>
          <p:cNvSpPr/>
          <p:nvPr/>
        </p:nvSpPr>
        <p:spPr>
          <a:xfrm>
            <a:off x="1333500" y="2031372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实现36种果蔬图像分类，支持自动化训练、评估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及模型持久化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7" name="Picture 8">
            <a:extLst>
              <a:ext uri="{FF2B5EF4-FFF2-40B4-BE49-F238E27FC236}">
                <a16:creationId xmlns:a16="http://schemas.microsoft.com/office/drawing/2014/main" id="{583949D5-C8CD-8294-0B77-27AEE589DA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2460" y="2660466"/>
            <a:ext cx="254000" cy="254000"/>
          </a:xfrm>
          <a:prstGeom prst="rect">
            <a:avLst/>
          </a:prstGeom>
        </p:spPr>
      </p:pic>
      <p:sp>
        <p:nvSpPr>
          <p:cNvPr id="28" name="AutoShape 9">
            <a:extLst>
              <a:ext uri="{FF2B5EF4-FFF2-40B4-BE49-F238E27FC236}">
                <a16:creationId xmlns:a16="http://schemas.microsoft.com/office/drawing/2014/main" id="{C791F166-6A1B-2B0A-AD5A-81CEB39C1E4E}"/>
              </a:ext>
            </a:extLst>
          </p:cNvPr>
          <p:cNvSpPr/>
          <p:nvPr/>
        </p:nvSpPr>
        <p:spPr>
          <a:xfrm>
            <a:off x="1337130" y="2666372"/>
            <a:ext cx="4553651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</a:t>
            </a: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农业自动化分拣、移动端饮食管理App、无人零售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智能收银</a:t>
            </a:r>
            <a:r>
              <a:rPr lang="en-US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……</a:t>
            </a:r>
            <a:endParaRPr lang="en-US" sz="1100" dirty="0"/>
          </a:p>
        </p:txBody>
      </p:sp>
      <p:pic>
        <p:nvPicPr>
          <p:cNvPr id="29" name="Picture 10">
            <a:extLst>
              <a:ext uri="{FF2B5EF4-FFF2-40B4-BE49-F238E27FC236}">
                <a16:creationId xmlns:a16="http://schemas.microsoft.com/office/drawing/2014/main" id="{7B46E99F-4487-6D75-0B3C-5F961F82B2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2460" y="3279863"/>
            <a:ext cx="254000" cy="254000"/>
          </a:xfrm>
          <a:prstGeom prst="rect">
            <a:avLst/>
          </a:prstGeom>
        </p:spPr>
      </p:pic>
      <p:sp>
        <p:nvSpPr>
          <p:cNvPr id="30" name="AutoShape 11">
            <a:extLst>
              <a:ext uri="{FF2B5EF4-FFF2-40B4-BE49-F238E27FC236}">
                <a16:creationId xmlns:a16="http://schemas.microsoft.com/office/drawing/2014/main" id="{49DAFAF4-FA9E-859A-8A5C-DAAADC8FCF73}"/>
              </a:ext>
            </a:extLst>
          </p:cNvPr>
          <p:cNvSpPr/>
          <p:nvPr/>
        </p:nvSpPr>
        <p:spPr>
          <a:xfrm>
            <a:off x="1337130" y="3261358"/>
            <a:ext cx="4704443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开源地址：</a:t>
            </a:r>
            <a:r>
              <a:rPr lang="en-US" sz="12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github.com/Red9th/Maize-Classification-By-</a:t>
            </a:r>
            <a:r>
              <a:rPr lang="en-US" sz="12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ResNet</a:t>
            </a:r>
            <a:endParaRPr lang="en-US" sz="1100" dirty="0"/>
          </a:p>
        </p:txBody>
      </p:sp>
      <p:pic>
        <p:nvPicPr>
          <p:cNvPr id="31" name="图片 30">
            <a:hlinkClick r:id="rId10"/>
            <a:extLst>
              <a:ext uri="{FF2B5EF4-FFF2-40B4-BE49-F238E27FC236}">
                <a16:creationId xmlns:a16="http://schemas.microsoft.com/office/drawing/2014/main" id="{4ABEF025-C7CF-D572-2333-D7DE541F31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999" y="4076191"/>
            <a:ext cx="5334000" cy="2007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A0BE5-CFF0-9BC3-FBD4-7754984ED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7600230-82C7-6A27-A23D-C769B62AD93F}"/>
              </a:ext>
            </a:extLst>
          </p:cNvPr>
          <p:cNvSpPr/>
          <p:nvPr/>
        </p:nvSpPr>
        <p:spPr>
          <a:xfrm>
            <a:off x="762000" y="635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工具选型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52A35A5-D33E-0F1E-77B5-78C5708EB599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155920D-B670-4E6F-7745-E85F5427D0A4}"/>
              </a:ext>
            </a:extLst>
          </p:cNvPr>
          <p:cNvSpPr/>
          <p:nvPr/>
        </p:nvSpPr>
        <p:spPr>
          <a:xfrm>
            <a:off x="762000" y="177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2B66C85D-8E15-9614-9ACC-23A5DA14C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03ACE9CF-870B-E7F8-81C6-1BB811615966}"/>
              </a:ext>
            </a:extLst>
          </p:cNvPr>
          <p:cNvSpPr/>
          <p:nvPr/>
        </p:nvSpPr>
        <p:spPr>
          <a:xfrm>
            <a:off x="1524000" y="2006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基础模型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8E191B4-9521-C7A8-C125-379234402373}"/>
              </a:ext>
            </a:extLst>
          </p:cNvPr>
          <p:cNvSpPr/>
          <p:nvPr/>
        </p:nvSpPr>
        <p:spPr>
          <a:xfrm>
            <a:off x="1016000" y="2540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ResNet-18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轻量级图像分类骨干网络，平衡性能与效率，作为基准模型。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257CB7F2-CC7F-275D-066F-086913A1D0A3}"/>
              </a:ext>
            </a:extLst>
          </p:cNvPr>
          <p:cNvSpPr/>
          <p:nvPr/>
        </p:nvSpPr>
        <p:spPr>
          <a:xfrm>
            <a:off x="4445000" y="177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AE1DE72C-8F8F-F1CE-D7B1-F19D3B1A85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032000"/>
            <a:ext cx="406400" cy="4064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1051D88A-52C3-DFBD-8C8C-F2A742E5DD15}"/>
              </a:ext>
            </a:extLst>
          </p:cNvPr>
          <p:cNvSpPr/>
          <p:nvPr/>
        </p:nvSpPr>
        <p:spPr>
          <a:xfrm>
            <a:off x="5207000" y="2006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攻击算法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F7038E41-0BC6-C57E-34DC-267913746C13}"/>
              </a:ext>
            </a:extLst>
          </p:cNvPr>
          <p:cNvSpPr/>
          <p:nvPr/>
        </p:nvSpPr>
        <p:spPr>
          <a:xfrm>
            <a:off x="4699000" y="2540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FGSM &amp; PGD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经典的梯度攻击方法，用于生成对抗样本，测试模型鲁棒性。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492D5A7D-C64A-9C42-5144-A85C756B7D43}"/>
              </a:ext>
            </a:extLst>
          </p:cNvPr>
          <p:cNvSpPr/>
          <p:nvPr/>
        </p:nvSpPr>
        <p:spPr>
          <a:xfrm>
            <a:off x="8128000" y="177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2C9BC032-9795-13BC-B649-3A89A25D7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2032000"/>
            <a:ext cx="406400" cy="406400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AD0419B0-52A5-80A8-031E-76C74A2D6FB1}"/>
              </a:ext>
            </a:extLst>
          </p:cNvPr>
          <p:cNvSpPr/>
          <p:nvPr/>
        </p:nvSpPr>
        <p:spPr>
          <a:xfrm>
            <a:off x="8890000" y="2006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工具生态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2BBC3B9-7245-4655-B9B2-E35490997D03}"/>
              </a:ext>
            </a:extLst>
          </p:cNvPr>
          <p:cNvSpPr/>
          <p:nvPr/>
        </p:nvSpPr>
        <p:spPr>
          <a:xfrm>
            <a:off x="8382000" y="2540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PyTorch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Ecosystem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TorchAttacks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TorchVision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/ NumPy / Matplotlib</a:t>
            </a:r>
          </a:p>
        </p:txBody>
      </p:sp>
      <p:pic>
        <p:nvPicPr>
          <p:cNvPr id="11266" name="Picture 2" descr="What is PyTorch? - PyImageSearch">
            <a:extLst>
              <a:ext uri="{FF2B5EF4-FFF2-40B4-BE49-F238E27FC236}">
                <a16:creationId xmlns:a16="http://schemas.microsoft.com/office/drawing/2014/main" id="{7873A788-120E-9FE3-925C-98E6808BE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321" y="4063999"/>
            <a:ext cx="4049484" cy="20247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270" name="Picture 6" descr="Matplotlib">
            <a:extLst>
              <a:ext uri="{FF2B5EF4-FFF2-40B4-BE49-F238E27FC236}">
                <a16:creationId xmlns:a16="http://schemas.microsoft.com/office/drawing/2014/main" id="{5CAA88F6-463A-70AC-538A-3799E769C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510" y="4063999"/>
            <a:ext cx="2024742" cy="20247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274" name="Picture 10" descr="Conda Environments – Stephanie M. Sherman, Ph.D.">
            <a:extLst>
              <a:ext uri="{FF2B5EF4-FFF2-40B4-BE49-F238E27FC236}">
                <a16:creationId xmlns:a16="http://schemas.microsoft.com/office/drawing/2014/main" id="{20217211-2469-09A2-B4D7-8803F1232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56" y="4063998"/>
            <a:ext cx="2024743" cy="20247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276" name="Picture 12" descr="7 Surprising Lessons from the Numpy Documentation | by Vasanth Bharathi |  Python in Plain English">
            <a:extLst>
              <a:ext uri="{FF2B5EF4-FFF2-40B4-BE49-F238E27FC236}">
                <a16:creationId xmlns:a16="http://schemas.microsoft.com/office/drawing/2014/main" id="{47647528-9F78-234F-606B-DE1BDF4FA5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7" r="23776"/>
          <a:stretch>
            <a:fillRect/>
          </a:stretch>
        </p:blipFill>
        <p:spPr bwMode="auto">
          <a:xfrm>
            <a:off x="7222226" y="4063999"/>
            <a:ext cx="1920862" cy="20247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7344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994B2-BD05-BA74-43BC-EC6D186C3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2">
            <a:extLst>
              <a:ext uri="{FF2B5EF4-FFF2-40B4-BE49-F238E27FC236}">
                <a16:creationId xmlns:a16="http://schemas.microsoft.com/office/drawing/2014/main" id="{CA66744E-56F2-119F-CA57-3104584D6D6D}"/>
              </a:ext>
            </a:extLst>
          </p:cNvPr>
          <p:cNvSpPr/>
          <p:nvPr/>
        </p:nvSpPr>
        <p:spPr>
          <a:xfrm>
            <a:off x="762000" y="635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3">
            <a:extLst>
              <a:ext uri="{FF2B5EF4-FFF2-40B4-BE49-F238E27FC236}">
                <a16:creationId xmlns:a16="http://schemas.microsoft.com/office/drawing/2014/main" id="{22C2155A-A74F-CB2E-0E18-4FE8E4B2AC2F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5">
            <a:extLst>
              <a:ext uri="{FF2B5EF4-FFF2-40B4-BE49-F238E27FC236}">
                <a16:creationId xmlns:a16="http://schemas.microsoft.com/office/drawing/2014/main" id="{FE21B2A4-B45D-5048-0B24-CD03232FC6F8}"/>
              </a:ext>
            </a:extLst>
          </p:cNvPr>
          <p:cNvSpPr/>
          <p:nvPr/>
        </p:nvSpPr>
        <p:spPr>
          <a:xfrm>
            <a:off x="718467" y="1701802"/>
            <a:ext cx="10501066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E48228B6-1DF3-A6BB-2890-FBA7B10800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2467" y="4241802"/>
            <a:ext cx="508000" cy="508000"/>
          </a:xfrm>
          <a:prstGeom prst="rect">
            <a:avLst/>
          </a:prstGeom>
        </p:spPr>
      </p:pic>
      <p:sp>
        <p:nvSpPr>
          <p:cNvPr id="27" name="AutoShape 7">
            <a:extLst>
              <a:ext uri="{FF2B5EF4-FFF2-40B4-BE49-F238E27FC236}">
                <a16:creationId xmlns:a16="http://schemas.microsoft.com/office/drawing/2014/main" id="{9C2D14B3-66B7-3AD5-6745-E024FD6611BE}"/>
              </a:ext>
            </a:extLst>
          </p:cNvPr>
          <p:cNvSpPr/>
          <p:nvPr/>
        </p:nvSpPr>
        <p:spPr>
          <a:xfrm>
            <a:off x="1734467" y="1828802"/>
            <a:ext cx="802639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复刻运行环境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zh-CN" alt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</a:t>
            </a:r>
            <a:r>
              <a:rPr lang="en-US" altLang="zh-CN" sz="14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PyTorch</a:t>
            </a:r>
            <a:r>
              <a:rPr lang="en-US" altLang="zh-CN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适配开源项目环境，加载 </a:t>
            </a:r>
            <a:r>
              <a:rPr lang="en-US" altLang="zh-CN" sz="14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ResNet</a:t>
            </a:r>
            <a:r>
              <a:rPr lang="en-US" altLang="zh-CN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预训练权重，统计模型在清洁样本上的基准准确率</a:t>
            </a:r>
            <a:endParaRPr lang="en-US" sz="1400" b="0" i="0" u="none" strike="noStrike" dirty="0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7C2DE60E-BF12-CFED-CE76-6901E4F7FD5D}"/>
              </a:ext>
            </a:extLst>
          </p:cNvPr>
          <p:cNvSpPr/>
          <p:nvPr/>
        </p:nvSpPr>
        <p:spPr>
          <a:xfrm>
            <a:off x="718467" y="4031347"/>
            <a:ext cx="10501064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8" name="AutoShape 8">
            <a:extLst>
              <a:ext uri="{FF2B5EF4-FFF2-40B4-BE49-F238E27FC236}">
                <a16:creationId xmlns:a16="http://schemas.microsoft.com/office/drawing/2014/main" id="{FCA6BAE6-326E-5762-F59C-121535CB4530}"/>
              </a:ext>
            </a:extLst>
          </p:cNvPr>
          <p:cNvSpPr/>
          <p:nvPr/>
        </p:nvSpPr>
        <p:spPr>
          <a:xfrm>
            <a:off x="718466" y="2844802"/>
            <a:ext cx="10501065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9">
            <a:extLst>
              <a:ext uri="{FF2B5EF4-FFF2-40B4-BE49-F238E27FC236}">
                <a16:creationId xmlns:a16="http://schemas.microsoft.com/office/drawing/2014/main" id="{335B97C9-DA30-CBD6-B8DA-091D7F0050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467" y="1955802"/>
            <a:ext cx="508000" cy="508000"/>
          </a:xfrm>
          <a:prstGeom prst="rect">
            <a:avLst/>
          </a:prstGeom>
        </p:spPr>
      </p:pic>
      <p:sp>
        <p:nvSpPr>
          <p:cNvPr id="30" name="AutoShape 10">
            <a:extLst>
              <a:ext uri="{FF2B5EF4-FFF2-40B4-BE49-F238E27FC236}">
                <a16:creationId xmlns:a16="http://schemas.microsoft.com/office/drawing/2014/main" id="{6756FEE8-D842-965C-595F-B8F79A04EA68}"/>
              </a:ext>
            </a:extLst>
          </p:cNvPr>
          <p:cNvSpPr/>
          <p:nvPr/>
        </p:nvSpPr>
        <p:spPr>
          <a:xfrm>
            <a:off x="1734467" y="2971802"/>
            <a:ext cx="797559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对抗攻击复现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zh-CN" alt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借助 </a:t>
            </a:r>
            <a:r>
              <a:rPr lang="en-US" altLang="zh-CN" sz="14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TorchAttacks</a:t>
            </a:r>
            <a:r>
              <a:rPr lang="en-US" altLang="zh-CN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模块，复现 </a:t>
            </a:r>
            <a:r>
              <a:rPr lang="en-US" altLang="zh-CN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FGSM </a:t>
            </a:r>
            <a:r>
              <a:rPr lang="zh-CN" alt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和 </a:t>
            </a:r>
            <a:r>
              <a:rPr lang="en-US" altLang="zh-CN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PGD </a:t>
            </a:r>
            <a:r>
              <a:rPr lang="zh-CN" alt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流程，观察模型在不同扰动强度下产生的误分类行为</a:t>
            </a:r>
            <a:endParaRPr lang="en-US" sz="1400" b="0" i="0" u="none" strike="noStrike" dirty="0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3" name="AutoShape 13">
            <a:extLst>
              <a:ext uri="{FF2B5EF4-FFF2-40B4-BE49-F238E27FC236}">
                <a16:creationId xmlns:a16="http://schemas.microsoft.com/office/drawing/2014/main" id="{ECF9EC5F-E75F-CAE6-6FFC-6A1DFCC20230}"/>
              </a:ext>
            </a:extLst>
          </p:cNvPr>
          <p:cNvSpPr/>
          <p:nvPr/>
        </p:nvSpPr>
        <p:spPr>
          <a:xfrm>
            <a:off x="1734466" y="4114802"/>
            <a:ext cx="820781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自动化评估（优化方向）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zh-CN" alt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编写脚本自动遍历不同扰动半径，批量输出模型的“安全体检”报告，量化性能衰减规律</a:t>
            </a:r>
            <a:endParaRPr lang="en-US" sz="1400" b="0" i="0" u="none" strike="noStrike" dirty="0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42" name="Picture 9">
            <a:extLst>
              <a:ext uri="{FF2B5EF4-FFF2-40B4-BE49-F238E27FC236}">
                <a16:creationId xmlns:a16="http://schemas.microsoft.com/office/drawing/2014/main" id="{B5DA23CC-1736-96A2-7A6D-22996337C4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303" y="3149604"/>
            <a:ext cx="473164" cy="47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6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13137-C8A4-B57D-770D-6628AC81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2">
            <a:extLst>
              <a:ext uri="{FF2B5EF4-FFF2-40B4-BE49-F238E27FC236}">
                <a16:creationId xmlns:a16="http://schemas.microsoft.com/office/drawing/2014/main" id="{87829A4A-91BA-C8A3-C3E9-3CAEBC4ADF18}"/>
              </a:ext>
            </a:extLst>
          </p:cNvPr>
          <p:cNvSpPr/>
          <p:nvPr/>
        </p:nvSpPr>
        <p:spPr>
          <a:xfrm>
            <a:off x="761999" y="635000"/>
            <a:ext cx="9196647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改进思路与优化方向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Noto Sans SC"/>
            </a:endParaRPr>
          </a:p>
        </p:txBody>
      </p:sp>
      <p:sp>
        <p:nvSpPr>
          <p:cNvPr id="18" name="AutoShape 3">
            <a:extLst>
              <a:ext uri="{FF2B5EF4-FFF2-40B4-BE49-F238E27FC236}">
                <a16:creationId xmlns:a16="http://schemas.microsoft.com/office/drawing/2014/main" id="{2318205A-4228-EB35-23F4-1AD52DF4F5D1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AutoShape 18">
            <a:extLst>
              <a:ext uri="{FF2B5EF4-FFF2-40B4-BE49-F238E27FC236}">
                <a16:creationId xmlns:a16="http://schemas.microsoft.com/office/drawing/2014/main" id="{7B6AC28F-E360-65B8-7F09-1155B2A2FEF1}"/>
              </a:ext>
            </a:extLst>
          </p:cNvPr>
          <p:cNvSpPr/>
          <p:nvPr/>
        </p:nvSpPr>
        <p:spPr>
          <a:xfrm>
            <a:off x="761999" y="1860604"/>
            <a:ext cx="4441372" cy="36195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20">
            <a:extLst>
              <a:ext uri="{FF2B5EF4-FFF2-40B4-BE49-F238E27FC236}">
                <a16:creationId xmlns:a16="http://schemas.microsoft.com/office/drawing/2014/main" id="{71E43BA5-9D44-A15A-DB62-0A5A9A301205}"/>
              </a:ext>
            </a:extLst>
          </p:cNvPr>
          <p:cNvSpPr/>
          <p:nvPr/>
        </p:nvSpPr>
        <p:spPr>
          <a:xfrm>
            <a:off x="1640047" y="2106545"/>
            <a:ext cx="3374667" cy="303768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构建自动化评估框架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zh-CN" sz="1300" b="0" i="0" u="none" strike="noStrike" kern="0" cap="none" spc="0" normalizeH="0" baseline="0" noProof="0" dirty="0">
              <a:ln>
                <a:noFill/>
              </a:ln>
              <a:solidFill>
                <a:srgbClr val="D1D5DB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lvl="0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在现有的 </a:t>
            </a:r>
            <a:r>
              <a:rPr lang="en-US" altLang="zh-CN" sz="1300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evaluate </a:t>
            </a:r>
            <a:r>
              <a:rPr lang="zh-CN" altLang="en-US" sz="1300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函数基础上，增加一个 </a:t>
            </a:r>
          </a:p>
          <a:p>
            <a:pPr lvl="0">
              <a:lnSpc>
                <a:spcPct val="125000"/>
              </a:lnSpc>
              <a:defRPr/>
            </a:pPr>
            <a:r>
              <a:rPr lang="en-US" altLang="zh-CN" sz="1300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adversarial_evaluate</a:t>
            </a:r>
            <a:r>
              <a:rPr lang="en-US" altLang="zh-CN" sz="1300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300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模块。</a:t>
            </a:r>
            <a:endParaRPr lang="en-US" altLang="zh-CN" sz="1300" dirty="0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lvl="0">
              <a:lnSpc>
                <a:spcPct val="125000"/>
              </a:lnSpc>
              <a:defRPr/>
            </a:pPr>
            <a:endParaRPr lang="en-US" altLang="zh-CN" sz="1300" dirty="0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lvl="0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编写</a:t>
            </a:r>
            <a:r>
              <a:rPr kumimoji="0" lang="zh-CN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一个脚本，自动遍历不同的 </a:t>
            </a:r>
            <a:r>
              <a:rPr kumimoji="0" lang="en-US" altLang="zh-CN" sz="1300" b="0" i="0" u="none" strike="noStrike" kern="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PGD </a:t>
            </a:r>
            <a:r>
              <a:rPr kumimoji="0" lang="zh-CN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攻击强度，生成一份模型质量报告。</a:t>
            </a:r>
            <a:endParaRPr kumimoji="0" lang="en-US" altLang="zh-CN" sz="1300" b="0" i="0" u="none" strike="noStrike" kern="0" cap="none" spc="0" normalizeH="0" baseline="0" noProof="0" dirty="0">
              <a:ln>
                <a:noFill/>
              </a:ln>
              <a:solidFill>
                <a:srgbClr val="D1D5DB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zh-CN" sz="1300" b="0" i="0" u="none" strike="noStrike" kern="0" cap="none" spc="0" normalizeH="0" baseline="0" noProof="0" dirty="0">
              <a:ln>
                <a:noFill/>
              </a:ln>
              <a:solidFill>
                <a:srgbClr val="D1D5DB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报告中包含：模型在不同攻击强度下的准确率下降曲线、识别错误的类别热力图（哪些果蔬最容易被混淆）。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srgbClr val="D1D5DB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图片 11">
            <a:hlinkClick r:id="rId3"/>
            <a:extLst>
              <a:ext uri="{FF2B5EF4-FFF2-40B4-BE49-F238E27FC236}">
                <a16:creationId xmlns:a16="http://schemas.microsoft.com/office/drawing/2014/main" id="{780B01DB-8048-243C-73D4-28DF823C6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962" y="1458532"/>
            <a:ext cx="5357997" cy="4423643"/>
          </a:xfrm>
          <a:prstGeom prst="rect">
            <a:avLst/>
          </a:prstGeom>
        </p:spPr>
      </p:pic>
      <p:pic>
        <p:nvPicPr>
          <p:cNvPr id="13" name="Picture 11">
            <a:extLst>
              <a:ext uri="{FF2B5EF4-FFF2-40B4-BE49-F238E27FC236}">
                <a16:creationId xmlns:a16="http://schemas.microsoft.com/office/drawing/2014/main" id="{5AD01B15-2026-25AF-596E-709266CB08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6079781"/>
            <a:ext cx="297543" cy="297543"/>
          </a:xfrm>
          <a:prstGeom prst="rect">
            <a:avLst/>
          </a:prstGeom>
        </p:spPr>
      </p:pic>
      <p:sp>
        <p:nvSpPr>
          <p:cNvPr id="14" name="AutoShape 12">
            <a:extLst>
              <a:ext uri="{FF2B5EF4-FFF2-40B4-BE49-F238E27FC236}">
                <a16:creationId xmlns:a16="http://schemas.microsoft.com/office/drawing/2014/main" id="{6A9B7D5D-C255-49EA-1956-B9F5EC09340D}"/>
              </a:ext>
            </a:extLst>
          </p:cNvPr>
          <p:cNvSpPr/>
          <p:nvPr/>
        </p:nvSpPr>
        <p:spPr>
          <a:xfrm>
            <a:off x="1143000" y="5956409"/>
            <a:ext cx="10161000" cy="8418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Paper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kumimoji="0" lang="en-US" altLang="zh-CN" sz="1600" b="1" i="0" u="sng" strike="noStrike" kern="0" cap="none" spc="0" normalizeH="0" baseline="0" noProof="0" dirty="0" err="1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RobustBench</a:t>
            </a:r>
            <a:r>
              <a:rPr kumimoji="0" lang="en-US" altLang="zh-CN" sz="1600" b="1" i="0" u="sng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: a standardized adversarial robustness benchmark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(Croce et al.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NeurIPS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2020)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sng" strike="noStrike" kern="0" cap="none" spc="0" normalizeH="0" baseline="0" noProof="0" dirty="0">
                <a:ln>
                  <a:noFill/>
                </a:ln>
                <a:solidFill>
                  <a:srgbClr val="64FFD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kumimoji="0" lang="en-US" sz="12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1D597D-C5E1-63FB-42C1-588A74F433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572" y="2177302"/>
            <a:ext cx="464428" cy="46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0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3E98B-0CA2-2B66-EA13-994D782B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2">
            <a:extLst>
              <a:ext uri="{FF2B5EF4-FFF2-40B4-BE49-F238E27FC236}">
                <a16:creationId xmlns:a16="http://schemas.microsoft.com/office/drawing/2014/main" id="{8A220919-862C-BF20-CA8C-AECE36EC48CE}"/>
              </a:ext>
            </a:extLst>
          </p:cNvPr>
          <p:cNvSpPr/>
          <p:nvPr/>
        </p:nvSpPr>
        <p:spPr>
          <a:xfrm>
            <a:off x="762000" y="635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技术路线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3">
            <a:extLst>
              <a:ext uri="{FF2B5EF4-FFF2-40B4-BE49-F238E27FC236}">
                <a16:creationId xmlns:a16="http://schemas.microsoft.com/office/drawing/2014/main" id="{88D8CF7E-F1D2-693B-E3B3-165A27CE19E8}"/>
              </a:ext>
            </a:extLst>
          </p:cNvPr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5">
            <a:extLst>
              <a:ext uri="{FF2B5EF4-FFF2-40B4-BE49-F238E27FC236}">
                <a16:creationId xmlns:a16="http://schemas.microsoft.com/office/drawing/2014/main" id="{AAC2BED8-CE2F-8962-B65C-368F1586243D}"/>
              </a:ext>
            </a:extLst>
          </p:cNvPr>
          <p:cNvSpPr/>
          <p:nvPr/>
        </p:nvSpPr>
        <p:spPr>
          <a:xfrm>
            <a:off x="718467" y="1701802"/>
            <a:ext cx="10501066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12039B5C-D02F-89EA-583B-2A1F0C994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2467" y="4241802"/>
            <a:ext cx="508000" cy="508000"/>
          </a:xfrm>
          <a:prstGeom prst="rect">
            <a:avLst/>
          </a:prstGeom>
        </p:spPr>
      </p:pic>
      <p:sp>
        <p:nvSpPr>
          <p:cNvPr id="27" name="AutoShape 7">
            <a:extLst>
              <a:ext uri="{FF2B5EF4-FFF2-40B4-BE49-F238E27FC236}">
                <a16:creationId xmlns:a16="http://schemas.microsoft.com/office/drawing/2014/main" id="{70E8B62F-D041-7B7F-BFF1-B1A3711BCF90}"/>
              </a:ext>
            </a:extLst>
          </p:cNvPr>
          <p:cNvSpPr/>
          <p:nvPr/>
        </p:nvSpPr>
        <p:spPr>
          <a:xfrm>
            <a:off x="1734467" y="1828802"/>
            <a:ext cx="802639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前期准备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基于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PyTorch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适配开源项目环境，加载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ResNet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预训练权重，统计模型在清洁样本上的基准准确率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alpha val="70196"/>
                </a:srgbClr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8">
            <a:extLst>
              <a:ext uri="{FF2B5EF4-FFF2-40B4-BE49-F238E27FC236}">
                <a16:creationId xmlns:a16="http://schemas.microsoft.com/office/drawing/2014/main" id="{914BA08F-3B6D-BFE3-5F02-07DE8A3AEFF8}"/>
              </a:ext>
            </a:extLst>
          </p:cNvPr>
          <p:cNvSpPr/>
          <p:nvPr/>
        </p:nvSpPr>
        <p:spPr>
          <a:xfrm>
            <a:off x="718466" y="2844802"/>
            <a:ext cx="10501065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9" name="Picture 9">
            <a:extLst>
              <a:ext uri="{FF2B5EF4-FFF2-40B4-BE49-F238E27FC236}">
                <a16:creationId xmlns:a16="http://schemas.microsoft.com/office/drawing/2014/main" id="{DD595669-6912-EAA3-1A1E-E63CB414B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467" y="1955802"/>
            <a:ext cx="508000" cy="508000"/>
          </a:xfrm>
          <a:prstGeom prst="rect">
            <a:avLst/>
          </a:prstGeom>
        </p:spPr>
      </p:pic>
      <p:sp>
        <p:nvSpPr>
          <p:cNvPr id="30" name="AutoShape 10">
            <a:extLst>
              <a:ext uri="{FF2B5EF4-FFF2-40B4-BE49-F238E27FC236}">
                <a16:creationId xmlns:a16="http://schemas.microsoft.com/office/drawing/2014/main" id="{EB0254AC-4F60-D882-70A8-A1F347755D4E}"/>
              </a:ext>
            </a:extLst>
          </p:cNvPr>
          <p:cNvSpPr/>
          <p:nvPr/>
        </p:nvSpPr>
        <p:spPr>
          <a:xfrm>
            <a:off x="1734467" y="2971802"/>
            <a:ext cx="797559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对抗攻击复现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借助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TorchAttacks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模块，复现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FGSM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和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PGD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流程，观察模型在不同扰动强度下产生的误分类行为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alpha val="70196"/>
                </a:srgbClr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7F85DDDE-CB4B-70D3-C676-4CFB647801F3}"/>
              </a:ext>
            </a:extLst>
          </p:cNvPr>
          <p:cNvSpPr/>
          <p:nvPr/>
        </p:nvSpPr>
        <p:spPr>
          <a:xfrm>
            <a:off x="718467" y="3987802"/>
            <a:ext cx="10501064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2" name="Picture 12">
            <a:extLst>
              <a:ext uri="{FF2B5EF4-FFF2-40B4-BE49-F238E27FC236}">
                <a16:creationId xmlns:a16="http://schemas.microsoft.com/office/drawing/2014/main" id="{A60F0A0C-0521-4983-109D-061E6AFA0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467" y="5384802"/>
            <a:ext cx="508000" cy="508000"/>
          </a:xfrm>
          <a:prstGeom prst="rect">
            <a:avLst/>
          </a:prstGeom>
        </p:spPr>
      </p:pic>
      <p:sp>
        <p:nvSpPr>
          <p:cNvPr id="33" name="AutoShape 13">
            <a:extLst>
              <a:ext uri="{FF2B5EF4-FFF2-40B4-BE49-F238E27FC236}">
                <a16:creationId xmlns:a16="http://schemas.microsoft.com/office/drawing/2014/main" id="{A8F944FC-F83A-55AE-B123-4E884712AEB2}"/>
              </a:ext>
            </a:extLst>
          </p:cNvPr>
          <p:cNvSpPr/>
          <p:nvPr/>
        </p:nvSpPr>
        <p:spPr>
          <a:xfrm>
            <a:off x="1734466" y="4114802"/>
            <a:ext cx="820781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自动化评估（优化方向）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编写脚本自动遍历不同扰动半径，批量输出模型的“安全体检”报告，量化性能衰减规律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alpha val="70196"/>
                </a:srgbClr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4" name="AutoShape 14">
            <a:extLst>
              <a:ext uri="{FF2B5EF4-FFF2-40B4-BE49-F238E27FC236}">
                <a16:creationId xmlns:a16="http://schemas.microsoft.com/office/drawing/2014/main" id="{1E0E449A-F81A-479D-381B-E4A1D5478C3C}"/>
              </a:ext>
            </a:extLst>
          </p:cNvPr>
          <p:cNvSpPr/>
          <p:nvPr/>
        </p:nvSpPr>
        <p:spPr>
          <a:xfrm>
            <a:off x="718467" y="5152575"/>
            <a:ext cx="10501064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AutoShape 16">
            <a:extLst>
              <a:ext uri="{FF2B5EF4-FFF2-40B4-BE49-F238E27FC236}">
                <a16:creationId xmlns:a16="http://schemas.microsoft.com/office/drawing/2014/main" id="{B16D8B85-41AC-B838-A5DE-87231BC6381D}"/>
              </a:ext>
            </a:extLst>
          </p:cNvPr>
          <p:cNvSpPr/>
          <p:nvPr/>
        </p:nvSpPr>
        <p:spPr>
          <a:xfrm>
            <a:off x="1734467" y="5257802"/>
            <a:ext cx="8672276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防御验证（优化方向）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搭建简易防御模块，尝试通过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输入预处理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轻量对抗训练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alpha val="7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来加固模型，并对比防御前后的指标变化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alpha val="70196"/>
                </a:srgbClr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42" name="Picture 9">
            <a:extLst>
              <a:ext uri="{FF2B5EF4-FFF2-40B4-BE49-F238E27FC236}">
                <a16:creationId xmlns:a16="http://schemas.microsoft.com/office/drawing/2014/main" id="{2C1D1E94-4265-760E-940E-5322B3CAEE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303" y="3149604"/>
            <a:ext cx="473164" cy="47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749800" y="1665514"/>
            <a:ext cx="269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4800" b="1" dirty="0">
                <a:solidFill>
                  <a:srgbClr val="64FFDA"/>
                </a:solidFill>
                <a:latin typeface="Noto Sans SC"/>
                <a:ea typeface="Noto Sans SC"/>
                <a:sym typeface="Noto Sans SC"/>
              </a:rPr>
              <a:t>Thanks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715000" y="2632528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652734" y="2683328"/>
            <a:ext cx="2978349" cy="31357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方向 </a:t>
            </a:r>
            <a:r>
              <a:rPr lang="en-US" altLang="zh-CN" sz="24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8 - </a:t>
            </a:r>
            <a:r>
              <a:rPr lang="zh-CN" altLang="en-US" sz="24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小组 </a:t>
            </a:r>
            <a:r>
              <a:rPr lang="en-US" altLang="zh-CN" sz="24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1</a:t>
            </a:r>
            <a:endParaRPr lang="en-US" altLang="zh-CN" sz="2000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20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论文调研：安炳宇</a:t>
            </a:r>
            <a:endParaRPr lang="en-US" altLang="zh-CN" sz="2000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20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项目调研：谭必成</a:t>
            </a:r>
            <a:endParaRPr lang="en-US" altLang="zh-CN" sz="2000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20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技术调研：董则云</a:t>
            </a:r>
            <a:endParaRPr lang="en-US" altLang="zh-CN" sz="2000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altLang="zh-CN" sz="20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PPT</a:t>
            </a:r>
            <a:r>
              <a:rPr lang="zh-CN" altLang="en-US" sz="20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制作：李佳峻 龚祖涵</a:t>
            </a:r>
            <a:endParaRPr lang="en-US" altLang="zh-CN" sz="2000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20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sym typeface="Noto Sans SC"/>
              </a:rPr>
              <a:t>开题汇报：龚祖涵</a:t>
            </a:r>
            <a:endParaRPr lang="en-US" altLang="zh-CN" sz="2000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sym typeface="Noto Sans SC"/>
            </a:endParaRPr>
          </a:p>
          <a:p>
            <a:pPr indent="0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2490</Words>
  <Application>Microsoft Office PowerPoint</Application>
  <PresentationFormat>宽屏</PresentationFormat>
  <Paragraphs>163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龚祖涵</cp:lastModifiedBy>
  <cp:revision>240</cp:revision>
  <dcterms:modified xsi:type="dcterms:W3CDTF">2026-04-05T11:52:53Z</dcterms:modified>
</cp:coreProperties>
</file>