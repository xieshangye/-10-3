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1"/>
  </p:handoutMasterIdLst>
  <p:sldIdLst>
    <p:sldId id="256" r:id="rId3"/>
    <p:sldId id="257" r:id="rId4"/>
    <p:sldId id="258" r:id="rId6"/>
    <p:sldId id="259" r:id="rId7"/>
    <p:sldId id="263" r:id="rId8"/>
    <p:sldId id="260" r:id="rId9"/>
    <p:sldId id="265" r:id="rId10"/>
    <p:sldId id="268" r:id="rId11"/>
    <p:sldId id="261" r:id="rId12"/>
    <p:sldId id="284" r:id="rId13"/>
    <p:sldId id="285" r:id="rId14"/>
    <p:sldId id="286" r:id="rId15"/>
    <p:sldId id="266" r:id="rId16"/>
    <p:sldId id="274" r:id="rId17"/>
    <p:sldId id="287" r:id="rId18"/>
    <p:sldId id="269" r:id="rId19"/>
    <p:sldId id="288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4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3024C9E-758D-46F4-94EF-6A19A5DA83D8}" styleName="表样式 1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B6CDDB"/>
              </a:solidFill>
              <a:prstDash val="solid"/>
            </a:ln>
          </a:left>
          <a:right>
            <a:ln w="12700" cmpd="sng">
              <a:solidFill>
                <a:srgbClr val="B6CDDB"/>
              </a:solidFill>
              <a:prstDash val="solid"/>
            </a:ln>
          </a:right>
          <a:top>
            <a:ln w="12700" cmpd="sng">
              <a:solidFill>
                <a:srgbClr val="B6CDDB"/>
              </a:solidFill>
              <a:prstDash val="solid"/>
            </a:ln>
          </a:top>
          <a:bottom>
            <a:ln w="12700" cmpd="sng">
              <a:solidFill>
                <a:srgbClr val="B6CDDB"/>
              </a:solidFill>
              <a:prstDash val="solid"/>
            </a:ln>
          </a:bottom>
          <a:insideH>
            <a:ln w="12700" cmpd="sng">
              <a:solidFill>
                <a:srgbClr val="B6CDDB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B6CDDB">
              <a:lumMod val="20000"/>
              <a:lumOff val="80000"/>
            </a:srgbClr>
          </a:solidFill>
        </a:fill>
      </a:tcStyle>
    </a:band1H>
    <a:band1V>
      <a:tcStyle>
        <a:tcBdr/>
        <a:fill>
          <a:solidFill>
            <a:srgbClr val="B6CDDB">
              <a:lumMod val="20000"/>
              <a:lumOff val="8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B6CDDB"/>
              </a:solidFill>
              <a:prstDash val="solid"/>
            </a:ln>
          </a:right>
          <a:top>
            <a:ln w="12700" cmpd="sng">
              <a:solidFill>
                <a:srgbClr val="B6CDDB"/>
              </a:solidFill>
              <a:prstDash val="solid"/>
            </a:ln>
          </a:top>
          <a:bottom>
            <a:ln w="12700" cmpd="sng">
              <a:solidFill>
                <a:srgbClr val="B6CDDB"/>
              </a:solidFill>
              <a:prstDash val="solid"/>
            </a:ln>
          </a:bottom>
          <a:insideH>
            <a:ln w="12700" cmpd="sng">
              <a:solidFill>
                <a:srgbClr val="B6CDDB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B6CDDB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B6CDDB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rgbClr val="B6CDDB"/>
              </a:solidFill>
              <a:prstDash val="solid"/>
            </a:ln>
          </a:top>
          <a:bottom>
            <a:ln w="12700" cmpd="sng">
              <a:solidFill>
                <a:srgbClr val="B6CDDB"/>
              </a:solidFill>
              <a:prstDash val="solid"/>
            </a:ln>
          </a:bottom>
          <a:insideH>
            <a:ln w="12700" cmpd="sng">
              <a:solidFill>
                <a:srgbClr val="B6CDDB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B6CDDB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B6CDDB"/>
              </a:solidFill>
              <a:prstDash val="solid"/>
            </a:ln>
          </a:left>
          <a:right>
            <a:ln w="12700" cmpd="sng">
              <a:solidFill>
                <a:srgbClr val="B6CDDB"/>
              </a:solidFill>
              <a:prstDash val="solid"/>
            </a:ln>
          </a:right>
          <a:top>
            <a:ln w="12700" cmpd="sng">
              <a:solidFill>
                <a:srgbClr val="B6CDDB"/>
              </a:solidFill>
              <a:prstDash val="solid"/>
            </a:ln>
          </a:top>
          <a:bottom>
            <a:ln w="12700" cmpd="sng">
              <a:solidFill>
                <a:srgbClr val="B6CDDB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B6CDDB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B6CDDB"/>
              </a:solidFill>
              <a:prstDash val="solid"/>
            </a:ln>
          </a:top>
          <a:bottom>
            <a:ln w="9525" cmpd="sng">
              <a:solidFill>
                <a:srgbClr val="B6CDDB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B6CDDB"/>
              </a:solidFill>
              <a:prstDash val="solid"/>
            </a:ln>
          </a:top>
          <a:bottom>
            <a:ln w="9525" cmpd="sng">
              <a:solidFill>
                <a:srgbClr val="B6CDDB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B6CDDB"/>
              </a:solidFill>
              <a:prstDash val="solid"/>
            </a:ln>
          </a:left>
          <a:right>
            <a:ln w="12700" cmpd="sng">
              <a:solidFill>
                <a:srgbClr val="B6CDDB"/>
              </a:solidFill>
              <a:prstDash val="solid"/>
            </a:ln>
          </a:right>
          <a:top>
            <a:ln w="12700" cmpd="sng">
              <a:solidFill>
                <a:srgbClr val="B6CDDB"/>
              </a:solidFill>
              <a:prstDash val="solid"/>
            </a:ln>
          </a:top>
          <a:bottom>
            <a:ln w="12700" cmpd="sng">
              <a:solidFill>
                <a:srgbClr val="B6CDDB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B6CDDB"/>
          </a:solidFill>
        </a:fill>
      </a:tcStyle>
    </a:firstRow>
  </a:tblStyle>
  <a:tblStyle styleId="{CB833C27-FE20-43D6-8AB0-A02873F42733}" styleName="表样式 1 17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 w="12700" cmpd="sng">
              <a:solidFill>
                <a:srgbClr val="FFFFFF"/>
              </a:solidFill>
              <a:prstDash val="solid"/>
            </a:ln>
          </a:insideV>
        </a:tcBdr>
        <a:fill>
          <a:solidFill>
            <a:srgbClr val="B6CDDB">
              <a:lumMod val="10000"/>
              <a:lumOff val="90000"/>
            </a:srgbClr>
          </a:solidFill>
        </a:fill>
      </a:tcStyle>
    </a:wholeTbl>
    <a:band1H>
      <a:tcStyle>
        <a:tcBdr/>
        <a:fill>
          <a:solidFill>
            <a:srgbClr val="B6CDDB">
              <a:lumMod val="40000"/>
              <a:lumOff val="60000"/>
            </a:srgbClr>
          </a:solidFill>
        </a:fill>
      </a:tcStyle>
    </a:band1H>
    <a:band1V>
      <a:tcStyle>
        <a:tcBdr/>
        <a:fill>
          <a:solidFill>
            <a:srgbClr val="B6C7EA"/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B6CDDB">
              <a:lumMod val="40000"/>
              <a:lumOff val="6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B6CDDB">
              <a:lumMod val="40000"/>
              <a:lumOff val="60000"/>
            </a:srgb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B6CDDB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>
              <a:noFill/>
            </a:ln>
          </a:insideH>
          <a:insideV>
            <a:ln w="12700" cmpd="sng">
              <a:solidFill>
                <a:srgbClr val="FFFFFF"/>
              </a:solidFill>
              <a:prstDash val="solid"/>
            </a:ln>
          </a:insideV>
        </a:tcBdr>
        <a:fill>
          <a:solidFill>
            <a:srgbClr val="B6CDDB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07" autoAdjust="0"/>
  </p:normalViewPr>
  <p:slideViewPr>
    <p:cSldViewPr snapToGrid="0" showGuides="1">
      <p:cViewPr>
        <p:scale>
          <a:sx n="75" d="100"/>
          <a:sy n="75" d="100"/>
        </p:scale>
        <p:origin x="-1914" y="-972"/>
      </p:cViewPr>
      <p:guideLst>
        <p:guide orient="horz" pos="20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30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字魂105号-简雅黑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>
                <a:latin typeface="字魂105号-简雅黑"/>
              </a:rPr>
            </a:fld>
            <a:endParaRPr lang="zh-CN" altLang="en-US">
              <a:latin typeface="字魂105号-简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字魂105号-简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>
                <a:latin typeface="字魂105号-简雅黑"/>
              </a:rPr>
            </a:fld>
            <a:endParaRPr lang="zh-CN" altLang="en-US">
              <a:latin typeface="字魂105号-简雅黑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2D2B8-E104-4742-9824-573A6430D606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6A2C4-A098-4099-85BD-3F0D1BAB764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https://www.XX.com/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https://www.XX.com/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字魂105号-简雅黑"/>
                <a:ea typeface="思源黑体 CN Bold" panose="020B0800000000000000" pitchFamily="34" charset="-122"/>
                <a:cs typeface="字魂160号-檀宋" panose="00000500000000000000" charset="-122"/>
              </a:defRPr>
            </a:lvl1pPr>
          </a:lstStyle>
          <a:p>
            <a:fld id="{530820CF-B880-4189-942D-D702A7CBA73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字魂105号-简雅黑"/>
                <a:ea typeface="思源黑体 CN Bold" panose="020B0800000000000000" pitchFamily="34" charset="-122"/>
                <a:cs typeface="字魂160号-檀宋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字魂105号-简雅黑"/>
                <a:ea typeface="思源黑体 CN Bold" panose="020B0800000000000000" pitchFamily="34" charset="-122"/>
                <a:cs typeface="字魂160号-檀宋" panose="00000500000000000000" charset="-122"/>
              </a:defRPr>
            </a:lvl1pPr>
          </a:lstStyle>
          <a:p>
            <a:fld id="{0C913308-F349-4B6D-A68A-DD1791B4A57B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字魂105号-简雅黑"/>
          <a:ea typeface="思源黑体 CN Bold" panose="020B0800000000000000" pitchFamily="34" charset="-122"/>
          <a:cs typeface="字魂160号-檀宋" panose="00000500000000000000" charset="-122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字魂105号-简雅黑"/>
          <a:ea typeface="思源黑体 CN Bold" panose="020B0800000000000000" pitchFamily="34" charset="-122"/>
          <a:cs typeface="字魂160号-檀宋" panose="00000500000000000000" charset="-122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字魂105号-简雅黑"/>
          <a:ea typeface="思源黑体 CN Bold" panose="020B0800000000000000" pitchFamily="34" charset="-122"/>
          <a:cs typeface="字魂160号-檀宋" panose="00000500000000000000" charset="-122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字魂105号-简雅黑"/>
          <a:ea typeface="思源黑体 CN Bold" panose="020B0800000000000000" pitchFamily="34" charset="-122"/>
          <a:cs typeface="字魂160号-檀宋" panose="00000500000000000000" charset="-122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字魂105号-简雅黑"/>
          <a:ea typeface="思源黑体 CN Bold" panose="020B0800000000000000" pitchFamily="34" charset="-122"/>
          <a:cs typeface="字魂160号-檀宋" panose="00000500000000000000" charset="-122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字魂105号-简雅黑"/>
          <a:ea typeface="思源黑体 CN Bold" panose="020B0800000000000000" pitchFamily="34" charset="-122"/>
          <a:cs typeface="字魂160号-檀宋" panose="00000500000000000000" charset="-122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3" Type="http://schemas.openxmlformats.org/officeDocument/2006/relationships/image" Target="../media/image10.jpeg"/><Relationship Id="rId2" Type="http://schemas.microsoft.com/office/2007/relationships/hdphoto" Target="../media/image9.wdp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9.xml"/><Relationship Id="rId14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3.png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t="-18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2">
            <a:lum bright="-24000"/>
          </a:blip>
          <a:stretch>
            <a:fillRect/>
          </a:stretch>
        </p:blipFill>
        <p:spPr>
          <a:xfrm>
            <a:off x="0" y="0"/>
            <a:ext cx="5857875" cy="371157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8300"/>
            <a:ext cx="7572375" cy="1409700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170" y="6086475"/>
            <a:ext cx="4762500" cy="771525"/>
          </a:xfrm>
          <a:prstGeom prst="rect">
            <a:avLst/>
          </a:prstGeom>
        </p:spPr>
      </p:pic>
      <p:pic>
        <p:nvPicPr>
          <p:cNvPr id="7" name="图片 6" descr="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520" y="0"/>
            <a:ext cx="919480" cy="4953000"/>
          </a:xfrm>
          <a:prstGeom prst="rect">
            <a:avLst/>
          </a:prstGeom>
        </p:spPr>
      </p:pic>
      <p:pic>
        <p:nvPicPr>
          <p:cNvPr id="8" name="图片 7" descr="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290" y="0"/>
            <a:ext cx="1847850" cy="981075"/>
          </a:xfrm>
          <a:prstGeom prst="rect">
            <a:avLst/>
          </a:prstGeom>
        </p:spPr>
      </p:pic>
      <p:pic>
        <p:nvPicPr>
          <p:cNvPr id="9" name="图片 8" descr="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6730" y="4619625"/>
            <a:ext cx="771525" cy="82867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 userDrawn="1"/>
        </p:nvGrpSpPr>
        <p:grpSpPr>
          <a:xfrm flipH="1" flipV="1">
            <a:off x="9315450" y="5590540"/>
            <a:ext cx="3432810" cy="1638935"/>
            <a:chOff x="-709001" y="-692773"/>
            <a:chExt cx="5056754" cy="2864473"/>
          </a:xfrm>
        </p:grpSpPr>
        <p:grpSp>
          <p:nvGrpSpPr>
            <p:cNvPr id="16" name="组合 15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7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3" name="矩形: 圆角 92"/>
          <p:cNvSpPr/>
          <p:nvPr/>
        </p:nvSpPr>
        <p:spPr>
          <a:xfrm>
            <a:off x="3254610" y="2870926"/>
            <a:ext cx="6336000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986405" y="2862580"/>
            <a:ext cx="6329680" cy="15551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智能视觉感知软件对抗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/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鲁棒性测试与自动化评估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404554" y="1754533"/>
            <a:ext cx="338328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6600" b="1" spc="-300">
                <a:solidFill>
                  <a:srgbClr val="36468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选题汇报</a:t>
            </a:r>
            <a:endParaRPr lang="zh-CN" altLang="en-US" sz="6600" b="1" spc="-300">
              <a:solidFill>
                <a:srgbClr val="36468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  <p:bldLst>
      <p:bldP spid="93" grpId="0" animBg="1"/>
      <p:bldP spid="88" grpId="0"/>
      <p:bldP spid="9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1">
            <a:lum bright="-12000"/>
          </a:blip>
          <a:stretch>
            <a:fillRect/>
          </a:stretch>
        </p:blipFill>
        <p:spPr>
          <a:xfrm>
            <a:off x="0" y="0"/>
            <a:ext cx="5857875" cy="3582035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205" y="6020435"/>
            <a:ext cx="5168900" cy="837565"/>
          </a:xfrm>
          <a:prstGeom prst="rect">
            <a:avLst/>
          </a:prstGeom>
        </p:spPr>
      </p:pic>
      <p:pic>
        <p:nvPicPr>
          <p:cNvPr id="7" name="图片 6" descr="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4791075" y="0"/>
            <a:ext cx="7400925" cy="1377950"/>
          </a:xfrm>
          <a:prstGeom prst="rect">
            <a:avLst/>
          </a:prstGeom>
        </p:spPr>
      </p:pic>
      <p:pic>
        <p:nvPicPr>
          <p:cNvPr id="8" name="图片 7" descr="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396355" y="0"/>
            <a:ext cx="5168900" cy="83756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64565" y="2479675"/>
            <a:ext cx="3986530" cy="1965344"/>
            <a:chOff x="1282590" y="2249237"/>
            <a:chExt cx="3881415" cy="2107878"/>
          </a:xfrm>
        </p:grpSpPr>
        <p:sp>
          <p:nvSpPr>
            <p:cNvPr id="60" name="矩形 59"/>
            <p:cNvSpPr/>
            <p:nvPr/>
          </p:nvSpPr>
          <p:spPr>
            <a:xfrm>
              <a:off x="1796228" y="2249237"/>
              <a:ext cx="2137124" cy="758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spc="-3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Contents</a:t>
              </a:r>
              <a:endParaRPr lang="en-US" altLang="zh-CN" sz="4000" spc="-3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600082" y="3043811"/>
              <a:ext cx="3230880" cy="8240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报告书目录</a:t>
              </a:r>
              <a:endParaRPr lang="zh-CN" altLang="en-US" sz="4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2" name="矩形: 圆角 61"/>
            <p:cNvSpPr/>
            <p:nvPr/>
          </p:nvSpPr>
          <p:spPr>
            <a:xfrm>
              <a:off x="1282590" y="3044136"/>
              <a:ext cx="3881415" cy="34194"/>
            </a:xfrm>
            <a:prstGeom prst="roundRect">
              <a:avLst>
                <a:gd name="adj" fmla="val 5000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525272" y="3863352"/>
              <a:ext cx="3013968" cy="4937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i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Changing the world, dreaming </a:t>
              </a:r>
              <a:endParaRPr lang="en-US" altLang="zh-CN" sz="1200" i="1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algn="ctr"/>
              <a:r>
                <a:rPr lang="en-US" altLang="zh-CN" sz="1200" i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the future the ever-changing</a:t>
              </a:r>
              <a:endParaRPr lang="en-US" altLang="zh-CN" sz="1200" i="1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4"/>
            </p:custDataLst>
          </p:nvPr>
        </p:nvGrpSpPr>
        <p:grpSpPr>
          <a:xfrm>
            <a:off x="6239666" y="557669"/>
            <a:ext cx="4577715" cy="3987689"/>
            <a:chOff x="6520691" y="1281569"/>
            <a:chExt cx="4717256" cy="4109245"/>
          </a:xfrm>
        </p:grpSpPr>
        <p:grpSp>
          <p:nvGrpSpPr>
            <p:cNvPr id="25" name="组合 24"/>
            <p:cNvGrpSpPr/>
            <p:nvPr/>
          </p:nvGrpSpPr>
          <p:grpSpPr>
            <a:xfrm>
              <a:off x="6520691" y="1281569"/>
              <a:ext cx="3655987" cy="809273"/>
              <a:chOff x="6711191" y="1073803"/>
              <a:chExt cx="3655987" cy="809273"/>
            </a:xfrm>
          </p:grpSpPr>
          <p:sp>
            <p:nvSpPr>
              <p:cNvPr id="41" name="椭圆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6711191" y="1073803"/>
                <a:ext cx="809273" cy="809273"/>
              </a:xfrm>
              <a:prstGeom prst="ellipse">
                <a:avLst/>
              </a:prstGeom>
              <a:solidFill>
                <a:srgbClr val="3646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1</a:t>
                </a:r>
                <a:endParaRPr lang="en-US" altLang="zh-CN" sz="36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695098" y="1255194"/>
                <a:ext cx="2672080" cy="474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黑体" panose="02010609060101010101" charset="-122"/>
                    <a:ea typeface="黑体" panose="02010609060101010101" charset="-122"/>
                    <a:cs typeface="+mn-ea"/>
                    <a:sym typeface="Arial" panose="020B0604020202020204" pitchFamily="34" charset="0"/>
                  </a:rPr>
                  <a:t>研究背景与意义</a:t>
                </a:r>
                <a:endParaRPr lang="zh-CN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520691" y="2287663"/>
              <a:ext cx="3224670" cy="809273"/>
              <a:chOff x="6711191" y="2225352"/>
              <a:chExt cx="3224670" cy="809273"/>
            </a:xfrm>
          </p:grpSpPr>
          <p:sp>
            <p:nvSpPr>
              <p:cNvPr id="37" name="椭圆 36"/>
              <p:cNvSpPr/>
              <p:nvPr>
                <p:custDataLst>
                  <p:tags r:id="rId7"/>
                </p:custDataLst>
              </p:nvPr>
            </p:nvSpPr>
            <p:spPr>
              <a:xfrm>
                <a:off x="6711191" y="2225352"/>
                <a:ext cx="809273" cy="809273"/>
              </a:xfrm>
              <a:prstGeom prst="ellipse">
                <a:avLst/>
              </a:prstGeom>
              <a:solidFill>
                <a:srgbClr val="B9D3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2</a:t>
                </a:r>
                <a:endParaRPr lang="en-US" altLang="zh-CN" sz="36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695344" y="2388942"/>
                <a:ext cx="2240517" cy="474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8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pPr algn="l"/>
                <a:r>
                  <a:rPr lang="zh-CN" altLang="en-US" sz="2400">
                    <a:latin typeface="黑体" panose="02010609060101010101" charset="-122"/>
                    <a:ea typeface="黑体" panose="02010609060101010101" charset="-122"/>
                    <a:sym typeface="Arial" panose="020B0604020202020204" pitchFamily="34" charset="0"/>
                  </a:rPr>
                  <a:t>领域调研</a:t>
                </a:r>
                <a:endParaRPr lang="zh-CN" altLang="en-US" sz="2400">
                  <a:latin typeface="黑体" panose="02010609060101010101" charset="-122"/>
                  <a:ea typeface="黑体" panose="02010609060101010101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520691" y="3350053"/>
              <a:ext cx="4717256" cy="855244"/>
              <a:chOff x="6711191" y="3433197"/>
              <a:chExt cx="4717256" cy="855244"/>
            </a:xfrm>
          </p:grpSpPr>
          <p:sp>
            <p:nvSpPr>
              <p:cNvPr id="33" name="椭圆 32"/>
              <p:cNvSpPr/>
              <p:nvPr>
                <p:custDataLst>
                  <p:tags r:id="rId9"/>
                </p:custDataLst>
              </p:nvPr>
            </p:nvSpPr>
            <p:spPr>
              <a:xfrm>
                <a:off x="6711191" y="3458896"/>
                <a:ext cx="809273" cy="809273"/>
              </a:xfrm>
              <a:prstGeom prst="ellipse">
                <a:avLst/>
              </a:prstGeom>
              <a:solidFill>
                <a:srgbClr val="3646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3</a:t>
                </a:r>
                <a:endParaRPr lang="en-US" altLang="zh-CN" sz="36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695343" y="3433197"/>
                <a:ext cx="3733104" cy="855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8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pPr algn="l"/>
                <a:r>
                  <a:rPr lang="zh-CN" altLang="en-US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开源项目选择</a:t>
                </a:r>
                <a:endPara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Arial" panose="020B0604020202020204" pitchFamily="34" charset="0"/>
                </a:endParaRPr>
              </a:p>
              <a:p>
                <a:pPr algn="l"/>
                <a:r>
                  <a:rPr lang="en-US" altLang="zh-CN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——</a:t>
                </a:r>
                <a:r>
                  <a:rPr lang="zh-CN" altLang="en-US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为什么是</a:t>
                </a:r>
                <a:r>
                  <a:rPr lang="en-US" altLang="zh-CN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Foolbox</a:t>
                </a:r>
                <a:endPara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520691" y="4501591"/>
              <a:ext cx="4524032" cy="889223"/>
              <a:chOff x="6711191" y="4730191"/>
              <a:chExt cx="4524032" cy="889223"/>
            </a:xfrm>
          </p:grpSpPr>
          <p:sp>
            <p:nvSpPr>
              <p:cNvPr id="29" name="椭圆 28"/>
              <p:cNvSpPr/>
              <p:nvPr>
                <p:custDataLst>
                  <p:tags r:id="rId11"/>
                </p:custDataLst>
              </p:nvPr>
            </p:nvSpPr>
            <p:spPr>
              <a:xfrm>
                <a:off x="6711191" y="4730191"/>
                <a:ext cx="809273" cy="809273"/>
              </a:xfrm>
              <a:prstGeom prst="ellipse">
                <a:avLst/>
              </a:prstGeom>
              <a:solidFill>
                <a:srgbClr val="B9D3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4</a:t>
                </a:r>
                <a:endParaRPr lang="en-US" altLang="zh-CN" sz="36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695098" y="4764170"/>
                <a:ext cx="3540125" cy="855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8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pPr algn="l"/>
                <a:r>
                  <a:rPr lang="zh-CN" altLang="en-US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视觉模型选择</a:t>
                </a:r>
                <a:endPara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Arial" panose="020B0604020202020204" pitchFamily="34" charset="0"/>
                </a:endParaRPr>
              </a:p>
              <a:p>
                <a:pPr algn="l"/>
                <a:r>
                  <a:rPr lang="en-US" altLang="zh-CN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——</a:t>
                </a:r>
                <a:r>
                  <a:rPr lang="zh-CN" altLang="en-US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为什么是</a:t>
                </a:r>
                <a:r>
                  <a:rPr lang="en-US" altLang="zh-CN" sz="2400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Arial" panose="020B0604020202020204" pitchFamily="34" charset="0"/>
                  </a:rPr>
                  <a:t>ResNet</a:t>
                </a:r>
                <a:endPara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椭圆 2"/>
          <p:cNvSpPr/>
          <p:nvPr>
            <p:custDataLst>
              <p:tags r:id="rId13"/>
            </p:custDataLst>
          </p:nvPr>
        </p:nvSpPr>
        <p:spPr>
          <a:xfrm>
            <a:off x="6239666" y="4753551"/>
            <a:ext cx="785334" cy="785334"/>
          </a:xfrm>
          <a:prstGeom prst="ellipse">
            <a:avLst/>
          </a:prstGeom>
          <a:solidFill>
            <a:srgbClr val="364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4"/>
            </p:custDataLst>
          </p:nvPr>
        </p:nvSpPr>
        <p:spPr>
          <a:xfrm>
            <a:off x="7194517" y="4897151"/>
            <a:ext cx="328319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l"/>
            <a:r>
              <a:rPr lang="zh-CN" altLang="en-US" sz="240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项目规划与改进思路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16" name="椭圆 15"/>
          <p:cNvSpPr/>
          <p:nvPr>
            <p:custDataLst>
              <p:tags r:id="rId15"/>
            </p:custDataLst>
          </p:nvPr>
        </p:nvSpPr>
        <p:spPr>
          <a:xfrm>
            <a:off x="6239666" y="5748169"/>
            <a:ext cx="785334" cy="785334"/>
          </a:xfrm>
          <a:prstGeom prst="ellipse">
            <a:avLst/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6</a:t>
            </a:r>
            <a:endParaRPr lang="en-US" altLang="zh-CN" sz="3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7194867" y="5792070"/>
            <a:ext cx="25930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l"/>
            <a:r>
              <a:rPr lang="zh-CN" altLang="en-US" sz="240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预期成果与总结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1">
            <a:lum bright="-12000"/>
          </a:blip>
          <a:stretch>
            <a:fillRect/>
          </a:stretch>
        </p:blipFill>
        <p:spPr>
          <a:xfrm>
            <a:off x="0" y="0"/>
            <a:ext cx="5857875" cy="358203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75" y="5431155"/>
            <a:ext cx="8011160" cy="1491615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05" y="6020435"/>
            <a:ext cx="5168900" cy="837565"/>
          </a:xfrm>
          <a:prstGeom prst="rect">
            <a:avLst/>
          </a:prstGeom>
        </p:spPr>
      </p:pic>
      <p:pic>
        <p:nvPicPr>
          <p:cNvPr id="7" name="图片 6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791075" y="0"/>
            <a:ext cx="7400925" cy="1377950"/>
          </a:xfrm>
          <a:prstGeom prst="rect">
            <a:avLst/>
          </a:prstGeom>
        </p:spPr>
      </p:pic>
      <p:pic>
        <p:nvPicPr>
          <p:cNvPr id="8" name="图片 7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96355" y="0"/>
            <a:ext cx="5168900" cy="83756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5588168" y="2284314"/>
            <a:ext cx="1015663" cy="1015663"/>
          </a:xfrm>
          <a:prstGeom prst="ellipse">
            <a:avLst/>
          </a:prstGeom>
          <a:solidFill>
            <a:srgbClr val="364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endParaRPr lang="en-US" altLang="zh-CN" sz="4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048510" y="3627449"/>
            <a:ext cx="4094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研究背景与意义</a:t>
            </a:r>
            <a:endParaRPr lang="zh-CN" altLang="en-US" sz="44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4331720" y="3514244"/>
            <a:ext cx="3528559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  <p:bldLst>
      <p:bldP spid="3" grpId="0" animBg="1"/>
      <p:bldP spid="46" grpId="0"/>
      <p:bldP spid="4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373263" y="1345475"/>
            <a:ext cx="4631725" cy="4167047"/>
            <a:chOff x="6270534" y="1313844"/>
            <a:chExt cx="4631725" cy="4167047"/>
          </a:xfrm>
        </p:grpSpPr>
        <p:sp>
          <p:nvSpPr>
            <p:cNvPr id="7" name="椭圆 6"/>
            <p:cNvSpPr/>
            <p:nvPr/>
          </p:nvSpPr>
          <p:spPr>
            <a:xfrm>
              <a:off x="8755779" y="2475700"/>
              <a:ext cx="713227" cy="738769"/>
            </a:xfrm>
            <a:prstGeom prst="ellipse">
              <a:avLst/>
            </a:prstGeom>
            <a:solidFill>
              <a:srgbClr val="B9D3E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7745720" y="3678254"/>
              <a:ext cx="713227" cy="738769"/>
            </a:xfrm>
            <a:prstGeom prst="ellipse">
              <a:avLst/>
            </a:prstGeom>
            <a:solidFill>
              <a:srgbClr val="B9D3E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6270534" y="2712373"/>
              <a:ext cx="1433253" cy="1433253"/>
            </a:xfrm>
            <a:prstGeom prst="ellipse">
              <a:avLst/>
            </a:prstGeom>
            <a:solidFill>
              <a:srgbClr val="3646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对抗样本</a:t>
              </a:r>
              <a:endPara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7960575" y="2712372"/>
              <a:ext cx="1433253" cy="1433253"/>
            </a:xfrm>
            <a:prstGeom prst="ellipse">
              <a:avLst/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安全威胁</a:t>
              </a:r>
              <a:endPara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9469006" y="2712372"/>
              <a:ext cx="1433253" cy="1433253"/>
            </a:xfrm>
            <a:prstGeom prst="ellipse">
              <a:avLst/>
            </a:prstGeom>
            <a:solidFill>
              <a:srgbClr val="B9D3E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研究意义</a:t>
              </a:r>
              <a:endPara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8646237" y="4047638"/>
              <a:ext cx="1433253" cy="1433253"/>
            </a:xfrm>
            <a:prstGeom prst="ellipse">
              <a:avLst/>
            </a:prstGeom>
            <a:blipFill rotWithShape="1"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 l="-14000" r="-41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7078577" y="1313844"/>
              <a:ext cx="1433253" cy="1433253"/>
            </a:xfrm>
            <a:prstGeom prst="ellipse">
              <a:avLst/>
            </a:prstGeom>
            <a:blipFill rotWithShape="1">
              <a:blip r:embed="rId3"/>
              <a:stretch>
                <a:fillRect l="-18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02030" y="2300605"/>
            <a:ext cx="5114925" cy="2148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Arial" panose="020B0604020202020204" pitchFamily="34" charset="0"/>
              </a:rPr>
              <a:t>对抗样本：人眼无法察觉的微小扰动，可导致模型误判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+mn-ea"/>
              <a:sym typeface="Arial" panose="020B060402020202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Arial" panose="020B0604020202020204" pitchFamily="34" charset="0"/>
              </a:rPr>
              <a:t>安全威胁：自动驾驶、安防监控等领域的潜在风险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+mn-ea"/>
              <a:sym typeface="Arial" panose="020B060402020202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Arial" panose="020B0604020202020204" pitchFamily="34" charset="0"/>
              </a:rPr>
              <a:t>研究意义：系统评估鲁棒性，探索攻防改进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122721" y="929654"/>
            <a:ext cx="4117279" cy="1577676"/>
            <a:chOff x="1122721" y="1254774"/>
            <a:chExt cx="4117279" cy="1577676"/>
          </a:xfrm>
        </p:grpSpPr>
        <p:sp>
          <p:nvSpPr>
            <p:cNvPr id="12" name="文本框 11"/>
            <p:cNvSpPr txBox="1"/>
            <p:nvPr/>
          </p:nvSpPr>
          <p:spPr>
            <a:xfrm>
              <a:off x="1501120" y="1510380"/>
              <a:ext cx="3738880" cy="1322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4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研究背景与意义</a:t>
              </a:r>
              <a:endParaRPr lang="zh-CN" altLang="en-US" sz="4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endParaRPr lang="zh-CN" altLang="en-US" sz="40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1602720" y="2320869"/>
              <a:ext cx="2651059" cy="34194"/>
            </a:xfrm>
            <a:prstGeom prst="roundRect">
              <a:avLst>
                <a:gd name="adj" fmla="val 5000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 rot="16488528" flipH="1">
              <a:off x="1059022" y="1318473"/>
              <a:ext cx="562012" cy="434614"/>
              <a:chOff x="9958642" y="4356094"/>
              <a:chExt cx="618213" cy="478075"/>
            </a:xfrm>
          </p:grpSpPr>
          <p:sp>
            <p:nvSpPr>
              <p:cNvPr id="26" name="任意多边形: 形状 25"/>
              <p:cNvSpPr/>
              <p:nvPr/>
            </p:nvSpPr>
            <p:spPr>
              <a:xfrm>
                <a:off x="9958642" y="4621975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10223198" y="4356094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9" name="图片 8" descr="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19" name="图片 18" descr="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1">
            <a:lum bright="-12000"/>
          </a:blip>
          <a:stretch>
            <a:fillRect/>
          </a:stretch>
        </p:blipFill>
        <p:spPr>
          <a:xfrm>
            <a:off x="0" y="0"/>
            <a:ext cx="5857875" cy="358203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75" y="5431155"/>
            <a:ext cx="8011160" cy="1491615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05" y="6020435"/>
            <a:ext cx="5168900" cy="837565"/>
          </a:xfrm>
          <a:prstGeom prst="rect">
            <a:avLst/>
          </a:prstGeom>
        </p:spPr>
      </p:pic>
      <p:pic>
        <p:nvPicPr>
          <p:cNvPr id="7" name="图片 6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791075" y="0"/>
            <a:ext cx="7400925" cy="1377950"/>
          </a:xfrm>
          <a:prstGeom prst="rect">
            <a:avLst/>
          </a:prstGeom>
        </p:spPr>
      </p:pic>
      <p:pic>
        <p:nvPicPr>
          <p:cNvPr id="8" name="图片 7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96355" y="0"/>
            <a:ext cx="5168900" cy="83756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5588168" y="2284314"/>
            <a:ext cx="1015663" cy="1015663"/>
          </a:xfrm>
          <a:prstGeom prst="ellipse">
            <a:avLst/>
          </a:prstGeom>
          <a:solidFill>
            <a:srgbClr val="364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endParaRPr lang="en-US" altLang="zh-CN" sz="4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886872" y="3691584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l"/>
            <a:r>
              <a:rPr lang="zh-CN" altLang="en-US">
                <a:sym typeface="Arial" panose="020B0604020202020204" pitchFamily="34" charset="0"/>
              </a:rPr>
              <a:t>领域调研</a:t>
            </a:r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4331720" y="3507894"/>
            <a:ext cx="3528559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895548" y="430210"/>
            <a:ext cx="2400510" cy="764544"/>
            <a:chOff x="4178815" y="681126"/>
            <a:chExt cx="2400510" cy="764544"/>
          </a:xfrm>
        </p:grpSpPr>
        <p:sp>
          <p:nvSpPr>
            <p:cNvPr id="3" name="文本框 2"/>
            <p:cNvSpPr txBox="1"/>
            <p:nvPr/>
          </p:nvSpPr>
          <p:spPr>
            <a:xfrm>
              <a:off x="4567645" y="724327"/>
              <a:ext cx="2011680" cy="645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6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领域调研</a:t>
              </a:r>
              <a:endParaRPr lang="zh-CN" altLang="en-US" sz="36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矩形: 圆角 35"/>
            <p:cNvSpPr/>
            <p:nvPr/>
          </p:nvSpPr>
          <p:spPr>
            <a:xfrm flipV="1">
              <a:off x="4637289" y="1369470"/>
              <a:ext cx="1941830" cy="76200"/>
            </a:xfrm>
            <a:prstGeom prst="roundRect">
              <a:avLst>
                <a:gd name="adj" fmla="val 5000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 rot="16488528" flipH="1">
              <a:off x="4115115" y="744825"/>
              <a:ext cx="562013" cy="434614"/>
              <a:chOff x="10014958" y="4436532"/>
              <a:chExt cx="618213" cy="478075"/>
            </a:xfrm>
          </p:grpSpPr>
          <p:sp>
            <p:nvSpPr>
              <p:cNvPr id="23" name="任意多边形: 形状 42"/>
              <p:cNvSpPr/>
              <p:nvPr/>
            </p:nvSpPr>
            <p:spPr>
              <a:xfrm>
                <a:off x="10014958" y="4702413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任意多边形: 形状 43"/>
              <p:cNvSpPr/>
              <p:nvPr/>
            </p:nvSpPr>
            <p:spPr>
              <a:xfrm>
                <a:off x="10279514" y="4436532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4" name="图片 3" descr="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19" name="图片 18" descr="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853440" y="1504950"/>
          <a:ext cx="10673715" cy="4409440"/>
        </p:xfrm>
        <a:graphic>
          <a:graphicData uri="http://schemas.openxmlformats.org/drawingml/2006/table">
            <a:tbl>
              <a:tblPr firstRow="1" bandRow="1">
                <a:tableStyleId>{33024C9E-758D-46F4-94EF-6A19A5DA83D8}</a:tableStyleId>
              </a:tblPr>
              <a:tblGrid>
                <a:gridCol w="3557905"/>
                <a:gridCol w="3557905"/>
                <a:gridCol w="3557905"/>
              </a:tblGrid>
              <a:tr h="67119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/>
                        <a:t>资料</a:t>
                      </a:r>
                      <a:endParaRPr lang="zh-CN" sz="1600"/>
                    </a:p>
                  </a:txBody>
                  <a:tcPr marL="76200" marR="76200" marT="76200" marB="76200" anchor="ctr" anchorCtr="0">
                    <a:lnL>
                      <a:noFill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/>
                        <a:t>核心方法</a:t>
                      </a:r>
                      <a:endParaRPr lang="zh-CN" sz="1600"/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/>
                        <a:t>在我的项目中的用途</a:t>
                      </a:r>
                      <a:endParaRPr lang="zh-CN" sz="1600"/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10223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《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Foolbox: A Python toolbox to benchmark the robustness of machine learning models》</a:t>
                      </a:r>
                      <a:endParaRPr lang="en-US" altLang="zh-CN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>
                      <a:noFill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提供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FGSM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、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PGD 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等攻击的标准实现，以最小扰动度量鲁棒性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</a:rPr>
                        <a:t>工具支撑：直接调用攻击接口，完成复现和评估</a:t>
                      </a:r>
                      <a:endParaRPr lang="zh-CN" sz="16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10223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《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Adversarial attacks and adversarial robustness in computational pathology》</a:t>
                      </a:r>
                      <a:endParaRPr lang="en-US" altLang="zh-CN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>
                      <a:noFill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采用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AUROC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、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ASR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、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PCA 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隐空间、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Grad-CAM 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四类评估方法； 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评估方法：搭建评估框架，分析性能变化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10223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《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Generating universal adversarial perturbation with ResNet》</a:t>
                      </a:r>
                      <a:endParaRPr lang="en-US" altLang="zh-CN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>
                      <a:noFill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用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ResNet 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生成器创建通用对抗扰动 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(UAP)</a:t>
                      </a:r>
                      <a:endParaRPr lang="en-US" altLang="zh-CN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攻击复现：训练生成器学习通用扰动，与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PGD 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基线对比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 w="1905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67119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Foolbox 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开源项目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>
                      <a:noFill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</a:rPr>
                        <a:t>上述论文的代码实现</a:t>
                      </a:r>
                      <a:endParaRPr lang="zh-CN" sz="16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黑体" panose="02010609060101010101" charset="-122"/>
                          <a:ea typeface="黑体" panose="02010609060101010101" charset="-122"/>
                        </a:rPr>
                        <a:t>工具支撑：直接使用其攻击接口和评估函数</a:t>
                      </a:r>
                      <a:endParaRPr lang="zh-CN" sz="16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9050" cmpd="sng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ame Side Corner Rectangle 10"/>
          <p:cNvSpPr/>
          <p:nvPr/>
        </p:nvSpPr>
        <p:spPr>
          <a:xfrm rot="5400000">
            <a:off x="2078355" y="1118235"/>
            <a:ext cx="623570" cy="147701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468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TextBox 43"/>
          <p:cNvSpPr txBox="1"/>
          <p:nvPr/>
        </p:nvSpPr>
        <p:spPr>
          <a:xfrm>
            <a:off x="3208655" y="1508760"/>
            <a:ext cx="6475730" cy="1844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Foolbox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工具箱，提供了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FGSM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、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PGD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等主流攻击算法的标准实现，并以寻找最小扰动作为鲁棒性度量的核心指标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3100" y="2755900"/>
            <a:ext cx="10741025" cy="2704465"/>
          </a:xfrm>
          <a:prstGeom prst="rect">
            <a:avLst/>
          </a:prstGeom>
          <a:solidFill>
            <a:srgbClr val="B9D3E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 Placeholder 11"/>
          <p:cNvSpPr txBox="1"/>
          <p:nvPr/>
        </p:nvSpPr>
        <p:spPr>
          <a:xfrm>
            <a:off x="1650438" y="1525861"/>
            <a:ext cx="3100754" cy="47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开源工具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" name="图片 1" descr="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19" name="图片 18" descr="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  <p:pic>
        <p:nvPicPr>
          <p:cNvPr id="1668108231" name="图片 1"/>
          <p:cNvPicPr>
            <a:picLocks noChangeAspect="1"/>
          </p:cNvPicPr>
          <p:nvPr/>
        </p:nvPicPr>
        <p:blipFill>
          <a:blip r:embed="rId3"/>
          <a:srcRect t="3352"/>
          <a:stretch>
            <a:fillRect/>
          </a:stretch>
        </p:blipFill>
        <p:spPr>
          <a:xfrm>
            <a:off x="812165" y="3076575"/>
            <a:ext cx="10477500" cy="2018665"/>
          </a:xfrm>
          <a:prstGeom prst="rect">
            <a:avLst/>
          </a:prstGeom>
          <a:effectLst>
            <a:outerShdw blurRad="114300" dist="101600" dir="3000000" algn="tl" rotWithShape="0">
              <a:schemeClr val="tx2">
                <a:alpha val="22000"/>
              </a:schemeClr>
            </a:outerShdw>
            <a:softEdge rad="25400"/>
          </a:effectLst>
        </p:spPr>
      </p:pic>
      <p:grpSp>
        <p:nvGrpSpPr>
          <p:cNvPr id="6" name="组合 5"/>
          <p:cNvGrpSpPr/>
          <p:nvPr/>
        </p:nvGrpSpPr>
        <p:grpSpPr>
          <a:xfrm>
            <a:off x="4895548" y="430210"/>
            <a:ext cx="2400510" cy="764544"/>
            <a:chOff x="4178815" y="681126"/>
            <a:chExt cx="2400510" cy="764544"/>
          </a:xfrm>
        </p:grpSpPr>
        <p:sp>
          <p:nvSpPr>
            <p:cNvPr id="7" name="文本框 6"/>
            <p:cNvSpPr txBox="1"/>
            <p:nvPr/>
          </p:nvSpPr>
          <p:spPr>
            <a:xfrm>
              <a:off x="4567645" y="724327"/>
              <a:ext cx="2011680" cy="645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6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领域调研</a:t>
              </a:r>
              <a:endParaRPr lang="zh-CN" altLang="en-US" sz="36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矩形: 圆角 35"/>
            <p:cNvSpPr/>
            <p:nvPr/>
          </p:nvSpPr>
          <p:spPr>
            <a:xfrm flipV="1">
              <a:off x="4637289" y="1369470"/>
              <a:ext cx="1941830" cy="76200"/>
            </a:xfrm>
            <a:prstGeom prst="roundRect">
              <a:avLst>
                <a:gd name="adj" fmla="val 5000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 rot="16488528" flipH="1">
              <a:off x="4115115" y="744825"/>
              <a:ext cx="562013" cy="434614"/>
              <a:chOff x="10014958" y="4436532"/>
              <a:chExt cx="618213" cy="478075"/>
            </a:xfrm>
          </p:grpSpPr>
          <p:sp>
            <p:nvSpPr>
              <p:cNvPr id="13" name="任意多边形: 形状 42"/>
              <p:cNvSpPr/>
              <p:nvPr/>
            </p:nvSpPr>
            <p:spPr>
              <a:xfrm>
                <a:off x="10014958" y="4702413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43"/>
              <p:cNvSpPr/>
              <p:nvPr/>
            </p:nvSpPr>
            <p:spPr>
              <a:xfrm>
                <a:off x="10279514" y="4436532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  <p:bldLst>
      <p:bldP spid="9" grpId="0" bldLvl="0" animBg="1"/>
      <p:bldP spid="11" grpId="0"/>
      <p:bldP spid="12" grpId="0" bldLvl="0" animBg="1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1">
            <a:lum bright="-12000"/>
          </a:blip>
          <a:stretch>
            <a:fillRect/>
          </a:stretch>
        </p:blipFill>
        <p:spPr>
          <a:xfrm>
            <a:off x="-108585" y="67945"/>
            <a:ext cx="5857875" cy="358203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75" y="5431155"/>
            <a:ext cx="8011160" cy="1491615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05" y="6020435"/>
            <a:ext cx="5168900" cy="837565"/>
          </a:xfrm>
          <a:prstGeom prst="rect">
            <a:avLst/>
          </a:prstGeom>
        </p:spPr>
      </p:pic>
      <p:pic>
        <p:nvPicPr>
          <p:cNvPr id="7" name="图片 6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791075" y="0"/>
            <a:ext cx="7400925" cy="1377950"/>
          </a:xfrm>
          <a:prstGeom prst="rect">
            <a:avLst/>
          </a:prstGeom>
        </p:spPr>
      </p:pic>
      <p:pic>
        <p:nvPicPr>
          <p:cNvPr id="8" name="图片 7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96355" y="0"/>
            <a:ext cx="5168900" cy="83756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5588803" y="1856959"/>
            <a:ext cx="1015663" cy="1015663"/>
          </a:xfrm>
          <a:prstGeom prst="ellipse">
            <a:avLst/>
          </a:prstGeom>
          <a:solidFill>
            <a:srgbClr val="364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  <a:endParaRPr lang="en-US" altLang="zh-CN" sz="4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216275" y="3322955"/>
            <a:ext cx="614108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ctr"/>
            <a:r>
              <a:rPr lang="zh-CN" altLang="en-US">
                <a:sym typeface="Arial" panose="020B0604020202020204" pitchFamily="34" charset="0"/>
              </a:rPr>
              <a:t>开源项目选择</a:t>
            </a:r>
            <a:endParaRPr lang="zh-CN" altLang="en-US">
              <a:sym typeface="Arial" panose="020B0604020202020204" pitchFamily="34" charset="0"/>
            </a:endParaRPr>
          </a:p>
          <a:p>
            <a:pPr algn="ctr"/>
            <a:r>
              <a:rPr lang="zh-CN" altLang="en-US">
                <a:sym typeface="Arial" panose="020B0604020202020204" pitchFamily="34" charset="0"/>
              </a:rPr>
              <a:t> </a:t>
            </a:r>
            <a:r>
              <a:rPr lang="en-US" altLang="zh-CN">
                <a:sym typeface="Arial" panose="020B0604020202020204" pitchFamily="34" charset="0"/>
              </a:rPr>
              <a:t> ——</a:t>
            </a:r>
            <a:r>
              <a:rPr lang="zh-CN" altLang="en-US">
                <a:sym typeface="Arial" panose="020B0604020202020204" pitchFamily="34" charset="0"/>
              </a:rPr>
              <a:t>为什么是</a:t>
            </a:r>
            <a:r>
              <a:rPr lang="en-US" altLang="zh-CN">
                <a:sym typeface="Arial" panose="020B0604020202020204" pitchFamily="34" charset="0"/>
              </a:rPr>
              <a:t>Foolbox</a:t>
            </a:r>
            <a:endParaRPr lang="en-US" altLang="zh-CN">
              <a:sym typeface="Arial" panose="020B0604020202020204" pitchFamily="34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4331720" y="3160549"/>
            <a:ext cx="3528559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825452" y="404814"/>
            <a:ext cx="5835221" cy="916305"/>
            <a:chOff x="4110239" y="623980"/>
            <a:chExt cx="5835221" cy="916305"/>
          </a:xfrm>
        </p:grpSpPr>
        <p:sp>
          <p:nvSpPr>
            <p:cNvPr id="24" name="文本框 23"/>
            <p:cNvSpPr txBox="1"/>
            <p:nvPr/>
          </p:nvSpPr>
          <p:spPr>
            <a:xfrm>
              <a:off x="4613365" y="741472"/>
              <a:ext cx="533209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对比</a:t>
              </a:r>
              <a:r>
                <a:rPr lang="en-US" altLang="zh-CN" sz="32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Foolbox vs. </a:t>
              </a:r>
              <a:r>
                <a:rPr lang="zh-CN" altLang="en-US" sz="32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其他攻击库</a:t>
              </a:r>
              <a:endParaRPr lang="zh-CN" altLang="en-US" sz="32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矩形: 圆角 35"/>
            <p:cNvSpPr/>
            <p:nvPr/>
          </p:nvSpPr>
          <p:spPr>
            <a:xfrm>
              <a:off x="5937134" y="1464085"/>
              <a:ext cx="3212465" cy="76200"/>
            </a:xfrm>
            <a:prstGeom prst="roundRect">
              <a:avLst>
                <a:gd name="adj" fmla="val 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 rot="16488528" flipH="1">
              <a:off x="4046539" y="687679"/>
              <a:ext cx="562013" cy="434614"/>
              <a:chOff x="9958642" y="4356094"/>
              <a:chExt cx="618213" cy="478075"/>
            </a:xfrm>
          </p:grpSpPr>
          <p:sp>
            <p:nvSpPr>
              <p:cNvPr id="30" name="任意多边形: 形状 42"/>
              <p:cNvSpPr/>
              <p:nvPr/>
            </p:nvSpPr>
            <p:spPr>
              <a:xfrm>
                <a:off x="9958642" y="4621975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任意多边形: 形状 43"/>
              <p:cNvSpPr/>
              <p:nvPr/>
            </p:nvSpPr>
            <p:spPr>
              <a:xfrm>
                <a:off x="10223198" y="4356094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32" name="图片 31" descr="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34" name="图片 33" descr="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  <p:graphicFrame>
        <p:nvGraphicFramePr>
          <p:cNvPr id="35" name="表格 34"/>
          <p:cNvGraphicFramePr/>
          <p:nvPr>
            <p:custDataLst>
              <p:tags r:id="rId3"/>
            </p:custDataLst>
          </p:nvPr>
        </p:nvGraphicFramePr>
        <p:xfrm>
          <a:off x="671195" y="1580515"/>
          <a:ext cx="10841355" cy="4095750"/>
        </p:xfrm>
        <a:graphic>
          <a:graphicData uri="http://schemas.openxmlformats.org/drawingml/2006/table">
            <a:tbl>
              <a:tblPr firstRow="1" bandRow="1">
                <a:tableStyleId>{CB833C27-FE20-43D6-8AB0-A02873F42733}</a:tableStyleId>
              </a:tblPr>
              <a:tblGrid>
                <a:gridCol w="2762250"/>
                <a:gridCol w="2693035"/>
                <a:gridCol w="2693035"/>
                <a:gridCol w="2693035"/>
              </a:tblGrid>
              <a:tr h="81915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/>
                        <a:t>对比维度</a:t>
                      </a:r>
                      <a:endParaRPr lang="zh-CN" sz="1600" b="1"/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Foolbox</a:t>
                      </a:r>
                      <a:endParaRPr lang="en-US" altLang="zh-CN" sz="1600" b="1"/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ART (IBM)</a:t>
                      </a:r>
                      <a:endParaRPr lang="en-US" altLang="zh-CN" sz="1600" b="1"/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CleverHans (</a:t>
                      </a:r>
                      <a:r>
                        <a:rPr lang="zh-CN" altLang="en-US" sz="1600" b="1"/>
                        <a:t>谷歌</a:t>
                      </a:r>
                      <a:r>
                        <a:rPr lang="en-US" altLang="zh-CN" sz="1600" b="1"/>
                        <a:t>)</a:t>
                      </a:r>
                      <a:endParaRPr lang="en-US" altLang="zh-CN" sz="1600" b="1"/>
                    </a:p>
                  </a:txBody>
                  <a:tcPr marL="76200" marR="76200" marT="76200" marB="76200" anchor="ctr" anchorCtr="0"/>
                </a:tc>
              </a:tr>
              <a:tr h="81915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易用性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接口简洁，几行代码完成攻击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功能全面但学习曲线陡峭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文档较老，更新缓慢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  <a:tr h="81915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框架兼容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原生支持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PyTorch/TF/Keras</a:t>
                      </a:r>
                      <a:endParaRPr lang="en-US" altLang="zh-CN" sz="16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支持多框架但包装较厚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主要支持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TF</a:t>
                      </a:r>
                      <a:endParaRPr lang="en-US" altLang="zh-CN" sz="16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  <a:tr h="81915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最小扰动计算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内置超参调优，自动寻找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需手动实现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需手动实现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  <a:tr h="81915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社区活跃度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持续更新，文档完善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活跃但偏重企业级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相对停滞</a:t>
                      </a:r>
                      <a:endParaRPr lang="zh-CN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1">
            <a:lum bright="-12000"/>
          </a:blip>
          <a:stretch>
            <a:fillRect/>
          </a:stretch>
        </p:blipFill>
        <p:spPr>
          <a:xfrm>
            <a:off x="-108585" y="67945"/>
            <a:ext cx="5857875" cy="358203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75" y="5431155"/>
            <a:ext cx="8011160" cy="1491615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05" y="6020435"/>
            <a:ext cx="5168900" cy="837565"/>
          </a:xfrm>
          <a:prstGeom prst="rect">
            <a:avLst/>
          </a:prstGeom>
        </p:spPr>
      </p:pic>
      <p:pic>
        <p:nvPicPr>
          <p:cNvPr id="7" name="图片 6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791075" y="0"/>
            <a:ext cx="7400925" cy="1377950"/>
          </a:xfrm>
          <a:prstGeom prst="rect">
            <a:avLst/>
          </a:prstGeom>
        </p:spPr>
      </p:pic>
      <p:pic>
        <p:nvPicPr>
          <p:cNvPr id="8" name="图片 7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96355" y="0"/>
            <a:ext cx="5168900" cy="83756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5588803" y="1856959"/>
            <a:ext cx="1015663" cy="1015663"/>
          </a:xfrm>
          <a:prstGeom prst="ellipse">
            <a:avLst/>
          </a:prstGeom>
          <a:solidFill>
            <a:srgbClr val="364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endParaRPr lang="en-US" altLang="zh-CN" sz="4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211195" y="3448050"/>
            <a:ext cx="577151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ctr"/>
            <a:r>
              <a:rPr lang="zh-CN" altLang="en-US">
                <a:sym typeface="Arial" panose="020B0604020202020204" pitchFamily="34" charset="0"/>
              </a:rPr>
              <a:t>视觉模型选择</a:t>
            </a:r>
            <a:endParaRPr lang="zh-CN" altLang="en-US">
              <a:sym typeface="Arial" panose="020B0604020202020204" pitchFamily="34" charset="0"/>
            </a:endParaRPr>
          </a:p>
          <a:p>
            <a:pPr algn="ctr"/>
            <a:r>
              <a:rPr lang="en-US" altLang="zh-CN">
                <a:sym typeface="Arial" panose="020B0604020202020204" pitchFamily="34" charset="0"/>
              </a:rPr>
              <a:t>——</a:t>
            </a:r>
            <a:r>
              <a:rPr lang="zh-CN" altLang="en-US">
                <a:sym typeface="Arial" panose="020B0604020202020204" pitchFamily="34" charset="0"/>
              </a:rPr>
              <a:t>为什么是</a:t>
            </a:r>
            <a:r>
              <a:rPr lang="en-US" altLang="zh-CN">
                <a:sym typeface="Arial" panose="020B0604020202020204" pitchFamily="34" charset="0"/>
              </a:rPr>
              <a:t>ResNet</a:t>
            </a:r>
            <a:endParaRPr lang="en-US" altLang="zh-CN">
              <a:sym typeface="Arial" panose="020B0604020202020204" pitchFamily="34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4331720" y="3149119"/>
            <a:ext cx="3528559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3434417" y="404814"/>
            <a:ext cx="4885896" cy="835660"/>
            <a:chOff x="4110239" y="623980"/>
            <a:chExt cx="4885896" cy="835660"/>
          </a:xfrm>
        </p:grpSpPr>
        <p:sp>
          <p:nvSpPr>
            <p:cNvPr id="24" name="文本框 23"/>
            <p:cNvSpPr txBox="1"/>
            <p:nvPr/>
          </p:nvSpPr>
          <p:spPr>
            <a:xfrm>
              <a:off x="4613365" y="741472"/>
              <a:ext cx="438277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选择</a:t>
              </a:r>
              <a:r>
                <a:rPr lang="en-US" altLang="zh-CN" sz="32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ResNet</a:t>
              </a:r>
              <a:r>
                <a:rPr lang="zh-CN" altLang="en-US" sz="32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的四个理由</a:t>
              </a:r>
              <a:endParaRPr lang="zh-CN" altLang="en-US" sz="32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矩形: 圆角 35"/>
            <p:cNvSpPr/>
            <p:nvPr/>
          </p:nvSpPr>
          <p:spPr>
            <a:xfrm>
              <a:off x="4653164" y="1383440"/>
              <a:ext cx="4281805" cy="76200"/>
            </a:xfrm>
            <a:prstGeom prst="roundRect">
              <a:avLst>
                <a:gd name="adj" fmla="val 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 rot="16488528" flipH="1">
              <a:off x="4046539" y="687679"/>
              <a:ext cx="562013" cy="434614"/>
              <a:chOff x="9958642" y="4356094"/>
              <a:chExt cx="618213" cy="478075"/>
            </a:xfrm>
          </p:grpSpPr>
          <p:sp>
            <p:nvSpPr>
              <p:cNvPr id="30" name="任意多边形: 形状 42"/>
              <p:cNvSpPr/>
              <p:nvPr/>
            </p:nvSpPr>
            <p:spPr>
              <a:xfrm>
                <a:off x="9958642" y="4621975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任意多边形: 形状 43"/>
              <p:cNvSpPr/>
              <p:nvPr/>
            </p:nvSpPr>
            <p:spPr>
              <a:xfrm>
                <a:off x="10223198" y="4356094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32" name="图片 31" descr="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34" name="图片 33" descr="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  <p:graphicFrame>
        <p:nvGraphicFramePr>
          <p:cNvPr id="35" name="表格 34"/>
          <p:cNvGraphicFramePr/>
          <p:nvPr>
            <p:custDataLst>
              <p:tags r:id="rId3"/>
            </p:custDataLst>
          </p:nvPr>
        </p:nvGraphicFramePr>
        <p:xfrm>
          <a:off x="1186180" y="1623695"/>
          <a:ext cx="9820275" cy="3039745"/>
        </p:xfrm>
        <a:graphic>
          <a:graphicData uri="http://schemas.openxmlformats.org/drawingml/2006/table">
            <a:tbl>
              <a:tblPr firstRow="1" bandRow="1">
                <a:tableStyleId>{CB833C27-FE20-43D6-8AB0-A02873F42733}</a:tableStyleId>
              </a:tblPr>
              <a:tblGrid>
                <a:gridCol w="2119630"/>
                <a:gridCol w="7700645"/>
              </a:tblGrid>
              <a:tr h="59055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/>
                        <a:t>理由</a:t>
                      </a:r>
                      <a:endParaRPr lang="zh-CN" sz="1600" b="1"/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说明</a:t>
                      </a:r>
                      <a:endParaRPr lang="zh-CN" altLang="en-US" sz="1600" b="1"/>
                    </a:p>
                  </a:txBody>
                  <a:tcPr marL="76200" marR="76200" marT="76200" marB="76200" anchor="ctr" anchorCtr="0"/>
                </a:tc>
              </a:tr>
              <a:tr h="615315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代表性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CNN 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架构的里程碑，实验结果具有广泛参照价值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  <a:tr h="671195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可对比性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《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Adversarial attacks and adversarial robustness in computational pathology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》以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ResNet 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为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CNN 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代表，可直接对标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  <a:tr h="60325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可解释性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层级结构清晰，特征图易于提取和可视化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  <a:tr h="559435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资源友好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相比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 ViT 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和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 YOLO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，可在普通</a:t>
                      </a:r>
                      <a:r>
                        <a:rPr lang="en-US" altLang="zh-CN" sz="1600" b="0">
                          <a:latin typeface="黑体" panose="02010609060101010101" charset="-122"/>
                          <a:ea typeface="黑体" panose="02010609060101010101" charset="-122"/>
                        </a:rPr>
                        <a:t> GPU </a:t>
                      </a:r>
                      <a:r>
                        <a:rPr lang="zh-CN" altLang="en-US" sz="1600" b="0">
                          <a:latin typeface="黑体" panose="02010609060101010101" charset="-122"/>
                          <a:ea typeface="黑体" panose="02010609060101010101" charset="-122"/>
                        </a:rPr>
                        <a:t>上快速完成实验</a:t>
                      </a:r>
                      <a:endParaRPr lang="zh-CN" altLang="en-US" sz="16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200" marR="76200" marT="76200" marB="76200"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86180" y="4836795"/>
            <a:ext cx="783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为什么不选</a:t>
            </a:r>
            <a:r>
              <a:rPr lang="en-US" altLang="zh-CN">
                <a:solidFill>
                  <a:schemeClr val="tx1"/>
                </a:solidFill>
              </a:rPr>
              <a:t>YOLO</a:t>
            </a:r>
            <a:r>
              <a:rPr lang="zh-CN" altLang="en-US">
                <a:solidFill>
                  <a:schemeClr val="tx1"/>
                </a:solidFill>
              </a:rPr>
              <a:t>？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6180" y="5196205"/>
            <a:ext cx="86683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目标检测的攻击评估复杂度远高于分类，聚焦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ResNet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能在有限时间内完成完整闭环。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2810" y="4827905"/>
            <a:ext cx="293370" cy="368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1">
            <a:lum bright="-12000"/>
          </a:blip>
          <a:stretch>
            <a:fillRect/>
          </a:stretch>
        </p:blipFill>
        <p:spPr>
          <a:xfrm>
            <a:off x="-108585" y="67945"/>
            <a:ext cx="5857875" cy="358203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75" y="5431155"/>
            <a:ext cx="8011160" cy="1491615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05" y="6020435"/>
            <a:ext cx="5168900" cy="837565"/>
          </a:xfrm>
          <a:prstGeom prst="rect">
            <a:avLst/>
          </a:prstGeom>
        </p:spPr>
      </p:pic>
      <p:pic>
        <p:nvPicPr>
          <p:cNvPr id="7" name="图片 6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791075" y="0"/>
            <a:ext cx="7400925" cy="1377950"/>
          </a:xfrm>
          <a:prstGeom prst="rect">
            <a:avLst/>
          </a:prstGeom>
        </p:spPr>
      </p:pic>
      <p:pic>
        <p:nvPicPr>
          <p:cNvPr id="8" name="图片 7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96355" y="0"/>
            <a:ext cx="5168900" cy="83756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5588803" y="1856959"/>
            <a:ext cx="1015663" cy="1015663"/>
          </a:xfrm>
          <a:prstGeom prst="ellipse">
            <a:avLst/>
          </a:prstGeom>
          <a:solidFill>
            <a:srgbClr val="364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</a:t>
            </a:r>
            <a:endParaRPr lang="en-US" altLang="zh-CN" sz="4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211195" y="3448050"/>
            <a:ext cx="57715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ctr"/>
            <a:r>
              <a:rPr lang="zh-CN" altLang="en-US">
                <a:sym typeface="Arial" panose="020B0604020202020204" pitchFamily="34" charset="0"/>
              </a:rPr>
              <a:t>项目规划与改进思路</a:t>
            </a:r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4331720" y="3149119"/>
            <a:ext cx="3528559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492625" y="2327910"/>
            <a:ext cx="2383790" cy="2320925"/>
            <a:chOff x="4746736" y="2051828"/>
            <a:chExt cx="2756583" cy="2754344"/>
          </a:xfrm>
        </p:grpSpPr>
        <p:grpSp>
          <p:nvGrpSpPr>
            <p:cNvPr id="16" name="组合 15"/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13" name="任意多边形: 形状 12"/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rgbClr val="B9D3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rgbClr val="3646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7" name="1027-797504"/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 rot="10800000" flipV="1">
            <a:off x="3305555" y="2544087"/>
            <a:ext cx="854188" cy="216373"/>
            <a:chOff x="7963929" y="1990584"/>
            <a:chExt cx="854188" cy="216373"/>
          </a:xfrm>
          <a:solidFill>
            <a:srgbClr val="364681"/>
          </a:solidFill>
        </p:grpSpPr>
        <p:grpSp>
          <p:nvGrpSpPr>
            <p:cNvPr id="35" name="组合 34"/>
            <p:cNvGrpSpPr/>
            <p:nvPr/>
          </p:nvGrpSpPr>
          <p:grpSpPr>
            <a:xfrm>
              <a:off x="7963929" y="2038350"/>
              <a:ext cx="796897" cy="168607"/>
              <a:chOff x="7963929" y="2038350"/>
              <a:chExt cx="796897" cy="168607"/>
            </a:xfrm>
            <a:grpFill/>
          </p:grpSpPr>
          <p:cxnSp>
            <p:nvCxnSpPr>
              <p:cNvPr id="37" name="直接连接符 36"/>
              <p:cNvCxnSpPr/>
              <p:nvPr/>
            </p:nvCxnSpPr>
            <p:spPr>
              <a:xfrm flipV="1">
                <a:off x="8132536" y="2044207"/>
                <a:ext cx="628290" cy="0"/>
              </a:xfrm>
              <a:prstGeom prst="line">
                <a:avLst/>
              </a:prstGeom>
              <a:grpFill/>
              <a:ln w="38100" cap="rnd">
                <a:solidFill>
                  <a:srgbClr val="36468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V="1">
                <a:off x="7963929" y="2038350"/>
                <a:ext cx="168607" cy="168607"/>
              </a:xfrm>
              <a:prstGeom prst="line">
                <a:avLst/>
              </a:prstGeom>
              <a:grpFill/>
              <a:ln w="38100" cap="rnd">
                <a:solidFill>
                  <a:srgbClr val="36468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椭圆 35"/>
            <p:cNvSpPr/>
            <p:nvPr/>
          </p:nvSpPr>
          <p:spPr>
            <a:xfrm>
              <a:off x="8703535" y="1990584"/>
              <a:ext cx="114582" cy="114582"/>
            </a:xfrm>
            <a:prstGeom prst="ellipse">
              <a:avLst/>
            </a:prstGeom>
            <a:grpFill/>
            <a:ln>
              <a:solidFill>
                <a:srgbClr val="3646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396240" y="4693920"/>
            <a:ext cx="278511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Arial" panose="020B0604020202020204" pitchFamily="34" charset="0"/>
              </a:rPr>
              <a:t>构建自动化脚本，遍历攻击方法和扰动强度，绘制鲁棒性曲线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 rot="10800000">
            <a:off x="3050450" y="4418224"/>
            <a:ext cx="1227280" cy="487730"/>
            <a:chOff x="7380514" y="1990584"/>
            <a:chExt cx="1227280" cy="487730"/>
          </a:xfrm>
          <a:solidFill>
            <a:srgbClr val="B9D3E0"/>
          </a:solidFill>
        </p:grpSpPr>
        <p:grpSp>
          <p:nvGrpSpPr>
            <p:cNvPr id="50" name="组合 49"/>
            <p:cNvGrpSpPr/>
            <p:nvPr/>
          </p:nvGrpSpPr>
          <p:grpSpPr>
            <a:xfrm>
              <a:off x="7380514" y="2038350"/>
              <a:ext cx="1113064" cy="439964"/>
              <a:chOff x="7380514" y="2038350"/>
              <a:chExt cx="1113064" cy="439964"/>
            </a:xfrm>
            <a:grpFill/>
          </p:grpSpPr>
          <p:cxnSp>
            <p:nvCxnSpPr>
              <p:cNvPr id="52" name="直接连接符 51"/>
              <p:cNvCxnSpPr/>
              <p:nvPr/>
            </p:nvCxnSpPr>
            <p:spPr>
              <a:xfrm>
                <a:off x="7820478" y="2044207"/>
                <a:ext cx="673100" cy="8255"/>
              </a:xfrm>
              <a:prstGeom prst="line">
                <a:avLst/>
              </a:prstGeom>
              <a:grpFill/>
              <a:ln w="38100" cap="rnd">
                <a:solidFill>
                  <a:srgbClr val="B9D3E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V="1">
                <a:off x="7380514" y="2038350"/>
                <a:ext cx="439964" cy="439964"/>
              </a:xfrm>
              <a:prstGeom prst="line">
                <a:avLst/>
              </a:prstGeom>
              <a:grpFill/>
              <a:ln w="38100" cap="rnd">
                <a:solidFill>
                  <a:srgbClr val="B9D3E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椭圆 50"/>
            <p:cNvSpPr/>
            <p:nvPr/>
          </p:nvSpPr>
          <p:spPr>
            <a:xfrm>
              <a:off x="8493212" y="1990584"/>
              <a:ext cx="114582" cy="114582"/>
            </a:xfrm>
            <a:prstGeom prst="ellipse">
              <a:avLst/>
            </a:prstGeom>
            <a:grpFill/>
            <a:ln>
              <a:solidFill>
                <a:srgbClr val="B9D3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7822565" y="2760345"/>
            <a:ext cx="3454400" cy="1373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借鉴《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Adversarial attacks and adversarial robustness in computational pathology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》的方法，用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t-SNE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可视化特征空间分布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6994678" y="3246292"/>
            <a:ext cx="866512" cy="328656"/>
            <a:chOff x="7539588" y="1990584"/>
            <a:chExt cx="866512" cy="328656"/>
          </a:xfrm>
          <a:solidFill>
            <a:srgbClr val="B9D3E0"/>
          </a:solidFill>
        </p:grpSpPr>
        <p:grpSp>
          <p:nvGrpSpPr>
            <p:cNvPr id="59" name="组合 58"/>
            <p:cNvGrpSpPr/>
            <p:nvPr/>
          </p:nvGrpSpPr>
          <p:grpSpPr>
            <a:xfrm>
              <a:off x="7539588" y="2038350"/>
              <a:ext cx="759308" cy="280890"/>
              <a:chOff x="7539588" y="2038350"/>
              <a:chExt cx="759308" cy="280890"/>
            </a:xfrm>
            <a:grpFill/>
          </p:grpSpPr>
          <p:cxnSp>
            <p:nvCxnSpPr>
              <p:cNvPr id="61" name="直接连接符 60"/>
              <p:cNvCxnSpPr/>
              <p:nvPr/>
            </p:nvCxnSpPr>
            <p:spPr>
              <a:xfrm>
                <a:off x="7820478" y="2044207"/>
                <a:ext cx="478418" cy="0"/>
              </a:xfrm>
              <a:prstGeom prst="line">
                <a:avLst/>
              </a:prstGeom>
              <a:grpFill/>
              <a:ln w="38100" cap="rnd">
                <a:solidFill>
                  <a:srgbClr val="B9D3E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V="1">
                <a:off x="7539588" y="2038350"/>
                <a:ext cx="280890" cy="280890"/>
              </a:xfrm>
              <a:prstGeom prst="line">
                <a:avLst/>
              </a:prstGeom>
              <a:grpFill/>
              <a:ln w="38100" cap="rnd">
                <a:solidFill>
                  <a:srgbClr val="B9D3E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椭圆 59"/>
            <p:cNvSpPr/>
            <p:nvPr/>
          </p:nvSpPr>
          <p:spPr>
            <a:xfrm>
              <a:off x="8291518" y="1990584"/>
              <a:ext cx="114582" cy="114582"/>
            </a:xfrm>
            <a:prstGeom prst="ellipse">
              <a:avLst/>
            </a:prstGeom>
            <a:grpFill/>
            <a:ln>
              <a:solidFill>
                <a:srgbClr val="B9D3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71" name="文本框 70"/>
          <p:cNvSpPr txBox="1"/>
          <p:nvPr/>
        </p:nvSpPr>
        <p:spPr>
          <a:xfrm>
            <a:off x="540385" y="2309495"/>
            <a:ext cx="2879725" cy="864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利用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Foolbox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对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ResNet-50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实施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FGSM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、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PGD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攻击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296747" y="468949"/>
            <a:ext cx="2348436" cy="753110"/>
            <a:chOff x="4110239" y="623980"/>
            <a:chExt cx="2348436" cy="753110"/>
          </a:xfrm>
        </p:grpSpPr>
        <p:sp>
          <p:nvSpPr>
            <p:cNvPr id="3" name="文本框 2"/>
            <p:cNvSpPr txBox="1"/>
            <p:nvPr/>
          </p:nvSpPr>
          <p:spPr>
            <a:xfrm>
              <a:off x="4446995" y="665272"/>
              <a:ext cx="2011680" cy="645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6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基础工作</a:t>
              </a:r>
              <a:endParaRPr lang="zh-CN" altLang="en-US" sz="36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矩形: 圆角 35"/>
            <p:cNvSpPr/>
            <p:nvPr/>
          </p:nvSpPr>
          <p:spPr>
            <a:xfrm flipV="1">
              <a:off x="4568074" y="1300890"/>
              <a:ext cx="1824355" cy="76200"/>
            </a:xfrm>
            <a:prstGeom prst="roundRect">
              <a:avLst>
                <a:gd name="adj" fmla="val 5000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 rot="16488528" flipH="1">
              <a:off x="4046539" y="687679"/>
              <a:ext cx="562013" cy="434614"/>
              <a:chOff x="9958642" y="4356094"/>
              <a:chExt cx="618213" cy="478075"/>
            </a:xfrm>
          </p:grpSpPr>
          <p:sp>
            <p:nvSpPr>
              <p:cNvPr id="7" name="任意多边形: 形状 42"/>
              <p:cNvSpPr/>
              <p:nvPr/>
            </p:nvSpPr>
            <p:spPr>
              <a:xfrm>
                <a:off x="9958642" y="4621975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任意多边形: 形状 43"/>
              <p:cNvSpPr/>
              <p:nvPr/>
            </p:nvSpPr>
            <p:spPr>
              <a:xfrm>
                <a:off x="10223198" y="4356094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9" name="图片 8" descr="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19" name="图片 18" descr="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252118" y="2072085"/>
            <a:ext cx="8686800" cy="3700145"/>
            <a:chOff x="-106295" y="699655"/>
            <a:chExt cx="8686800" cy="3700145"/>
          </a:xfrm>
        </p:grpSpPr>
        <p:sp>
          <p:nvSpPr>
            <p:cNvPr id="9" name="圆角矩形 16"/>
            <p:cNvSpPr/>
            <p:nvPr/>
          </p:nvSpPr>
          <p:spPr>
            <a:xfrm>
              <a:off x="-106295" y="699655"/>
              <a:ext cx="8616950" cy="1524635"/>
            </a:xfrm>
            <a:prstGeom prst="roundRect">
              <a:avLst>
                <a:gd name="adj" fmla="val 8731"/>
              </a:avLst>
            </a:prstGeom>
            <a:solidFill>
              <a:srgbClr val="3646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9435" y="1481340"/>
              <a:ext cx="7509510" cy="603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ts val="2000"/>
                </a:lnSpc>
                <a:buFont typeface="Wingdings" panose="05000000000000000000" charset="0"/>
                <a:buChar char="l"/>
              </a:pPr>
              <a:r>
                <a: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训练</a:t>
              </a:r>
              <a:r>
                <a:rPr lang="en-US" altLang="zh-CN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ResNet</a:t>
              </a:r>
              <a:r>
                <a: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生成器学习，通用对抗扰动</a:t>
              </a:r>
              <a:r>
                <a:rPr lang="en-US" altLang="zh-CN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(UAP)</a:t>
              </a:r>
              <a:endParaRPr lang="en-US" altLang="zh-CN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marL="285750" indent="-285750">
                <a:lnSpc>
                  <a:spcPts val="2000"/>
                </a:lnSpc>
                <a:buFont typeface="Wingdings" panose="05000000000000000000" charset="0"/>
                <a:buChar char="l"/>
              </a:pPr>
              <a:r>
                <a: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对比：</a:t>
              </a:r>
              <a:r>
                <a:rPr lang="en-US" altLang="zh-CN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UAP vs. PGD</a:t>
              </a:r>
              <a:r>
                <a: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基线（攻击成功率、生成效率）</a:t>
              </a:r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圆角矩形 16"/>
            <p:cNvSpPr/>
            <p:nvPr/>
          </p:nvSpPr>
          <p:spPr>
            <a:xfrm>
              <a:off x="-101215" y="2548140"/>
              <a:ext cx="8681720" cy="1851660"/>
            </a:xfrm>
            <a:prstGeom prst="roundRect">
              <a:avLst>
                <a:gd name="adj" fmla="val 8731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-47875" y="3280930"/>
              <a:ext cx="8230870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ts val="2000"/>
                </a:lnSpc>
                <a:buFont typeface="Wingdings" panose="05000000000000000000" charset="0"/>
                <a:buChar char="l"/>
              </a:pPr>
              <a:r>
                <a: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受《</a:t>
              </a:r>
              <a:r>
                <a:rPr lang="en-US" altLang="zh-CN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Adversarial attacks and adversarial robustness in computational pathology</a:t>
              </a:r>
              <a:r>
                <a: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》对特征空间分析的启发，尝试基于特征分布的检测思路</a:t>
              </a:r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marL="285750" indent="-285750">
                <a:lnSpc>
                  <a:spcPts val="2000"/>
                </a:lnSpc>
                <a:buFont typeface="Wingdings" panose="05000000000000000000" charset="0"/>
                <a:buChar char="l"/>
              </a:pPr>
              <a:r>
                <a: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具体方案将在实验过程中进一步探索和细化</a:t>
              </a:r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65023" y="447996"/>
            <a:ext cx="7883282" cy="2332056"/>
            <a:chOff x="1122721" y="1254774"/>
            <a:chExt cx="7883282" cy="2332056"/>
          </a:xfrm>
        </p:grpSpPr>
        <p:sp>
          <p:nvSpPr>
            <p:cNvPr id="22" name="文本框 21"/>
            <p:cNvSpPr txBox="1"/>
            <p:nvPr/>
          </p:nvSpPr>
          <p:spPr>
            <a:xfrm>
              <a:off x="1647170" y="3064860"/>
              <a:ext cx="19608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改进攻击：</a:t>
              </a:r>
              <a:endParaRPr lang="zh-CN" altLang="en-US"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364663" y="3268487"/>
              <a:ext cx="5641340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i="1">
                  <a:solidFill>
                    <a:schemeClr val="bg2">
                      <a:alpha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学习自《</a:t>
              </a:r>
              <a:r>
                <a:rPr lang="en-US" altLang="zh-CN" sz="1400" i="1">
                  <a:solidFill>
                    <a:schemeClr val="bg2">
                      <a:alpha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Generating universal adversarial perturbation with ResNet</a:t>
              </a:r>
              <a:r>
                <a:rPr lang="zh-CN" altLang="en-US" sz="1400" i="1">
                  <a:solidFill>
                    <a:schemeClr val="bg2">
                      <a:alpha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》</a:t>
              </a:r>
              <a:endParaRPr lang="zh-CN" altLang="en-US" sz="1400" i="1">
                <a:solidFill>
                  <a:schemeClr val="bg2">
                    <a:alpha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矩形: 圆角 23"/>
            <p:cNvSpPr/>
            <p:nvPr/>
          </p:nvSpPr>
          <p:spPr>
            <a:xfrm flipV="1">
              <a:off x="1707556" y="2116469"/>
              <a:ext cx="2799080" cy="76835"/>
            </a:xfrm>
            <a:prstGeom prst="roundRect">
              <a:avLst>
                <a:gd name="adj" fmla="val 5000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 rot="16488528" flipH="1">
              <a:off x="1059022" y="1318473"/>
              <a:ext cx="562012" cy="434614"/>
              <a:chOff x="9958642" y="4356094"/>
              <a:chExt cx="618213" cy="478075"/>
            </a:xfrm>
          </p:grpSpPr>
          <p:sp>
            <p:nvSpPr>
              <p:cNvPr id="27" name="任意多边形: 形状 26"/>
              <p:cNvSpPr/>
              <p:nvPr/>
            </p:nvSpPr>
            <p:spPr>
              <a:xfrm>
                <a:off x="9958642" y="4621975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10223198" y="4356094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 descr="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19" name="图片 18" descr="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52245" y="664845"/>
            <a:ext cx="3362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3646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改进思路探索</a:t>
            </a:r>
            <a:endParaRPr lang="zh-CN" altLang="en-US" sz="3600">
              <a:solidFill>
                <a:srgbClr val="3646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9472" y="4134507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改进防御：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1">
            <a:lum bright="-12000"/>
          </a:blip>
          <a:stretch>
            <a:fillRect/>
          </a:stretch>
        </p:blipFill>
        <p:spPr>
          <a:xfrm>
            <a:off x="-108585" y="67945"/>
            <a:ext cx="5857875" cy="358203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75" y="5431155"/>
            <a:ext cx="8011160" cy="1491615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05" y="6020435"/>
            <a:ext cx="5168900" cy="837565"/>
          </a:xfrm>
          <a:prstGeom prst="rect">
            <a:avLst/>
          </a:prstGeom>
        </p:spPr>
      </p:pic>
      <p:pic>
        <p:nvPicPr>
          <p:cNvPr id="7" name="图片 6" descr="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791075" y="0"/>
            <a:ext cx="7400925" cy="1377950"/>
          </a:xfrm>
          <a:prstGeom prst="rect">
            <a:avLst/>
          </a:prstGeom>
        </p:spPr>
      </p:pic>
      <p:pic>
        <p:nvPicPr>
          <p:cNvPr id="8" name="图片 7" descr="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96355" y="0"/>
            <a:ext cx="5168900" cy="83756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5588803" y="1856959"/>
            <a:ext cx="1015663" cy="1015663"/>
          </a:xfrm>
          <a:prstGeom prst="ellipse">
            <a:avLst/>
          </a:prstGeom>
          <a:solidFill>
            <a:srgbClr val="364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</a:t>
            </a:r>
            <a:endParaRPr lang="en-US" altLang="zh-CN" sz="4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211195" y="3448050"/>
            <a:ext cx="57715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ctr"/>
            <a:r>
              <a:rPr lang="zh-CN" altLang="en-US">
                <a:sym typeface="Arial" panose="020B0604020202020204" pitchFamily="34" charset="0"/>
              </a:rPr>
              <a:t>预期成果与总结</a:t>
            </a:r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4331720" y="3149119"/>
            <a:ext cx="3528559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579936" y="1553850"/>
            <a:ext cx="8886921" cy="2736306"/>
            <a:chOff x="2961" y="4211"/>
            <a:chExt cx="13995" cy="4309"/>
          </a:xfrm>
        </p:grpSpPr>
        <p:sp>
          <p:nvSpPr>
            <p:cNvPr id="3" name="椭圆 2"/>
            <p:cNvSpPr/>
            <p:nvPr>
              <p:custDataLst>
                <p:tags r:id="rId2"/>
              </p:custDataLst>
            </p:nvPr>
          </p:nvSpPr>
          <p:spPr>
            <a:xfrm>
              <a:off x="7440" y="4211"/>
              <a:ext cx="2377" cy="2377"/>
            </a:xfrm>
            <a:prstGeom prst="ellipse">
              <a:avLst/>
            </a:prstGeom>
            <a:solidFill>
              <a:srgbClr val="3646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椭圆 3"/>
            <p:cNvSpPr/>
            <p:nvPr>
              <p:custDataLst>
                <p:tags r:id="rId3"/>
              </p:custDataLst>
            </p:nvPr>
          </p:nvSpPr>
          <p:spPr>
            <a:xfrm>
              <a:off x="9440" y="4211"/>
              <a:ext cx="2377" cy="2377"/>
            </a:xfrm>
            <a:prstGeom prst="ellipse">
              <a:avLst/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03</a:t>
              </a:r>
              <a:endPara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4"/>
              </p:custDataLst>
            </p:nvPr>
          </p:nvSpPr>
          <p:spPr>
            <a:xfrm>
              <a:off x="7440" y="6143"/>
              <a:ext cx="2377" cy="2377"/>
            </a:xfrm>
            <a:prstGeom prst="ellipse">
              <a:avLst/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5"/>
              </p:custDataLst>
            </p:nvPr>
          </p:nvSpPr>
          <p:spPr>
            <a:xfrm>
              <a:off x="3565" y="4725"/>
              <a:ext cx="3421" cy="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2000"/>
                </a:lnSpc>
              </a:pP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一个可运行的自动化鲁棒性评估框架</a:t>
              </a:r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6"/>
              </p:custDataLst>
            </p:nvPr>
          </p:nvSpPr>
          <p:spPr>
            <a:xfrm>
              <a:off x="2961" y="7000"/>
              <a:ext cx="4025" cy="1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2000"/>
                </a:lnSpc>
              </a:pP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ResNet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在</a:t>
              </a: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FGSM/PGD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攻击下的性能曲线</a:t>
              </a: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+ t-SNE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特征空间可视化</a:t>
              </a:r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12321" y="4725"/>
              <a:ext cx="4635" cy="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改进攻击对比：</a:t>
              </a: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UAP vs. PGD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（成功率、效率）</a:t>
              </a:r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12321" y="7148"/>
              <a:ext cx="3808" cy="5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防御机制的初步探索结果</a:t>
              </a:r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椭圆 37"/>
            <p:cNvSpPr/>
            <p:nvPr>
              <p:custDataLst>
                <p:tags r:id="rId9"/>
              </p:custDataLst>
            </p:nvPr>
          </p:nvSpPr>
          <p:spPr>
            <a:xfrm>
              <a:off x="9440" y="6131"/>
              <a:ext cx="2377" cy="2377"/>
            </a:xfrm>
            <a:prstGeom prst="ellipse">
              <a:avLst/>
            </a:prstGeom>
            <a:solidFill>
              <a:srgbClr val="3646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04</a:t>
              </a:r>
              <a:endParaRPr lang="en-US" altLang="zh-CN" sz="4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39" name="直接连接符 38"/>
            <p:cNvCxnSpPr/>
            <p:nvPr>
              <p:custDataLst>
                <p:tags r:id="rId10"/>
              </p:custDataLst>
            </p:nvPr>
          </p:nvCxnSpPr>
          <p:spPr>
            <a:xfrm>
              <a:off x="2994" y="6412"/>
              <a:ext cx="3608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>
              <p:custDataLst>
                <p:tags r:id="rId11"/>
              </p:custDataLst>
            </p:nvPr>
          </p:nvCxnSpPr>
          <p:spPr>
            <a:xfrm>
              <a:off x="12643" y="6412"/>
              <a:ext cx="3608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/>
          <p:cNvGrpSpPr/>
          <p:nvPr/>
        </p:nvGrpSpPr>
        <p:grpSpPr>
          <a:xfrm>
            <a:off x="750272" y="451804"/>
            <a:ext cx="3237230" cy="795655"/>
            <a:chOff x="4110239" y="623980"/>
            <a:chExt cx="3237230" cy="795655"/>
          </a:xfrm>
        </p:grpSpPr>
        <p:sp>
          <p:nvSpPr>
            <p:cNvPr id="144" name="文本框 143"/>
            <p:cNvSpPr txBox="1"/>
            <p:nvPr/>
          </p:nvSpPr>
          <p:spPr>
            <a:xfrm>
              <a:off x="4138814" y="670970"/>
              <a:ext cx="3208655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>
                  <a:solidFill>
                    <a:srgbClr val="36468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预期成果</a:t>
              </a:r>
              <a:endParaRPr lang="zh-CN" altLang="en-US" sz="3600">
                <a:solidFill>
                  <a:srgbClr val="36468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3" name="矩形: 圆角 35"/>
            <p:cNvSpPr/>
            <p:nvPr/>
          </p:nvSpPr>
          <p:spPr>
            <a:xfrm flipV="1">
              <a:off x="4685549" y="1343435"/>
              <a:ext cx="2084070" cy="76200"/>
            </a:xfrm>
            <a:prstGeom prst="roundRect">
              <a:avLst>
                <a:gd name="adj" fmla="val 50000"/>
              </a:avLst>
            </a:prstGeom>
            <a:solidFill>
              <a:srgbClr val="B9D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57" name="组合 156"/>
            <p:cNvGrpSpPr/>
            <p:nvPr/>
          </p:nvGrpSpPr>
          <p:grpSpPr>
            <a:xfrm rot="16488528" flipH="1">
              <a:off x="4046539" y="687679"/>
              <a:ext cx="562013" cy="434614"/>
              <a:chOff x="9958642" y="4356094"/>
              <a:chExt cx="618213" cy="478075"/>
            </a:xfrm>
          </p:grpSpPr>
          <p:sp>
            <p:nvSpPr>
              <p:cNvPr id="158" name="任意多边形: 形状 42"/>
              <p:cNvSpPr/>
              <p:nvPr/>
            </p:nvSpPr>
            <p:spPr>
              <a:xfrm>
                <a:off x="9958642" y="4621975"/>
                <a:ext cx="176829" cy="212194"/>
              </a:xfrm>
              <a:custGeom>
                <a:avLst/>
                <a:gdLst>
                  <a:gd name="connsiteX0" fmla="*/ 43854 w 176828"/>
                  <a:gd name="connsiteY0" fmla="*/ 26524 h 212194"/>
                  <a:gd name="connsiteX1" fmla="*/ 177182 w 176828"/>
                  <a:gd name="connsiteY1" fmla="*/ 123780 h 212194"/>
                  <a:gd name="connsiteX2" fmla="*/ 26524 w 176828"/>
                  <a:gd name="connsiteY2" fmla="*/ 190267 h 21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828" h="212194">
                    <a:moveTo>
                      <a:pt x="43854" y="26524"/>
                    </a:moveTo>
                    <a:lnTo>
                      <a:pt x="177182" y="123780"/>
                    </a:lnTo>
                    <a:lnTo>
                      <a:pt x="26524" y="190267"/>
                    </a:ln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0" name="任意多边形: 形状 43"/>
              <p:cNvSpPr/>
              <p:nvPr/>
            </p:nvSpPr>
            <p:spPr>
              <a:xfrm>
                <a:off x="10223198" y="4356094"/>
                <a:ext cx="353657" cy="318292"/>
              </a:xfrm>
              <a:custGeom>
                <a:avLst/>
                <a:gdLst>
                  <a:gd name="connsiteX0" fmla="*/ 26524 w 353657"/>
                  <a:gd name="connsiteY0" fmla="*/ 26524 h 318291"/>
                  <a:gd name="connsiteX1" fmla="*/ 333145 w 353657"/>
                  <a:gd name="connsiteY1" fmla="*/ 38549 h 318291"/>
                  <a:gd name="connsiteX2" fmla="*/ 169755 w 353657"/>
                  <a:gd name="connsiteY2" fmla="*/ 298133 h 318291"/>
                  <a:gd name="connsiteX3" fmla="*/ 26524 w 353657"/>
                  <a:gd name="connsiteY3" fmla="*/ 26524 h 318291"/>
                  <a:gd name="connsiteX4" fmla="*/ 100085 w 353657"/>
                  <a:gd name="connsiteY4" fmla="*/ 72853 h 318291"/>
                  <a:gd name="connsiteX5" fmla="*/ 172939 w 353657"/>
                  <a:gd name="connsiteY5" fmla="*/ 211133 h 318291"/>
                  <a:gd name="connsiteX6" fmla="*/ 256048 w 353657"/>
                  <a:gd name="connsiteY6" fmla="*/ 78866 h 318291"/>
                  <a:gd name="connsiteX7" fmla="*/ 100085 w 353657"/>
                  <a:gd name="connsiteY7" fmla="*/ 72853 h 31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3657" h="318291">
                    <a:moveTo>
                      <a:pt x="26524" y="26524"/>
                    </a:moveTo>
                    <a:lnTo>
                      <a:pt x="333145" y="38549"/>
                    </a:lnTo>
                    <a:lnTo>
                      <a:pt x="169755" y="298133"/>
                    </a:lnTo>
                    <a:lnTo>
                      <a:pt x="26524" y="26524"/>
                    </a:lnTo>
                    <a:close/>
                    <a:moveTo>
                      <a:pt x="100085" y="72853"/>
                    </a:moveTo>
                    <a:lnTo>
                      <a:pt x="172939" y="211133"/>
                    </a:lnTo>
                    <a:lnTo>
                      <a:pt x="256048" y="78866"/>
                    </a:lnTo>
                    <a:lnTo>
                      <a:pt x="100085" y="72853"/>
                    </a:ln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9" name="图片 8" descr="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048375"/>
            <a:ext cx="4349115" cy="809625"/>
          </a:xfrm>
          <a:prstGeom prst="rect">
            <a:avLst/>
          </a:prstGeom>
        </p:spPr>
      </p:pic>
      <p:pic>
        <p:nvPicPr>
          <p:cNvPr id="6" name="图片 5" descr="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8955" y="0"/>
            <a:ext cx="1503045" cy="798195"/>
          </a:xfrm>
          <a:prstGeom prst="rect">
            <a:avLst/>
          </a:prstGeom>
        </p:spPr>
      </p:pic>
      <p:grpSp>
        <p:nvGrpSpPr>
          <p:cNvPr id="42" name="组合 41"/>
          <p:cNvGrpSpPr/>
          <p:nvPr/>
        </p:nvGrpSpPr>
        <p:grpSpPr>
          <a:xfrm>
            <a:off x="3859187" y="4963683"/>
            <a:ext cx="1366520" cy="523240"/>
            <a:chOff x="4927230" y="4575321"/>
            <a:chExt cx="1366520" cy="523240"/>
          </a:xfrm>
        </p:grpSpPr>
        <p:sp>
          <p:nvSpPr>
            <p:cNvPr id="43" name="矩形: 圆角 42"/>
            <p:cNvSpPr/>
            <p:nvPr/>
          </p:nvSpPr>
          <p:spPr>
            <a:xfrm>
              <a:off x="4927230" y="4575321"/>
              <a:ext cx="1366520" cy="523240"/>
            </a:xfrm>
            <a:prstGeom prst="roundRect">
              <a:avLst>
                <a:gd name="adj" fmla="val 50000"/>
              </a:avLst>
            </a:prstGeom>
            <a:solidFill>
              <a:srgbClr val="3646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44" name="图形 49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2472" y="4694970"/>
              <a:ext cx="284252" cy="284252"/>
            </a:xfrm>
            <a:prstGeom prst="rect">
              <a:avLst/>
            </a:prstGeom>
          </p:spPr>
        </p:pic>
        <p:sp>
          <p:nvSpPr>
            <p:cNvPr id="45" name="矩形 44"/>
            <p:cNvSpPr/>
            <p:nvPr/>
          </p:nvSpPr>
          <p:spPr>
            <a:xfrm>
              <a:off x="5396720" y="4637380"/>
              <a:ext cx="690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总结</a:t>
              </a:r>
              <a:endParaRPr lang="zh-CN" altLang="en-US" sz="20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8" name="圆角矩形 7"/>
          <p:cNvSpPr/>
          <p:nvPr>
            <p:custDataLst>
              <p:tags r:id="rId15"/>
            </p:custDataLst>
          </p:nvPr>
        </p:nvSpPr>
        <p:spPr>
          <a:xfrm>
            <a:off x="5327650" y="4892675"/>
            <a:ext cx="6402070" cy="15773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5413375" y="4963795"/>
            <a:ext cx="6009005" cy="170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以</a:t>
            </a:r>
            <a:r>
              <a:rPr lang="en-US" altLang="zh-CN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Foolbox</a:t>
            </a: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为工具引擎，从《</a:t>
            </a:r>
            <a:r>
              <a:rPr lang="en-US" altLang="zh-CN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Adversarial attacks and adversarial robustness in computational pathology</a:t>
            </a: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》学习分析方法，从《</a:t>
            </a:r>
            <a:r>
              <a:rPr lang="en-US" altLang="zh-CN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Generating universal adversarial perturbation with ResNet</a:t>
            </a: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》学习攻击改进，形成</a:t>
            </a:r>
            <a:r>
              <a:rPr lang="en-US" altLang="zh-CN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“</a:t>
            </a: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工具支撑</a:t>
            </a:r>
            <a:r>
              <a:rPr lang="en-US" altLang="zh-CN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+ </a:t>
            </a: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方法学习</a:t>
            </a:r>
            <a:r>
              <a:rPr lang="en-US" altLang="zh-CN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+ </a:t>
            </a: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改进探索</a:t>
            </a:r>
            <a:r>
              <a:rPr lang="en-US" altLang="zh-CN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”</a:t>
            </a:r>
            <a:r>
              <a:rPr lang="zh-CN" altLang="en-US" sz="1400" kern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的研究闭环。</a:t>
            </a:r>
            <a:endParaRPr lang="zh-CN" altLang="en-US" sz="1400" kern="1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zh-CN" altLang="en-US" sz="1400" kern="1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  <p:bldLst>
      <p:bldP spid="1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t="-18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4"/>
          <p:cNvPicPr>
            <a:picLocks noChangeAspect="1"/>
          </p:cNvPicPr>
          <p:nvPr/>
        </p:nvPicPr>
        <p:blipFill>
          <a:blip r:embed="rId2">
            <a:lum bright="-24000"/>
          </a:blip>
          <a:stretch>
            <a:fillRect/>
          </a:stretch>
        </p:blipFill>
        <p:spPr>
          <a:xfrm>
            <a:off x="0" y="0"/>
            <a:ext cx="5857875" cy="3711575"/>
          </a:xfrm>
          <a:prstGeom prst="rect">
            <a:avLst/>
          </a:prstGeom>
        </p:spPr>
      </p:pic>
      <p:pic>
        <p:nvPicPr>
          <p:cNvPr id="5" name="图片 4" descr="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8300"/>
            <a:ext cx="7572375" cy="1409700"/>
          </a:xfrm>
          <a:prstGeom prst="rect">
            <a:avLst/>
          </a:prstGeom>
        </p:spPr>
      </p:pic>
      <p:pic>
        <p:nvPicPr>
          <p:cNvPr id="6" name="图片 5" descr="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170" y="6086475"/>
            <a:ext cx="4762500" cy="771525"/>
          </a:xfrm>
          <a:prstGeom prst="rect">
            <a:avLst/>
          </a:prstGeom>
        </p:spPr>
      </p:pic>
      <p:pic>
        <p:nvPicPr>
          <p:cNvPr id="7" name="图片 6" descr="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520" y="0"/>
            <a:ext cx="919480" cy="4953000"/>
          </a:xfrm>
          <a:prstGeom prst="rect">
            <a:avLst/>
          </a:prstGeom>
        </p:spPr>
      </p:pic>
      <p:pic>
        <p:nvPicPr>
          <p:cNvPr id="8" name="图片 7" descr="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290" y="0"/>
            <a:ext cx="1847850" cy="981075"/>
          </a:xfrm>
          <a:prstGeom prst="rect">
            <a:avLst/>
          </a:prstGeom>
        </p:spPr>
      </p:pic>
      <p:pic>
        <p:nvPicPr>
          <p:cNvPr id="9" name="图片 8" descr="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6730" y="4619625"/>
            <a:ext cx="771525" cy="82867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638802" y="-635140"/>
            <a:ext cx="4597049" cy="2604066"/>
            <a:chOff x="-709001" y="-692773"/>
            <a:chExt cx="5056754" cy="2864473"/>
          </a:xfrm>
        </p:grpSpPr>
        <p:grpSp>
          <p:nvGrpSpPr>
            <p:cNvPr id="10" name="组合 9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3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 userDrawn="1"/>
        </p:nvGrpSpPr>
        <p:grpSpPr>
          <a:xfrm flipH="1" flipV="1">
            <a:off x="9315450" y="5590540"/>
            <a:ext cx="3432810" cy="1638935"/>
            <a:chOff x="-709001" y="-692773"/>
            <a:chExt cx="5056754" cy="2864473"/>
          </a:xfrm>
        </p:grpSpPr>
        <p:grpSp>
          <p:nvGrpSpPr>
            <p:cNvPr id="16" name="组合 15"/>
            <p:cNvGrpSpPr/>
            <p:nvPr/>
          </p:nvGrpSpPr>
          <p:grpSpPr>
            <a:xfrm>
              <a:off x="-534405" y="-526202"/>
              <a:ext cx="4611106" cy="2381385"/>
              <a:chOff x="-534406" y="-526201"/>
              <a:chExt cx="3677329" cy="1899140"/>
            </a:xfrm>
          </p:grpSpPr>
          <p:sp>
            <p:nvSpPr>
              <p:cNvPr id="17" name="任意多边形: 形状 12"/>
              <p:cNvSpPr/>
              <p:nvPr/>
            </p:nvSpPr>
            <p:spPr>
              <a:xfrm>
                <a:off x="-322919" y="-501445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009 w 3465841"/>
                  <a:gd name="connsiteY6" fmla="*/ 255258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552" y="-147204"/>
                      <a:pt x="2236056" y="276477"/>
                      <a:pt x="1893009" y="255258"/>
                    </a:cubicBezTo>
                    <a:cubicBezTo>
                      <a:pt x="1657473" y="240404"/>
                      <a:pt x="1434669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454" y="1720460"/>
                      <a:pt x="748574" y="2023191"/>
                      <a:pt x="1147499" y="1745216"/>
                    </a:cubicBezTo>
                    <a:close/>
                  </a:path>
                </a:pathLst>
              </a:custGeom>
              <a:solidFill>
                <a:srgbClr val="B9D3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任意多边形: 形状 13"/>
              <p:cNvSpPr/>
              <p:nvPr/>
            </p:nvSpPr>
            <p:spPr>
              <a:xfrm>
                <a:off x="-534406" y="-526201"/>
                <a:ext cx="3465842" cy="1874384"/>
              </a:xfrm>
              <a:custGeom>
                <a:avLst/>
                <a:gdLst>
                  <a:gd name="connsiteX0" fmla="*/ 1147499 w 3465841"/>
                  <a:gd name="connsiteY0" fmla="*/ 1745216 h 1874383"/>
                  <a:gd name="connsiteX1" fmla="*/ 1150682 w 3465841"/>
                  <a:gd name="connsiteY1" fmla="*/ 1742740 h 1874383"/>
                  <a:gd name="connsiteX2" fmla="*/ 1456949 w 3465841"/>
                  <a:gd name="connsiteY2" fmla="*/ 1417022 h 1874383"/>
                  <a:gd name="connsiteX3" fmla="*/ 2873701 w 3465841"/>
                  <a:gd name="connsiteY3" fmla="*/ 1251864 h 1874383"/>
                  <a:gd name="connsiteX4" fmla="*/ 3297382 w 3465841"/>
                  <a:gd name="connsiteY4" fmla="*/ 900329 h 1874383"/>
                  <a:gd name="connsiteX5" fmla="*/ 3446272 w 3465841"/>
                  <a:gd name="connsiteY5" fmla="*/ 513781 h 1874383"/>
                  <a:gd name="connsiteX6" fmla="*/ 1893363 w 3465841"/>
                  <a:gd name="connsiteY6" fmla="*/ 254904 h 1874383"/>
                  <a:gd name="connsiteX7" fmla="*/ 1206560 w 3465841"/>
                  <a:gd name="connsiteY7" fmla="*/ 83380 h 1874383"/>
                  <a:gd name="connsiteX8" fmla="*/ 513392 w 3465841"/>
                  <a:gd name="connsiteY8" fmla="*/ 97527 h 1874383"/>
                  <a:gd name="connsiteX9" fmla="*/ 43027 w 3465841"/>
                  <a:gd name="connsiteY9" fmla="*/ 1262827 h 1874383"/>
                  <a:gd name="connsiteX10" fmla="*/ 1147499 w 3465841"/>
                  <a:gd name="connsiteY10" fmla="*/ 1745216 h 187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65841" h="1874383">
                    <a:moveTo>
                      <a:pt x="1147499" y="1745216"/>
                    </a:moveTo>
                    <a:cubicBezTo>
                      <a:pt x="1148560" y="1744509"/>
                      <a:pt x="1149621" y="1743801"/>
                      <a:pt x="1150682" y="1742740"/>
                    </a:cubicBezTo>
                    <a:cubicBezTo>
                      <a:pt x="1272694" y="1656448"/>
                      <a:pt x="1358986" y="1529839"/>
                      <a:pt x="1456949" y="1417022"/>
                    </a:cubicBezTo>
                    <a:cubicBezTo>
                      <a:pt x="1883814" y="926146"/>
                      <a:pt x="2359483" y="1388730"/>
                      <a:pt x="2873701" y="1251864"/>
                    </a:cubicBezTo>
                    <a:cubicBezTo>
                      <a:pt x="3054773" y="1203413"/>
                      <a:pt x="3191285" y="1054877"/>
                      <a:pt x="3297382" y="900329"/>
                    </a:cubicBezTo>
                    <a:cubicBezTo>
                      <a:pt x="3376955" y="784683"/>
                      <a:pt x="3448040" y="654183"/>
                      <a:pt x="3446272" y="513781"/>
                    </a:cubicBezTo>
                    <a:cubicBezTo>
                      <a:pt x="3439906" y="-147558"/>
                      <a:pt x="2236410" y="276124"/>
                      <a:pt x="1893363" y="254904"/>
                    </a:cubicBezTo>
                    <a:cubicBezTo>
                      <a:pt x="1657119" y="240404"/>
                      <a:pt x="1434315" y="146331"/>
                      <a:pt x="1206560" y="83380"/>
                    </a:cubicBezTo>
                    <a:cubicBezTo>
                      <a:pt x="978451" y="20429"/>
                      <a:pt x="724525" y="-9632"/>
                      <a:pt x="513392" y="97527"/>
                    </a:cubicBezTo>
                    <a:cubicBezTo>
                      <a:pt x="165039" y="274355"/>
                      <a:pt x="-34070" y="889719"/>
                      <a:pt x="43027" y="1262827"/>
                    </a:cubicBezTo>
                    <a:cubicBezTo>
                      <a:pt x="137100" y="1720460"/>
                      <a:pt x="748220" y="2022837"/>
                      <a:pt x="1147499" y="1745216"/>
                    </a:cubicBezTo>
                    <a:close/>
                  </a:path>
                </a:pathLst>
              </a:custGeom>
              <a:solidFill>
                <a:srgbClr val="36468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  <a:endParaRPr lang="en-US" altLang="zh-CN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任意多边形: 形状 14"/>
              <p:cNvSpPr/>
              <p:nvPr/>
            </p:nvSpPr>
            <p:spPr>
              <a:xfrm>
                <a:off x="418935" y="993382"/>
                <a:ext cx="954875" cy="176829"/>
              </a:xfrm>
              <a:custGeom>
                <a:avLst/>
                <a:gdLst>
                  <a:gd name="connsiteX0" fmla="*/ 893692 w 954874"/>
                  <a:gd name="connsiteY0" fmla="*/ 150304 h 176828"/>
                  <a:gd name="connsiteX1" fmla="*/ 88414 w 954874"/>
                  <a:gd name="connsiteY1" fmla="*/ 150304 h 176828"/>
                  <a:gd name="connsiteX2" fmla="*/ 26524 w 954874"/>
                  <a:gd name="connsiteY2" fmla="*/ 88414 h 176828"/>
                  <a:gd name="connsiteX3" fmla="*/ 26524 w 954874"/>
                  <a:gd name="connsiteY3" fmla="*/ 88414 h 176828"/>
                  <a:gd name="connsiteX4" fmla="*/ 88414 w 954874"/>
                  <a:gd name="connsiteY4" fmla="*/ 26524 h 176828"/>
                  <a:gd name="connsiteX5" fmla="*/ 893692 w 954874"/>
                  <a:gd name="connsiteY5" fmla="*/ 26524 h 176828"/>
                  <a:gd name="connsiteX6" fmla="*/ 955582 w 954874"/>
                  <a:gd name="connsiteY6" fmla="*/ 88414 h 176828"/>
                  <a:gd name="connsiteX7" fmla="*/ 955582 w 954874"/>
                  <a:gd name="connsiteY7" fmla="*/ 88414 h 176828"/>
                  <a:gd name="connsiteX8" fmla="*/ 893692 w 954874"/>
                  <a:gd name="connsiteY8" fmla="*/ 150304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4874" h="176828">
                    <a:moveTo>
                      <a:pt x="893692" y="150304"/>
                    </a:moveTo>
                    <a:lnTo>
                      <a:pt x="88414" y="150304"/>
                    </a:lnTo>
                    <a:cubicBezTo>
                      <a:pt x="54463" y="150304"/>
                      <a:pt x="26524" y="122365"/>
                      <a:pt x="26524" y="88414"/>
                    </a:cubicBezTo>
                    <a:lnTo>
                      <a:pt x="26524" y="88414"/>
                    </a:lnTo>
                    <a:cubicBezTo>
                      <a:pt x="26524" y="54463"/>
                      <a:pt x="54463" y="26524"/>
                      <a:pt x="88414" y="26524"/>
                    </a:cubicBezTo>
                    <a:lnTo>
                      <a:pt x="893692" y="26524"/>
                    </a:lnTo>
                    <a:cubicBezTo>
                      <a:pt x="927643" y="26524"/>
                      <a:pt x="955582" y="54463"/>
                      <a:pt x="955582" y="88414"/>
                    </a:cubicBezTo>
                    <a:lnTo>
                      <a:pt x="955582" y="88414"/>
                    </a:lnTo>
                    <a:cubicBezTo>
                      <a:pt x="955582" y="122719"/>
                      <a:pt x="927643" y="150304"/>
                      <a:pt x="893692" y="150304"/>
                    </a:cubicBezTo>
                    <a:close/>
                  </a:path>
                </a:pathLst>
              </a:custGeom>
              <a:solidFill>
                <a:srgbClr val="FBCE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-534406" y="-692773"/>
              <a:ext cx="4882159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rot="5400000">
              <a:off x="-1473023" y="714904"/>
              <a:ext cx="2220818" cy="6927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>
            <a:off x="404794" y="298263"/>
            <a:ext cx="886325" cy="392475"/>
            <a:chOff x="1882488" y="5863158"/>
            <a:chExt cx="970939" cy="429943"/>
          </a:xfrm>
        </p:grpSpPr>
        <p:grpSp>
          <p:nvGrpSpPr>
            <p:cNvPr id="53" name="组合 52"/>
            <p:cNvGrpSpPr/>
            <p:nvPr/>
          </p:nvGrpSpPr>
          <p:grpSpPr>
            <a:xfrm>
              <a:off x="2042646" y="5863158"/>
              <a:ext cx="810781" cy="283803"/>
              <a:chOff x="610511" y="2129418"/>
              <a:chExt cx="981045" cy="343401"/>
            </a:xfrm>
            <a:solidFill>
              <a:schemeClr val="bg1"/>
            </a:solidFill>
          </p:grpSpPr>
          <p:sp>
            <p:nvSpPr>
              <p:cNvPr id="55" name="任意多边形: 形状 54"/>
              <p:cNvSpPr/>
              <p:nvPr/>
            </p:nvSpPr>
            <p:spPr>
              <a:xfrm>
                <a:off x="610511" y="2129418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4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80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8876" y="2295990"/>
                <a:ext cx="742680" cy="176829"/>
              </a:xfrm>
              <a:custGeom>
                <a:avLst/>
                <a:gdLst>
                  <a:gd name="connsiteX0" fmla="*/ 46082 w 742680"/>
                  <a:gd name="connsiteY0" fmla="*/ 159057 h 176828"/>
                  <a:gd name="connsiteX1" fmla="*/ 31228 w 742680"/>
                  <a:gd name="connsiteY1" fmla="*/ 152338 h 176828"/>
                  <a:gd name="connsiteX2" fmla="*/ 33350 w 742680"/>
                  <a:gd name="connsiteY2" fmla="*/ 125106 h 176828"/>
                  <a:gd name="connsiteX3" fmla="*/ 144045 w 742680"/>
                  <a:gd name="connsiteY3" fmla="*/ 31033 h 176828"/>
                  <a:gd name="connsiteX4" fmla="*/ 169155 w 742680"/>
                  <a:gd name="connsiteY4" fmla="*/ 31033 h 176828"/>
                  <a:gd name="connsiteX5" fmla="*/ 267471 w 742680"/>
                  <a:gd name="connsiteY5" fmla="*/ 114497 h 176828"/>
                  <a:gd name="connsiteX6" fmla="*/ 365788 w 742680"/>
                  <a:gd name="connsiteY6" fmla="*/ 31033 h 176828"/>
                  <a:gd name="connsiteX7" fmla="*/ 390898 w 742680"/>
                  <a:gd name="connsiteY7" fmla="*/ 31033 h 176828"/>
                  <a:gd name="connsiteX8" fmla="*/ 489215 w 742680"/>
                  <a:gd name="connsiteY8" fmla="*/ 114497 h 176828"/>
                  <a:gd name="connsiteX9" fmla="*/ 587531 w 742680"/>
                  <a:gd name="connsiteY9" fmla="*/ 31033 h 176828"/>
                  <a:gd name="connsiteX10" fmla="*/ 612641 w 742680"/>
                  <a:gd name="connsiteY10" fmla="*/ 31033 h 176828"/>
                  <a:gd name="connsiteX11" fmla="*/ 723336 w 742680"/>
                  <a:gd name="connsiteY11" fmla="*/ 125106 h 176828"/>
                  <a:gd name="connsiteX12" fmla="*/ 725458 w 742680"/>
                  <a:gd name="connsiteY12" fmla="*/ 152338 h 176828"/>
                  <a:gd name="connsiteX13" fmla="*/ 698226 w 742680"/>
                  <a:gd name="connsiteY13" fmla="*/ 154460 h 176828"/>
                  <a:gd name="connsiteX14" fmla="*/ 599909 w 742680"/>
                  <a:gd name="connsiteY14" fmla="*/ 70997 h 176828"/>
                  <a:gd name="connsiteX15" fmla="*/ 501593 w 742680"/>
                  <a:gd name="connsiteY15" fmla="*/ 154460 h 176828"/>
                  <a:gd name="connsiteX16" fmla="*/ 476483 w 742680"/>
                  <a:gd name="connsiteY16" fmla="*/ 154460 h 176828"/>
                  <a:gd name="connsiteX17" fmla="*/ 378166 w 742680"/>
                  <a:gd name="connsiteY17" fmla="*/ 70997 h 176828"/>
                  <a:gd name="connsiteX18" fmla="*/ 279849 w 742680"/>
                  <a:gd name="connsiteY18" fmla="*/ 154460 h 176828"/>
                  <a:gd name="connsiteX19" fmla="*/ 254740 w 742680"/>
                  <a:gd name="connsiteY19" fmla="*/ 154460 h 176828"/>
                  <a:gd name="connsiteX20" fmla="*/ 156423 w 742680"/>
                  <a:gd name="connsiteY20" fmla="*/ 70997 h 176828"/>
                  <a:gd name="connsiteX21" fmla="*/ 58106 w 742680"/>
                  <a:gd name="connsiteY21" fmla="*/ 154460 h 176828"/>
                  <a:gd name="connsiteX22" fmla="*/ 46082 w 742680"/>
                  <a:gd name="connsiteY22" fmla="*/ 159057 h 17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2680" h="176828">
                    <a:moveTo>
                      <a:pt x="46082" y="159057"/>
                    </a:moveTo>
                    <a:cubicBezTo>
                      <a:pt x="40423" y="159057"/>
                      <a:pt x="35119" y="156582"/>
                      <a:pt x="31228" y="152338"/>
                    </a:cubicBezTo>
                    <a:cubicBezTo>
                      <a:pt x="24155" y="144204"/>
                      <a:pt x="25216" y="131826"/>
                      <a:pt x="33350" y="125106"/>
                    </a:cubicBezTo>
                    <a:lnTo>
                      <a:pt x="144045" y="31033"/>
                    </a:lnTo>
                    <a:cubicBezTo>
                      <a:pt x="151118" y="25021"/>
                      <a:pt x="161728" y="25021"/>
                      <a:pt x="169155" y="31033"/>
                    </a:cubicBezTo>
                    <a:lnTo>
                      <a:pt x="267471" y="114497"/>
                    </a:lnTo>
                    <a:lnTo>
                      <a:pt x="365788" y="31033"/>
                    </a:lnTo>
                    <a:cubicBezTo>
                      <a:pt x="372861" y="25021"/>
                      <a:pt x="383471" y="25021"/>
                      <a:pt x="390898" y="31033"/>
                    </a:cubicBezTo>
                    <a:lnTo>
                      <a:pt x="489215" y="114497"/>
                    </a:lnTo>
                    <a:lnTo>
                      <a:pt x="587531" y="31033"/>
                    </a:lnTo>
                    <a:cubicBezTo>
                      <a:pt x="594605" y="25021"/>
                      <a:pt x="605214" y="25021"/>
                      <a:pt x="612641" y="31033"/>
                    </a:cubicBezTo>
                    <a:lnTo>
                      <a:pt x="723336" y="125106"/>
                    </a:lnTo>
                    <a:cubicBezTo>
                      <a:pt x="731470" y="132179"/>
                      <a:pt x="732531" y="144204"/>
                      <a:pt x="725458" y="152338"/>
                    </a:cubicBezTo>
                    <a:cubicBezTo>
                      <a:pt x="718385" y="160472"/>
                      <a:pt x="706360" y="161533"/>
                      <a:pt x="698226" y="154460"/>
                    </a:cubicBezTo>
                    <a:lnTo>
                      <a:pt x="599909" y="70997"/>
                    </a:lnTo>
                    <a:lnTo>
                      <a:pt x="501593" y="154460"/>
                    </a:lnTo>
                    <a:cubicBezTo>
                      <a:pt x="494519" y="160472"/>
                      <a:pt x="483910" y="160472"/>
                      <a:pt x="476483" y="154460"/>
                    </a:cubicBezTo>
                    <a:lnTo>
                      <a:pt x="378166" y="70997"/>
                    </a:lnTo>
                    <a:lnTo>
                      <a:pt x="279849" y="154460"/>
                    </a:lnTo>
                    <a:cubicBezTo>
                      <a:pt x="272776" y="160472"/>
                      <a:pt x="262167" y="160472"/>
                      <a:pt x="254740" y="154460"/>
                    </a:cubicBezTo>
                    <a:lnTo>
                      <a:pt x="156423" y="70997"/>
                    </a:lnTo>
                    <a:lnTo>
                      <a:pt x="58106" y="154460"/>
                    </a:lnTo>
                    <a:cubicBezTo>
                      <a:pt x="54923" y="157289"/>
                      <a:pt x="50679" y="159057"/>
                      <a:pt x="46082" y="1590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任意多边形: 形状 53"/>
            <p:cNvSpPr/>
            <p:nvPr/>
          </p:nvSpPr>
          <p:spPr>
            <a:xfrm>
              <a:off x="1882488" y="6146961"/>
              <a:ext cx="613785" cy="146140"/>
            </a:xfrm>
            <a:custGeom>
              <a:avLst/>
              <a:gdLst>
                <a:gd name="connsiteX0" fmla="*/ 46082 w 742680"/>
                <a:gd name="connsiteY0" fmla="*/ 159057 h 176828"/>
                <a:gd name="connsiteX1" fmla="*/ 31228 w 742680"/>
                <a:gd name="connsiteY1" fmla="*/ 152338 h 176828"/>
                <a:gd name="connsiteX2" fmla="*/ 33350 w 742680"/>
                <a:gd name="connsiteY2" fmla="*/ 125106 h 176828"/>
                <a:gd name="connsiteX3" fmla="*/ 144045 w 742680"/>
                <a:gd name="connsiteY3" fmla="*/ 31033 h 176828"/>
                <a:gd name="connsiteX4" fmla="*/ 169155 w 742680"/>
                <a:gd name="connsiteY4" fmla="*/ 31033 h 176828"/>
                <a:gd name="connsiteX5" fmla="*/ 267471 w 742680"/>
                <a:gd name="connsiteY5" fmla="*/ 114497 h 176828"/>
                <a:gd name="connsiteX6" fmla="*/ 365788 w 742680"/>
                <a:gd name="connsiteY6" fmla="*/ 31033 h 176828"/>
                <a:gd name="connsiteX7" fmla="*/ 390898 w 742680"/>
                <a:gd name="connsiteY7" fmla="*/ 31033 h 176828"/>
                <a:gd name="connsiteX8" fmla="*/ 489215 w 742680"/>
                <a:gd name="connsiteY8" fmla="*/ 114497 h 176828"/>
                <a:gd name="connsiteX9" fmla="*/ 587531 w 742680"/>
                <a:gd name="connsiteY9" fmla="*/ 31033 h 176828"/>
                <a:gd name="connsiteX10" fmla="*/ 612641 w 742680"/>
                <a:gd name="connsiteY10" fmla="*/ 31033 h 176828"/>
                <a:gd name="connsiteX11" fmla="*/ 723336 w 742680"/>
                <a:gd name="connsiteY11" fmla="*/ 125106 h 176828"/>
                <a:gd name="connsiteX12" fmla="*/ 725458 w 742680"/>
                <a:gd name="connsiteY12" fmla="*/ 152338 h 176828"/>
                <a:gd name="connsiteX13" fmla="*/ 698226 w 742680"/>
                <a:gd name="connsiteY13" fmla="*/ 154460 h 176828"/>
                <a:gd name="connsiteX14" fmla="*/ 599909 w 742680"/>
                <a:gd name="connsiteY14" fmla="*/ 70997 h 176828"/>
                <a:gd name="connsiteX15" fmla="*/ 501593 w 742680"/>
                <a:gd name="connsiteY15" fmla="*/ 154460 h 176828"/>
                <a:gd name="connsiteX16" fmla="*/ 476483 w 742680"/>
                <a:gd name="connsiteY16" fmla="*/ 154460 h 176828"/>
                <a:gd name="connsiteX17" fmla="*/ 378166 w 742680"/>
                <a:gd name="connsiteY17" fmla="*/ 70997 h 176828"/>
                <a:gd name="connsiteX18" fmla="*/ 279849 w 742680"/>
                <a:gd name="connsiteY18" fmla="*/ 154460 h 176828"/>
                <a:gd name="connsiteX19" fmla="*/ 254740 w 742680"/>
                <a:gd name="connsiteY19" fmla="*/ 154460 h 176828"/>
                <a:gd name="connsiteX20" fmla="*/ 156423 w 742680"/>
                <a:gd name="connsiteY20" fmla="*/ 70997 h 176828"/>
                <a:gd name="connsiteX21" fmla="*/ 58106 w 742680"/>
                <a:gd name="connsiteY21" fmla="*/ 154460 h 176828"/>
                <a:gd name="connsiteX22" fmla="*/ 46082 w 742680"/>
                <a:gd name="connsiteY22" fmla="*/ 159057 h 17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2680" h="176828">
                  <a:moveTo>
                    <a:pt x="46082" y="159057"/>
                  </a:moveTo>
                  <a:cubicBezTo>
                    <a:pt x="40423" y="159057"/>
                    <a:pt x="35119" y="156582"/>
                    <a:pt x="31228" y="152338"/>
                  </a:cubicBezTo>
                  <a:cubicBezTo>
                    <a:pt x="24155" y="144204"/>
                    <a:pt x="25216" y="131826"/>
                    <a:pt x="33350" y="125106"/>
                  </a:cubicBezTo>
                  <a:lnTo>
                    <a:pt x="144045" y="31033"/>
                  </a:lnTo>
                  <a:cubicBezTo>
                    <a:pt x="151118" y="25021"/>
                    <a:pt x="161728" y="25021"/>
                    <a:pt x="169155" y="31033"/>
                  </a:cubicBezTo>
                  <a:lnTo>
                    <a:pt x="267471" y="114497"/>
                  </a:lnTo>
                  <a:lnTo>
                    <a:pt x="365788" y="31033"/>
                  </a:lnTo>
                  <a:cubicBezTo>
                    <a:pt x="372861" y="25021"/>
                    <a:pt x="383471" y="25021"/>
                    <a:pt x="390898" y="31033"/>
                  </a:cubicBezTo>
                  <a:lnTo>
                    <a:pt x="489215" y="114497"/>
                  </a:lnTo>
                  <a:lnTo>
                    <a:pt x="587531" y="31033"/>
                  </a:lnTo>
                  <a:cubicBezTo>
                    <a:pt x="594605" y="25021"/>
                    <a:pt x="605214" y="25021"/>
                    <a:pt x="612641" y="31033"/>
                  </a:cubicBezTo>
                  <a:lnTo>
                    <a:pt x="723336" y="125106"/>
                  </a:lnTo>
                  <a:cubicBezTo>
                    <a:pt x="731470" y="132179"/>
                    <a:pt x="732531" y="144204"/>
                    <a:pt x="725458" y="152338"/>
                  </a:cubicBezTo>
                  <a:cubicBezTo>
                    <a:pt x="718385" y="160472"/>
                    <a:pt x="706360" y="161533"/>
                    <a:pt x="698226" y="154460"/>
                  </a:cubicBezTo>
                  <a:lnTo>
                    <a:pt x="599909" y="70997"/>
                  </a:lnTo>
                  <a:lnTo>
                    <a:pt x="501593" y="154460"/>
                  </a:lnTo>
                  <a:cubicBezTo>
                    <a:pt x="494519" y="160472"/>
                    <a:pt x="483910" y="160472"/>
                    <a:pt x="476483" y="154460"/>
                  </a:cubicBezTo>
                  <a:lnTo>
                    <a:pt x="378166" y="70997"/>
                  </a:lnTo>
                  <a:lnTo>
                    <a:pt x="279849" y="154460"/>
                  </a:lnTo>
                  <a:cubicBezTo>
                    <a:pt x="272776" y="160472"/>
                    <a:pt x="262167" y="160472"/>
                    <a:pt x="254740" y="154460"/>
                  </a:cubicBezTo>
                  <a:lnTo>
                    <a:pt x="156423" y="70997"/>
                  </a:lnTo>
                  <a:lnTo>
                    <a:pt x="58106" y="154460"/>
                  </a:lnTo>
                  <a:cubicBezTo>
                    <a:pt x="54923" y="157289"/>
                    <a:pt x="50679" y="159057"/>
                    <a:pt x="46082" y="1590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3" name="矩形: 圆角 92"/>
          <p:cNvSpPr/>
          <p:nvPr/>
        </p:nvSpPr>
        <p:spPr>
          <a:xfrm>
            <a:off x="3254610" y="3465286"/>
            <a:ext cx="6336000" cy="34194"/>
          </a:xfrm>
          <a:prstGeom prst="roundRect">
            <a:avLst>
              <a:gd name="adj" fmla="val 50000"/>
            </a:avLst>
          </a:prstGeom>
          <a:solidFill>
            <a:srgbClr val="B9D3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404554" y="2348893"/>
            <a:ext cx="418338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6600" b="1" spc="-300">
                <a:solidFill>
                  <a:srgbClr val="36468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谢谢观看！</a:t>
            </a:r>
            <a:endParaRPr lang="zh-CN" altLang="en-US" sz="6600" b="1" spc="-300">
              <a:solidFill>
                <a:srgbClr val="36468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  <p:bldLst>
      <p:bldP spid="93" grpId="0" bldLvl="0" animBg="1"/>
      <p:bldP spid="91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2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3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4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5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6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7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8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9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10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11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12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13.xml><?xml version="1.0" encoding="utf-8"?>
<p:tagLst xmlns:p="http://schemas.openxmlformats.org/presentationml/2006/main">
  <p:tag name="KSO_WM_DIAGRAM_VIRTUALLY_FRAME" val="{&quot;height&quot;:487.25752413381826,&quot;left&quot;:470.4902362204724,&quot;top&quot;:43.91094488188972,&quot;width&quot;:566.2229921259841}"/>
</p:tagLst>
</file>

<file path=ppt/tags/tag14.xml><?xml version="1.0" encoding="utf-8"?>
<p:tagLst xmlns:p="http://schemas.openxmlformats.org/presentationml/2006/main">
  <p:tag name="TABLE_ENDDRAG_ORIGIN_RECT" val="840*347"/>
  <p:tag name="TABLE_ENDDRAG_RECT" val="67*118*840*347"/>
</p:tagLst>
</file>

<file path=ppt/tags/tag15.xml><?xml version="1.0" encoding="utf-8"?>
<p:tagLst xmlns:p="http://schemas.openxmlformats.org/presentationml/2006/main">
  <p:tag name="TABLE_ENDDRAG_ORIGIN_RECT" val="848*322"/>
  <p:tag name="TABLE_ENDDRAG_RECT" val="58*124*848*322"/>
</p:tagLst>
</file>

<file path=ppt/tags/tag16.xml><?xml version="1.0" encoding="utf-8"?>
<p:tagLst xmlns:p="http://schemas.openxmlformats.org/presentationml/2006/main">
  <p:tag name="TABLE_ENDDRAG_ORIGIN_RECT" val="848*322"/>
  <p:tag name="TABLE_ENDDRAG_RECT" val="58*124*848*322"/>
</p:tagLst>
</file>

<file path=ppt/tags/tag17.xml><?xml version="1.0" encoding="utf-8"?>
<p:tagLst xmlns:p="http://schemas.openxmlformats.org/presentationml/2006/main">
  <p:tag name="ISLIDE.ICON" val="#370220;#393873;#400532;"/>
</p:tagLst>
</file>

<file path=ppt/tags/tag18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19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0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1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2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3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4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5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6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7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8.xml><?xml version="1.0" encoding="utf-8"?>
<p:tagLst xmlns:p="http://schemas.openxmlformats.org/presentationml/2006/main">
  <p:tag name="KSO_WM_DIAGRAM_VIRTUALLY_FRAME" val="{&quot;height&quot;:269.80893681859476,&quot;left&quot;:-139.83887804333352,&quot;top&quot;:169.09999999999997,&quot;width&quot;:1127.5621887233542}"/>
</p:tagLst>
</file>

<file path=ppt/tags/tag29.xml><?xml version="1.0" encoding="utf-8"?>
<p:tagLst xmlns:p="http://schemas.openxmlformats.org/presentationml/2006/main">
  <p:tag name="KSO_WM_DIAGRAM_VIRTUALLY_FRAME" val="{&quot;height&quot;:298.6340157480315,&quot;left&quot;:67.42866141732284,&quot;top&quot;:170.92850393700786,&quot;width&quot;:822.8570866141732}"/>
</p:tagLst>
</file>

<file path=ppt/tags/tag30.xml><?xml version="1.0" encoding="utf-8"?>
<p:tagLst xmlns:p="http://schemas.openxmlformats.org/presentationml/2006/main">
  <p:tag name="resource_record_key" val="{&quot;29&quot;:[50000283,50052700,50052704,50052696]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字魂105号-简雅黑"/>
        <a:ea typeface="字魂105号-简雅黑"/>
        <a:cs typeface="Arial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字魂105号-简雅黑"/>
        <a:ea typeface="字魂105号-简雅黑"/>
        <a:cs typeface="Arial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字魂160号-檀宋"/>
        <a:font script="Hebr" typeface="字魂160号-檀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160号-檀宋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105号-简雅黑"/>
        <a:ea typeface="字魂105号-简雅黑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1981</Words>
  <Application>WPS 演示</Application>
  <PresentationFormat/>
  <Paragraphs>254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3" baseType="lpstr">
      <vt:lpstr>Arial</vt:lpstr>
      <vt:lpstr>宋体</vt:lpstr>
      <vt:lpstr>Wingdings</vt:lpstr>
      <vt:lpstr>字魂105号-简雅黑</vt:lpstr>
      <vt:lpstr>黑体</vt:lpstr>
      <vt:lpstr>思源黑体 CN Bold</vt:lpstr>
      <vt:lpstr>字魂160号-檀宋</vt:lpstr>
      <vt:lpstr>微软雅黑</vt:lpstr>
      <vt:lpstr>Arial Unicode MS</vt:lpstr>
      <vt:lpstr>等线</vt:lpstr>
      <vt:lpstr>华文新魏</vt:lpstr>
      <vt:lpstr>华文楷体</vt:lpstr>
      <vt:lpstr>思源黑体 CN Bold</vt:lpstr>
      <vt:lpstr>字魂105号-简雅黑</vt:lpstr>
      <vt:lpstr>字魂160号-檀宋</vt:lpstr>
      <vt:lpstr>仿宋</vt:lpstr>
      <vt:lpstr>等线 Light</vt:lpstr>
      <vt:lpstr>隶书</vt:lpstr>
      <vt:lpstr>华文中宋</vt:lpstr>
      <vt:lpstr>楷体</vt:lpstr>
      <vt:lpstr>华文行楷</vt:lpstr>
      <vt:lpstr>新宋体</vt:lpstr>
      <vt:lpstr>幼圆</vt:lpstr>
      <vt:lpstr>华文彩云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WPS_1642080659</cp:lastModifiedBy>
  <cp:revision>3</cp:revision>
  <cp:lastPrinted>2025-12-27T16:40:00Z</cp:lastPrinted>
  <dcterms:created xsi:type="dcterms:W3CDTF">2025-12-27T16:40:00Z</dcterms:created>
  <dcterms:modified xsi:type="dcterms:W3CDTF">2026-03-19T16:56:07Z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A9E3023EFC4742D3B103917A2B147DDD_13</vt:lpwstr>
  </property>
  <property fmtid="{D5CDD505-2E9C-101B-9397-08002B2CF9AE}" pid="3" name="KSOProductBuildVer">
    <vt:lpwstr>2052-12.1.0.24657</vt:lpwstr>
  </property>
</Properties>
</file>