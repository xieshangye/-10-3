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3" r:id="rId11"/>
    <p:sldId id="274" r:id="rId12"/>
    <p:sldId id="275" r:id="rId13"/>
    <p:sldId id="264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核心改进是新增的OpenHarmony代码解析模块。我们选用Tree-sitter作为解析工具，它能高效地将代码转换为抽象语法树。通过遍历这棵树，我们可以精准提取出函数、变量、指针操作等关键的结构化信息，这些信息将极大地增强后续AI模型对代码的理解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4.jpeg"/><Relationship Id="rId7" Type="http://schemas.openxmlformats.org/officeDocument/2006/relationships/image" Target="../media/image10.sv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24.svg"/><Relationship Id="rId5" Type="http://schemas.openxmlformats.org/officeDocument/2006/relationships/image" Target="../media/image20.sv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0.svg"/><Relationship Id="rId3" Type="http://schemas.openxmlformats.org/officeDocument/2006/relationships/image" Target="../media/image4.jpeg"/><Relationship Id="rId7" Type="http://schemas.openxmlformats.org/officeDocument/2006/relationships/image" Target="../media/image32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11" Type="http://schemas.openxmlformats.org/officeDocument/2006/relationships/image" Target="../media/image34.svg"/><Relationship Id="rId5" Type="http://schemas.openxmlformats.org/officeDocument/2006/relationships/image" Target="../media/image10.svg"/><Relationship Id="rId10" Type="http://schemas.openxmlformats.org/officeDocument/2006/relationships/image" Target="../media/image33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36.jpeg"/><Relationship Id="rId5" Type="http://schemas.openxmlformats.org/officeDocument/2006/relationships/image" Target="../media/image16.svg"/><Relationship Id="rId10" Type="http://schemas.openxmlformats.org/officeDocument/2006/relationships/image" Target="../media/image35.jpeg"/><Relationship Id="rId4" Type="http://schemas.openxmlformats.org/officeDocument/2006/relationships/image" Target="../media/image15.png"/><Relationship Id="rId9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3" Type="http://schemas.openxmlformats.org/officeDocument/2006/relationships/image" Target="../media/image37.jpeg"/><Relationship Id="rId7" Type="http://schemas.openxmlformats.org/officeDocument/2006/relationships/image" Target="../media/image41.sv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5" Type="http://schemas.openxmlformats.org/officeDocument/2006/relationships/image" Target="../media/image39.sv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3.svg"/><Relationship Id="rId3" Type="http://schemas.openxmlformats.org/officeDocument/2006/relationships/image" Target="../media/image4.jpeg"/><Relationship Id="rId7" Type="http://schemas.openxmlformats.org/officeDocument/2006/relationships/image" Target="../media/image49.sv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11" Type="http://schemas.openxmlformats.org/officeDocument/2006/relationships/image" Target="../media/image51.svg"/><Relationship Id="rId5" Type="http://schemas.openxmlformats.org/officeDocument/2006/relationships/image" Target="../media/image28.svg"/><Relationship Id="rId10" Type="http://schemas.openxmlformats.org/officeDocument/2006/relationships/image" Target="../media/image50.png"/><Relationship Id="rId4" Type="http://schemas.openxmlformats.org/officeDocument/2006/relationships/image" Target="../media/image27.png"/><Relationship Id="rId9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57.svg"/><Relationship Id="rId5" Type="http://schemas.openxmlformats.org/officeDocument/2006/relationships/image" Target="../media/image34.svg"/><Relationship Id="rId10" Type="http://schemas.openxmlformats.org/officeDocument/2006/relationships/image" Target="../media/image56.png"/><Relationship Id="rId4" Type="http://schemas.openxmlformats.org/officeDocument/2006/relationships/image" Target="../media/image33.png"/><Relationship Id="rId9" Type="http://schemas.openxmlformats.org/officeDocument/2006/relationships/image" Target="../media/image5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svg"/><Relationship Id="rId3" Type="http://schemas.openxmlformats.org/officeDocument/2006/relationships/image" Target="../media/image4.jpeg"/><Relationship Id="rId7" Type="http://schemas.openxmlformats.org/officeDocument/2006/relationships/image" Target="../media/image59.sv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11" Type="http://schemas.openxmlformats.org/officeDocument/2006/relationships/image" Target="../media/image63.svg"/><Relationship Id="rId5" Type="http://schemas.openxmlformats.org/officeDocument/2006/relationships/image" Target="../media/image18.svg"/><Relationship Id="rId15" Type="http://schemas.openxmlformats.org/officeDocument/2006/relationships/image" Target="../media/image22.svg"/><Relationship Id="rId10" Type="http://schemas.openxmlformats.org/officeDocument/2006/relationships/image" Target="../media/image62.png"/><Relationship Id="rId4" Type="http://schemas.openxmlformats.org/officeDocument/2006/relationships/image" Target="../media/image17.png"/><Relationship Id="rId9" Type="http://schemas.openxmlformats.org/officeDocument/2006/relationships/image" Target="../media/image61.svg"/><Relationship Id="rId1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-58189" y="99753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80F1E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381000" y="165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面向OpenHarmony的智能代码审查系统设计与实现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2413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基于Code-Review-GPT-Gitlab的改进 ——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3111500"/>
            <a:ext cx="1016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1000" y="3683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238500" y="3657600"/>
            <a:ext cx="5778502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组员</a:t>
            </a:r>
            <a:r>
              <a:rPr 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文辉  杨天旭  </a:t>
            </a:r>
            <a:r>
              <a:rPr lang="zh-CN" altLang="en-US" sz="160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焦祥伟  贾宇昊  薛明智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667500" y="3657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3238500" y="41656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667500" y="4165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16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778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177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413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578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2540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2540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国内外研究现状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175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340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3302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905000" y="330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研究目标与内容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937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1021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064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905000" y="406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699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48641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97000" y="4826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905000" y="4826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1651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18161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85000" y="1778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177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核心改进方案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2413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40500" y="25781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985000" y="2540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493000" y="2540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预期成果与创新点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5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336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7800" indent="-177800" algn="l">
              <a:lnSpc>
                <a:spcPct val="108333"/>
              </a:lnSpc>
              <a:buClr>
                <a:srgbClr val="FFFFFF"/>
              </a:buClr>
              <a:buFont typeface="Wingdings"/>
              <a:buChar char="v"/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OpenHarmony作为开源分布式操作系统，应用场景广泛，代码规模庞大且迭代迅速。</a:t>
            </a:r>
            <a:endParaRPr lang="en-US" sz="1100"/>
          </a:p>
          <a:p>
            <a:pPr marL="177800" indent="-177800" algn="l">
              <a:lnSpc>
                <a:spcPct val="108333"/>
              </a:lnSpc>
              <a:buClr>
                <a:srgbClr val="FFFFFF"/>
              </a:buClr>
              <a:buFont typeface="Wingdings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传统人工代码审查效率低下、成本高昂，且容易遗漏潜在缺陷。</a:t>
            </a:r>
          </a:p>
          <a:p>
            <a:pPr marL="177800" indent="-177800" algn="l">
              <a:lnSpc>
                <a:spcPct val="108333"/>
              </a:lnSpc>
              <a:buClr>
                <a:srgbClr val="FFFFFF"/>
              </a:buClr>
              <a:buFont typeface="Wingdings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现有通用工具（如Clang-Tidy）对鸿蒙特有API及规范适配不足，难以有效识别问题。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研究意义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222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2184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提升开发效率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实现自动化代码审查，减少人工介入，加速开发流程。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921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28829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保障代码质量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提前发现代码缺陷和安全隐患，提升OpenHarmony生态质量。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3619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581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提供高效易用的质量保障工具，促进鸿蒙生态健康发展。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国内外研究现状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1397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1549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传统静态代码审查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032000"/>
            <a:ext cx="3302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代表：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Clang-Tidy, SonarQube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基于规则匹配，执行速度快。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不足：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难理解语义与复杂逻辑；规则维护成本高，覆盖有限。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158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1549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基于大模型(LLM)审查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032000"/>
            <a:ext cx="3302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代表：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Copilot, CodeLlama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强代码理解与生成能力，可检复杂缺陷。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不足：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缺乏领域知识；上下文受限；误报率较高且可解释性差。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255000" y="1397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45500" y="1587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26500" y="1549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关键参考文献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032000"/>
            <a:ext cx="3302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1. ArkAnalyzer (ICSE 2025)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首个面向OpenHarmony的静态分析框架，验证了定制化AST解析的必要性。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2. CLDIFF (ASE 2018)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提出增量Diff过滤与AST差分方法，显著提升审查效率。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3. Last Diff Analyzer (Uber)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工业界实践验证了AST驱动增量审查在大型项目中的工程价值。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204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研究目标与内容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6764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032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设计并实现一套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面向OpenHarmony的智能代码审查系统</a:t>
            </a: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，集成于GitLab流程，自动检测增量代码缺陷，显著提升审查准确性与效率。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921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核心研究内容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19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581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基于开源项目二次开发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937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sz="1300" b="1" i="0" u="none" strike="noStrike" dirty="0" err="1">
                <a:solidFill>
                  <a:srgbClr val="00B0F0"/>
                </a:solidFill>
                <a:latin typeface="Noto Sans SC"/>
                <a:ea typeface="Noto Sans SC"/>
                <a:cs typeface="Noto Sans SC"/>
                <a:sym typeface="Noto Sans SC"/>
              </a:rPr>
              <a:t>Code-Review-GPT-Gitlab</a:t>
            </a: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为基础框架，进行针对性的架构改进与功能扩展</a:t>
            </a:r>
            <a:r>
              <a:rPr lang="en-US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223000" y="342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619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581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新增OpenHarmony AST解析模块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3937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300" b="1" i="0" u="none" strike="noStrike" dirty="0" err="1">
                <a:solidFill>
                  <a:srgbClr val="00B0F0"/>
                </a:solidFill>
                <a:latin typeface="Noto Sans SC"/>
                <a:ea typeface="Noto Sans SC"/>
                <a:cs typeface="Noto Sans SC"/>
                <a:sym typeface="Noto Sans SC"/>
              </a:rPr>
              <a:t>Tree-sitte</a:t>
            </a: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r工具，深度解析C</a:t>
            </a:r>
            <a:r>
              <a:rPr lang="en-US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/C++</a:t>
            </a: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和ArkTS代码，精准提取函数、指针及API调用信息</a:t>
            </a:r>
            <a:r>
              <a:rPr lang="en-US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143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5105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优化增量Diff过滤逻辑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5461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设计高效的代码变更过滤策略，剔除格式调整等无效变更，聚焦语义有效代码审查</a:t>
            </a:r>
            <a:r>
              <a:rPr lang="zh-CN" altLang="en-US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，节省</a:t>
            </a:r>
            <a:r>
              <a:rPr lang="en-US" altLang="zh-CN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Token</a:t>
            </a:r>
            <a:r>
              <a:rPr lang="en-US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6223000" y="4953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5143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85000" y="5105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系统集成与验证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985000" y="5461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完成新模块与原系统的集成部署，通过对比实验验证改进后的检测效果与性能提升。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2006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803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环境搭建与调研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222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已成功在本地部署Code-Review-GPT-Gitlab项目，并完成了与GitLab的集成配置。同时调研OpenHarmony开发规范与常见缺陷。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1803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AST解析模块开发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2222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学习Tree-sitter使用，开发针对C/C++和ArkTS的代码解析模块，实现结构化信息提取。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1803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Diff过滤优化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2222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分析Git Diff格式，设计并实现无效代码行过滤、文件类型筛选等优化策略。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62000" y="3810000"/>
            <a:ext cx="3302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4445000" y="3810000"/>
            <a:ext cx="3302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128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后续规划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完成AST解析模块开发，实现结构化信息提取。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1752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" y="18542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8288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349500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对接GitLab WebHook，监听代码提交(Push)和合并请求(MR)事件，获取代码Diff数据。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3528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00BFFF">
              <a:alpha val="1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27000" dir="2700000" algn="tl" rotWithShape="0">
              <a:srgbClr val="00BFF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6000" y="18542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13200" y="18288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预处理层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05200" y="2349500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核心改进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增量Diff解析与过滤</a:t>
            </a:r>
            <a:endParaRPr lang="en-US" sz="1300" b="0" i="0" u="none" strike="noStrike" dirty="0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OpenHarmony</a:t>
            </a:r>
            <a:r>
              <a:rPr lang="en-US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AST解析</a:t>
            </a:r>
            <a:endParaRPr lang="en-US" sz="1300" b="0" i="0" u="none" strike="noStrike" dirty="0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9200" y="18542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56400" y="18288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推理层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48400" y="2349500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将预处理后的增强上下文输入大语言模型(LLM)，进行精准的代码缺陷检测与分析。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392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2400" y="18542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499600" y="18288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91600" y="2349500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将审查结果以结构化评论的形式自动反馈到GitLab的代码变更页面，闭环审查流程。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" y="4191000"/>
            <a:ext cx="107696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8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9000" y="44704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73200" y="4508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核心创新点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048000" y="43815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E0F7FF"/>
                </a:solidFill>
                <a:latin typeface="Noto Sans SC"/>
                <a:ea typeface="Noto Sans SC"/>
                <a:cs typeface="Noto Sans SC"/>
                <a:sym typeface="Noto Sans SC"/>
              </a:rPr>
              <a:t>在预处理层新增了</a:t>
            </a:r>
            <a:r>
              <a:rPr lang="en-US" sz="15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AST解析模块</a:t>
            </a:r>
            <a:r>
              <a:rPr lang="en-US" sz="1500" b="0" i="0" u="none" strike="noStrike">
                <a:solidFill>
                  <a:srgbClr val="E0F7FF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5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Diff优化模块</a:t>
            </a:r>
            <a:r>
              <a:rPr lang="en-US" sz="1500" b="0" i="0" u="none" strike="noStrike">
                <a:solidFill>
                  <a:srgbClr val="E0F7FF"/>
                </a:solidFill>
                <a:latin typeface="Noto Sans SC"/>
                <a:ea typeface="Noto Sans SC"/>
                <a:cs typeface="Noto Sans SC"/>
                <a:sym typeface="Noto Sans SC"/>
              </a:rPr>
              <a:t>，剔除无效代码变更，只保留语义有效部分，显著提升了AI审查的准确性与效率。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4053">
            <a:off x="609604" y="5581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核心改进方案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OpenHarmony AST解析模块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</a:t>
            </a:r>
            <a:r>
              <a:rPr lang="en-US" sz="15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Tree-sitter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将C/C++/ArkTS代码转换为AST，提取函数定义、指针操作等结构化信息。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43000" y="4381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从“文本理解”升级为“结构理解”，大幅提升缺陷检测准确性。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905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增量Diff过滤优化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413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仅审查 .c/.cpp/.h/.ets 等鸿蒙开发文件</a:t>
            </a:r>
          </a:p>
          <a:p>
            <a:pPr marL="177800" indent="-177800" algn="l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过滤空格、注释、格式化等无意义变更</a:t>
            </a:r>
          </a:p>
          <a:p>
            <a:pPr marL="177800" indent="-177800" algn="l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聚焦修改的函数或代码块进行审查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04000" y="4318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731000" y="4381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减少审查代码量，降低Token消耗，提升效率并降低成本。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092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核心改进一：OpenHarmony代码解析模块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工具选择：Tree-sitter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22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B0C4DE"/>
              </a:buClr>
              <a:buChar char="•"/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开源的多语言代码解析库，生成精确AST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支持C/C++、TypeScript/ArkTS等鸿蒙开发语言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746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708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核心功能：结构化信息提取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27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B0C4DE"/>
              </a:buClr>
              <a:buChar char="•"/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提取函数定义、调用关系及变量声明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分析指针操作、内存管理与特有API调用</a:t>
            </a:r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构建代码知识图谱，增强AI理解能力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000" y="1651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1778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 (Python + Tree-sitter)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159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en-US" sz="1200" b="0" i="0" u="none" strike="noStrike" dirty="0" err="1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tree_sitter</a:t>
            </a: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 import Language, Parser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200" b="0" i="0" u="none" strike="noStrike" dirty="0" err="1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初始化解析器并加载C语言库</a:t>
            </a:r>
            <a:endParaRPr lang="en-US" sz="1200" b="0" i="0" u="none" strike="noStrike" dirty="0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parser = Parser(); lang = Language("build/c.so", "c")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parser.set_language</a:t>
            </a: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(lang)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200" b="0" i="0" u="none" strike="noStrike" dirty="0" err="1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解析代码生成AST</a:t>
            </a:r>
            <a:endParaRPr lang="en-US" sz="1200" b="0" i="0" u="none" strike="noStrike" dirty="0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tree = </a:t>
            </a:r>
            <a:r>
              <a:rPr lang="en-US" sz="1200" b="0" i="0" u="none" strike="noStrike" dirty="0" err="1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parser.parse</a:t>
            </a: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dirty="0" err="1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b"void</a:t>
            </a: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 test() { int *p = NULL; }")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root = </a:t>
            </a:r>
            <a:r>
              <a:rPr lang="en-US" sz="1200" b="0" i="0" u="none" strike="noStrike" dirty="0" err="1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tree.root_node</a:t>
            </a: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 # </a:t>
            </a:r>
            <a:r>
              <a:rPr lang="en-US" sz="1200" b="0" i="0" u="none" strike="noStrike" dirty="0" err="1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遍历根节点提取信息</a:t>
            </a:r>
            <a:r>
              <a:rPr lang="en-US" sz="1200" b="0" i="0" u="none" strike="noStrike" dirty="0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0" y="4318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508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4445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解析优势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相比传统正则匹配，AST解析能处理复杂嵌套语法，避免因代码格式变化导致的解析失败</a:t>
            </a:r>
            <a:r>
              <a:rPr lang="en-US" sz="1300" b="0" i="0" u="none" strike="noStrike" dirty="0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AST解析流程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3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2349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6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输入代码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048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获取待审查的代码片段（Diff），作为解析的原始输入数据。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52750" y="1651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2050" y="184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952750" y="2349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952750" y="266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初始化解析器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79750" y="3048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根据文件类型（C/C++/ArkTS）自动加载对应的Tree-sitter解析器。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143500" y="1651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92800" y="1841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143500" y="2349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143500" y="266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构建AST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70500" y="3048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将线性的代码文本转换为结构化的抽象语法树，保留语义信息。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34250" y="1651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83550" y="1841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34250" y="2349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34250" y="266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遍历与提取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61250" y="3048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深度遍历AST节点，精准提取函数、变量、API调用等关键信息。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0" y="1651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74300" y="1841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525000" y="2349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525000" y="266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52000" y="3048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将提取的结构化信息与原始代码拼接，形成增强后的上下文数据。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080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核心改进二：增量Diff过滤优化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🎯 过滤目标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413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387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去除仅包含空格、制表符的行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857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832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过滤掉注释行（// 或 /* ... */）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302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276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忽略因代码格式化产生的无意义变更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3746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721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仅保留对代码语义有影响的有效变更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000000">
              <a:alpha val="60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💻 过滤规则代码示例 (Python)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286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00B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is_meaningful_change(line):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过滤空行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00B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line.strip() ==</a:t>
            </a:r>
            <a:r>
              <a:rPr lang="en-US" sz="1200" b="0" i="0" u="none" strike="noStrike">
                <a:solidFill>
                  <a:srgbClr val="98FB9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""</a:t>
            </a: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00B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returnFalse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过滤注释行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00B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line.strip().startswith((</a:t>
            </a:r>
            <a:r>
              <a:rPr lang="en-US" sz="1200" b="0" i="0" u="none" strike="noStrike">
                <a:solidFill>
                  <a:srgbClr val="98FB9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"//"</a:t>
            </a: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  <a:r>
              <a:rPr lang="en-US" sz="1200" b="0" i="0" u="none" strike="noStrike">
                <a:solidFill>
                  <a:srgbClr val="98FB9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"/*"</a:t>
            </a: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)):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00B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returnFalse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过滤仅含空格的行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00B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re.match(r</a:t>
            </a:r>
            <a:r>
              <a:rPr lang="en-US" sz="1200" b="0" i="0" u="none" strike="noStrike">
                <a:solidFill>
                  <a:srgbClr val="98FB9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'^\s+$'</a:t>
            </a: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line):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00B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returnFalse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00B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returnTrue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预期成果与创新点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52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71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2860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222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一套可运行的系统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实现面向OpenHarmony的智能代码审查系统，集成至GitLab流程。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810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746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详实的实验数据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通过对比实验验证缺陷检出率和效率提升，形成分析报告。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1752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171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2286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222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定制化AST解析技术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首次应用Tree-sitter于OpenHarmony审查，增强特有结构理解。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3048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2984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高效增量审查策略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优化Diff过滤逻辑，提升大型系统审查的效率与经济性。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参考文献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19304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陈浩楠, 黎立, 等.</a:t>
            </a:r>
            <a:r>
              <a:rPr lang="en-US" sz="15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ArkAnalyzer: The Static Analysis Framework for OpenHarmony[C]//Proceedings of the 47th International Conference on Software Engineering. 2025.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2385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3429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3909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黄凯峰, 陈碧欢, 赵文耘.</a:t>
            </a:r>
            <a:r>
              <a:rPr lang="en-US" sz="15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CLDIFF: Generating Concise Linked Code Differences[C]//Proceedings of the 33rd ACM/IEEE International Conference on Automated Software Engineering. 2018.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889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8514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Clapp L, et al.</a:t>
            </a:r>
            <a:r>
              <a:rPr lang="en-US" sz="15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Last Diff Analyzer: Multi-language Automated Approver[C]//Proceedings of the 2023 ACM SIGSAC Conference on Computer and Communications Security. 2023.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0" y="6223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Microsoft Office PowerPoint</Application>
  <PresentationFormat>宽屏</PresentationFormat>
  <Paragraphs>188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Noto Sans SC</vt:lpstr>
      <vt:lpstr>Arial</vt:lpstr>
      <vt:lpstr>Consolas</vt:lpstr>
      <vt:lpstr>Source Code Pro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辉 文</cp:lastModifiedBy>
  <cp:revision>1</cp:revision>
  <dcterms:modified xsi:type="dcterms:W3CDTF">2026-03-29T10:41:53Z</dcterms:modified>
</cp:coreProperties>
</file>