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9.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10.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15.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16.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2"/>
  </p:notesMasterIdLst>
  <p:sldIdLst>
    <p:sldId id="365" r:id="rId2"/>
    <p:sldId id="356" r:id="rId3"/>
    <p:sldId id="357" r:id="rId4"/>
    <p:sldId id="258" r:id="rId5"/>
    <p:sldId id="305" r:id="rId6"/>
    <p:sldId id="359" r:id="rId7"/>
    <p:sldId id="332" r:id="rId8"/>
    <p:sldId id="372" r:id="rId9"/>
    <p:sldId id="368" r:id="rId10"/>
    <p:sldId id="373" r:id="rId11"/>
    <p:sldId id="374" r:id="rId12"/>
    <p:sldId id="325" r:id="rId13"/>
    <p:sldId id="375" r:id="rId14"/>
    <p:sldId id="376" r:id="rId15"/>
    <p:sldId id="377" r:id="rId16"/>
    <p:sldId id="317" r:id="rId17"/>
    <p:sldId id="269" r:id="rId18"/>
    <p:sldId id="378" r:id="rId19"/>
    <p:sldId id="379" r:id="rId20"/>
    <p:sldId id="363" r:id="rId21"/>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124" userDrawn="1">
          <p15:clr>
            <a:srgbClr val="A4A3A4"/>
          </p15:clr>
        </p15:guide>
        <p15:guide id="4" pos="415" userDrawn="1">
          <p15:clr>
            <a:srgbClr val="A4A3A4"/>
          </p15:clr>
        </p15:guide>
        <p15:guide id="6" orient="horz" pos="1411" userDrawn="1">
          <p15:clr>
            <a:srgbClr val="A4A3A4"/>
          </p15:clr>
        </p15:guide>
        <p15:guide id="7" pos="72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44C89"/>
    <a:srgbClr val="4E81C0"/>
    <a:srgbClr val="313D51"/>
    <a:srgbClr val="433D3C"/>
    <a:srgbClr val="C00000"/>
    <a:srgbClr val="F0F2F4"/>
    <a:srgbClr val="0B2C4F"/>
    <a:srgbClr val="213555"/>
    <a:srgbClr val="2636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8" autoAdjust="0"/>
    <p:restoredTop sz="96314" autoAdjust="0"/>
  </p:normalViewPr>
  <p:slideViewPr>
    <p:cSldViewPr snapToGrid="0" showGuides="1">
      <p:cViewPr varScale="1">
        <p:scale>
          <a:sx n="110" d="100"/>
          <a:sy n="110" d="100"/>
        </p:scale>
        <p:origin x="72" y="134"/>
      </p:cViewPr>
      <p:guideLst>
        <p:guide pos="4124"/>
        <p:guide pos="415"/>
        <p:guide orient="horz" pos="1411"/>
        <p:guide pos="7219"/>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B2E5B-1A0B-4F0A-9547-4FB8D13F2C5F}" type="datetimeFigureOut">
              <a:rPr lang="zh-CN" altLang="en-US" smtClean="0"/>
              <a:t>2026/4/3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3CF89-91F4-45FB-A589-58532703FCA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195D3-9181-12B8-E298-8CAB686333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FC637D-3B88-7D4A-2124-7784D46CF3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26CE74-68DF-746D-ECBB-03D057D118F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83CDAB2-02B7-D444-CFB7-EF6F6B4DAA4C}"/>
              </a:ext>
            </a:extLst>
          </p:cNvPr>
          <p:cNvSpPr>
            <a:spLocks noGrp="1"/>
          </p:cNvSpPr>
          <p:nvPr>
            <p:ph type="sldNum" sz="quarter" idx="10"/>
          </p:nvPr>
        </p:nvSpPr>
        <p:spPr/>
        <p:txBody>
          <a:bodyPr/>
          <a:lstStyle/>
          <a:p>
            <a:fld id="{DA25CCEA-3F45-46FD-873C-10FB1242F407}" type="slidenum">
              <a:rPr lang="zh-CN" altLang="en-US" smtClean="0"/>
              <a:t>13</a:t>
            </a:fld>
            <a:endParaRPr lang="zh-CN" altLang="en-US"/>
          </a:p>
        </p:txBody>
      </p:sp>
    </p:spTree>
    <p:extLst>
      <p:ext uri="{BB962C8B-B14F-4D97-AF65-F5344CB8AC3E}">
        <p14:creationId xmlns:p14="http://schemas.microsoft.com/office/powerpoint/2010/main" val="20586290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3D94-BC9C-E7EB-9A22-8FD7CC98F5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0FF756-A95F-B769-723B-C8C944479F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0FA1B9-2629-8C9F-7E7E-E9601A4C1A0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FA00D92-3CAF-752C-C355-78674B0D0F0E}"/>
              </a:ext>
            </a:extLst>
          </p:cNvPr>
          <p:cNvSpPr>
            <a:spLocks noGrp="1"/>
          </p:cNvSpPr>
          <p:nvPr>
            <p:ph type="sldNum" sz="quarter" idx="10"/>
          </p:nvPr>
        </p:nvSpPr>
        <p:spPr/>
        <p:txBody>
          <a:bodyPr/>
          <a:lstStyle/>
          <a:p>
            <a:fld id="{59E3CF89-91F4-45FB-A589-58532703FCA1}" type="slidenum">
              <a:rPr lang="zh-CN" altLang="en-US" smtClean="0"/>
              <a:t>14</a:t>
            </a:fld>
            <a:endParaRPr lang="zh-CN" altLang="en-US"/>
          </a:p>
        </p:txBody>
      </p:sp>
    </p:spTree>
    <p:extLst>
      <p:ext uri="{BB962C8B-B14F-4D97-AF65-F5344CB8AC3E}">
        <p14:creationId xmlns:p14="http://schemas.microsoft.com/office/powerpoint/2010/main" val="88477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A006C-040D-0199-7882-88C2639EAB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604CAD-B427-6FA7-6FED-6812277954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163E92-49D6-19B8-C917-7CD2A0B2FDA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E06E882-8393-80ED-831E-AF23F5CC161E}"/>
              </a:ext>
            </a:extLst>
          </p:cNvPr>
          <p:cNvSpPr>
            <a:spLocks noGrp="1"/>
          </p:cNvSpPr>
          <p:nvPr>
            <p:ph type="sldNum" sz="quarter" idx="10"/>
          </p:nvPr>
        </p:nvSpPr>
        <p:spPr/>
        <p:txBody>
          <a:bodyPr/>
          <a:lstStyle/>
          <a:p>
            <a:fld id="{DA25CCEA-3F45-46FD-873C-10FB1242F407}" type="slidenum">
              <a:rPr lang="zh-CN" altLang="en-US" smtClean="0"/>
              <a:t>15</a:t>
            </a:fld>
            <a:endParaRPr lang="zh-CN" altLang="en-US"/>
          </a:p>
        </p:txBody>
      </p:sp>
    </p:spTree>
    <p:extLst>
      <p:ext uri="{BB962C8B-B14F-4D97-AF65-F5344CB8AC3E}">
        <p14:creationId xmlns:p14="http://schemas.microsoft.com/office/powerpoint/2010/main" val="2614229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5295F-823D-2DED-B7D5-7C54020D6D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2E5606-7A73-E00E-2868-C56FAED30F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55A747-ABB6-C199-D264-2CBB43ABF91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BAC0538-DFD8-504F-FF07-DBE68674936F}"/>
              </a:ext>
            </a:extLst>
          </p:cNvPr>
          <p:cNvSpPr>
            <a:spLocks noGrp="1"/>
          </p:cNvSpPr>
          <p:nvPr>
            <p:ph type="sldNum" sz="quarter" idx="10"/>
          </p:nvPr>
        </p:nvSpPr>
        <p:spPr/>
        <p:txBody>
          <a:bodyPr/>
          <a:lstStyle/>
          <a:p>
            <a:fld id="{59E3CF89-91F4-45FB-A589-58532703FCA1}" type="slidenum">
              <a:rPr lang="zh-CN" altLang="en-US" smtClean="0"/>
              <a:t>18</a:t>
            </a:fld>
            <a:endParaRPr lang="zh-CN" altLang="en-US"/>
          </a:p>
        </p:txBody>
      </p:sp>
    </p:spTree>
    <p:extLst>
      <p:ext uri="{BB962C8B-B14F-4D97-AF65-F5344CB8AC3E}">
        <p14:creationId xmlns:p14="http://schemas.microsoft.com/office/powerpoint/2010/main" val="5060345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BF63E-651E-8B84-93B9-413FB15FAB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E66CB3-90B0-E105-FDC6-431F648FC1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8741B7-C2D6-FBEE-7C89-B07C54DC870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233530E-56E8-E471-14BF-C7DD55202CCC}"/>
              </a:ext>
            </a:extLst>
          </p:cNvPr>
          <p:cNvSpPr>
            <a:spLocks noGrp="1"/>
          </p:cNvSpPr>
          <p:nvPr>
            <p:ph type="sldNum" sz="quarter" idx="10"/>
          </p:nvPr>
        </p:nvSpPr>
        <p:spPr/>
        <p:txBody>
          <a:bodyPr/>
          <a:lstStyle/>
          <a:p>
            <a:fld id="{59E3CF89-91F4-45FB-A589-58532703FCA1}" type="slidenum">
              <a:rPr lang="zh-CN" altLang="en-US" smtClean="0"/>
              <a:t>19</a:t>
            </a:fld>
            <a:endParaRPr lang="zh-CN" altLang="en-US"/>
          </a:p>
        </p:txBody>
      </p:sp>
    </p:spTree>
    <p:extLst>
      <p:ext uri="{BB962C8B-B14F-4D97-AF65-F5344CB8AC3E}">
        <p14:creationId xmlns:p14="http://schemas.microsoft.com/office/powerpoint/2010/main" val="796762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D64EC1F-4C1A-4575-A29E-535B091AA911}"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3" name="矩形 2"/>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5" name="矩形 4"/>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标题 1"/>
          <p:cNvSpPr>
            <a:spLocks noGrp="1"/>
          </p:cNvSpPr>
          <p:nvPr>
            <p:ph type="title" hasCustomPrompt="1"/>
          </p:nvPr>
        </p:nvSpPr>
        <p:spPr>
          <a:xfrm>
            <a:off x="1406898" y="752801"/>
            <a:ext cx="3629564" cy="456129"/>
          </a:xfrm>
          <a:prstGeom prst="rect">
            <a:avLst/>
          </a:prstGeom>
        </p:spPr>
        <p:txBody>
          <a:bodyPr>
            <a:noAutofit/>
          </a:bodyPr>
          <a:lstStyle>
            <a:lvl1pPr>
              <a:defRPr sz="2400" b="1">
                <a:solidFill>
                  <a:srgbClr val="244C89"/>
                </a:solidFill>
                <a:ea typeface="思源黑体" panose="020B0500000000000000" pitchFamily="34" charset="-122"/>
              </a:defRPr>
            </a:lvl1pPr>
          </a:lstStyle>
          <a:p>
            <a:r>
              <a:rPr lang="zh-CN" altLang="en-US" dirty="0"/>
              <a:t>单击编辑标题</a:t>
            </a:r>
          </a:p>
        </p:txBody>
      </p:sp>
      <p:sp>
        <p:nvSpPr>
          <p:cNvPr id="9" name="Freeform 5"/>
          <p:cNvSpPr>
            <a:spLocks noEditPoints="1"/>
          </p:cNvSpPr>
          <p:nvPr userDrawn="1"/>
        </p:nvSpPr>
        <p:spPr bwMode="auto">
          <a:xfrm>
            <a:off x="861588" y="857970"/>
            <a:ext cx="441095" cy="525190"/>
          </a:xfrm>
          <a:custGeom>
            <a:avLst/>
            <a:gdLst>
              <a:gd name="T0" fmla="*/ 269 w 537"/>
              <a:gd name="T1" fmla="*/ 0 h 623"/>
              <a:gd name="T2" fmla="*/ 403 w 537"/>
              <a:gd name="T3" fmla="*/ 78 h 623"/>
              <a:gd name="T4" fmla="*/ 537 w 537"/>
              <a:gd name="T5" fmla="*/ 156 h 623"/>
              <a:gd name="T6" fmla="*/ 537 w 537"/>
              <a:gd name="T7" fmla="*/ 311 h 623"/>
              <a:gd name="T8" fmla="*/ 537 w 537"/>
              <a:gd name="T9" fmla="*/ 467 h 623"/>
              <a:gd name="T10" fmla="*/ 403 w 537"/>
              <a:gd name="T11" fmla="*/ 545 h 623"/>
              <a:gd name="T12" fmla="*/ 269 w 537"/>
              <a:gd name="T13" fmla="*/ 623 h 623"/>
              <a:gd name="T14" fmla="*/ 134 w 537"/>
              <a:gd name="T15" fmla="*/ 545 h 623"/>
              <a:gd name="T16" fmla="*/ 0 w 537"/>
              <a:gd name="T17" fmla="*/ 467 h 623"/>
              <a:gd name="T18" fmla="*/ 0 w 537"/>
              <a:gd name="T19" fmla="*/ 311 h 623"/>
              <a:gd name="T20" fmla="*/ 0 w 537"/>
              <a:gd name="T21" fmla="*/ 156 h 623"/>
              <a:gd name="T22" fmla="*/ 134 w 537"/>
              <a:gd name="T23" fmla="*/ 78 h 623"/>
              <a:gd name="T24" fmla="*/ 269 w 537"/>
              <a:gd name="T25" fmla="*/ 0 h 623"/>
              <a:gd name="T26" fmla="*/ 269 w 537"/>
              <a:gd name="T27" fmla="*/ 53 h 623"/>
              <a:gd name="T28" fmla="*/ 380 w 537"/>
              <a:gd name="T29" fmla="*/ 117 h 623"/>
              <a:gd name="T30" fmla="*/ 492 w 537"/>
              <a:gd name="T31" fmla="*/ 182 h 623"/>
              <a:gd name="T32" fmla="*/ 492 w 537"/>
              <a:gd name="T33" fmla="*/ 311 h 623"/>
              <a:gd name="T34" fmla="*/ 492 w 537"/>
              <a:gd name="T35" fmla="*/ 441 h 623"/>
              <a:gd name="T36" fmla="*/ 380 w 537"/>
              <a:gd name="T37" fmla="*/ 505 h 623"/>
              <a:gd name="T38" fmla="*/ 269 w 537"/>
              <a:gd name="T39" fmla="*/ 570 h 623"/>
              <a:gd name="T40" fmla="*/ 157 w 537"/>
              <a:gd name="T41" fmla="*/ 505 h 623"/>
              <a:gd name="T42" fmla="*/ 46 w 537"/>
              <a:gd name="T43" fmla="*/ 441 h 623"/>
              <a:gd name="T44" fmla="*/ 46 w 537"/>
              <a:gd name="T45" fmla="*/ 311 h 623"/>
              <a:gd name="T46" fmla="*/ 46 w 537"/>
              <a:gd name="T47" fmla="*/ 182 h 623"/>
              <a:gd name="T48" fmla="*/ 157 w 537"/>
              <a:gd name="T49" fmla="*/ 117 h 623"/>
              <a:gd name="T50" fmla="*/ 269 w 537"/>
              <a:gd name="T51" fmla="*/ 53 h 623"/>
              <a:gd name="T52" fmla="*/ 215 w 537"/>
              <a:gd name="T53" fmla="*/ 455 h 623"/>
              <a:gd name="T54" fmla="*/ 367 w 537"/>
              <a:gd name="T55" fmla="*/ 455 h 623"/>
              <a:gd name="T56" fmla="*/ 375 w 537"/>
              <a:gd name="T57" fmla="*/ 463 h 623"/>
              <a:gd name="T58" fmla="*/ 367 w 537"/>
              <a:gd name="T59" fmla="*/ 471 h 623"/>
              <a:gd name="T60" fmla="*/ 215 w 537"/>
              <a:gd name="T61" fmla="*/ 471 h 623"/>
              <a:gd name="T62" fmla="*/ 207 w 537"/>
              <a:gd name="T63" fmla="*/ 463 h 623"/>
              <a:gd name="T64" fmla="*/ 215 w 537"/>
              <a:gd name="T65" fmla="*/ 455 h 623"/>
              <a:gd name="T66" fmla="*/ 218 w 537"/>
              <a:gd name="T67" fmla="*/ 380 h 623"/>
              <a:gd name="T68" fmla="*/ 302 w 537"/>
              <a:gd name="T69" fmla="*/ 242 h 623"/>
              <a:gd name="T70" fmla="*/ 331 w 537"/>
              <a:gd name="T71" fmla="*/ 260 h 623"/>
              <a:gd name="T72" fmla="*/ 248 w 537"/>
              <a:gd name="T73" fmla="*/ 398 h 623"/>
              <a:gd name="T74" fmla="*/ 218 w 537"/>
              <a:gd name="T75" fmla="*/ 380 h 623"/>
              <a:gd name="T76" fmla="*/ 159 w 537"/>
              <a:gd name="T77" fmla="*/ 344 h 623"/>
              <a:gd name="T78" fmla="*/ 243 w 537"/>
              <a:gd name="T79" fmla="*/ 207 h 623"/>
              <a:gd name="T80" fmla="*/ 272 w 537"/>
              <a:gd name="T81" fmla="*/ 224 h 623"/>
              <a:gd name="T82" fmla="*/ 189 w 537"/>
              <a:gd name="T83" fmla="*/ 362 h 623"/>
              <a:gd name="T84" fmla="*/ 159 w 537"/>
              <a:gd name="T85" fmla="*/ 344 h 623"/>
              <a:gd name="T86" fmla="*/ 146 w 537"/>
              <a:gd name="T87" fmla="*/ 456 h 623"/>
              <a:gd name="T88" fmla="*/ 154 w 537"/>
              <a:gd name="T89" fmla="*/ 387 h 623"/>
              <a:gd name="T90" fmla="*/ 211 w 537"/>
              <a:gd name="T91" fmla="*/ 422 h 623"/>
              <a:gd name="T92" fmla="*/ 155 w 537"/>
              <a:gd name="T93" fmla="*/ 461 h 623"/>
              <a:gd name="T94" fmla="*/ 146 w 537"/>
              <a:gd name="T95" fmla="*/ 456 h 623"/>
              <a:gd name="T96" fmla="*/ 266 w 537"/>
              <a:gd name="T97" fmla="*/ 168 h 623"/>
              <a:gd name="T98" fmla="*/ 253 w 537"/>
              <a:gd name="T99" fmla="*/ 188 h 623"/>
              <a:gd name="T100" fmla="*/ 342 w 537"/>
              <a:gd name="T101" fmla="*/ 242 h 623"/>
              <a:gd name="T102" fmla="*/ 354 w 537"/>
              <a:gd name="T103" fmla="*/ 222 h 623"/>
              <a:gd name="T104" fmla="*/ 266 w 537"/>
              <a:gd name="T105" fmla="*/ 168 h 623"/>
              <a:gd name="T106" fmla="*/ 285 w 537"/>
              <a:gd name="T107" fmla="*/ 138 h 623"/>
              <a:gd name="T108" fmla="*/ 311 w 537"/>
              <a:gd name="T109" fmla="*/ 131 h 623"/>
              <a:gd name="T110" fmla="*/ 366 w 537"/>
              <a:gd name="T111" fmla="*/ 165 h 623"/>
              <a:gd name="T112" fmla="*/ 373 w 537"/>
              <a:gd name="T113" fmla="*/ 191 h 623"/>
              <a:gd name="T114" fmla="*/ 365 w 537"/>
              <a:gd name="T115" fmla="*/ 204 h 623"/>
              <a:gd name="T116" fmla="*/ 277 w 537"/>
              <a:gd name="T117" fmla="*/ 150 h 623"/>
              <a:gd name="T118" fmla="*/ 285 w 537"/>
              <a:gd name="T119" fmla="*/ 138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7" h="623">
                <a:moveTo>
                  <a:pt x="269" y="0"/>
                </a:moveTo>
                <a:lnTo>
                  <a:pt x="403" y="78"/>
                </a:lnTo>
                <a:lnTo>
                  <a:pt x="537" y="156"/>
                </a:lnTo>
                <a:lnTo>
                  <a:pt x="537" y="311"/>
                </a:lnTo>
                <a:lnTo>
                  <a:pt x="537" y="467"/>
                </a:lnTo>
                <a:lnTo>
                  <a:pt x="403" y="545"/>
                </a:lnTo>
                <a:lnTo>
                  <a:pt x="269" y="623"/>
                </a:lnTo>
                <a:lnTo>
                  <a:pt x="134" y="545"/>
                </a:lnTo>
                <a:lnTo>
                  <a:pt x="0" y="467"/>
                </a:lnTo>
                <a:lnTo>
                  <a:pt x="0" y="311"/>
                </a:lnTo>
                <a:lnTo>
                  <a:pt x="0" y="156"/>
                </a:lnTo>
                <a:lnTo>
                  <a:pt x="134" y="78"/>
                </a:lnTo>
                <a:lnTo>
                  <a:pt x="269" y="0"/>
                </a:lnTo>
                <a:close/>
                <a:moveTo>
                  <a:pt x="269" y="53"/>
                </a:moveTo>
                <a:lnTo>
                  <a:pt x="380" y="117"/>
                </a:lnTo>
                <a:lnTo>
                  <a:pt x="492" y="182"/>
                </a:lnTo>
                <a:lnTo>
                  <a:pt x="492" y="311"/>
                </a:lnTo>
                <a:lnTo>
                  <a:pt x="492" y="441"/>
                </a:lnTo>
                <a:lnTo>
                  <a:pt x="380" y="505"/>
                </a:lnTo>
                <a:lnTo>
                  <a:pt x="269" y="570"/>
                </a:lnTo>
                <a:lnTo>
                  <a:pt x="157" y="505"/>
                </a:lnTo>
                <a:lnTo>
                  <a:pt x="46" y="441"/>
                </a:lnTo>
                <a:lnTo>
                  <a:pt x="46" y="311"/>
                </a:lnTo>
                <a:lnTo>
                  <a:pt x="46" y="182"/>
                </a:lnTo>
                <a:lnTo>
                  <a:pt x="157" y="117"/>
                </a:lnTo>
                <a:lnTo>
                  <a:pt x="269" y="53"/>
                </a:lnTo>
                <a:close/>
                <a:moveTo>
                  <a:pt x="215" y="455"/>
                </a:moveTo>
                <a:lnTo>
                  <a:pt x="367" y="455"/>
                </a:lnTo>
                <a:cubicBezTo>
                  <a:pt x="371" y="455"/>
                  <a:pt x="375" y="458"/>
                  <a:pt x="375" y="463"/>
                </a:cubicBezTo>
                <a:cubicBezTo>
                  <a:pt x="375" y="467"/>
                  <a:pt x="371" y="471"/>
                  <a:pt x="367" y="471"/>
                </a:cubicBezTo>
                <a:lnTo>
                  <a:pt x="215" y="471"/>
                </a:lnTo>
                <a:cubicBezTo>
                  <a:pt x="211" y="471"/>
                  <a:pt x="207" y="467"/>
                  <a:pt x="207" y="463"/>
                </a:cubicBezTo>
                <a:cubicBezTo>
                  <a:pt x="207" y="458"/>
                  <a:pt x="211" y="455"/>
                  <a:pt x="215" y="455"/>
                </a:cubicBezTo>
                <a:close/>
                <a:moveTo>
                  <a:pt x="218" y="380"/>
                </a:moveTo>
                <a:lnTo>
                  <a:pt x="302" y="242"/>
                </a:lnTo>
                <a:lnTo>
                  <a:pt x="331" y="260"/>
                </a:lnTo>
                <a:lnTo>
                  <a:pt x="248" y="398"/>
                </a:lnTo>
                <a:lnTo>
                  <a:pt x="218" y="380"/>
                </a:lnTo>
                <a:close/>
                <a:moveTo>
                  <a:pt x="159" y="344"/>
                </a:moveTo>
                <a:lnTo>
                  <a:pt x="243" y="207"/>
                </a:lnTo>
                <a:lnTo>
                  <a:pt x="272" y="224"/>
                </a:lnTo>
                <a:lnTo>
                  <a:pt x="189" y="362"/>
                </a:lnTo>
                <a:lnTo>
                  <a:pt x="159" y="344"/>
                </a:lnTo>
                <a:close/>
                <a:moveTo>
                  <a:pt x="146" y="456"/>
                </a:moveTo>
                <a:lnTo>
                  <a:pt x="154" y="387"/>
                </a:lnTo>
                <a:lnTo>
                  <a:pt x="211" y="422"/>
                </a:lnTo>
                <a:lnTo>
                  <a:pt x="155" y="461"/>
                </a:lnTo>
                <a:cubicBezTo>
                  <a:pt x="149" y="465"/>
                  <a:pt x="145" y="463"/>
                  <a:pt x="146" y="456"/>
                </a:cubicBezTo>
                <a:close/>
                <a:moveTo>
                  <a:pt x="266" y="168"/>
                </a:moveTo>
                <a:lnTo>
                  <a:pt x="253" y="188"/>
                </a:lnTo>
                <a:lnTo>
                  <a:pt x="342" y="242"/>
                </a:lnTo>
                <a:lnTo>
                  <a:pt x="354" y="222"/>
                </a:lnTo>
                <a:lnTo>
                  <a:pt x="266" y="168"/>
                </a:lnTo>
                <a:close/>
                <a:moveTo>
                  <a:pt x="285" y="138"/>
                </a:moveTo>
                <a:cubicBezTo>
                  <a:pt x="290" y="129"/>
                  <a:pt x="302" y="126"/>
                  <a:pt x="311" y="131"/>
                </a:cubicBezTo>
                <a:lnTo>
                  <a:pt x="366" y="165"/>
                </a:lnTo>
                <a:cubicBezTo>
                  <a:pt x="375" y="170"/>
                  <a:pt x="378" y="182"/>
                  <a:pt x="373" y="191"/>
                </a:cubicBezTo>
                <a:lnTo>
                  <a:pt x="365" y="204"/>
                </a:lnTo>
                <a:lnTo>
                  <a:pt x="277" y="150"/>
                </a:lnTo>
                <a:lnTo>
                  <a:pt x="285" y="138"/>
                </a:lnTo>
                <a:close/>
              </a:path>
            </a:pathLst>
          </a:custGeom>
          <a:solidFill>
            <a:srgbClr val="244C89"/>
          </a:solidFill>
          <a:ln>
            <a:noFill/>
          </a:ln>
        </p:spPr>
        <p:txBody>
          <a:bodyPr vert="horz" wrap="square" lIns="91392" tIns="45696" rIns="91392" bIns="45696" numCol="1" anchor="t" anchorCtr="0" compatLnSpc="1"/>
          <a:lstStyle/>
          <a:p>
            <a:endParaRPr lang="zh-CN" altLang="en-US" sz="1800">
              <a:solidFill>
                <a:schemeClr val="bg1"/>
              </a:solidFill>
            </a:endParaRPr>
          </a:p>
        </p:txBody>
      </p:sp>
      <p:sp>
        <p:nvSpPr>
          <p:cNvPr id="6" name="PA_文本框 1"/>
          <p:cNvSpPr txBox="1"/>
          <p:nvPr userDrawn="1">
            <p:custDataLst>
              <p:tags r:id="rId1"/>
            </p:custDataLst>
          </p:nvPr>
        </p:nvSpPr>
        <p:spPr>
          <a:xfrm>
            <a:off x="1508454" y="1130748"/>
            <a:ext cx="1982056" cy="314766"/>
          </a:xfrm>
          <a:prstGeom prst="rect">
            <a:avLst/>
          </a:prstGeom>
          <a:noFill/>
        </p:spPr>
        <p:txBody>
          <a:bodyPr wrap="square" lIns="0" tIns="0" rIns="0" rtlCol="0">
            <a:spAutoFit/>
          </a:bodyPr>
          <a:lstStyle/>
          <a:p>
            <a:pPr>
              <a:lnSpc>
                <a:spcPts val="2300"/>
              </a:lnSpc>
            </a:pPr>
            <a:r>
              <a:rPr lang="en-US" altLang="zh-CN" sz="1400" dirty="0">
                <a:solidFill>
                  <a:srgbClr val="313D51"/>
                </a:solidFill>
                <a:cs typeface="+mn-ea"/>
                <a:sym typeface="+mn-lt"/>
              </a:rPr>
              <a:t>GRADUATION DEFENSE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6" name="矩形 5"/>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3" name="矩形 2"/>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tags" Target="../tags/tag29.xml"/><Relationship Id="rId21" Type="http://schemas.openxmlformats.org/officeDocument/2006/relationships/tags" Target="../tags/tag24.xml"/><Relationship Id="rId34" Type="http://schemas.openxmlformats.org/officeDocument/2006/relationships/tags" Target="../tags/tag37.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tags" Target="../tags/tag28.xml"/><Relationship Id="rId33" Type="http://schemas.openxmlformats.org/officeDocument/2006/relationships/tags" Target="../tags/tag36.xml"/><Relationship Id="rId38" Type="http://schemas.openxmlformats.org/officeDocument/2006/relationships/image" Target="../media/image1.png"/><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29" Type="http://schemas.openxmlformats.org/officeDocument/2006/relationships/tags" Target="../tags/tag32.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tags" Target="../tags/tag27.xml"/><Relationship Id="rId32" Type="http://schemas.openxmlformats.org/officeDocument/2006/relationships/tags" Target="../tags/tag35.xml"/><Relationship Id="rId37" Type="http://schemas.openxmlformats.org/officeDocument/2006/relationships/notesSlide" Target="../notesSlides/notesSlide1.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28" Type="http://schemas.openxmlformats.org/officeDocument/2006/relationships/tags" Target="../tags/tag31.xml"/><Relationship Id="rId36" Type="http://schemas.openxmlformats.org/officeDocument/2006/relationships/slideLayout" Target="../slideLayouts/slideLayout4.xml"/><Relationship Id="rId10" Type="http://schemas.openxmlformats.org/officeDocument/2006/relationships/tags" Target="../tags/tag13.xml"/><Relationship Id="rId19" Type="http://schemas.openxmlformats.org/officeDocument/2006/relationships/tags" Target="../tags/tag22.xml"/><Relationship Id="rId31" Type="http://schemas.openxmlformats.org/officeDocument/2006/relationships/tags" Target="../tags/tag34.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 Id="rId27" Type="http://schemas.openxmlformats.org/officeDocument/2006/relationships/tags" Target="../tags/tag30.xml"/><Relationship Id="rId30" Type="http://schemas.openxmlformats.org/officeDocument/2006/relationships/tags" Target="../tags/tag33.xml"/><Relationship Id="rId35" Type="http://schemas.openxmlformats.org/officeDocument/2006/relationships/tags" Target="../tags/tag38.xml"/><Relationship Id="rId8" Type="http://schemas.openxmlformats.org/officeDocument/2006/relationships/tags" Target="../tags/tag11.xml"/><Relationship Id="rId3" Type="http://schemas.openxmlformats.org/officeDocument/2006/relationships/tags" Target="../tags/tag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image" Target="../media/image4.png"/><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3.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image" Target="../media/image2.png"/><Relationship Id="rId5" Type="http://schemas.openxmlformats.org/officeDocument/2006/relationships/tags" Target="../tags/tag43.xml"/><Relationship Id="rId10" Type="http://schemas.openxmlformats.org/officeDocument/2006/relationships/notesSlide" Target="../notesSlides/notesSlide3.xml"/><Relationship Id="rId4" Type="http://schemas.openxmlformats.org/officeDocument/2006/relationships/tags" Target="../tags/tag42.xml"/><Relationship Id="rId9"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3" Type="http://schemas.openxmlformats.org/officeDocument/2006/relationships/tags" Target="../tags/tag59.xml"/><Relationship Id="rId18" Type="http://schemas.openxmlformats.org/officeDocument/2006/relationships/tags" Target="../tags/tag64.xml"/><Relationship Id="rId26" Type="http://schemas.openxmlformats.org/officeDocument/2006/relationships/tags" Target="../tags/tag72.xml"/><Relationship Id="rId39" Type="http://schemas.openxmlformats.org/officeDocument/2006/relationships/tags" Target="../tags/tag85.xml"/><Relationship Id="rId21" Type="http://schemas.openxmlformats.org/officeDocument/2006/relationships/tags" Target="../tags/tag67.xml"/><Relationship Id="rId34" Type="http://schemas.openxmlformats.org/officeDocument/2006/relationships/tags" Target="../tags/tag80.xml"/><Relationship Id="rId42" Type="http://schemas.openxmlformats.org/officeDocument/2006/relationships/notesSlide" Target="../notesSlides/notesSlide4.xml"/><Relationship Id="rId7" Type="http://schemas.openxmlformats.org/officeDocument/2006/relationships/tags" Target="../tags/tag53.xml"/><Relationship Id="rId2" Type="http://schemas.openxmlformats.org/officeDocument/2006/relationships/tags" Target="../tags/tag48.xml"/><Relationship Id="rId16" Type="http://schemas.openxmlformats.org/officeDocument/2006/relationships/tags" Target="../tags/tag62.xml"/><Relationship Id="rId20" Type="http://schemas.openxmlformats.org/officeDocument/2006/relationships/tags" Target="../tags/tag66.xml"/><Relationship Id="rId29" Type="http://schemas.openxmlformats.org/officeDocument/2006/relationships/tags" Target="../tags/tag75.xml"/><Relationship Id="rId41" Type="http://schemas.openxmlformats.org/officeDocument/2006/relationships/slideLayout" Target="../slideLayouts/slideLayout2.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tags" Target="../tags/tag57.xml"/><Relationship Id="rId24" Type="http://schemas.openxmlformats.org/officeDocument/2006/relationships/tags" Target="../tags/tag70.xml"/><Relationship Id="rId32" Type="http://schemas.openxmlformats.org/officeDocument/2006/relationships/tags" Target="../tags/tag78.xml"/><Relationship Id="rId37" Type="http://schemas.openxmlformats.org/officeDocument/2006/relationships/tags" Target="../tags/tag83.xml"/><Relationship Id="rId40" Type="http://schemas.openxmlformats.org/officeDocument/2006/relationships/tags" Target="../tags/tag86.xml"/><Relationship Id="rId5" Type="http://schemas.openxmlformats.org/officeDocument/2006/relationships/tags" Target="../tags/tag51.xml"/><Relationship Id="rId15" Type="http://schemas.openxmlformats.org/officeDocument/2006/relationships/tags" Target="../tags/tag61.xml"/><Relationship Id="rId23" Type="http://schemas.openxmlformats.org/officeDocument/2006/relationships/tags" Target="../tags/tag69.xml"/><Relationship Id="rId28" Type="http://schemas.openxmlformats.org/officeDocument/2006/relationships/tags" Target="../tags/tag74.xml"/><Relationship Id="rId36" Type="http://schemas.openxmlformats.org/officeDocument/2006/relationships/tags" Target="../tags/tag82.xml"/><Relationship Id="rId10" Type="http://schemas.openxmlformats.org/officeDocument/2006/relationships/tags" Target="../tags/tag56.xml"/><Relationship Id="rId19" Type="http://schemas.openxmlformats.org/officeDocument/2006/relationships/tags" Target="../tags/tag65.xml"/><Relationship Id="rId31" Type="http://schemas.openxmlformats.org/officeDocument/2006/relationships/tags" Target="../tags/tag77.xml"/><Relationship Id="rId4" Type="http://schemas.openxmlformats.org/officeDocument/2006/relationships/tags" Target="../tags/tag50.xml"/><Relationship Id="rId9" Type="http://schemas.openxmlformats.org/officeDocument/2006/relationships/tags" Target="../tags/tag55.xml"/><Relationship Id="rId14" Type="http://schemas.openxmlformats.org/officeDocument/2006/relationships/tags" Target="../tags/tag60.xml"/><Relationship Id="rId22" Type="http://schemas.openxmlformats.org/officeDocument/2006/relationships/tags" Target="../tags/tag68.xml"/><Relationship Id="rId27" Type="http://schemas.openxmlformats.org/officeDocument/2006/relationships/tags" Target="../tags/tag73.xml"/><Relationship Id="rId30" Type="http://schemas.openxmlformats.org/officeDocument/2006/relationships/tags" Target="../tags/tag76.xml"/><Relationship Id="rId35" Type="http://schemas.openxmlformats.org/officeDocument/2006/relationships/tags" Target="../tags/tag81.xml"/><Relationship Id="rId43" Type="http://schemas.openxmlformats.org/officeDocument/2006/relationships/image" Target="../media/image3.png"/><Relationship Id="rId8" Type="http://schemas.openxmlformats.org/officeDocument/2006/relationships/tags" Target="../tags/tag54.xml"/><Relationship Id="rId3" Type="http://schemas.openxmlformats.org/officeDocument/2006/relationships/tags" Target="../tags/tag49.xml"/><Relationship Id="rId12" Type="http://schemas.openxmlformats.org/officeDocument/2006/relationships/tags" Target="../tags/tag58.xml"/><Relationship Id="rId17" Type="http://schemas.openxmlformats.org/officeDocument/2006/relationships/tags" Target="../tags/tag63.xml"/><Relationship Id="rId25" Type="http://schemas.openxmlformats.org/officeDocument/2006/relationships/tags" Target="../tags/tag71.xml"/><Relationship Id="rId33" Type="http://schemas.openxmlformats.org/officeDocument/2006/relationships/tags" Target="../tags/tag79.xml"/><Relationship Id="rId38" Type="http://schemas.openxmlformats.org/officeDocument/2006/relationships/tags" Target="../tags/tag8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slideLayout" Target="../slideLayouts/slideLayout2.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tags" Target="../tags/tag98.xml"/><Relationship Id="rId2" Type="http://schemas.openxmlformats.org/officeDocument/2006/relationships/tags" Target="../tags/tag88.xml"/><Relationship Id="rId16" Type="http://schemas.openxmlformats.org/officeDocument/2006/relationships/image" Target="../media/image3.png"/><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5" Type="http://schemas.openxmlformats.org/officeDocument/2006/relationships/tags" Target="../tags/tag91.xml"/><Relationship Id="rId15" Type="http://schemas.openxmlformats.org/officeDocument/2006/relationships/image" Target="../media/image6.png"/><Relationship Id="rId10" Type="http://schemas.openxmlformats.org/officeDocument/2006/relationships/tags" Target="../tags/tag96.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slideLayout" Target="../slideLayouts/slideLayout2.xml"/><Relationship Id="rId3" Type="http://schemas.openxmlformats.org/officeDocument/2006/relationships/tags" Target="../tags/tag101.xml"/><Relationship Id="rId7" Type="http://schemas.openxmlformats.org/officeDocument/2006/relationships/tags" Target="../tags/tag105.xml"/><Relationship Id="rId12" Type="http://schemas.openxmlformats.org/officeDocument/2006/relationships/tags" Target="../tags/tag110.xml"/><Relationship Id="rId2" Type="http://schemas.openxmlformats.org/officeDocument/2006/relationships/tags" Target="../tags/tag100.xml"/><Relationship Id="rId16" Type="http://schemas.openxmlformats.org/officeDocument/2006/relationships/image" Target="../media/image3.png"/><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5" Type="http://schemas.openxmlformats.org/officeDocument/2006/relationships/tags" Target="../tags/tag103.xml"/><Relationship Id="rId15" Type="http://schemas.openxmlformats.org/officeDocument/2006/relationships/image" Target="../media/image8.png"/><Relationship Id="rId10" Type="http://schemas.openxmlformats.org/officeDocument/2006/relationships/tags" Target="../tags/tag108.xml"/><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8" Type="http://schemas.openxmlformats.org/officeDocument/2006/relationships/tags" Target="../tags/tag118.xml"/><Relationship Id="rId13" Type="http://schemas.openxmlformats.org/officeDocument/2006/relationships/tags" Target="../tags/tag123.xml"/><Relationship Id="rId3" Type="http://schemas.openxmlformats.org/officeDocument/2006/relationships/tags" Target="../tags/tag113.xml"/><Relationship Id="rId7" Type="http://schemas.openxmlformats.org/officeDocument/2006/relationships/tags" Target="../tags/tag117.xml"/><Relationship Id="rId12" Type="http://schemas.openxmlformats.org/officeDocument/2006/relationships/tags" Target="../tags/tag122.xml"/><Relationship Id="rId2" Type="http://schemas.openxmlformats.org/officeDocument/2006/relationships/tags" Target="../tags/tag112.xml"/><Relationship Id="rId16" Type="http://schemas.openxmlformats.org/officeDocument/2006/relationships/image" Target="../media/image3.png"/><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tags" Target="../tags/tag121.xml"/><Relationship Id="rId5" Type="http://schemas.openxmlformats.org/officeDocument/2006/relationships/tags" Target="../tags/tag115.xml"/><Relationship Id="rId15" Type="http://schemas.openxmlformats.org/officeDocument/2006/relationships/notesSlide" Target="../notesSlides/notesSlide10.xml"/><Relationship Id="rId10" Type="http://schemas.openxmlformats.org/officeDocument/2006/relationships/tags" Target="../tags/tag120.xml"/><Relationship Id="rId4" Type="http://schemas.openxmlformats.org/officeDocument/2006/relationships/tags" Target="../tags/tag114.xml"/><Relationship Id="rId9" Type="http://schemas.openxmlformats.org/officeDocument/2006/relationships/tags" Target="../tags/tag119.xml"/><Relationship Id="rId1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131.xml"/><Relationship Id="rId13" Type="http://schemas.openxmlformats.org/officeDocument/2006/relationships/image" Target="../media/image3.png"/><Relationship Id="rId3" Type="http://schemas.openxmlformats.org/officeDocument/2006/relationships/tags" Target="../tags/tag126.xml"/><Relationship Id="rId7" Type="http://schemas.openxmlformats.org/officeDocument/2006/relationships/tags" Target="../tags/tag130.xml"/><Relationship Id="rId12" Type="http://schemas.openxmlformats.org/officeDocument/2006/relationships/notesSlide" Target="../notesSlides/notesSlide11.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slideLayout" Target="../slideLayouts/slideLayout2.xml"/><Relationship Id="rId5" Type="http://schemas.openxmlformats.org/officeDocument/2006/relationships/tags" Target="../tags/tag128.xml"/><Relationship Id="rId10" Type="http://schemas.openxmlformats.org/officeDocument/2006/relationships/tags" Target="../tags/tag133.xml"/><Relationship Id="rId4" Type="http://schemas.openxmlformats.org/officeDocument/2006/relationships/tags" Target="../tags/tag127.xml"/><Relationship Id="rId9" Type="http://schemas.openxmlformats.org/officeDocument/2006/relationships/tags" Target="../tags/tag132.xml"/><Relationship Id="rId14" Type="http://schemas.openxmlformats.org/officeDocument/2006/relationships/hyperlink" Target="#_bookmark84"/></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tags" Target="../tags/tag146.xml"/><Relationship Id="rId18" Type="http://schemas.openxmlformats.org/officeDocument/2006/relationships/tags" Target="../tags/tag151.xml"/><Relationship Id="rId26" Type="http://schemas.openxmlformats.org/officeDocument/2006/relationships/notesSlide" Target="../notesSlides/notesSlide13.xml"/><Relationship Id="rId3" Type="http://schemas.openxmlformats.org/officeDocument/2006/relationships/tags" Target="../tags/tag136.xml"/><Relationship Id="rId21" Type="http://schemas.openxmlformats.org/officeDocument/2006/relationships/tags" Target="../tags/tag154.xml"/><Relationship Id="rId7" Type="http://schemas.openxmlformats.org/officeDocument/2006/relationships/tags" Target="../tags/tag140.xml"/><Relationship Id="rId12" Type="http://schemas.openxmlformats.org/officeDocument/2006/relationships/tags" Target="../tags/tag145.xml"/><Relationship Id="rId17" Type="http://schemas.openxmlformats.org/officeDocument/2006/relationships/tags" Target="../tags/tag150.xml"/><Relationship Id="rId25" Type="http://schemas.openxmlformats.org/officeDocument/2006/relationships/slideLayout" Target="../slideLayouts/slideLayout2.xml"/><Relationship Id="rId2" Type="http://schemas.openxmlformats.org/officeDocument/2006/relationships/tags" Target="../tags/tag135.xml"/><Relationship Id="rId16" Type="http://schemas.openxmlformats.org/officeDocument/2006/relationships/tags" Target="../tags/tag149.xml"/><Relationship Id="rId20" Type="http://schemas.openxmlformats.org/officeDocument/2006/relationships/tags" Target="../tags/tag153.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24" Type="http://schemas.openxmlformats.org/officeDocument/2006/relationships/tags" Target="../tags/tag157.xml"/><Relationship Id="rId5" Type="http://schemas.openxmlformats.org/officeDocument/2006/relationships/tags" Target="../tags/tag138.xml"/><Relationship Id="rId15" Type="http://schemas.openxmlformats.org/officeDocument/2006/relationships/tags" Target="../tags/tag148.xml"/><Relationship Id="rId23" Type="http://schemas.openxmlformats.org/officeDocument/2006/relationships/tags" Target="../tags/tag156.xml"/><Relationship Id="rId10" Type="http://schemas.openxmlformats.org/officeDocument/2006/relationships/tags" Target="../tags/tag143.xml"/><Relationship Id="rId19" Type="http://schemas.openxmlformats.org/officeDocument/2006/relationships/tags" Target="../tags/tag152.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tags" Target="../tags/tag147.xml"/><Relationship Id="rId22" Type="http://schemas.openxmlformats.org/officeDocument/2006/relationships/tags" Target="../tags/tag155.xml"/><Relationship Id="rId27"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tags" Target="../tags/tag170.xml"/><Relationship Id="rId18" Type="http://schemas.openxmlformats.org/officeDocument/2006/relationships/tags" Target="../tags/tag175.xml"/><Relationship Id="rId26" Type="http://schemas.openxmlformats.org/officeDocument/2006/relationships/slideLayout" Target="../slideLayouts/slideLayout2.xml"/><Relationship Id="rId3" Type="http://schemas.openxmlformats.org/officeDocument/2006/relationships/tags" Target="../tags/tag160.xml"/><Relationship Id="rId21" Type="http://schemas.openxmlformats.org/officeDocument/2006/relationships/tags" Target="../tags/tag178.xml"/><Relationship Id="rId7" Type="http://schemas.openxmlformats.org/officeDocument/2006/relationships/tags" Target="../tags/tag164.xml"/><Relationship Id="rId12" Type="http://schemas.openxmlformats.org/officeDocument/2006/relationships/tags" Target="../tags/tag169.xml"/><Relationship Id="rId17" Type="http://schemas.openxmlformats.org/officeDocument/2006/relationships/tags" Target="../tags/tag174.xml"/><Relationship Id="rId25" Type="http://schemas.openxmlformats.org/officeDocument/2006/relationships/tags" Target="../tags/tag182.xml"/><Relationship Id="rId2" Type="http://schemas.openxmlformats.org/officeDocument/2006/relationships/tags" Target="../tags/tag159.xml"/><Relationship Id="rId16" Type="http://schemas.openxmlformats.org/officeDocument/2006/relationships/tags" Target="../tags/tag173.xml"/><Relationship Id="rId20" Type="http://schemas.openxmlformats.org/officeDocument/2006/relationships/tags" Target="../tags/tag177.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24" Type="http://schemas.openxmlformats.org/officeDocument/2006/relationships/tags" Target="../tags/tag181.xml"/><Relationship Id="rId5" Type="http://schemas.openxmlformats.org/officeDocument/2006/relationships/tags" Target="../tags/tag162.xml"/><Relationship Id="rId15" Type="http://schemas.openxmlformats.org/officeDocument/2006/relationships/tags" Target="../tags/tag172.xml"/><Relationship Id="rId23" Type="http://schemas.openxmlformats.org/officeDocument/2006/relationships/tags" Target="../tags/tag180.xml"/><Relationship Id="rId28" Type="http://schemas.openxmlformats.org/officeDocument/2006/relationships/image" Target="../media/image3.png"/><Relationship Id="rId10" Type="http://schemas.openxmlformats.org/officeDocument/2006/relationships/tags" Target="../tags/tag167.xml"/><Relationship Id="rId19" Type="http://schemas.openxmlformats.org/officeDocument/2006/relationships/tags" Target="../tags/tag176.xml"/><Relationship Id="rId4" Type="http://schemas.openxmlformats.org/officeDocument/2006/relationships/tags" Target="../tags/tag161.xml"/><Relationship Id="rId9" Type="http://schemas.openxmlformats.org/officeDocument/2006/relationships/tags" Target="../tags/tag166.xml"/><Relationship Id="rId14" Type="http://schemas.openxmlformats.org/officeDocument/2006/relationships/tags" Target="../tags/tag171.xml"/><Relationship Id="rId22" Type="http://schemas.openxmlformats.org/officeDocument/2006/relationships/tags" Target="../tags/tag179.xml"/><Relationship Id="rId27"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8" Type="http://schemas.openxmlformats.org/officeDocument/2006/relationships/tags" Target="../tags/tag190.xml"/><Relationship Id="rId13" Type="http://schemas.openxmlformats.org/officeDocument/2006/relationships/tags" Target="../tags/tag195.xml"/><Relationship Id="rId18" Type="http://schemas.openxmlformats.org/officeDocument/2006/relationships/tags" Target="../tags/tag200.xml"/><Relationship Id="rId3" Type="http://schemas.openxmlformats.org/officeDocument/2006/relationships/tags" Target="../tags/tag185.xml"/><Relationship Id="rId21" Type="http://schemas.openxmlformats.org/officeDocument/2006/relationships/image" Target="../media/image3.png"/><Relationship Id="rId7" Type="http://schemas.openxmlformats.org/officeDocument/2006/relationships/tags" Target="../tags/tag189.xml"/><Relationship Id="rId12" Type="http://schemas.openxmlformats.org/officeDocument/2006/relationships/tags" Target="../tags/tag194.xml"/><Relationship Id="rId17" Type="http://schemas.openxmlformats.org/officeDocument/2006/relationships/tags" Target="../tags/tag199.xml"/><Relationship Id="rId2" Type="http://schemas.openxmlformats.org/officeDocument/2006/relationships/tags" Target="../tags/tag184.xml"/><Relationship Id="rId16" Type="http://schemas.openxmlformats.org/officeDocument/2006/relationships/tags" Target="../tags/tag198.xml"/><Relationship Id="rId20" Type="http://schemas.openxmlformats.org/officeDocument/2006/relationships/notesSlide" Target="../notesSlides/notesSlide16.xml"/><Relationship Id="rId1" Type="http://schemas.openxmlformats.org/officeDocument/2006/relationships/tags" Target="../tags/tag183.xml"/><Relationship Id="rId6" Type="http://schemas.openxmlformats.org/officeDocument/2006/relationships/tags" Target="../tags/tag188.xml"/><Relationship Id="rId11" Type="http://schemas.openxmlformats.org/officeDocument/2006/relationships/tags" Target="../tags/tag193.xml"/><Relationship Id="rId5" Type="http://schemas.openxmlformats.org/officeDocument/2006/relationships/tags" Target="../tags/tag187.xml"/><Relationship Id="rId15" Type="http://schemas.openxmlformats.org/officeDocument/2006/relationships/tags" Target="../tags/tag197.xml"/><Relationship Id="rId10" Type="http://schemas.openxmlformats.org/officeDocument/2006/relationships/tags" Target="../tags/tag192.xml"/><Relationship Id="rId19" Type="http://schemas.openxmlformats.org/officeDocument/2006/relationships/slideLayout" Target="../slideLayouts/slideLayout2.xml"/><Relationship Id="rId4" Type="http://schemas.openxmlformats.org/officeDocument/2006/relationships/tags" Target="../tags/tag186.xml"/><Relationship Id="rId9" Type="http://schemas.openxmlformats.org/officeDocument/2006/relationships/tags" Target="../tags/tag191.xml"/><Relationship Id="rId14" Type="http://schemas.openxmlformats.org/officeDocument/2006/relationships/tags" Target="../tags/tag196.xml"/></Relationships>
</file>

<file path=ppt/slides/_rels/slide18.xml.rels><?xml version="1.0" encoding="UTF-8" standalone="yes"?>
<Relationships xmlns="http://schemas.openxmlformats.org/package/2006/relationships"><Relationship Id="rId8" Type="http://schemas.openxmlformats.org/officeDocument/2006/relationships/tags" Target="../tags/tag208.xml"/><Relationship Id="rId13" Type="http://schemas.openxmlformats.org/officeDocument/2006/relationships/tags" Target="../tags/tag213.xml"/><Relationship Id="rId18" Type="http://schemas.openxmlformats.org/officeDocument/2006/relationships/notesSlide" Target="../notesSlides/notesSlide17.xml"/><Relationship Id="rId3" Type="http://schemas.openxmlformats.org/officeDocument/2006/relationships/tags" Target="../tags/tag203.xml"/><Relationship Id="rId7" Type="http://schemas.openxmlformats.org/officeDocument/2006/relationships/tags" Target="../tags/tag207.xml"/><Relationship Id="rId12" Type="http://schemas.openxmlformats.org/officeDocument/2006/relationships/tags" Target="../tags/tag212.xml"/><Relationship Id="rId17" Type="http://schemas.openxmlformats.org/officeDocument/2006/relationships/slideLayout" Target="../slideLayouts/slideLayout2.xml"/><Relationship Id="rId2" Type="http://schemas.openxmlformats.org/officeDocument/2006/relationships/tags" Target="../tags/tag202.xml"/><Relationship Id="rId16" Type="http://schemas.openxmlformats.org/officeDocument/2006/relationships/tags" Target="../tags/tag216.xml"/><Relationship Id="rId1" Type="http://schemas.openxmlformats.org/officeDocument/2006/relationships/tags" Target="../tags/tag201.xml"/><Relationship Id="rId6" Type="http://schemas.openxmlformats.org/officeDocument/2006/relationships/tags" Target="../tags/tag206.xml"/><Relationship Id="rId11" Type="http://schemas.openxmlformats.org/officeDocument/2006/relationships/tags" Target="../tags/tag211.xml"/><Relationship Id="rId5" Type="http://schemas.openxmlformats.org/officeDocument/2006/relationships/tags" Target="../tags/tag205.xml"/><Relationship Id="rId15" Type="http://schemas.openxmlformats.org/officeDocument/2006/relationships/tags" Target="../tags/tag215.xml"/><Relationship Id="rId10" Type="http://schemas.openxmlformats.org/officeDocument/2006/relationships/tags" Target="../tags/tag210.xml"/><Relationship Id="rId19" Type="http://schemas.openxmlformats.org/officeDocument/2006/relationships/image" Target="../media/image3.png"/><Relationship Id="rId4" Type="http://schemas.openxmlformats.org/officeDocument/2006/relationships/tags" Target="../tags/tag204.xml"/><Relationship Id="rId9" Type="http://schemas.openxmlformats.org/officeDocument/2006/relationships/tags" Target="../tags/tag209.xml"/><Relationship Id="rId14" Type="http://schemas.openxmlformats.org/officeDocument/2006/relationships/tags" Target="../tags/tag214.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figshare.com/s/8e5c07d1d6d6da88439b" TargetMode="External"/><Relationship Id="rId5" Type="http://schemas.openxmlformats.org/officeDocument/2006/relationships/hyperlink" Target="https://yanjiezhao96.github.io/" TargetMode="External"/><Relationship Id="rId4" Type="http://schemas.openxmlformats.org/officeDocument/2006/relationships/hyperlink" Target="https://github.com/ZERO-A-ON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3" name="矩形 2"/>
          <p:cNvSpPr/>
          <p:nvPr/>
        </p:nvSpPr>
        <p:spPr>
          <a:xfrm>
            <a:off x="2160496" y="1465866"/>
            <a:ext cx="7871010" cy="393208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矩形 3"/>
          <p:cNvSpPr/>
          <p:nvPr/>
        </p:nvSpPr>
        <p:spPr>
          <a:xfrm>
            <a:off x="2429435" y="1711367"/>
            <a:ext cx="7333130" cy="3441085"/>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p:cNvSpPr txBox="1"/>
          <p:nvPr/>
        </p:nvSpPr>
        <p:spPr>
          <a:xfrm>
            <a:off x="2569302" y="2609419"/>
            <a:ext cx="7053116" cy="1076325"/>
          </a:xfrm>
          <a:prstGeom prst="rect">
            <a:avLst/>
          </a:prstGeom>
          <a:noFill/>
        </p:spPr>
        <p:txBody>
          <a:bodyPr wrap="square" rtlCol="0">
            <a:spAutoFit/>
            <a:scene3d>
              <a:camera prst="orthographicFront"/>
              <a:lightRig rig="threePt" dir="t"/>
            </a:scene3d>
            <a:sp3d contourW="12700"/>
          </a:bodyPr>
          <a:lstStyle/>
          <a:p>
            <a:pPr algn="ctr">
              <a:defRPr/>
            </a:pPr>
            <a:r>
              <a:rPr lang="en-US" altLang="zh-CN"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OpenHarmony</a:t>
            </a:r>
            <a:r>
              <a:rPr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污点分析领域调研与</a:t>
            </a:r>
            <a:r>
              <a:rPr lang="en-US" altLang="zh-CN"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HapFlow</a:t>
            </a:r>
            <a:r>
              <a:rPr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项目选择开题报告</a:t>
            </a:r>
          </a:p>
        </p:txBody>
      </p:sp>
      <p:sp>
        <p:nvSpPr>
          <p:cNvPr id="6" name="PA_圆角矩形 31"/>
          <p:cNvSpPr/>
          <p:nvPr>
            <p:custDataLst>
              <p:tags r:id="rId1"/>
            </p:custDataLst>
          </p:nvPr>
        </p:nvSpPr>
        <p:spPr>
          <a:xfrm>
            <a:off x="5385590" y="4537102"/>
            <a:ext cx="1421591" cy="23290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65" dirty="0">
                <a:solidFill>
                  <a:srgbClr val="223762"/>
                </a:solidFill>
                <a:latin typeface="思源黑体" panose="020B0500000000000000" pitchFamily="34" charset="-122"/>
                <a:ea typeface="思源黑体" panose="020B0500000000000000" pitchFamily="34" charset="-122"/>
              </a:rPr>
              <a:t>汇报人：王晶晶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0" y="104"/>
            <a:ext cx="12192000" cy="6852181"/>
          </a:xfrm>
          <a:prstGeom prst="rect">
            <a:avLst/>
          </a:prstGeom>
        </p:spPr>
      </p:pic>
      <p:sp>
        <p:nvSpPr>
          <p:cNvPr id="54" name="矩形 53"/>
          <p:cNvSpPr/>
          <p:nvPr/>
        </p:nvSpPr>
        <p:spPr>
          <a:xfrm>
            <a:off x="2997200" y="489938"/>
            <a:ext cx="8780616" cy="6017293"/>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26" name="组合 25"/>
          <p:cNvGrpSpPr/>
          <p:nvPr/>
        </p:nvGrpSpPr>
        <p:grpSpPr>
          <a:xfrm>
            <a:off x="1129619" y="1228068"/>
            <a:ext cx="3045965" cy="1575682"/>
            <a:chOff x="944370" y="632414"/>
            <a:chExt cx="2981065" cy="1542110"/>
          </a:xfrm>
        </p:grpSpPr>
        <p:sp>
          <p:nvSpPr>
            <p:cNvPr id="24" name="矩形 23"/>
            <p:cNvSpPr/>
            <p:nvPr/>
          </p:nvSpPr>
          <p:spPr>
            <a:xfrm>
              <a:off x="1065396" y="632414"/>
              <a:ext cx="2860039" cy="1542110"/>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5" name="矩形 24"/>
            <p:cNvSpPr/>
            <p:nvPr/>
          </p:nvSpPr>
          <p:spPr>
            <a:xfrm>
              <a:off x="1194797" y="749939"/>
              <a:ext cx="2601237" cy="1307060"/>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1" name="文本框 20"/>
            <p:cNvSpPr txBox="1"/>
            <p:nvPr/>
          </p:nvSpPr>
          <p:spPr>
            <a:xfrm>
              <a:off x="944370" y="1388963"/>
              <a:ext cx="2792383" cy="612542"/>
            </a:xfrm>
            <a:prstGeom prst="rect">
              <a:avLst/>
            </a:prstGeom>
            <a:noFill/>
          </p:spPr>
          <p:txBody>
            <a:bodyPr wrap="square" rtlCol="0">
              <a:spAutoFit/>
              <a:scene3d>
                <a:camera prst="orthographicFront"/>
                <a:lightRig rig="threePt" dir="t"/>
              </a:scene3d>
              <a:sp3d contourW="12700"/>
            </a:bodyPr>
            <a:lstStyle/>
            <a:p>
              <a:pPr algn="r">
                <a:defRPr/>
              </a:pPr>
              <a:r>
                <a:rPr lang="en-US" altLang="zh-CN" sz="3465" dirty="0">
                  <a:solidFill>
                    <a:schemeClr val="bg1"/>
                  </a:solidFill>
                  <a:latin typeface="思源黑体" panose="020B0500000000000000" pitchFamily="34" charset="-122"/>
                  <a:ea typeface="思源黑体" panose="020B0500000000000000" pitchFamily="34" charset="-122"/>
                </a:rPr>
                <a:t>CONTENT</a:t>
              </a:r>
              <a:endParaRPr lang="zh-CN" altLang="en-US" sz="3465" dirty="0">
                <a:solidFill>
                  <a:schemeClr val="bg1"/>
                </a:solidFill>
                <a:latin typeface="思源黑体" panose="020B0500000000000000" pitchFamily="34" charset="-122"/>
                <a:ea typeface="思源黑体" panose="020B0500000000000000" pitchFamily="34" charset="-122"/>
              </a:endParaRPr>
            </a:p>
          </p:txBody>
        </p:sp>
        <p:sp>
          <p:nvSpPr>
            <p:cNvPr id="32" name="文本框 31"/>
            <p:cNvSpPr txBox="1"/>
            <p:nvPr/>
          </p:nvSpPr>
          <p:spPr>
            <a:xfrm>
              <a:off x="2229307" y="849517"/>
              <a:ext cx="1490820" cy="652579"/>
            </a:xfrm>
            <a:prstGeom prst="rect">
              <a:avLst/>
            </a:prstGeom>
            <a:noFill/>
          </p:spPr>
          <p:txBody>
            <a:bodyPr wrap="square" rtlCol="0">
              <a:spAutoFit/>
              <a:scene3d>
                <a:camera prst="orthographicFront"/>
                <a:lightRig rig="threePt" dir="t"/>
              </a:scene3d>
              <a:sp3d contourW="12700"/>
            </a:bodyPr>
            <a:lstStyle/>
            <a:p>
              <a:pPr algn="r">
                <a:defRPr/>
              </a:pPr>
              <a:r>
                <a:rPr lang="zh-CN" altLang="en-US" sz="3735" b="1" dirty="0">
                  <a:solidFill>
                    <a:schemeClr val="bg1"/>
                  </a:solidFill>
                  <a:latin typeface="思源黑体" panose="020B0500000000000000" pitchFamily="34" charset="-122"/>
                  <a:ea typeface="思源黑体" panose="020B0500000000000000" pitchFamily="34" charset="-122"/>
                </a:rPr>
                <a:t>目 录</a:t>
              </a:r>
            </a:p>
          </p:txBody>
        </p:sp>
        <p:cxnSp>
          <p:nvCxnSpPr>
            <p:cNvPr id="34" name="直接连接符 33"/>
            <p:cNvCxnSpPr/>
            <p:nvPr/>
          </p:nvCxnSpPr>
          <p:spPr>
            <a:xfrm rot="16200000" flipV="1">
              <a:off x="2113755" y="1100764"/>
              <a:ext cx="313392" cy="1891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custDataLst>
              <p:tags r:id="rId1"/>
            </p:custDataLst>
          </p:nvPr>
        </p:nvGrpSpPr>
        <p:grpSpPr>
          <a:xfrm>
            <a:off x="5714354" y="1664538"/>
            <a:ext cx="5360670" cy="576262"/>
            <a:chOff x="5714354" y="1664538"/>
            <a:chExt cx="5360670" cy="576262"/>
          </a:xfrm>
        </p:grpSpPr>
        <p:grpSp>
          <p:nvGrpSpPr>
            <p:cNvPr id="37" name="组合 36"/>
            <p:cNvGrpSpPr/>
            <p:nvPr/>
          </p:nvGrpSpPr>
          <p:grpSpPr>
            <a:xfrm>
              <a:off x="5714354" y="1664538"/>
              <a:ext cx="5360670" cy="576262"/>
              <a:chOff x="4753236" y="2069839"/>
              <a:chExt cx="5360670" cy="576262"/>
            </a:xfrm>
          </p:grpSpPr>
          <p:grpSp>
            <p:nvGrpSpPr>
              <p:cNvPr id="52" name="组合 21"/>
              <p:cNvGrpSpPr/>
              <p:nvPr/>
            </p:nvGrpSpPr>
            <p:grpSpPr bwMode="auto">
              <a:xfrm>
                <a:off x="4753236" y="2069839"/>
                <a:ext cx="576262" cy="576262"/>
                <a:chOff x="6170389" y="2579551"/>
                <a:chExt cx="576064" cy="576064"/>
              </a:xfrm>
            </p:grpSpPr>
            <p:sp>
              <p:nvSpPr>
                <p:cNvPr id="57" name="圆角矩形 10"/>
                <p:cNvSpPr>
                  <a:spLocks noChangeArrowheads="1"/>
                </p:cNvSpPr>
                <p:nvPr>
                  <p:custDataLst>
                    <p:tags r:id="rId34"/>
                  </p:custDataLst>
                </p:nvPr>
              </p:nvSpPr>
              <p:spPr bwMode="auto">
                <a:xfrm>
                  <a:off x="6170389" y="2579551"/>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58" name="Freeform 27"/>
                <p:cNvSpPr>
                  <a:spLocks noEditPoints="1"/>
                </p:cNvSpPr>
                <p:nvPr>
                  <p:custDataLst>
                    <p:tags r:id="rId35"/>
                  </p:custDataLst>
                </p:nvPr>
              </p:nvSpPr>
              <p:spPr bwMode="auto">
                <a:xfrm>
                  <a:off x="6344742" y="2711328"/>
                  <a:ext cx="312142" cy="334857"/>
                </a:xfrm>
                <a:custGeom>
                  <a:avLst/>
                  <a:gdLst>
                    <a:gd name="T0" fmla="*/ 2147483646 w 812"/>
                    <a:gd name="T1" fmla="*/ 0 h 858"/>
                    <a:gd name="T2" fmla="*/ 2147483646 w 812"/>
                    <a:gd name="T3" fmla="*/ 2147483646 h 858"/>
                    <a:gd name="T4" fmla="*/ 2147483646 w 812"/>
                    <a:gd name="T5" fmla="*/ 2147483646 h 858"/>
                    <a:gd name="T6" fmla="*/ 2147483646 w 812"/>
                    <a:gd name="T7" fmla="*/ 2147483646 h 858"/>
                    <a:gd name="T8" fmla="*/ 2147483646 w 812"/>
                    <a:gd name="T9" fmla="*/ 2147483646 h 858"/>
                    <a:gd name="T10" fmla="*/ 2147483646 w 812"/>
                    <a:gd name="T11" fmla="*/ 2147483646 h 858"/>
                    <a:gd name="T12" fmla="*/ 2147483646 w 812"/>
                    <a:gd name="T13" fmla="*/ 2147483646 h 858"/>
                    <a:gd name="T14" fmla="*/ 2147483646 w 812"/>
                    <a:gd name="T15" fmla="*/ 2147483646 h 858"/>
                    <a:gd name="T16" fmla="*/ 0 w 812"/>
                    <a:gd name="T17" fmla="*/ 2147483646 h 858"/>
                    <a:gd name="T18" fmla="*/ 2147483646 w 812"/>
                    <a:gd name="T19" fmla="*/ 2147483646 h 858"/>
                    <a:gd name="T20" fmla="*/ 2147483646 w 812"/>
                    <a:gd name="T21" fmla="*/ 2147483646 h 858"/>
                    <a:gd name="T22" fmla="*/ 2147483646 w 812"/>
                    <a:gd name="T23" fmla="*/ 2147483646 h 858"/>
                    <a:gd name="T24" fmla="*/ 2147483646 w 812"/>
                    <a:gd name="T25" fmla="*/ 2147483646 h 858"/>
                    <a:gd name="T26" fmla="*/ 2147483646 w 812"/>
                    <a:gd name="T27" fmla="*/ 2147483646 h 858"/>
                    <a:gd name="T28" fmla="*/ 2147483646 w 812"/>
                    <a:gd name="T29" fmla="*/ 2147483646 h 858"/>
                    <a:gd name="T30" fmla="*/ 2147483646 w 812"/>
                    <a:gd name="T31" fmla="*/ 2147483646 h 858"/>
                    <a:gd name="T32" fmla="*/ 2147483646 w 812"/>
                    <a:gd name="T33" fmla="*/ 2147483646 h 858"/>
                    <a:gd name="T34" fmla="*/ 2147483646 w 812"/>
                    <a:gd name="T35" fmla="*/ 2147483646 h 858"/>
                    <a:gd name="T36" fmla="*/ 2147483646 w 812"/>
                    <a:gd name="T37" fmla="*/ 2147483646 h 858"/>
                    <a:gd name="T38" fmla="*/ 2147483646 w 812"/>
                    <a:gd name="T39" fmla="*/ 2147483646 h 858"/>
                    <a:gd name="T40" fmla="*/ 2147483646 w 812"/>
                    <a:gd name="T41" fmla="*/ 2147483646 h 858"/>
                    <a:gd name="T42" fmla="*/ 2147483646 w 812"/>
                    <a:gd name="T43" fmla="*/ 2147483646 h 858"/>
                    <a:gd name="T44" fmla="*/ 2147483646 w 812"/>
                    <a:gd name="T45" fmla="*/ 2147483646 h 858"/>
                    <a:gd name="T46" fmla="*/ 2147483646 w 812"/>
                    <a:gd name="T47" fmla="*/ 2147483646 h 858"/>
                    <a:gd name="T48" fmla="*/ 2147483646 w 812"/>
                    <a:gd name="T49" fmla="*/ 2147483646 h 858"/>
                    <a:gd name="T50" fmla="*/ 2147483646 w 812"/>
                    <a:gd name="T51" fmla="*/ 2147483646 h 858"/>
                    <a:gd name="T52" fmla="*/ 2147483646 w 812"/>
                    <a:gd name="T53" fmla="*/ 2147483646 h 858"/>
                    <a:gd name="T54" fmla="*/ 2147483646 w 812"/>
                    <a:gd name="T55" fmla="*/ 2147483646 h 858"/>
                    <a:gd name="T56" fmla="*/ 2147483646 w 812"/>
                    <a:gd name="T57" fmla="*/ 2147483646 h 858"/>
                    <a:gd name="T58" fmla="*/ 2147483646 w 812"/>
                    <a:gd name="T59" fmla="*/ 2147483646 h 858"/>
                    <a:gd name="T60" fmla="*/ 2147483646 w 812"/>
                    <a:gd name="T61" fmla="*/ 2147483646 h 858"/>
                    <a:gd name="T62" fmla="*/ 2147483646 w 812"/>
                    <a:gd name="T63" fmla="*/ 2147483646 h 858"/>
                    <a:gd name="T64" fmla="*/ 2147483646 w 812"/>
                    <a:gd name="T65" fmla="*/ 2147483646 h 858"/>
                    <a:gd name="T66" fmla="*/ 2147483646 w 812"/>
                    <a:gd name="T67" fmla="*/ 2147483646 h 858"/>
                    <a:gd name="T68" fmla="*/ 2147483646 w 812"/>
                    <a:gd name="T69" fmla="*/ 2147483646 h 8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812" h="858">
                      <a:moveTo>
                        <a:pt x="179" y="0"/>
                      </a:moveTo>
                      <a:lnTo>
                        <a:pt x="507" y="0"/>
                      </a:lnTo>
                      <a:cubicBezTo>
                        <a:pt x="569" y="0"/>
                        <a:pt x="620" y="51"/>
                        <a:pt x="620" y="113"/>
                      </a:cubicBezTo>
                      <a:lnTo>
                        <a:pt x="620" y="264"/>
                      </a:lnTo>
                      <a:cubicBezTo>
                        <a:pt x="584" y="292"/>
                        <a:pt x="563" y="318"/>
                        <a:pt x="535" y="356"/>
                      </a:cubicBezTo>
                      <a:lnTo>
                        <a:pt x="535" y="113"/>
                      </a:lnTo>
                      <a:cubicBezTo>
                        <a:pt x="535" y="98"/>
                        <a:pt x="522" y="85"/>
                        <a:pt x="507" y="85"/>
                      </a:cubicBezTo>
                      <a:lnTo>
                        <a:pt x="247" y="85"/>
                      </a:lnTo>
                      <a:lnTo>
                        <a:pt x="247" y="204"/>
                      </a:lnTo>
                      <a:cubicBezTo>
                        <a:pt x="247" y="216"/>
                        <a:pt x="237" y="226"/>
                        <a:pt x="225" y="226"/>
                      </a:cubicBezTo>
                      <a:lnTo>
                        <a:pt x="86" y="226"/>
                      </a:lnTo>
                      <a:lnTo>
                        <a:pt x="86" y="643"/>
                      </a:lnTo>
                      <a:cubicBezTo>
                        <a:pt x="86" y="658"/>
                        <a:pt x="98" y="670"/>
                        <a:pt x="113" y="670"/>
                      </a:cubicBezTo>
                      <a:lnTo>
                        <a:pt x="375" y="670"/>
                      </a:lnTo>
                      <a:cubicBezTo>
                        <a:pt x="366" y="699"/>
                        <a:pt x="358" y="727"/>
                        <a:pt x="353" y="756"/>
                      </a:cubicBezTo>
                      <a:lnTo>
                        <a:pt x="113" y="756"/>
                      </a:lnTo>
                      <a:cubicBezTo>
                        <a:pt x="51" y="756"/>
                        <a:pt x="0" y="705"/>
                        <a:pt x="0" y="643"/>
                      </a:cubicBezTo>
                      <a:lnTo>
                        <a:pt x="0" y="178"/>
                      </a:lnTo>
                      <a:lnTo>
                        <a:pt x="179" y="0"/>
                      </a:lnTo>
                      <a:close/>
                      <a:moveTo>
                        <a:pt x="721" y="277"/>
                      </a:moveTo>
                      <a:cubicBezTo>
                        <a:pt x="733" y="283"/>
                        <a:pt x="740" y="295"/>
                        <a:pt x="743" y="310"/>
                      </a:cubicBezTo>
                      <a:cubicBezTo>
                        <a:pt x="765" y="316"/>
                        <a:pt x="786" y="330"/>
                        <a:pt x="802" y="358"/>
                      </a:cubicBezTo>
                      <a:cubicBezTo>
                        <a:pt x="812" y="382"/>
                        <a:pt x="808" y="417"/>
                        <a:pt x="794" y="442"/>
                      </a:cubicBezTo>
                      <a:cubicBezTo>
                        <a:pt x="770" y="487"/>
                        <a:pt x="736" y="543"/>
                        <a:pt x="707" y="588"/>
                      </a:cubicBezTo>
                      <a:cubicBezTo>
                        <a:pt x="688" y="595"/>
                        <a:pt x="692" y="556"/>
                        <a:pt x="699" y="546"/>
                      </a:cubicBezTo>
                      <a:cubicBezTo>
                        <a:pt x="723" y="510"/>
                        <a:pt x="743" y="477"/>
                        <a:pt x="762" y="413"/>
                      </a:cubicBezTo>
                      <a:cubicBezTo>
                        <a:pt x="766" y="382"/>
                        <a:pt x="752" y="368"/>
                        <a:pt x="743" y="355"/>
                      </a:cubicBezTo>
                      <a:cubicBezTo>
                        <a:pt x="742" y="358"/>
                        <a:pt x="742" y="360"/>
                        <a:pt x="741" y="363"/>
                      </a:cubicBezTo>
                      <a:cubicBezTo>
                        <a:pt x="723" y="355"/>
                        <a:pt x="706" y="346"/>
                        <a:pt x="688" y="337"/>
                      </a:cubicBezTo>
                      <a:cubicBezTo>
                        <a:pt x="670" y="327"/>
                        <a:pt x="653" y="314"/>
                        <a:pt x="636" y="302"/>
                      </a:cubicBezTo>
                      <a:cubicBezTo>
                        <a:pt x="669" y="274"/>
                        <a:pt x="698" y="264"/>
                        <a:pt x="721" y="277"/>
                      </a:cubicBezTo>
                      <a:close/>
                      <a:moveTo>
                        <a:pt x="734" y="395"/>
                      </a:moveTo>
                      <a:cubicBezTo>
                        <a:pt x="719" y="445"/>
                        <a:pt x="690" y="508"/>
                        <a:pt x="649" y="579"/>
                      </a:cubicBezTo>
                      <a:cubicBezTo>
                        <a:pt x="628" y="615"/>
                        <a:pt x="604" y="650"/>
                        <a:pt x="580" y="681"/>
                      </a:cubicBezTo>
                      <a:cubicBezTo>
                        <a:pt x="557" y="670"/>
                        <a:pt x="535" y="658"/>
                        <a:pt x="512" y="646"/>
                      </a:cubicBezTo>
                      <a:cubicBezTo>
                        <a:pt x="488" y="633"/>
                        <a:pt x="465" y="617"/>
                        <a:pt x="442" y="601"/>
                      </a:cubicBezTo>
                      <a:cubicBezTo>
                        <a:pt x="457" y="565"/>
                        <a:pt x="475" y="527"/>
                        <a:pt x="496" y="491"/>
                      </a:cubicBezTo>
                      <a:cubicBezTo>
                        <a:pt x="536" y="420"/>
                        <a:pt x="576" y="363"/>
                        <a:pt x="612" y="325"/>
                      </a:cubicBezTo>
                      <a:cubicBezTo>
                        <a:pt x="631" y="338"/>
                        <a:pt x="650" y="351"/>
                        <a:pt x="671" y="363"/>
                      </a:cubicBezTo>
                      <a:cubicBezTo>
                        <a:pt x="691" y="375"/>
                        <a:pt x="712" y="384"/>
                        <a:pt x="734" y="395"/>
                      </a:cubicBezTo>
                      <a:close/>
                      <a:moveTo>
                        <a:pt x="560" y="707"/>
                      </a:moveTo>
                      <a:cubicBezTo>
                        <a:pt x="486" y="797"/>
                        <a:pt x="410" y="858"/>
                        <a:pt x="392" y="848"/>
                      </a:cubicBezTo>
                      <a:cubicBezTo>
                        <a:pt x="375" y="838"/>
                        <a:pt x="389" y="742"/>
                        <a:pt x="430" y="632"/>
                      </a:cubicBezTo>
                      <a:cubicBezTo>
                        <a:pt x="451" y="645"/>
                        <a:pt x="472" y="659"/>
                        <a:pt x="494" y="672"/>
                      </a:cubicBezTo>
                      <a:cubicBezTo>
                        <a:pt x="516" y="685"/>
                        <a:pt x="538" y="695"/>
                        <a:pt x="560" y="707"/>
                      </a:cubicBezTo>
                      <a:close/>
                      <a:moveTo>
                        <a:pt x="294" y="149"/>
                      </a:moveTo>
                      <a:lnTo>
                        <a:pt x="482" y="149"/>
                      </a:lnTo>
                      <a:lnTo>
                        <a:pt x="482" y="193"/>
                      </a:lnTo>
                      <a:lnTo>
                        <a:pt x="294" y="193"/>
                      </a:lnTo>
                      <a:lnTo>
                        <a:pt x="294" y="149"/>
                      </a:lnTo>
                      <a:close/>
                      <a:moveTo>
                        <a:pt x="148" y="437"/>
                      </a:moveTo>
                      <a:lnTo>
                        <a:pt x="258" y="437"/>
                      </a:lnTo>
                      <a:lnTo>
                        <a:pt x="258" y="480"/>
                      </a:lnTo>
                      <a:lnTo>
                        <a:pt x="148" y="480"/>
                      </a:lnTo>
                      <a:lnTo>
                        <a:pt x="148" y="437"/>
                      </a:lnTo>
                      <a:close/>
                      <a:moveTo>
                        <a:pt x="148" y="337"/>
                      </a:moveTo>
                      <a:lnTo>
                        <a:pt x="482" y="337"/>
                      </a:lnTo>
                      <a:lnTo>
                        <a:pt x="482" y="381"/>
                      </a:lnTo>
                      <a:lnTo>
                        <a:pt x="148" y="381"/>
                      </a:lnTo>
                      <a:lnTo>
                        <a:pt x="148" y="337"/>
                      </a:lnTo>
                      <a:close/>
                      <a:moveTo>
                        <a:pt x="148" y="245"/>
                      </a:moveTo>
                      <a:lnTo>
                        <a:pt x="482" y="245"/>
                      </a:lnTo>
                      <a:lnTo>
                        <a:pt x="482" y="288"/>
                      </a:lnTo>
                      <a:lnTo>
                        <a:pt x="148" y="288"/>
                      </a:lnTo>
                      <a:lnTo>
                        <a:pt x="148" y="245"/>
                      </a:lnTo>
                      <a:close/>
                      <a:moveTo>
                        <a:pt x="111" y="187"/>
                      </a:moveTo>
                      <a:lnTo>
                        <a:pt x="193" y="187"/>
                      </a:lnTo>
                      <a:cubicBezTo>
                        <a:pt x="201" y="187"/>
                        <a:pt x="208" y="181"/>
                        <a:pt x="208" y="173"/>
                      </a:cubicBezTo>
                      <a:lnTo>
                        <a:pt x="208" y="91"/>
                      </a:lnTo>
                      <a:lnTo>
                        <a:pt x="111" y="18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55" name="Rectangle 14"/>
              <p:cNvSpPr>
                <a:spLocks noChangeArrowheads="1"/>
              </p:cNvSpPr>
              <p:nvPr>
                <p:custDataLst>
                  <p:tags r:id="rId32"/>
                </p:custDataLst>
              </p:nvPr>
            </p:nvSpPr>
            <p:spPr bwMode="auto">
              <a:xfrm>
                <a:off x="5581874" y="2234939"/>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1</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56" name="TextBox 59"/>
              <p:cNvSpPr txBox="1">
                <a:spLocks noChangeArrowheads="1"/>
              </p:cNvSpPr>
              <p:nvPr>
                <p:custDataLst>
                  <p:tags r:id="rId33"/>
                </p:custDataLst>
              </p:nvPr>
            </p:nvSpPr>
            <p:spPr bwMode="auto">
              <a:xfrm>
                <a:off x="6422651" y="2295264"/>
                <a:ext cx="369125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en-US" altLang="zh-CN" sz="1400" b="1" dirty="0">
                    <a:solidFill>
                      <a:srgbClr val="313D51"/>
                    </a:solidFill>
                    <a:latin typeface="微软雅黑" panose="020B0503020204020204" pitchFamily="34" charset="-122"/>
                    <a:cs typeface="微软雅黑" panose="020B0503020204020204" pitchFamily="34" charset="-122"/>
                  </a:rPr>
                  <a:t>OpenHarmony </a:t>
                </a:r>
                <a:r>
                  <a:rPr lang="zh-CN" altLang="en-US" sz="1400" b="1" dirty="0">
                    <a:solidFill>
                      <a:srgbClr val="313D51"/>
                    </a:solidFill>
                    <a:latin typeface="微软雅黑" panose="020B0503020204020204" pitchFamily="34" charset="-122"/>
                    <a:cs typeface="微软雅黑" panose="020B0503020204020204" pitchFamily="34" charset="-122"/>
                  </a:rPr>
                  <a:t>安全分析的研究意义</a:t>
                </a:r>
              </a:p>
            </p:txBody>
          </p:sp>
        </p:grpSp>
        <p:grpSp>
          <p:nvGrpSpPr>
            <p:cNvPr id="38" name="组合 37"/>
            <p:cNvGrpSpPr/>
            <p:nvPr/>
          </p:nvGrpSpPr>
          <p:grpSpPr>
            <a:xfrm flipH="1">
              <a:off x="6433491" y="2147214"/>
              <a:ext cx="4171535" cy="80892"/>
              <a:chOff x="2272062" y="2596259"/>
              <a:chExt cx="4173708" cy="80934"/>
            </a:xfrm>
          </p:grpSpPr>
          <p:cxnSp>
            <p:nvCxnSpPr>
              <p:cNvPr id="39" name="直接连接符 38"/>
              <p:cNvCxnSpPr/>
              <p:nvPr>
                <p:custDataLst>
                  <p:tags r:id="rId30"/>
                </p:custDataLst>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51" name="矩形 50"/>
              <p:cNvSpPr/>
              <p:nvPr>
                <p:custDataLst>
                  <p:tags r:id="rId31"/>
                </p:custDataLst>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59" name="组合 58"/>
          <p:cNvGrpSpPr/>
          <p:nvPr>
            <p:custDataLst>
              <p:tags r:id="rId2"/>
            </p:custDataLst>
          </p:nvPr>
        </p:nvGrpSpPr>
        <p:grpSpPr>
          <a:xfrm>
            <a:off x="5714354" y="2522443"/>
            <a:ext cx="4890672" cy="576263"/>
            <a:chOff x="5714354" y="2522443"/>
            <a:chExt cx="4890672" cy="576263"/>
          </a:xfrm>
        </p:grpSpPr>
        <p:grpSp>
          <p:nvGrpSpPr>
            <p:cNvPr id="60" name="组合 59"/>
            <p:cNvGrpSpPr/>
            <p:nvPr/>
          </p:nvGrpSpPr>
          <p:grpSpPr>
            <a:xfrm>
              <a:off x="5714354" y="2522443"/>
              <a:ext cx="4085590" cy="576263"/>
              <a:chOff x="4753236" y="2862001"/>
              <a:chExt cx="4085590" cy="576263"/>
            </a:xfrm>
          </p:grpSpPr>
          <p:grpSp>
            <p:nvGrpSpPr>
              <p:cNvPr id="64" name="组合 22"/>
              <p:cNvGrpSpPr/>
              <p:nvPr/>
            </p:nvGrpSpPr>
            <p:grpSpPr bwMode="auto">
              <a:xfrm>
                <a:off x="4753236" y="2862001"/>
                <a:ext cx="576262" cy="576263"/>
                <a:chOff x="6170389" y="3371639"/>
                <a:chExt cx="576064" cy="576064"/>
              </a:xfrm>
            </p:grpSpPr>
            <p:sp>
              <p:nvSpPr>
                <p:cNvPr id="67" name="圆角矩形 11"/>
                <p:cNvSpPr>
                  <a:spLocks noChangeArrowheads="1"/>
                </p:cNvSpPr>
                <p:nvPr>
                  <p:custDataLst>
                    <p:tags r:id="rId28"/>
                  </p:custDataLst>
                </p:nvPr>
              </p:nvSpPr>
              <p:spPr bwMode="auto">
                <a:xfrm>
                  <a:off x="6170389" y="3371639"/>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68" name="Freeform 13"/>
                <p:cNvSpPr>
                  <a:spLocks noEditPoints="1"/>
                </p:cNvSpPr>
                <p:nvPr>
                  <p:custDataLst>
                    <p:tags r:id="rId29"/>
                  </p:custDataLst>
                </p:nvPr>
              </p:nvSpPr>
              <p:spPr bwMode="auto">
                <a:xfrm>
                  <a:off x="6293383" y="3504805"/>
                  <a:ext cx="330076" cy="309733"/>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65" name="Rectangle 14"/>
              <p:cNvSpPr>
                <a:spLocks noChangeArrowheads="1"/>
              </p:cNvSpPr>
              <p:nvPr>
                <p:custDataLst>
                  <p:tags r:id="rId26"/>
                </p:custDataLst>
              </p:nvPr>
            </p:nvSpPr>
            <p:spPr bwMode="auto">
              <a:xfrm>
                <a:off x="5581874" y="3017576"/>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a:t>
                </a:r>
                <a:r>
                  <a:rPr lang="en-US" altLang="zh-CN" sz="1600" b="1" dirty="0">
                    <a:solidFill>
                      <a:srgbClr val="313D51"/>
                    </a:solidFill>
                    <a:latin typeface="思源黑体" panose="020B0500000000000000" pitchFamily="34" charset="-122"/>
                    <a:ea typeface="思源黑体" panose="020B0500000000000000" pitchFamily="34" charset="-122"/>
                  </a:rPr>
                  <a:t>2</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66" name="TextBox 59"/>
              <p:cNvSpPr txBox="1">
                <a:spLocks noChangeArrowheads="1"/>
              </p:cNvSpPr>
              <p:nvPr>
                <p:custDataLst>
                  <p:tags r:id="rId27"/>
                </p:custDataLst>
              </p:nvPr>
            </p:nvSpPr>
            <p:spPr bwMode="auto">
              <a:xfrm>
                <a:off x="6422651" y="3079171"/>
                <a:ext cx="24161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400" b="1" dirty="0">
                    <a:solidFill>
                      <a:srgbClr val="313D51"/>
                    </a:solidFill>
                    <a:latin typeface="微软雅黑" panose="020B0503020204020204" pitchFamily="34" charset="-122"/>
                  </a:rPr>
                  <a:t>相关现状调研</a:t>
                </a:r>
              </a:p>
            </p:txBody>
          </p:sp>
        </p:grpSp>
        <p:grpSp>
          <p:nvGrpSpPr>
            <p:cNvPr id="61" name="组合 60"/>
            <p:cNvGrpSpPr/>
            <p:nvPr/>
          </p:nvGrpSpPr>
          <p:grpSpPr>
            <a:xfrm flipH="1">
              <a:off x="6433491" y="3012031"/>
              <a:ext cx="4171535" cy="80892"/>
              <a:chOff x="2272062" y="2596259"/>
              <a:chExt cx="4173708" cy="80934"/>
            </a:xfrm>
          </p:grpSpPr>
          <p:cxnSp>
            <p:nvCxnSpPr>
              <p:cNvPr id="62" name="直接连接符 61"/>
              <p:cNvCxnSpPr/>
              <p:nvPr>
                <p:custDataLst>
                  <p:tags r:id="rId24"/>
                </p:custDataLst>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63" name="矩形 62"/>
              <p:cNvSpPr/>
              <p:nvPr>
                <p:custDataLst>
                  <p:tags r:id="rId25"/>
                </p:custDataLst>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69" name="组合 68"/>
          <p:cNvGrpSpPr/>
          <p:nvPr>
            <p:custDataLst>
              <p:tags r:id="rId3"/>
            </p:custDataLst>
          </p:nvPr>
        </p:nvGrpSpPr>
        <p:grpSpPr>
          <a:xfrm>
            <a:off x="5714354" y="3382138"/>
            <a:ext cx="5234305" cy="576262"/>
            <a:chOff x="5714354" y="3382138"/>
            <a:chExt cx="5234305" cy="576262"/>
          </a:xfrm>
        </p:grpSpPr>
        <p:grpSp>
          <p:nvGrpSpPr>
            <p:cNvPr id="70" name="组合 69"/>
            <p:cNvGrpSpPr/>
            <p:nvPr/>
          </p:nvGrpSpPr>
          <p:grpSpPr>
            <a:xfrm>
              <a:off x="5714354" y="3382138"/>
              <a:ext cx="5234305" cy="576262"/>
              <a:chOff x="4753236" y="3654164"/>
              <a:chExt cx="5234305" cy="576262"/>
            </a:xfrm>
          </p:grpSpPr>
          <p:grpSp>
            <p:nvGrpSpPr>
              <p:cNvPr id="74" name="组合 23"/>
              <p:cNvGrpSpPr/>
              <p:nvPr/>
            </p:nvGrpSpPr>
            <p:grpSpPr bwMode="auto">
              <a:xfrm>
                <a:off x="4753236" y="3654164"/>
                <a:ext cx="576262" cy="576262"/>
                <a:chOff x="6170389" y="4163727"/>
                <a:chExt cx="576064" cy="576064"/>
              </a:xfrm>
            </p:grpSpPr>
            <p:sp>
              <p:nvSpPr>
                <p:cNvPr id="77" name="圆角矩形 12"/>
                <p:cNvSpPr>
                  <a:spLocks noChangeArrowheads="1"/>
                </p:cNvSpPr>
                <p:nvPr>
                  <p:custDataLst>
                    <p:tags r:id="rId22"/>
                  </p:custDataLst>
                </p:nvPr>
              </p:nvSpPr>
              <p:spPr bwMode="auto">
                <a:xfrm>
                  <a:off x="6170389" y="4163727"/>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78" name="Freeform 12"/>
                <p:cNvSpPr>
                  <a:spLocks noEditPoints="1"/>
                </p:cNvSpPr>
                <p:nvPr>
                  <p:custDataLst>
                    <p:tags r:id="rId23"/>
                  </p:custDataLst>
                </p:nvPr>
              </p:nvSpPr>
              <p:spPr bwMode="auto">
                <a:xfrm>
                  <a:off x="6278404" y="4253861"/>
                  <a:ext cx="378197" cy="364816"/>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75" name="Rectangle 14"/>
              <p:cNvSpPr>
                <a:spLocks noChangeArrowheads="1"/>
              </p:cNvSpPr>
              <p:nvPr>
                <p:custDataLst>
                  <p:tags r:id="rId20"/>
                </p:custDataLst>
              </p:nvPr>
            </p:nvSpPr>
            <p:spPr bwMode="auto">
              <a:xfrm>
                <a:off x="5581874" y="3809739"/>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a:t>
                </a:r>
                <a:r>
                  <a:rPr lang="en-US" altLang="zh-CN" sz="1600" b="1" dirty="0">
                    <a:solidFill>
                      <a:srgbClr val="313D51"/>
                    </a:solidFill>
                    <a:latin typeface="思源黑体" panose="020B0500000000000000" pitchFamily="34" charset="-122"/>
                    <a:ea typeface="思源黑体" panose="020B0500000000000000" pitchFamily="34" charset="-122"/>
                  </a:rPr>
                  <a:t>3</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76" name="TextBox 59"/>
              <p:cNvSpPr txBox="1">
                <a:spLocks noChangeArrowheads="1"/>
              </p:cNvSpPr>
              <p:nvPr>
                <p:custDataLst>
                  <p:tags r:id="rId21"/>
                </p:custDataLst>
              </p:nvPr>
            </p:nvSpPr>
            <p:spPr bwMode="auto">
              <a:xfrm>
                <a:off x="6422651" y="3876414"/>
                <a:ext cx="356489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sz="1400" b="1" dirty="0">
                    <a:solidFill>
                      <a:srgbClr val="313D51"/>
                    </a:solidFill>
                    <a:latin typeface="微软雅黑" panose="020B0503020204020204" pitchFamily="34" charset="-122"/>
                    <a:cs typeface="微软雅黑" panose="020B0503020204020204" pitchFamily="34" charset="-122"/>
                  </a:rPr>
                  <a:t>工具初步搭建情况</a:t>
                </a:r>
              </a:p>
            </p:txBody>
          </p:sp>
        </p:grpSp>
        <p:grpSp>
          <p:nvGrpSpPr>
            <p:cNvPr id="71" name="组合 70"/>
            <p:cNvGrpSpPr/>
            <p:nvPr/>
          </p:nvGrpSpPr>
          <p:grpSpPr>
            <a:xfrm flipH="1">
              <a:off x="6433491" y="3876848"/>
              <a:ext cx="4171535" cy="80892"/>
              <a:chOff x="2272062" y="2596259"/>
              <a:chExt cx="4173708" cy="80934"/>
            </a:xfrm>
          </p:grpSpPr>
          <p:cxnSp>
            <p:nvCxnSpPr>
              <p:cNvPr id="72" name="直接连接符 71"/>
              <p:cNvCxnSpPr/>
              <p:nvPr>
                <p:custDataLst>
                  <p:tags r:id="rId18"/>
                </p:custDataLst>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73" name="矩形 72"/>
              <p:cNvSpPr/>
              <p:nvPr>
                <p:custDataLst>
                  <p:tags r:id="rId19"/>
                </p:custDataLst>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79" name="组合 78"/>
          <p:cNvGrpSpPr/>
          <p:nvPr>
            <p:custDataLst>
              <p:tags r:id="rId4"/>
            </p:custDataLst>
          </p:nvPr>
        </p:nvGrpSpPr>
        <p:grpSpPr>
          <a:xfrm>
            <a:off x="5714354" y="4244369"/>
            <a:ext cx="4890672" cy="582930"/>
            <a:chOff x="5714354" y="4244369"/>
            <a:chExt cx="4890672" cy="582930"/>
          </a:xfrm>
        </p:grpSpPr>
        <p:grpSp>
          <p:nvGrpSpPr>
            <p:cNvPr id="80" name="组合 79"/>
            <p:cNvGrpSpPr/>
            <p:nvPr/>
          </p:nvGrpSpPr>
          <p:grpSpPr>
            <a:xfrm>
              <a:off x="5714354" y="4244369"/>
              <a:ext cx="4721860" cy="582930"/>
              <a:chOff x="4753236" y="4446326"/>
              <a:chExt cx="4721860" cy="582930"/>
            </a:xfrm>
          </p:grpSpPr>
          <p:grpSp>
            <p:nvGrpSpPr>
              <p:cNvPr id="84" name="组合 24"/>
              <p:cNvGrpSpPr/>
              <p:nvPr/>
            </p:nvGrpSpPr>
            <p:grpSpPr bwMode="auto">
              <a:xfrm>
                <a:off x="4753236" y="4446326"/>
                <a:ext cx="576262" cy="576263"/>
                <a:chOff x="6170389" y="4955815"/>
                <a:chExt cx="576064" cy="576064"/>
              </a:xfrm>
            </p:grpSpPr>
            <p:sp>
              <p:nvSpPr>
                <p:cNvPr id="87" name="圆角矩形 13"/>
                <p:cNvSpPr>
                  <a:spLocks noChangeArrowheads="1"/>
                </p:cNvSpPr>
                <p:nvPr>
                  <p:custDataLst>
                    <p:tags r:id="rId16"/>
                  </p:custDataLst>
                </p:nvPr>
              </p:nvSpPr>
              <p:spPr bwMode="auto">
                <a:xfrm>
                  <a:off x="6170389" y="4955815"/>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88" name="Freeform 11"/>
                <p:cNvSpPr>
                  <a:spLocks noEditPoints="1"/>
                </p:cNvSpPr>
                <p:nvPr>
                  <p:custDataLst>
                    <p:tags r:id="rId17"/>
                  </p:custDataLst>
                </p:nvPr>
              </p:nvSpPr>
              <p:spPr bwMode="auto">
                <a:xfrm>
                  <a:off x="6298628" y="5092507"/>
                  <a:ext cx="315884" cy="273385"/>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85" name="Rectangle 14"/>
              <p:cNvSpPr>
                <a:spLocks noChangeArrowheads="1"/>
              </p:cNvSpPr>
              <p:nvPr>
                <p:custDataLst>
                  <p:tags r:id="rId14"/>
                </p:custDataLst>
              </p:nvPr>
            </p:nvSpPr>
            <p:spPr bwMode="auto">
              <a:xfrm>
                <a:off x="5581874" y="4613014"/>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a:t>
                </a:r>
                <a:r>
                  <a:rPr lang="en-US" altLang="zh-CN" sz="1600" b="1" dirty="0">
                    <a:solidFill>
                      <a:srgbClr val="313D51"/>
                    </a:solidFill>
                    <a:latin typeface="思源黑体" panose="020B0500000000000000" pitchFamily="34" charset="-122"/>
                    <a:ea typeface="思源黑体" panose="020B0500000000000000" pitchFamily="34" charset="-122"/>
                  </a:rPr>
                  <a:t>4</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86" name="TextBox 59"/>
              <p:cNvSpPr txBox="1">
                <a:spLocks noChangeArrowheads="1"/>
              </p:cNvSpPr>
              <p:nvPr>
                <p:custDataLst>
                  <p:tags r:id="rId15"/>
                </p:custDataLst>
              </p:nvPr>
            </p:nvSpPr>
            <p:spPr bwMode="auto">
              <a:xfrm>
                <a:off x="6422651" y="4680006"/>
                <a:ext cx="305244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400" b="1" dirty="0">
                    <a:solidFill>
                      <a:srgbClr val="313D51"/>
                    </a:solidFill>
                    <a:latin typeface="微软雅黑" panose="020B0503020204020204" pitchFamily="34" charset="-122"/>
                    <a:cs typeface="微软雅黑" panose="020B0503020204020204" pitchFamily="34" charset="-122"/>
                  </a:rPr>
                  <a:t>进度安排与预期成效</a:t>
                </a:r>
              </a:p>
            </p:txBody>
          </p:sp>
        </p:grpSp>
        <p:grpSp>
          <p:nvGrpSpPr>
            <p:cNvPr id="81" name="组合 80"/>
            <p:cNvGrpSpPr/>
            <p:nvPr/>
          </p:nvGrpSpPr>
          <p:grpSpPr>
            <a:xfrm flipH="1">
              <a:off x="6433491" y="4741665"/>
              <a:ext cx="4171535" cy="80892"/>
              <a:chOff x="2272062" y="2596259"/>
              <a:chExt cx="4173708" cy="80934"/>
            </a:xfrm>
          </p:grpSpPr>
          <p:cxnSp>
            <p:nvCxnSpPr>
              <p:cNvPr id="82" name="直接连接符 81"/>
              <p:cNvCxnSpPr/>
              <p:nvPr>
                <p:custDataLst>
                  <p:tags r:id="rId12"/>
                </p:custDataLst>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83" name="矩形 82"/>
              <p:cNvSpPr/>
              <p:nvPr>
                <p:custDataLst>
                  <p:tags r:id="rId13"/>
                </p:custDataLst>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89" name="组合 88"/>
          <p:cNvGrpSpPr/>
          <p:nvPr>
            <p:custDataLst>
              <p:tags r:id="rId5"/>
            </p:custDataLst>
          </p:nvPr>
        </p:nvGrpSpPr>
        <p:grpSpPr>
          <a:xfrm>
            <a:off x="5714354" y="5108509"/>
            <a:ext cx="4890672" cy="578865"/>
            <a:chOff x="5714354" y="5108509"/>
            <a:chExt cx="4890672" cy="578865"/>
          </a:xfrm>
        </p:grpSpPr>
        <p:grpSp>
          <p:nvGrpSpPr>
            <p:cNvPr id="90" name="组合 89"/>
            <p:cNvGrpSpPr/>
            <p:nvPr/>
          </p:nvGrpSpPr>
          <p:grpSpPr>
            <a:xfrm>
              <a:off x="5714354" y="5108509"/>
              <a:ext cx="4609465" cy="576262"/>
              <a:chOff x="4753236" y="5238489"/>
              <a:chExt cx="4609465" cy="576262"/>
            </a:xfrm>
          </p:grpSpPr>
          <p:grpSp>
            <p:nvGrpSpPr>
              <p:cNvPr id="94" name="组合 25"/>
              <p:cNvGrpSpPr/>
              <p:nvPr/>
            </p:nvGrpSpPr>
            <p:grpSpPr bwMode="auto">
              <a:xfrm>
                <a:off x="4753236" y="5238489"/>
                <a:ext cx="576262" cy="576262"/>
                <a:chOff x="6170389" y="5747903"/>
                <a:chExt cx="576064" cy="576064"/>
              </a:xfrm>
            </p:grpSpPr>
            <p:sp>
              <p:nvSpPr>
                <p:cNvPr id="97" name="圆角矩形 14"/>
                <p:cNvSpPr>
                  <a:spLocks noChangeArrowheads="1"/>
                </p:cNvSpPr>
                <p:nvPr>
                  <p:custDataLst>
                    <p:tags r:id="rId10"/>
                  </p:custDataLst>
                </p:nvPr>
              </p:nvSpPr>
              <p:spPr bwMode="auto">
                <a:xfrm>
                  <a:off x="6170389" y="5747903"/>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98" name="Freeform 28"/>
                <p:cNvSpPr>
                  <a:spLocks noEditPoints="1"/>
                </p:cNvSpPr>
                <p:nvPr>
                  <p:custDataLst>
                    <p:tags r:id="rId11"/>
                  </p:custDataLst>
                </p:nvPr>
              </p:nvSpPr>
              <p:spPr bwMode="auto">
                <a:xfrm>
                  <a:off x="6293383" y="5910861"/>
                  <a:ext cx="295907" cy="250148"/>
                </a:xfrm>
                <a:custGeom>
                  <a:avLst/>
                  <a:gdLst>
                    <a:gd name="T0" fmla="*/ 2147483646 w 923"/>
                    <a:gd name="T1" fmla="*/ 0 h 771"/>
                    <a:gd name="T2" fmla="*/ 2147483646 w 923"/>
                    <a:gd name="T3" fmla="*/ 2147483646 h 771"/>
                    <a:gd name="T4" fmla="*/ 2147483646 w 923"/>
                    <a:gd name="T5" fmla="*/ 2147483646 h 771"/>
                    <a:gd name="T6" fmla="*/ 2147483646 w 923"/>
                    <a:gd name="T7" fmla="*/ 2147483646 h 771"/>
                    <a:gd name="T8" fmla="*/ 2147483646 w 923"/>
                    <a:gd name="T9" fmla="*/ 2147483646 h 771"/>
                    <a:gd name="T10" fmla="*/ 2147483646 w 923"/>
                    <a:gd name="T11" fmla="*/ 2147483646 h 771"/>
                    <a:gd name="T12" fmla="*/ 2147483646 w 923"/>
                    <a:gd name="T13" fmla="*/ 2147483646 h 771"/>
                    <a:gd name="T14" fmla="*/ 2147483646 w 923"/>
                    <a:gd name="T15" fmla="*/ 2147483646 h 771"/>
                    <a:gd name="T16" fmla="*/ 2147483646 w 923"/>
                    <a:gd name="T17" fmla="*/ 2147483646 h 771"/>
                    <a:gd name="T18" fmla="*/ 2147483646 w 923"/>
                    <a:gd name="T19" fmla="*/ 2147483646 h 771"/>
                    <a:gd name="T20" fmla="*/ 2147483646 w 923"/>
                    <a:gd name="T21" fmla="*/ 2147483646 h 771"/>
                    <a:gd name="T22" fmla="*/ 2147483646 w 923"/>
                    <a:gd name="T23" fmla="*/ 2147483646 h 771"/>
                    <a:gd name="T24" fmla="*/ 2147483646 w 923"/>
                    <a:gd name="T25" fmla="*/ 2147483646 h 771"/>
                    <a:gd name="T26" fmla="*/ 2147483646 w 923"/>
                    <a:gd name="T27" fmla="*/ 2147483646 h 771"/>
                    <a:gd name="T28" fmla="*/ 2147483646 w 923"/>
                    <a:gd name="T29" fmla="*/ 2147483646 h 771"/>
                    <a:gd name="T30" fmla="*/ 2147483646 w 923"/>
                    <a:gd name="T31" fmla="*/ 2147483646 h 771"/>
                    <a:gd name="T32" fmla="*/ 2147483646 w 923"/>
                    <a:gd name="T33" fmla="*/ 2147483646 h 771"/>
                    <a:gd name="T34" fmla="*/ 2147483646 w 923"/>
                    <a:gd name="T35" fmla="*/ 2147483646 h 771"/>
                    <a:gd name="T36" fmla="*/ 2147483646 w 923"/>
                    <a:gd name="T37" fmla="*/ 2147483646 h 771"/>
                    <a:gd name="T38" fmla="*/ 2147483646 w 923"/>
                    <a:gd name="T39" fmla="*/ 2147483646 h 771"/>
                    <a:gd name="T40" fmla="*/ 2147483646 w 923"/>
                    <a:gd name="T41" fmla="*/ 2147483646 h 771"/>
                    <a:gd name="T42" fmla="*/ 2147483646 w 923"/>
                    <a:gd name="T43" fmla="*/ 2147483646 h 771"/>
                    <a:gd name="T44" fmla="*/ 2147483646 w 923"/>
                    <a:gd name="T45" fmla="*/ 2147483646 h 771"/>
                    <a:gd name="T46" fmla="*/ 2147483646 w 923"/>
                    <a:gd name="T47" fmla="*/ 2147483646 h 771"/>
                    <a:gd name="T48" fmla="*/ 2147483646 w 923"/>
                    <a:gd name="T49" fmla="*/ 2147483646 h 771"/>
                    <a:gd name="T50" fmla="*/ 2147483646 w 923"/>
                    <a:gd name="T51" fmla="*/ 2147483646 h 771"/>
                    <a:gd name="T52" fmla="*/ 2147483646 w 923"/>
                    <a:gd name="T53" fmla="*/ 2147483646 h 771"/>
                    <a:gd name="T54" fmla="*/ 2147483646 w 923"/>
                    <a:gd name="T55" fmla="*/ 2147483646 h 771"/>
                    <a:gd name="T56" fmla="*/ 2147483646 w 923"/>
                    <a:gd name="T57" fmla="*/ 2147483646 h 771"/>
                    <a:gd name="T58" fmla="*/ 2147483646 w 923"/>
                    <a:gd name="T59" fmla="*/ 2147483646 h 771"/>
                    <a:gd name="T60" fmla="*/ 2147483646 w 923"/>
                    <a:gd name="T61" fmla="*/ 2147483646 h 771"/>
                    <a:gd name="T62" fmla="*/ 2147483646 w 923"/>
                    <a:gd name="T63" fmla="*/ 2147483646 h 771"/>
                    <a:gd name="T64" fmla="*/ 2147483646 w 923"/>
                    <a:gd name="T65" fmla="*/ 2147483646 h 771"/>
                    <a:gd name="T66" fmla="*/ 2147483646 w 923"/>
                    <a:gd name="T67" fmla="*/ 2147483646 h 771"/>
                    <a:gd name="T68" fmla="*/ 2147483646 w 923"/>
                    <a:gd name="T69" fmla="*/ 2147483646 h 771"/>
                    <a:gd name="T70" fmla="*/ 2147483646 w 923"/>
                    <a:gd name="T71" fmla="*/ 2147483646 h 771"/>
                    <a:gd name="T72" fmla="*/ 2147483646 w 923"/>
                    <a:gd name="T73" fmla="*/ 2147483646 h 771"/>
                    <a:gd name="T74" fmla="*/ 2147483646 w 923"/>
                    <a:gd name="T75" fmla="*/ 2147483646 h 771"/>
                    <a:gd name="T76" fmla="*/ 0 w 923"/>
                    <a:gd name="T77" fmla="*/ 2147483646 h 771"/>
                    <a:gd name="T78" fmla="*/ 2147483646 w 923"/>
                    <a:gd name="T79" fmla="*/ 2147483646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95" name="Rectangle 14"/>
              <p:cNvSpPr>
                <a:spLocks noChangeArrowheads="1"/>
              </p:cNvSpPr>
              <p:nvPr>
                <p:custDataLst>
                  <p:tags r:id="rId8"/>
                </p:custDataLst>
              </p:nvPr>
            </p:nvSpPr>
            <p:spPr bwMode="auto">
              <a:xfrm>
                <a:off x="5581874" y="5405176"/>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a:t>
                </a:r>
                <a:r>
                  <a:rPr lang="en-US" altLang="zh-CN" sz="1600" b="1" dirty="0">
                    <a:solidFill>
                      <a:srgbClr val="313D51"/>
                    </a:solidFill>
                    <a:latin typeface="思源黑体" panose="020B0500000000000000" pitchFamily="34" charset="-122"/>
                    <a:ea typeface="思源黑体" panose="020B0500000000000000" pitchFamily="34" charset="-122"/>
                  </a:rPr>
                  <a:t>5</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96" name="TextBox 59"/>
              <p:cNvSpPr txBox="1">
                <a:spLocks noChangeArrowheads="1"/>
              </p:cNvSpPr>
              <p:nvPr>
                <p:custDataLst>
                  <p:tags r:id="rId9"/>
                </p:custDataLst>
              </p:nvPr>
            </p:nvSpPr>
            <p:spPr bwMode="auto">
              <a:xfrm>
                <a:off x="6422651" y="5459786"/>
                <a:ext cx="29400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400" b="1" dirty="0">
                    <a:solidFill>
                      <a:srgbClr val="313D51"/>
                    </a:solidFill>
                    <a:latin typeface="微软雅黑" panose="020B0503020204020204" pitchFamily="34" charset="-122"/>
                    <a:cs typeface="微软雅黑" panose="020B0503020204020204" pitchFamily="34" charset="-122"/>
                  </a:rPr>
                  <a:t>参考文献</a:t>
                </a:r>
              </a:p>
            </p:txBody>
          </p:sp>
        </p:grpSp>
        <p:grpSp>
          <p:nvGrpSpPr>
            <p:cNvPr id="91" name="组合 90"/>
            <p:cNvGrpSpPr/>
            <p:nvPr/>
          </p:nvGrpSpPr>
          <p:grpSpPr>
            <a:xfrm flipH="1">
              <a:off x="6433491" y="5606482"/>
              <a:ext cx="4171535" cy="80892"/>
              <a:chOff x="2272062" y="2596259"/>
              <a:chExt cx="4173708" cy="80934"/>
            </a:xfrm>
          </p:grpSpPr>
          <p:cxnSp>
            <p:nvCxnSpPr>
              <p:cNvPr id="92" name="直接连接符 91"/>
              <p:cNvCxnSpPr/>
              <p:nvPr>
                <p:custDataLst>
                  <p:tags r:id="rId6"/>
                </p:custDataLst>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93" name="矩形 92"/>
              <p:cNvSpPr/>
              <p:nvPr>
                <p:custDataLst>
                  <p:tags r:id="rId7"/>
                </p:custDataLst>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sp>
        <p:nvSpPr>
          <p:cNvPr id="99" name="Rectangle 3"/>
          <p:cNvSpPr txBox="1">
            <a:spLocks noChangeArrowheads="1"/>
          </p:cNvSpPr>
          <p:nvPr/>
        </p:nvSpPr>
        <p:spPr bwMode="auto">
          <a:xfrm>
            <a:off x="1150999" y="3031500"/>
            <a:ext cx="363696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2" name="文本框 1"/>
          <p:cNvSpPr txBox="1"/>
          <p:nvPr/>
        </p:nvSpPr>
        <p:spPr>
          <a:xfrm>
            <a:off x="7384026" y="827314"/>
            <a:ext cx="3144637" cy="369332"/>
          </a:xfrm>
          <a:prstGeom prst="rect">
            <a:avLst/>
          </a:prstGeom>
          <a:noFill/>
        </p:spPr>
        <p:txBody>
          <a:bodyPr wrap="square" rtlCol="0">
            <a:spAutoFit/>
          </a:bodyPr>
          <a:lstStyle/>
          <a:p>
            <a:r>
              <a:rPr lang="en-US" altLang="zh-CN" dirty="0">
                <a:solidFill>
                  <a:srgbClr val="FFFFFF"/>
                </a:solidFill>
              </a:rPr>
              <a:t>https://www.ypppt.com/</a:t>
            </a:r>
            <a:endParaRPr lang="zh-CN" altLang="en-US" dirty="0">
              <a:solidFill>
                <a:srgbClr val="FFFFFF"/>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3051312" y="2443843"/>
            <a:ext cx="1311578"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01</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829945"/>
          </a:xfrm>
          <a:prstGeom prst="rect">
            <a:avLst/>
          </a:prstGeom>
          <a:noFill/>
        </p:spPr>
        <p:txBody>
          <a:bodyPr wrap="square" rtlCol="0">
            <a:spAutoFit/>
            <a:scene3d>
              <a:camera prst="orthographicFront"/>
              <a:lightRig rig="threePt" dir="t"/>
            </a:scene3d>
            <a:sp3d contourW="12700"/>
          </a:bodyPr>
          <a:lstStyle/>
          <a:p>
            <a:r>
              <a:rPr lang="en-US" alt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OpenHarmony </a:t>
            </a:r>
            <a:r>
              <a:rPr lang="zh-CN" altLang="en-US"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安全分析的研究意义</a:t>
            </a:r>
          </a:p>
        </p:txBody>
      </p:sp>
      <p:cxnSp>
        <p:nvCxnSpPr>
          <p:cNvPr id="27" name="直接连接符 26"/>
          <p:cNvCxnSpPr/>
          <p:nvPr/>
        </p:nvCxnSpPr>
        <p:spPr>
          <a:xfrm>
            <a:off x="4552445"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comb/>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407160" y="753110"/>
            <a:ext cx="3629660" cy="493395"/>
          </a:xfrm>
        </p:spPr>
        <p:txBody>
          <a:bodyPr/>
          <a:lstStyle/>
          <a:p>
            <a:pPr>
              <a:lnSpc>
                <a:spcPct val="120000"/>
              </a:lnSpc>
            </a:pPr>
            <a:r>
              <a:rPr lang="zh-CN" altLang="en-US" dirty="0"/>
              <a:t>研究意义</a:t>
            </a:r>
          </a:p>
        </p:txBody>
      </p:sp>
      <p:sp>
        <p:nvSpPr>
          <p:cNvPr id="10" name="TextBox 28"/>
          <p:cNvSpPr txBox="1"/>
          <p:nvPr>
            <p:custDataLst>
              <p:tags r:id="rId1"/>
            </p:custDataLst>
          </p:nvPr>
        </p:nvSpPr>
        <p:spPr>
          <a:xfrm>
            <a:off x="4211320" y="2124075"/>
            <a:ext cx="4740275" cy="332105"/>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en-US" altLang="zh-CN" sz="1800" b="1" dirty="0">
                <a:solidFill>
                  <a:srgbClr val="313D51"/>
                </a:solidFill>
                <a:latin typeface="思源黑体" panose="020B0500000000000000" pitchFamily="34" charset="-122"/>
                <a:ea typeface="思源黑体" panose="020B0500000000000000" pitchFamily="34" charset="-122"/>
              </a:rPr>
              <a:t>01.</a:t>
            </a:r>
            <a:r>
              <a:rPr lang="zh-CN" altLang="en-US" sz="1800" b="1" dirty="0">
                <a:solidFill>
                  <a:srgbClr val="313D51"/>
                </a:solidFill>
                <a:latin typeface="思源黑体" panose="020B0500000000000000" pitchFamily="34" charset="-122"/>
                <a:ea typeface="思源黑体" panose="020B0500000000000000" pitchFamily="34" charset="-122"/>
              </a:rPr>
              <a:t>填补</a:t>
            </a:r>
            <a:r>
              <a:rPr lang="en-US" altLang="zh-CN" sz="1800" b="1" dirty="0">
                <a:solidFill>
                  <a:srgbClr val="313D51"/>
                </a:solidFill>
                <a:latin typeface="思源黑体" panose="020B0500000000000000" pitchFamily="34" charset="-122"/>
                <a:ea typeface="思源黑体" panose="020B0500000000000000" pitchFamily="34" charset="-122"/>
              </a:rPr>
              <a:t>OpenHarmony</a:t>
            </a:r>
            <a:r>
              <a:rPr lang="zh-CN" altLang="en-US" sz="1800" b="1" dirty="0">
                <a:solidFill>
                  <a:srgbClr val="313D51"/>
                </a:solidFill>
                <a:latin typeface="思源黑体" panose="020B0500000000000000" pitchFamily="34" charset="-122"/>
                <a:ea typeface="思源黑体" panose="020B0500000000000000" pitchFamily="34" charset="-122"/>
              </a:rPr>
              <a:t>生态安全分析工具的空白</a:t>
            </a:r>
          </a:p>
        </p:txBody>
      </p:sp>
      <p:sp>
        <p:nvSpPr>
          <p:cNvPr id="11" name="矩形 10"/>
          <p:cNvSpPr/>
          <p:nvPr>
            <p:custDataLst>
              <p:tags r:id="rId2"/>
            </p:custDataLst>
          </p:nvPr>
        </p:nvSpPr>
        <p:spPr>
          <a:xfrm>
            <a:off x="4211037" y="2703871"/>
            <a:ext cx="6279850" cy="1327150"/>
          </a:xfrm>
          <a:prstGeom prst="rect">
            <a:avLst/>
          </a:prstGeom>
        </p:spPr>
        <p:txBody>
          <a:bodyPr wrap="square" lIns="0" tIns="0" rIns="0" bIns="0">
            <a:spAutoFit/>
          </a:bodyPr>
          <a:lstStyle/>
          <a:p>
            <a:pPr algn="just">
              <a:lnSpc>
                <a:spcPct val="120000"/>
              </a:lnSpc>
            </a:pP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生态系统目前尚处于早期发展阶段，缺乏成熟的、专门针对其独特架构和语言特性设计的安全分析工具。现有针对</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Android</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等平台的分析工具无法直接复用，导致</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应用面临潜在的安全风险难以被有效识别。本研究提出的</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HapFlow</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框架，作为首个专门针对</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原生应用的静态污点分析框架，将直接填补这一关键技术空白，为</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应用的安全开发和审计提供基础性支撑。（图为研究论文数量，和</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Android</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等平台有巨大差距）</a:t>
            </a:r>
          </a:p>
        </p:txBody>
      </p:sp>
      <p:sp>
        <p:nvSpPr>
          <p:cNvPr id="4" name="矩形 3"/>
          <p:cNvSpPr/>
          <p:nvPr>
            <p:custDataLst>
              <p:tags r:id="rId3"/>
            </p:custDataLst>
          </p:nvPr>
        </p:nvSpPr>
        <p:spPr>
          <a:xfrm>
            <a:off x="4211038" y="2467369"/>
            <a:ext cx="2607344" cy="4571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16" name="TextBox 28"/>
          <p:cNvSpPr txBox="1"/>
          <p:nvPr>
            <p:custDataLst>
              <p:tags r:id="rId4"/>
            </p:custDataLst>
          </p:nvPr>
        </p:nvSpPr>
        <p:spPr>
          <a:xfrm>
            <a:off x="1033780" y="4478655"/>
            <a:ext cx="5266690" cy="332105"/>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en-US" altLang="zh-CN" sz="1800" b="1" dirty="0">
                <a:solidFill>
                  <a:srgbClr val="313D51"/>
                </a:solidFill>
                <a:latin typeface="思源黑体" panose="020B0500000000000000" pitchFamily="34" charset="-122"/>
                <a:ea typeface="思源黑体" panose="020B0500000000000000" pitchFamily="34" charset="-122"/>
              </a:rPr>
              <a:t>02.</a:t>
            </a:r>
            <a:r>
              <a:rPr lang="zh-CN" altLang="en-US" sz="1800" b="1" dirty="0">
                <a:solidFill>
                  <a:srgbClr val="313D51"/>
                </a:solidFill>
                <a:latin typeface="思源黑体" panose="020B0500000000000000" pitchFamily="34" charset="-122"/>
                <a:ea typeface="思源黑体" panose="020B0500000000000000" pitchFamily="34" charset="-122"/>
              </a:rPr>
              <a:t>解决</a:t>
            </a:r>
            <a:r>
              <a:rPr lang="en-US" altLang="zh-CN" sz="1800" b="1" dirty="0">
                <a:solidFill>
                  <a:srgbClr val="313D51"/>
                </a:solidFill>
                <a:latin typeface="思源黑体" panose="020B0500000000000000" pitchFamily="34" charset="-122"/>
                <a:ea typeface="思源黑体" panose="020B0500000000000000" pitchFamily="34" charset="-122"/>
              </a:rPr>
              <a:t>ArkTS</a:t>
            </a:r>
            <a:r>
              <a:rPr lang="zh-CN" altLang="en-US" sz="1800" b="1" dirty="0">
                <a:solidFill>
                  <a:srgbClr val="313D51"/>
                </a:solidFill>
                <a:latin typeface="思源黑体" panose="020B0500000000000000" pitchFamily="34" charset="-122"/>
                <a:ea typeface="思源黑体" panose="020B0500000000000000" pitchFamily="34" charset="-122"/>
              </a:rPr>
              <a:t>语言及声明式</a:t>
            </a:r>
            <a:r>
              <a:rPr lang="en-US" altLang="zh-CN" sz="1800" b="1" dirty="0">
                <a:solidFill>
                  <a:srgbClr val="313D51"/>
                </a:solidFill>
                <a:latin typeface="思源黑体" panose="020B0500000000000000" pitchFamily="34" charset="-122"/>
                <a:ea typeface="思源黑体" panose="020B0500000000000000" pitchFamily="34" charset="-122"/>
              </a:rPr>
              <a:t>UI</a:t>
            </a:r>
            <a:r>
              <a:rPr lang="zh-CN" altLang="en-US" sz="1800" b="1" dirty="0">
                <a:solidFill>
                  <a:srgbClr val="313D51"/>
                </a:solidFill>
                <a:latin typeface="思源黑体" panose="020B0500000000000000" pitchFamily="34" charset="-122"/>
                <a:ea typeface="思源黑体" panose="020B0500000000000000" pitchFamily="34" charset="-122"/>
              </a:rPr>
              <a:t>带来的独特分析挑战</a:t>
            </a:r>
          </a:p>
        </p:txBody>
      </p:sp>
      <p:sp>
        <p:nvSpPr>
          <p:cNvPr id="17" name="矩形 16"/>
          <p:cNvSpPr/>
          <p:nvPr>
            <p:custDataLst>
              <p:tags r:id="rId5"/>
            </p:custDataLst>
          </p:nvPr>
        </p:nvSpPr>
        <p:spPr>
          <a:xfrm>
            <a:off x="1033780" y="5046980"/>
            <a:ext cx="5956935" cy="1327150"/>
          </a:xfrm>
          <a:prstGeom prst="rect">
            <a:avLst/>
          </a:prstGeom>
        </p:spPr>
        <p:txBody>
          <a:bodyPr wrap="square" lIns="0" tIns="0" rIns="0" bIns="0">
            <a:spAutoFit/>
          </a:bodyPr>
          <a:lstStyle/>
          <a:p>
            <a:pPr algn="just">
              <a:lnSpc>
                <a:spcPct val="120000"/>
              </a:lnSpc>
            </a:pP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penHarmony</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应用采用</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ArkTS</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语言开发，其引入的</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struct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、装饰器等新语法元素，以及</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ArkUI</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声明式</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UI</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范式（如嵌套系统组件），对传统</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JavaScript/TypeScript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静态分析工具构成了根本性挑战，导致</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语法与定义不匹配</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程序结构不匹配</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等问题。</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HapFlow</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通过构建在</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ArkAnalyzer</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等底层解析框架之上，并针对</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ArkTS</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的闭包机制、生命周期管理和异步调用模式进行精确建模，有效克服了这些语言和范式层面的技术障碍，使得对</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应用的深层次安全分析成为可能。</a:t>
            </a:r>
          </a:p>
        </p:txBody>
      </p:sp>
      <p:sp>
        <p:nvSpPr>
          <p:cNvPr id="18" name="矩形 17"/>
          <p:cNvSpPr/>
          <p:nvPr>
            <p:custDataLst>
              <p:tags r:id="rId6"/>
            </p:custDataLst>
          </p:nvPr>
        </p:nvSpPr>
        <p:spPr>
          <a:xfrm>
            <a:off x="1033885" y="4810717"/>
            <a:ext cx="2607344" cy="4571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cxnSp>
        <p:nvCxnSpPr>
          <p:cNvPr id="8" name="直接连接符 7"/>
          <p:cNvCxnSpPr/>
          <p:nvPr>
            <p:custDataLst>
              <p:tags r:id="rId7"/>
            </p:custDataLst>
          </p:nvPr>
        </p:nvCxnSpPr>
        <p:spPr>
          <a:xfrm>
            <a:off x="1825094" y="4003588"/>
            <a:ext cx="8665793" cy="0"/>
          </a:xfrm>
          <a:prstGeom prst="line">
            <a:avLst/>
          </a:prstGeom>
          <a:ln>
            <a:solidFill>
              <a:srgbClr val="433D3C"/>
            </a:solidFill>
            <a:prstDash val="dash"/>
          </a:ln>
        </p:spPr>
        <p:style>
          <a:lnRef idx="1">
            <a:schemeClr val="accent1"/>
          </a:lnRef>
          <a:fillRef idx="0">
            <a:schemeClr val="accent1"/>
          </a:fillRef>
          <a:effectRef idx="0">
            <a:schemeClr val="accent1"/>
          </a:effectRef>
          <a:fontRef idx="minor">
            <a:schemeClr val="tx1"/>
          </a:fontRef>
        </p:style>
      </p:cxnSp>
      <p:pic>
        <p:nvPicPr>
          <p:cNvPr id="9" name="图片 8" descr="{SN%]Z`BQ10)BXWO6``{B5T"/>
          <p:cNvPicPr>
            <a:picLocks noChangeAspect="1"/>
          </p:cNvPicPr>
          <p:nvPr>
            <p:custDataLst>
              <p:tags r:id="rId8"/>
            </p:custDataLst>
          </p:nvPr>
        </p:nvPicPr>
        <p:blipFill>
          <a:blip r:embed="rId11"/>
          <a:stretch>
            <a:fillRect/>
          </a:stretch>
        </p:blipFill>
        <p:spPr>
          <a:xfrm>
            <a:off x="1033780" y="1483995"/>
            <a:ext cx="3044825" cy="2519680"/>
          </a:xfrm>
          <a:prstGeom prst="rect">
            <a:avLst/>
          </a:prstGeom>
        </p:spPr>
      </p:pic>
      <p:pic>
        <p:nvPicPr>
          <p:cNvPr id="12" name="图片 11" descr="BIARB}BRL6EIYXHWFHD9M}H"/>
          <p:cNvPicPr>
            <a:picLocks noChangeAspect="1"/>
          </p:cNvPicPr>
          <p:nvPr/>
        </p:nvPicPr>
        <p:blipFill>
          <a:blip r:embed="rId12"/>
          <a:stretch>
            <a:fillRect/>
          </a:stretch>
        </p:blipFill>
        <p:spPr>
          <a:xfrm>
            <a:off x="1504950" y="1246505"/>
            <a:ext cx="3018790" cy="154940"/>
          </a:xfrm>
          <a:prstGeom prst="rect">
            <a:avLst/>
          </a:prstGeom>
        </p:spPr>
      </p:pic>
      <p:pic>
        <p:nvPicPr>
          <p:cNvPr id="1362147724" name="图片 2"/>
          <p:cNvPicPr>
            <a:picLocks noChangeAspect="1" noChangeArrowheads="1"/>
          </p:cNvPicPr>
          <p:nvPr/>
        </p:nvPicPr>
        <p:blipFill>
          <a:blip r:embed="rId13">
            <a:extLst>
              <a:ext uri="{28A0092B-C50C-407E-A947-70E740481C1C}">
                <a14:useLocalDpi xmlns:a14="http://schemas.microsoft.com/office/drawing/2010/main" val="0"/>
              </a:ext>
            </a:extLst>
          </a:blip>
          <a:srcRect t="5577" b="5179"/>
          <a:stretch>
            <a:fillRect/>
          </a:stretch>
        </p:blipFill>
        <p:spPr>
          <a:xfrm>
            <a:off x="6990715" y="4023995"/>
            <a:ext cx="4779010" cy="1951990"/>
          </a:xfrm>
          <a:prstGeom prst="rect">
            <a:avLst/>
          </a:prstGeom>
          <a:noFill/>
          <a:ln>
            <a:noFill/>
          </a:ln>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nSpc>
                <a:spcPct val="120000"/>
              </a:lnSpc>
            </a:pPr>
            <a:r>
              <a:rPr lang="zh-CN" altLang="en-US" dirty="0"/>
              <a:t>研究意义</a:t>
            </a:r>
          </a:p>
        </p:txBody>
      </p:sp>
      <p:grpSp>
        <p:nvGrpSpPr>
          <p:cNvPr id="11" name="组合 10"/>
          <p:cNvGrpSpPr/>
          <p:nvPr>
            <p:custDataLst>
              <p:tags r:id="rId1"/>
            </p:custDataLst>
          </p:nvPr>
        </p:nvGrpSpPr>
        <p:grpSpPr>
          <a:xfrm>
            <a:off x="1621523" y="2007927"/>
            <a:ext cx="2619669" cy="3846585"/>
            <a:chOff x="1474030" y="1802903"/>
            <a:chExt cx="2935782" cy="4310749"/>
          </a:xfrm>
        </p:grpSpPr>
        <p:sp>
          <p:nvSpPr>
            <p:cNvPr id="31" name="Rectangle 24"/>
            <p:cNvSpPr>
              <a:spLocks noChangeArrowheads="1"/>
            </p:cNvSpPr>
            <p:nvPr>
              <p:custDataLst>
                <p:tags r:id="rId29"/>
              </p:custDataLst>
            </p:nvPr>
          </p:nvSpPr>
          <p:spPr bwMode="auto">
            <a:xfrm>
              <a:off x="147403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32" name="Freeform 25"/>
            <p:cNvSpPr/>
            <p:nvPr>
              <p:custDataLst>
                <p:tags r:id="rId30"/>
              </p:custDataLst>
            </p:nvPr>
          </p:nvSpPr>
          <p:spPr bwMode="auto">
            <a:xfrm>
              <a:off x="147403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33" name="TextBox 18"/>
            <p:cNvSpPr txBox="1"/>
            <p:nvPr>
              <p:custDataLst>
                <p:tags r:id="rId31"/>
              </p:custDataLst>
            </p:nvPr>
          </p:nvSpPr>
          <p:spPr>
            <a:xfrm>
              <a:off x="1696039" y="2045551"/>
              <a:ext cx="945313" cy="846834"/>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思源黑体" panose="020B0500000000000000" pitchFamily="34" charset="-122"/>
                  <a:ea typeface="思源黑体" panose="020B0500000000000000" pitchFamily="34" charset="-122"/>
                </a:rPr>
                <a:t>03</a:t>
              </a:r>
            </a:p>
          </p:txBody>
        </p:sp>
        <p:sp>
          <p:nvSpPr>
            <p:cNvPr id="34" name="文本框 33"/>
            <p:cNvSpPr txBox="1"/>
            <p:nvPr>
              <p:custDataLst>
                <p:tags r:id="rId32"/>
              </p:custDataLst>
            </p:nvPr>
          </p:nvSpPr>
          <p:spPr>
            <a:xfrm>
              <a:off x="1607478" y="4235411"/>
              <a:ext cx="2668885" cy="1589770"/>
            </a:xfrm>
            <a:prstGeom prst="rect">
              <a:avLst/>
            </a:prstGeom>
            <a:noFill/>
          </p:spPr>
          <p:txBody>
            <a:bodyPr wrap="square" rtlCol="0">
              <a:spAutoFit/>
            </a:body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通过提供高精度的污点分析结果，</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HapFlow</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将赋能开发者和安全审计人员，及时发现并修复应用中的安全漏洞和隐私泄露问题，从而显著提升</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OpenHarmony</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应用整体的安全性和用户隐私保护水平。</a:t>
              </a:r>
            </a:p>
          </p:txBody>
        </p:sp>
        <p:grpSp>
          <p:nvGrpSpPr>
            <p:cNvPr id="35" name="组合 216"/>
            <p:cNvGrpSpPr/>
            <p:nvPr/>
          </p:nvGrpSpPr>
          <p:grpSpPr bwMode="auto">
            <a:xfrm>
              <a:off x="3419075" y="2282206"/>
              <a:ext cx="614951" cy="465338"/>
              <a:chOff x="3192968" y="2571029"/>
              <a:chExt cx="1012825" cy="766763"/>
            </a:xfrm>
            <a:solidFill>
              <a:srgbClr val="0B2C4F"/>
            </a:solidFill>
            <a:effectLst>
              <a:outerShdw blurRad="38100" sx="101000" sy="101000" algn="ctr" rotWithShape="0">
                <a:prstClr val="black">
                  <a:alpha val="40000"/>
                </a:prstClr>
              </a:outerShdw>
            </a:effectLst>
          </p:grpSpPr>
          <p:sp>
            <p:nvSpPr>
              <p:cNvPr id="36" name="Freeform 74"/>
              <p:cNvSpPr>
                <a:spLocks noEditPoints="1"/>
              </p:cNvSpPr>
              <p:nvPr>
                <p:custDataLst>
                  <p:tags r:id="rId35"/>
                </p:custDataLst>
              </p:nvPr>
            </p:nvSpPr>
            <p:spPr bwMode="auto">
              <a:xfrm>
                <a:off x="3484175" y="3081969"/>
                <a:ext cx="649932" cy="240826"/>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7" name="Freeform 75"/>
              <p:cNvSpPr>
                <a:spLocks noEditPoints="1"/>
              </p:cNvSpPr>
              <p:nvPr>
                <p:custDataLst>
                  <p:tags r:id="rId36"/>
                </p:custDataLst>
              </p:nvPr>
            </p:nvSpPr>
            <p:spPr bwMode="auto">
              <a:xfrm>
                <a:off x="3472139" y="2808028"/>
                <a:ext cx="652942" cy="243837"/>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8" name="Freeform 76"/>
              <p:cNvSpPr>
                <a:spLocks noEditPoints="1"/>
              </p:cNvSpPr>
              <p:nvPr>
                <p:custDataLst>
                  <p:tags r:id="rId37"/>
                </p:custDataLst>
              </p:nvPr>
            </p:nvSpPr>
            <p:spPr bwMode="auto">
              <a:xfrm>
                <a:off x="3192308" y="2750833"/>
                <a:ext cx="279831" cy="587012"/>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9" name="Rectangle 77"/>
              <p:cNvSpPr>
                <a:spLocks noChangeArrowheads="1"/>
              </p:cNvSpPr>
              <p:nvPr>
                <p:custDataLst>
                  <p:tags r:id="rId38"/>
                </p:custDataLst>
              </p:nvPr>
            </p:nvSpPr>
            <p:spPr bwMode="auto">
              <a:xfrm>
                <a:off x="3664712" y="2570214"/>
                <a:ext cx="541610" cy="4214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0" name="Freeform 78"/>
              <p:cNvSpPr/>
              <p:nvPr>
                <p:custDataLst>
                  <p:tags r:id="rId39"/>
                </p:custDataLst>
              </p:nvPr>
            </p:nvSpPr>
            <p:spPr bwMode="auto">
              <a:xfrm>
                <a:off x="4146143" y="2621388"/>
                <a:ext cx="57171" cy="219755"/>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2" name="Rectangle 79"/>
              <p:cNvSpPr>
                <a:spLocks noChangeArrowheads="1"/>
              </p:cNvSpPr>
              <p:nvPr>
                <p:custDataLst>
                  <p:tags r:id="rId40"/>
                </p:custDataLst>
              </p:nvPr>
            </p:nvSpPr>
            <p:spPr bwMode="auto">
              <a:xfrm>
                <a:off x="3721883" y="2630420"/>
                <a:ext cx="418242" cy="159546"/>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grpSp>
        <p:sp>
          <p:nvSpPr>
            <p:cNvPr id="7" name="矩形 6"/>
            <p:cNvSpPr/>
            <p:nvPr>
              <p:custDataLst>
                <p:tags r:id="rId33"/>
              </p:custDataLst>
            </p:nvPr>
          </p:nvSpPr>
          <p:spPr>
            <a:xfrm>
              <a:off x="1478300" y="3175627"/>
              <a:ext cx="2931183" cy="622672"/>
            </a:xfrm>
            <a:prstGeom prst="rect">
              <a:avLst/>
            </a:prstGeom>
          </p:spPr>
          <p:txBody>
            <a:bodyPr wrap="square">
              <a:noAutofit/>
            </a:bodyPr>
            <a:lstStyle/>
            <a:p>
              <a:pPr algn="ctr">
                <a:lnSpc>
                  <a:spcPct val="120000"/>
                </a:lnSpc>
              </a:pPr>
              <a:r>
                <a:rPr lang="zh-CN" altLang="en-US" sz="1600" b="1" dirty="0">
                  <a:solidFill>
                    <a:srgbClr val="244C89"/>
                  </a:solidFill>
                  <a:latin typeface="思源黑体" panose="020B0500000000000000" pitchFamily="34" charset="-122"/>
                  <a:ea typeface="思源黑体" panose="020B0500000000000000" pitchFamily="34" charset="-122"/>
                </a:rPr>
                <a:t>提升</a:t>
              </a:r>
              <a:r>
                <a:rPr lang="en-US" altLang="zh-CN" sz="1600" b="1" dirty="0">
                  <a:solidFill>
                    <a:srgbClr val="244C89"/>
                  </a:solidFill>
                  <a:latin typeface="思源黑体" panose="020B0500000000000000" pitchFamily="34" charset="-122"/>
                  <a:ea typeface="思源黑体" panose="020B0500000000000000" pitchFamily="34" charset="-122"/>
                </a:rPr>
                <a:t>OpenHarmony</a:t>
              </a:r>
              <a:r>
                <a:rPr lang="zh-CN" altLang="en-US" sz="1600" b="1" dirty="0">
                  <a:solidFill>
                    <a:srgbClr val="244C89"/>
                  </a:solidFill>
                  <a:latin typeface="思源黑体" panose="020B0500000000000000" pitchFamily="34" charset="-122"/>
                  <a:ea typeface="思源黑体" panose="020B0500000000000000" pitchFamily="34" charset="-122"/>
                </a:rPr>
                <a:t>应用的安全性和用户隐私保护水平</a:t>
              </a:r>
            </a:p>
          </p:txBody>
        </p:sp>
        <p:cxnSp>
          <p:nvCxnSpPr>
            <p:cNvPr id="9" name="直接连接符 8"/>
            <p:cNvCxnSpPr/>
            <p:nvPr>
              <p:custDataLst>
                <p:tags r:id="rId34"/>
              </p:custDataLst>
            </p:nvPr>
          </p:nvCxnSpPr>
          <p:spPr>
            <a:xfrm>
              <a:off x="261396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custDataLst>
              <p:tags r:id="rId2"/>
            </p:custDataLst>
          </p:nvPr>
        </p:nvGrpSpPr>
        <p:grpSpPr>
          <a:xfrm>
            <a:off x="4830573" y="2007927"/>
            <a:ext cx="2619669" cy="3846585"/>
            <a:chOff x="4736414" y="1765832"/>
            <a:chExt cx="2935782" cy="4310749"/>
          </a:xfrm>
        </p:grpSpPr>
        <p:grpSp>
          <p:nvGrpSpPr>
            <p:cNvPr id="13" name="组合 12"/>
            <p:cNvGrpSpPr/>
            <p:nvPr/>
          </p:nvGrpSpPr>
          <p:grpSpPr>
            <a:xfrm>
              <a:off x="4736414" y="1765832"/>
              <a:ext cx="2935782" cy="4310749"/>
              <a:chOff x="4711700" y="1802903"/>
              <a:chExt cx="2935782" cy="4310749"/>
            </a:xfrm>
          </p:grpSpPr>
          <p:sp>
            <p:nvSpPr>
              <p:cNvPr id="45" name="Rectangle 24"/>
              <p:cNvSpPr>
                <a:spLocks noChangeArrowheads="1"/>
              </p:cNvSpPr>
              <p:nvPr>
                <p:custDataLst>
                  <p:tags r:id="rId23"/>
                </p:custDataLst>
              </p:nvPr>
            </p:nvSpPr>
            <p:spPr bwMode="auto">
              <a:xfrm>
                <a:off x="471170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54" name="Freeform 25"/>
              <p:cNvSpPr/>
              <p:nvPr>
                <p:custDataLst>
                  <p:tags r:id="rId24"/>
                </p:custDataLst>
              </p:nvPr>
            </p:nvSpPr>
            <p:spPr bwMode="auto">
              <a:xfrm>
                <a:off x="471170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55" name="TextBox 18"/>
              <p:cNvSpPr txBox="1"/>
              <p:nvPr>
                <p:custDataLst>
                  <p:tags r:id="rId25"/>
                </p:custDataLst>
              </p:nvPr>
            </p:nvSpPr>
            <p:spPr>
              <a:xfrm>
                <a:off x="4933709" y="2045551"/>
                <a:ext cx="945313" cy="846834"/>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思源黑体" panose="020B0500000000000000" pitchFamily="34" charset="-122"/>
                    <a:ea typeface="思源黑体" panose="020B0500000000000000" pitchFamily="34" charset="-122"/>
                  </a:rPr>
                  <a:t>04</a:t>
                </a:r>
              </a:p>
            </p:txBody>
          </p:sp>
          <p:sp>
            <p:nvSpPr>
              <p:cNvPr id="56" name="文本框 55"/>
              <p:cNvSpPr txBox="1"/>
              <p:nvPr>
                <p:custDataLst>
                  <p:tags r:id="rId26"/>
                </p:custDataLst>
              </p:nvPr>
            </p:nvSpPr>
            <p:spPr>
              <a:xfrm>
                <a:off x="4845148" y="4235411"/>
                <a:ext cx="2668885" cy="1837415"/>
              </a:xfrm>
              <a:prstGeom prst="rect">
                <a:avLst/>
              </a:prstGeom>
              <a:noFill/>
            </p:spPr>
            <p:txBody>
              <a:bodyPr wrap="square" rtlCol="0">
                <a:spAutoFit/>
              </a:bodyPr>
              <a:lstStyle/>
              <a:p>
                <a:pPr>
                  <a:lnSpc>
                    <a:spcPct val="120000"/>
                  </a:lnSpc>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HapFlow</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OpenHarmony</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应用生命周期、异步调用和声明式</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UI</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的精准建模方法，不仅服务于污点分析，也为未来在</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OpenHarmony</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平台上开展其他高级程序分析任务提供了经过验证的基础设施和设计范式。</a:t>
                </a:r>
              </a:p>
            </p:txBody>
          </p:sp>
          <p:sp>
            <p:nvSpPr>
              <p:cNvPr id="58" name="矩形 57"/>
              <p:cNvSpPr/>
              <p:nvPr>
                <p:custDataLst>
                  <p:tags r:id="rId27"/>
                </p:custDataLst>
              </p:nvPr>
            </p:nvSpPr>
            <p:spPr>
              <a:xfrm>
                <a:off x="4719157" y="3182032"/>
                <a:ext cx="2921220" cy="763574"/>
              </a:xfrm>
              <a:prstGeom prst="rect">
                <a:avLst/>
              </a:prstGeom>
            </p:spPr>
            <p:txBody>
              <a:bodyPr wrap="square">
                <a:spAutoFit/>
              </a:bodyPr>
              <a:lstStyle/>
              <a:p>
                <a:pPr algn="ctr">
                  <a:lnSpc>
                    <a:spcPct val="120000"/>
                  </a:lnSpc>
                </a:pPr>
                <a:r>
                  <a:rPr lang="zh-CN" altLang="en-US" sz="1600" b="1" dirty="0">
                    <a:solidFill>
                      <a:srgbClr val="244C89"/>
                    </a:solidFill>
                    <a:latin typeface="思源黑体" panose="020B0500000000000000" pitchFamily="34" charset="-122"/>
                    <a:ea typeface="思源黑体" panose="020B0500000000000000" pitchFamily="34" charset="-122"/>
                  </a:rPr>
                  <a:t>为</a:t>
                </a:r>
                <a:r>
                  <a:rPr lang="en-US" altLang="zh-CN" sz="1600" b="1" dirty="0">
                    <a:solidFill>
                      <a:srgbClr val="244C89"/>
                    </a:solidFill>
                    <a:latin typeface="思源黑体" panose="020B0500000000000000" pitchFamily="34" charset="-122"/>
                    <a:ea typeface="思源黑体" panose="020B0500000000000000" pitchFamily="34" charset="-122"/>
                  </a:rPr>
                  <a:t>OpenHarmony</a:t>
                </a:r>
                <a:r>
                  <a:rPr lang="zh-CN" altLang="en-US" sz="1600" b="1" dirty="0">
                    <a:solidFill>
                      <a:srgbClr val="244C89"/>
                    </a:solidFill>
                    <a:latin typeface="思源黑体" panose="020B0500000000000000" pitchFamily="34" charset="-122"/>
                    <a:ea typeface="思源黑体" panose="020B0500000000000000" pitchFamily="34" charset="-122"/>
                  </a:rPr>
                  <a:t>平台高级程序分析奠定基础</a:t>
                </a:r>
              </a:p>
            </p:txBody>
          </p:sp>
          <p:cxnSp>
            <p:nvCxnSpPr>
              <p:cNvPr id="59" name="直接连接符 58"/>
              <p:cNvCxnSpPr/>
              <p:nvPr>
                <p:custDataLst>
                  <p:tags r:id="rId28"/>
                </p:custDataLst>
              </p:nvPr>
            </p:nvCxnSpPr>
            <p:spPr>
              <a:xfrm>
                <a:off x="585163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0" name="组合 221"/>
            <p:cNvGrpSpPr/>
            <p:nvPr/>
          </p:nvGrpSpPr>
          <p:grpSpPr bwMode="auto">
            <a:xfrm>
              <a:off x="6629100" y="2256464"/>
              <a:ext cx="640086" cy="420193"/>
              <a:chOff x="165605" y="4160117"/>
              <a:chExt cx="962026" cy="631825"/>
            </a:xfrm>
            <a:solidFill>
              <a:srgbClr val="0B2C4F"/>
            </a:solidFill>
          </p:grpSpPr>
          <p:sp>
            <p:nvSpPr>
              <p:cNvPr id="81" name="Freeform 113"/>
              <p:cNvSpPr/>
              <p:nvPr>
                <p:custDataLst>
                  <p:tags r:id="rId19"/>
                </p:custDataLst>
              </p:nvPr>
            </p:nvSpPr>
            <p:spPr bwMode="auto">
              <a:xfrm>
                <a:off x="171329" y="4674430"/>
                <a:ext cx="956844" cy="117404"/>
              </a:xfrm>
              <a:custGeom>
                <a:avLst/>
                <a:gdLst>
                  <a:gd name="T0" fmla="*/ 145 w 255"/>
                  <a:gd name="T1" fmla="*/ 26 h 31"/>
                  <a:gd name="T2" fmla="*/ 145 w 255"/>
                  <a:gd name="T3" fmla="*/ 22 h 31"/>
                  <a:gd name="T4" fmla="*/ 253 w 255"/>
                  <a:gd name="T5" fmla="*/ 22 h 31"/>
                  <a:gd name="T6" fmla="*/ 251 w 255"/>
                  <a:gd name="T7" fmla="*/ 17 h 31"/>
                  <a:gd name="T8" fmla="*/ 157 w 255"/>
                  <a:gd name="T9" fmla="*/ 17 h 31"/>
                  <a:gd name="T10" fmla="*/ 157 w 255"/>
                  <a:gd name="T11" fmla="*/ 12 h 31"/>
                  <a:gd name="T12" fmla="*/ 248 w 255"/>
                  <a:gd name="T13" fmla="*/ 12 h 31"/>
                  <a:gd name="T14" fmla="*/ 193 w 255"/>
                  <a:gd name="T15" fmla="*/ 2 h 31"/>
                  <a:gd name="T16" fmla="*/ 136 w 255"/>
                  <a:gd name="T17" fmla="*/ 13 h 31"/>
                  <a:gd name="T18" fmla="*/ 136 w 255"/>
                  <a:gd name="T19" fmla="*/ 17 h 31"/>
                  <a:gd name="T20" fmla="*/ 127 w 255"/>
                  <a:gd name="T21" fmla="*/ 17 h 31"/>
                  <a:gd name="T22" fmla="*/ 119 w 255"/>
                  <a:gd name="T23" fmla="*/ 17 h 31"/>
                  <a:gd name="T24" fmla="*/ 119 w 255"/>
                  <a:gd name="T25" fmla="*/ 14 h 31"/>
                  <a:gd name="T26" fmla="*/ 61 w 255"/>
                  <a:gd name="T27" fmla="*/ 0 h 31"/>
                  <a:gd name="T28" fmla="*/ 6 w 255"/>
                  <a:gd name="T29" fmla="*/ 10 h 31"/>
                  <a:gd name="T30" fmla="*/ 97 w 255"/>
                  <a:gd name="T31" fmla="*/ 10 h 31"/>
                  <a:gd name="T32" fmla="*/ 97 w 255"/>
                  <a:gd name="T33" fmla="*/ 14 h 31"/>
                  <a:gd name="T34" fmla="*/ 2 w 255"/>
                  <a:gd name="T35" fmla="*/ 14 h 31"/>
                  <a:gd name="T36" fmla="*/ 2 w 255"/>
                  <a:gd name="T37" fmla="*/ 19 h 31"/>
                  <a:gd name="T38" fmla="*/ 109 w 255"/>
                  <a:gd name="T39" fmla="*/ 19 h 31"/>
                  <a:gd name="T40" fmla="*/ 109 w 255"/>
                  <a:gd name="T41" fmla="*/ 24 h 31"/>
                  <a:gd name="T42" fmla="*/ 1 w 255"/>
                  <a:gd name="T43" fmla="*/ 24 h 31"/>
                  <a:gd name="T44" fmla="*/ 0 w 255"/>
                  <a:gd name="T45" fmla="*/ 31 h 31"/>
                  <a:gd name="T46" fmla="*/ 255 w 255"/>
                  <a:gd name="T47" fmla="*/ 31 h 31"/>
                  <a:gd name="T48" fmla="*/ 254 w 255"/>
                  <a:gd name="T49" fmla="*/ 26 h 31"/>
                  <a:gd name="T50" fmla="*/ 145 w 255"/>
                  <a:gd name="T51"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5" h="31">
                    <a:moveTo>
                      <a:pt x="145" y="26"/>
                    </a:moveTo>
                    <a:cubicBezTo>
                      <a:pt x="145" y="22"/>
                      <a:pt x="145" y="22"/>
                      <a:pt x="145" y="22"/>
                    </a:cubicBezTo>
                    <a:cubicBezTo>
                      <a:pt x="253" y="22"/>
                      <a:pt x="253" y="22"/>
                      <a:pt x="253" y="22"/>
                    </a:cubicBezTo>
                    <a:cubicBezTo>
                      <a:pt x="251" y="17"/>
                      <a:pt x="251" y="17"/>
                      <a:pt x="251" y="17"/>
                    </a:cubicBezTo>
                    <a:cubicBezTo>
                      <a:pt x="157" y="17"/>
                      <a:pt x="157" y="17"/>
                      <a:pt x="157" y="17"/>
                    </a:cubicBezTo>
                    <a:cubicBezTo>
                      <a:pt x="157" y="12"/>
                      <a:pt x="157" y="12"/>
                      <a:pt x="157" y="12"/>
                    </a:cubicBezTo>
                    <a:cubicBezTo>
                      <a:pt x="248" y="12"/>
                      <a:pt x="248" y="12"/>
                      <a:pt x="248" y="12"/>
                    </a:cubicBezTo>
                    <a:cubicBezTo>
                      <a:pt x="242" y="8"/>
                      <a:pt x="223" y="2"/>
                      <a:pt x="193" y="2"/>
                    </a:cubicBezTo>
                    <a:cubicBezTo>
                      <a:pt x="163" y="2"/>
                      <a:pt x="142" y="8"/>
                      <a:pt x="136" y="13"/>
                    </a:cubicBezTo>
                    <a:cubicBezTo>
                      <a:pt x="136" y="17"/>
                      <a:pt x="136" y="17"/>
                      <a:pt x="136" y="17"/>
                    </a:cubicBezTo>
                    <a:cubicBezTo>
                      <a:pt x="127" y="17"/>
                      <a:pt x="127" y="17"/>
                      <a:pt x="127" y="17"/>
                    </a:cubicBezTo>
                    <a:cubicBezTo>
                      <a:pt x="119" y="17"/>
                      <a:pt x="119" y="17"/>
                      <a:pt x="119" y="17"/>
                    </a:cubicBezTo>
                    <a:cubicBezTo>
                      <a:pt x="119" y="14"/>
                      <a:pt x="119" y="14"/>
                      <a:pt x="119" y="14"/>
                    </a:cubicBezTo>
                    <a:cubicBezTo>
                      <a:pt x="119" y="9"/>
                      <a:pt x="99" y="0"/>
                      <a:pt x="61" y="0"/>
                    </a:cubicBezTo>
                    <a:cubicBezTo>
                      <a:pt x="33" y="0"/>
                      <a:pt x="14" y="5"/>
                      <a:pt x="6" y="10"/>
                    </a:cubicBezTo>
                    <a:cubicBezTo>
                      <a:pt x="97" y="10"/>
                      <a:pt x="97" y="10"/>
                      <a:pt x="97" y="10"/>
                    </a:cubicBezTo>
                    <a:cubicBezTo>
                      <a:pt x="97" y="14"/>
                      <a:pt x="97" y="14"/>
                      <a:pt x="97" y="14"/>
                    </a:cubicBezTo>
                    <a:cubicBezTo>
                      <a:pt x="2" y="14"/>
                      <a:pt x="2" y="14"/>
                      <a:pt x="2" y="14"/>
                    </a:cubicBezTo>
                    <a:cubicBezTo>
                      <a:pt x="2" y="19"/>
                      <a:pt x="2" y="19"/>
                      <a:pt x="2" y="19"/>
                    </a:cubicBezTo>
                    <a:cubicBezTo>
                      <a:pt x="109" y="19"/>
                      <a:pt x="109" y="19"/>
                      <a:pt x="109" y="19"/>
                    </a:cubicBezTo>
                    <a:cubicBezTo>
                      <a:pt x="109" y="24"/>
                      <a:pt x="109" y="24"/>
                      <a:pt x="109" y="24"/>
                    </a:cubicBezTo>
                    <a:cubicBezTo>
                      <a:pt x="1" y="24"/>
                      <a:pt x="1" y="24"/>
                      <a:pt x="1" y="24"/>
                    </a:cubicBezTo>
                    <a:cubicBezTo>
                      <a:pt x="0" y="31"/>
                      <a:pt x="0" y="31"/>
                      <a:pt x="0" y="31"/>
                    </a:cubicBezTo>
                    <a:cubicBezTo>
                      <a:pt x="255" y="31"/>
                      <a:pt x="255" y="31"/>
                      <a:pt x="255" y="31"/>
                    </a:cubicBezTo>
                    <a:cubicBezTo>
                      <a:pt x="254" y="26"/>
                      <a:pt x="254" y="26"/>
                      <a:pt x="254" y="26"/>
                    </a:cubicBezTo>
                    <a:lnTo>
                      <a:pt x="145" y="26"/>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2" name="Freeform 114"/>
              <p:cNvSpPr>
                <a:spLocks noEditPoints="1"/>
              </p:cNvSpPr>
              <p:nvPr>
                <p:custDataLst>
                  <p:tags r:id="rId20"/>
                </p:custDataLst>
              </p:nvPr>
            </p:nvSpPr>
            <p:spPr bwMode="auto">
              <a:xfrm>
                <a:off x="165311" y="4159666"/>
                <a:ext cx="466385" cy="568950"/>
              </a:xfrm>
              <a:custGeom>
                <a:avLst/>
                <a:gdLst>
                  <a:gd name="T0" fmla="*/ 62 w 124"/>
                  <a:gd name="T1" fmla="*/ 134 h 151"/>
                  <a:gd name="T2" fmla="*/ 124 w 124"/>
                  <a:gd name="T3" fmla="*/ 151 h 151"/>
                  <a:gd name="T4" fmla="*/ 124 w 124"/>
                  <a:gd name="T5" fmla="*/ 151 h 151"/>
                  <a:gd name="T6" fmla="*/ 124 w 124"/>
                  <a:gd name="T7" fmla="*/ 17 h 151"/>
                  <a:gd name="T8" fmla="*/ 124 w 124"/>
                  <a:gd name="T9" fmla="*/ 17 h 151"/>
                  <a:gd name="T10" fmla="*/ 62 w 124"/>
                  <a:gd name="T11" fmla="*/ 0 h 151"/>
                  <a:gd name="T12" fmla="*/ 1 w 124"/>
                  <a:gd name="T13" fmla="*/ 17 h 151"/>
                  <a:gd name="T14" fmla="*/ 0 w 124"/>
                  <a:gd name="T15" fmla="*/ 17 h 151"/>
                  <a:gd name="T16" fmla="*/ 0 w 124"/>
                  <a:gd name="T17" fmla="*/ 149 h 151"/>
                  <a:gd name="T18" fmla="*/ 62 w 124"/>
                  <a:gd name="T19" fmla="*/ 134 h 151"/>
                  <a:gd name="T20" fmla="*/ 111 w 124"/>
                  <a:gd name="T21" fmla="*/ 75 h 151"/>
                  <a:gd name="T22" fmla="*/ 61 w 124"/>
                  <a:gd name="T23" fmla="*/ 67 h 151"/>
                  <a:gd name="T24" fmla="*/ 12 w 124"/>
                  <a:gd name="T25" fmla="*/ 75 h 151"/>
                  <a:gd name="T26" fmla="*/ 12 w 124"/>
                  <a:gd name="T27" fmla="*/ 69 h 151"/>
                  <a:gd name="T28" fmla="*/ 61 w 124"/>
                  <a:gd name="T29" fmla="*/ 61 h 151"/>
                  <a:gd name="T30" fmla="*/ 111 w 124"/>
                  <a:gd name="T31" fmla="*/ 69 h 151"/>
                  <a:gd name="T32" fmla="*/ 111 w 124"/>
                  <a:gd name="T33" fmla="*/ 75 h 151"/>
                  <a:gd name="T34" fmla="*/ 12 w 124"/>
                  <a:gd name="T35" fmla="*/ 31 h 151"/>
                  <a:gd name="T36" fmla="*/ 61 w 124"/>
                  <a:gd name="T37" fmla="*/ 23 h 151"/>
                  <a:gd name="T38" fmla="*/ 111 w 124"/>
                  <a:gd name="T39" fmla="*/ 31 h 151"/>
                  <a:gd name="T40" fmla="*/ 111 w 124"/>
                  <a:gd name="T41" fmla="*/ 37 h 151"/>
                  <a:gd name="T42" fmla="*/ 61 w 124"/>
                  <a:gd name="T43" fmla="*/ 29 h 151"/>
                  <a:gd name="T44" fmla="*/ 12 w 124"/>
                  <a:gd name="T45" fmla="*/ 37 h 151"/>
                  <a:gd name="T46" fmla="*/ 12 w 124"/>
                  <a:gd name="T47" fmla="*/ 31 h 151"/>
                  <a:gd name="T48" fmla="*/ 12 w 124"/>
                  <a:gd name="T49" fmla="*/ 50 h 151"/>
                  <a:gd name="T50" fmla="*/ 61 w 124"/>
                  <a:gd name="T51" fmla="*/ 43 h 151"/>
                  <a:gd name="T52" fmla="*/ 111 w 124"/>
                  <a:gd name="T53" fmla="*/ 50 h 151"/>
                  <a:gd name="T54" fmla="*/ 111 w 124"/>
                  <a:gd name="T55" fmla="*/ 56 h 151"/>
                  <a:gd name="T56" fmla="*/ 61 w 124"/>
                  <a:gd name="T57" fmla="*/ 49 h 151"/>
                  <a:gd name="T58" fmla="*/ 12 w 124"/>
                  <a:gd name="T59" fmla="*/ 56 h 151"/>
                  <a:gd name="T60" fmla="*/ 12 w 124"/>
                  <a:gd name="T61" fmla="*/ 50 h 151"/>
                  <a:gd name="T62" fmla="*/ 12 w 124"/>
                  <a:gd name="T63" fmla="*/ 88 h 151"/>
                  <a:gd name="T64" fmla="*/ 61 w 124"/>
                  <a:gd name="T65" fmla="*/ 80 h 151"/>
                  <a:gd name="T66" fmla="*/ 111 w 124"/>
                  <a:gd name="T67" fmla="*/ 88 h 151"/>
                  <a:gd name="T68" fmla="*/ 111 w 124"/>
                  <a:gd name="T69" fmla="*/ 94 h 151"/>
                  <a:gd name="T70" fmla="*/ 61 w 124"/>
                  <a:gd name="T71" fmla="*/ 87 h 151"/>
                  <a:gd name="T72" fmla="*/ 12 w 124"/>
                  <a:gd name="T73" fmla="*/ 94 h 151"/>
                  <a:gd name="T74" fmla="*/ 12 w 124"/>
                  <a:gd name="T75" fmla="*/ 8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51">
                    <a:moveTo>
                      <a:pt x="62" y="134"/>
                    </a:moveTo>
                    <a:cubicBezTo>
                      <a:pt x="96" y="134"/>
                      <a:pt x="124" y="141"/>
                      <a:pt x="124" y="151"/>
                    </a:cubicBezTo>
                    <a:cubicBezTo>
                      <a:pt x="124" y="151"/>
                      <a:pt x="124" y="151"/>
                      <a:pt x="124" y="151"/>
                    </a:cubicBezTo>
                    <a:cubicBezTo>
                      <a:pt x="124" y="17"/>
                      <a:pt x="124" y="17"/>
                      <a:pt x="124" y="17"/>
                    </a:cubicBezTo>
                    <a:cubicBezTo>
                      <a:pt x="124" y="17"/>
                      <a:pt x="124" y="17"/>
                      <a:pt x="124" y="17"/>
                    </a:cubicBezTo>
                    <a:cubicBezTo>
                      <a:pt x="122" y="8"/>
                      <a:pt x="95" y="0"/>
                      <a:pt x="62" y="0"/>
                    </a:cubicBezTo>
                    <a:cubicBezTo>
                      <a:pt x="29" y="0"/>
                      <a:pt x="2" y="8"/>
                      <a:pt x="1" y="17"/>
                    </a:cubicBezTo>
                    <a:cubicBezTo>
                      <a:pt x="0" y="17"/>
                      <a:pt x="0" y="17"/>
                      <a:pt x="0" y="17"/>
                    </a:cubicBezTo>
                    <a:cubicBezTo>
                      <a:pt x="0" y="149"/>
                      <a:pt x="0" y="149"/>
                      <a:pt x="0" y="149"/>
                    </a:cubicBezTo>
                    <a:cubicBezTo>
                      <a:pt x="4" y="140"/>
                      <a:pt x="30" y="134"/>
                      <a:pt x="62" y="134"/>
                    </a:cubicBezTo>
                    <a:close/>
                    <a:moveTo>
                      <a:pt x="111" y="75"/>
                    </a:moveTo>
                    <a:cubicBezTo>
                      <a:pt x="103" y="71"/>
                      <a:pt x="86" y="67"/>
                      <a:pt x="61" y="67"/>
                    </a:cubicBezTo>
                    <a:cubicBezTo>
                      <a:pt x="37" y="67"/>
                      <a:pt x="20" y="71"/>
                      <a:pt x="12" y="75"/>
                    </a:cubicBezTo>
                    <a:cubicBezTo>
                      <a:pt x="12" y="69"/>
                      <a:pt x="12" y="69"/>
                      <a:pt x="12" y="69"/>
                    </a:cubicBezTo>
                    <a:cubicBezTo>
                      <a:pt x="17" y="66"/>
                      <a:pt x="35" y="61"/>
                      <a:pt x="61" y="61"/>
                    </a:cubicBezTo>
                    <a:cubicBezTo>
                      <a:pt x="88" y="61"/>
                      <a:pt x="105" y="66"/>
                      <a:pt x="111" y="69"/>
                    </a:cubicBezTo>
                    <a:lnTo>
                      <a:pt x="111" y="75"/>
                    </a:lnTo>
                    <a:close/>
                    <a:moveTo>
                      <a:pt x="12" y="31"/>
                    </a:moveTo>
                    <a:cubicBezTo>
                      <a:pt x="17" y="28"/>
                      <a:pt x="35" y="23"/>
                      <a:pt x="61" y="23"/>
                    </a:cubicBezTo>
                    <a:cubicBezTo>
                      <a:pt x="88" y="23"/>
                      <a:pt x="105" y="28"/>
                      <a:pt x="111" y="31"/>
                    </a:cubicBezTo>
                    <a:cubicBezTo>
                      <a:pt x="111" y="37"/>
                      <a:pt x="111" y="37"/>
                      <a:pt x="111" y="37"/>
                    </a:cubicBezTo>
                    <a:cubicBezTo>
                      <a:pt x="103" y="33"/>
                      <a:pt x="86" y="29"/>
                      <a:pt x="61" y="29"/>
                    </a:cubicBezTo>
                    <a:cubicBezTo>
                      <a:pt x="37" y="29"/>
                      <a:pt x="20" y="33"/>
                      <a:pt x="12" y="37"/>
                    </a:cubicBezTo>
                    <a:lnTo>
                      <a:pt x="12" y="31"/>
                    </a:lnTo>
                    <a:close/>
                    <a:moveTo>
                      <a:pt x="12" y="50"/>
                    </a:moveTo>
                    <a:cubicBezTo>
                      <a:pt x="17" y="48"/>
                      <a:pt x="34" y="43"/>
                      <a:pt x="61" y="43"/>
                    </a:cubicBezTo>
                    <a:cubicBezTo>
                      <a:pt x="88" y="43"/>
                      <a:pt x="105" y="48"/>
                      <a:pt x="111" y="50"/>
                    </a:cubicBezTo>
                    <a:cubicBezTo>
                      <a:pt x="111" y="56"/>
                      <a:pt x="111" y="56"/>
                      <a:pt x="111" y="56"/>
                    </a:cubicBezTo>
                    <a:cubicBezTo>
                      <a:pt x="103" y="53"/>
                      <a:pt x="86" y="49"/>
                      <a:pt x="61" y="49"/>
                    </a:cubicBezTo>
                    <a:cubicBezTo>
                      <a:pt x="37" y="49"/>
                      <a:pt x="20" y="53"/>
                      <a:pt x="12" y="56"/>
                    </a:cubicBezTo>
                    <a:lnTo>
                      <a:pt x="12" y="50"/>
                    </a:lnTo>
                    <a:close/>
                    <a:moveTo>
                      <a:pt x="12" y="88"/>
                    </a:moveTo>
                    <a:cubicBezTo>
                      <a:pt x="17" y="85"/>
                      <a:pt x="34" y="80"/>
                      <a:pt x="61" y="80"/>
                    </a:cubicBezTo>
                    <a:cubicBezTo>
                      <a:pt x="88" y="80"/>
                      <a:pt x="105" y="85"/>
                      <a:pt x="111" y="88"/>
                    </a:cubicBezTo>
                    <a:cubicBezTo>
                      <a:pt x="111" y="94"/>
                      <a:pt x="111" y="94"/>
                      <a:pt x="111" y="94"/>
                    </a:cubicBezTo>
                    <a:cubicBezTo>
                      <a:pt x="103" y="91"/>
                      <a:pt x="86" y="87"/>
                      <a:pt x="61" y="87"/>
                    </a:cubicBezTo>
                    <a:cubicBezTo>
                      <a:pt x="37" y="87"/>
                      <a:pt x="20" y="91"/>
                      <a:pt x="12" y="94"/>
                    </a:cubicBezTo>
                    <a:lnTo>
                      <a:pt x="12" y="88"/>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3" name="Freeform 115"/>
              <p:cNvSpPr/>
              <p:nvPr>
                <p:custDataLst>
                  <p:tags r:id="rId21"/>
                </p:custDataLst>
              </p:nvPr>
            </p:nvSpPr>
            <p:spPr bwMode="auto">
              <a:xfrm>
                <a:off x="926573" y="4237934"/>
                <a:ext cx="132394" cy="135464"/>
              </a:xfrm>
              <a:custGeom>
                <a:avLst/>
                <a:gdLst>
                  <a:gd name="T0" fmla="*/ 35 w 35"/>
                  <a:gd name="T1" fmla="*/ 36 h 36"/>
                  <a:gd name="T2" fmla="*/ 35 w 35"/>
                  <a:gd name="T3" fmla="*/ 6 h 36"/>
                  <a:gd name="T4" fmla="*/ 0 w 35"/>
                  <a:gd name="T5" fmla="*/ 0 h 36"/>
                  <a:gd name="T6" fmla="*/ 0 w 35"/>
                  <a:gd name="T7" fmla="*/ 31 h 36"/>
                  <a:gd name="T8" fmla="*/ 35 w 35"/>
                  <a:gd name="T9" fmla="*/ 36 h 36"/>
                </a:gdLst>
                <a:ahLst/>
                <a:cxnLst>
                  <a:cxn ang="0">
                    <a:pos x="T0" y="T1"/>
                  </a:cxn>
                  <a:cxn ang="0">
                    <a:pos x="T2" y="T3"/>
                  </a:cxn>
                  <a:cxn ang="0">
                    <a:pos x="T4" y="T5"/>
                  </a:cxn>
                  <a:cxn ang="0">
                    <a:pos x="T6" y="T7"/>
                  </a:cxn>
                  <a:cxn ang="0">
                    <a:pos x="T8" y="T9"/>
                  </a:cxn>
                </a:cxnLst>
                <a:rect l="0" t="0" r="r" b="b"/>
                <a:pathLst>
                  <a:path w="35" h="36">
                    <a:moveTo>
                      <a:pt x="35" y="36"/>
                    </a:moveTo>
                    <a:cubicBezTo>
                      <a:pt x="35" y="6"/>
                      <a:pt x="35" y="6"/>
                      <a:pt x="35" y="6"/>
                    </a:cubicBezTo>
                    <a:cubicBezTo>
                      <a:pt x="29" y="4"/>
                      <a:pt x="17" y="1"/>
                      <a:pt x="0" y="0"/>
                    </a:cubicBezTo>
                    <a:cubicBezTo>
                      <a:pt x="0" y="31"/>
                      <a:pt x="0" y="31"/>
                      <a:pt x="0" y="31"/>
                    </a:cubicBezTo>
                    <a:cubicBezTo>
                      <a:pt x="15" y="32"/>
                      <a:pt x="26" y="34"/>
                      <a:pt x="35" y="3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4" name="Freeform 116"/>
              <p:cNvSpPr>
                <a:spLocks noEditPoints="1"/>
              </p:cNvSpPr>
              <p:nvPr>
                <p:custDataLst>
                  <p:tags r:id="rId22"/>
                </p:custDataLst>
              </p:nvPr>
            </p:nvSpPr>
            <p:spPr bwMode="auto">
              <a:xfrm>
                <a:off x="661786" y="4168696"/>
                <a:ext cx="466387" cy="568952"/>
              </a:xfrm>
              <a:custGeom>
                <a:avLst/>
                <a:gdLst>
                  <a:gd name="T0" fmla="*/ 124 w 124"/>
                  <a:gd name="T1" fmla="*/ 17 h 151"/>
                  <a:gd name="T2" fmla="*/ 62 w 124"/>
                  <a:gd name="T3" fmla="*/ 0 h 151"/>
                  <a:gd name="T4" fmla="*/ 1 w 124"/>
                  <a:gd name="T5" fmla="*/ 17 h 151"/>
                  <a:gd name="T6" fmla="*/ 0 w 124"/>
                  <a:gd name="T7" fmla="*/ 17 h 151"/>
                  <a:gd name="T8" fmla="*/ 0 w 124"/>
                  <a:gd name="T9" fmla="*/ 148 h 151"/>
                  <a:gd name="T10" fmla="*/ 62 w 124"/>
                  <a:gd name="T11" fmla="*/ 133 h 151"/>
                  <a:gd name="T12" fmla="*/ 124 w 124"/>
                  <a:gd name="T13" fmla="*/ 151 h 151"/>
                  <a:gd name="T14" fmla="*/ 124 w 124"/>
                  <a:gd name="T15" fmla="*/ 151 h 151"/>
                  <a:gd name="T16" fmla="*/ 124 w 124"/>
                  <a:gd name="T17" fmla="*/ 17 h 151"/>
                  <a:gd name="T18" fmla="*/ 112 w 124"/>
                  <a:gd name="T19" fmla="*/ 76 h 151"/>
                  <a:gd name="T20" fmla="*/ 112 w 124"/>
                  <a:gd name="T21" fmla="*/ 82 h 151"/>
                  <a:gd name="T22" fmla="*/ 62 w 124"/>
                  <a:gd name="T23" fmla="*/ 74 h 151"/>
                  <a:gd name="T24" fmla="*/ 13 w 124"/>
                  <a:gd name="T25" fmla="*/ 82 h 151"/>
                  <a:gd name="T26" fmla="*/ 13 w 124"/>
                  <a:gd name="T27" fmla="*/ 76 h 151"/>
                  <a:gd name="T28" fmla="*/ 62 w 124"/>
                  <a:gd name="T29" fmla="*/ 68 h 151"/>
                  <a:gd name="T30" fmla="*/ 112 w 124"/>
                  <a:gd name="T31" fmla="*/ 76 h 151"/>
                  <a:gd name="T32" fmla="*/ 13 w 124"/>
                  <a:gd name="T33" fmla="*/ 30 h 151"/>
                  <a:gd name="T34" fmla="*/ 55 w 124"/>
                  <a:gd name="T35" fmla="*/ 22 h 151"/>
                  <a:gd name="T36" fmla="*/ 55 w 124"/>
                  <a:gd name="T37" fmla="*/ 28 h 151"/>
                  <a:gd name="T38" fmla="*/ 13 w 124"/>
                  <a:gd name="T39" fmla="*/ 36 h 151"/>
                  <a:gd name="T40" fmla="*/ 13 w 124"/>
                  <a:gd name="T41" fmla="*/ 30 h 151"/>
                  <a:gd name="T42" fmla="*/ 13 w 124"/>
                  <a:gd name="T43" fmla="*/ 49 h 151"/>
                  <a:gd name="T44" fmla="*/ 55 w 124"/>
                  <a:gd name="T45" fmla="*/ 42 h 151"/>
                  <a:gd name="T46" fmla="*/ 55 w 124"/>
                  <a:gd name="T47" fmla="*/ 48 h 151"/>
                  <a:gd name="T48" fmla="*/ 13 w 124"/>
                  <a:gd name="T49" fmla="*/ 55 h 151"/>
                  <a:gd name="T50" fmla="*/ 13 w 124"/>
                  <a:gd name="T51" fmla="*/ 49 h 151"/>
                  <a:gd name="T52" fmla="*/ 112 w 124"/>
                  <a:gd name="T53" fmla="*/ 119 h 151"/>
                  <a:gd name="T54" fmla="*/ 62 w 124"/>
                  <a:gd name="T55" fmla="*/ 112 h 151"/>
                  <a:gd name="T56" fmla="*/ 13 w 124"/>
                  <a:gd name="T57" fmla="*/ 119 h 151"/>
                  <a:gd name="T58" fmla="*/ 13 w 124"/>
                  <a:gd name="T59" fmla="*/ 114 h 151"/>
                  <a:gd name="T60" fmla="*/ 62 w 124"/>
                  <a:gd name="T61" fmla="*/ 106 h 151"/>
                  <a:gd name="T62" fmla="*/ 112 w 124"/>
                  <a:gd name="T63" fmla="*/ 114 h 151"/>
                  <a:gd name="T64" fmla="*/ 112 w 124"/>
                  <a:gd name="T65" fmla="*/ 119 h 151"/>
                  <a:gd name="T66" fmla="*/ 112 w 124"/>
                  <a:gd name="T67" fmla="*/ 100 h 151"/>
                  <a:gd name="T68" fmla="*/ 62 w 124"/>
                  <a:gd name="T69" fmla="*/ 92 h 151"/>
                  <a:gd name="T70" fmla="*/ 13 w 124"/>
                  <a:gd name="T71" fmla="*/ 100 h 151"/>
                  <a:gd name="T72" fmla="*/ 13 w 124"/>
                  <a:gd name="T73" fmla="*/ 94 h 151"/>
                  <a:gd name="T74" fmla="*/ 62 w 124"/>
                  <a:gd name="T75" fmla="*/ 86 h 151"/>
                  <a:gd name="T76" fmla="*/ 112 w 124"/>
                  <a:gd name="T77" fmla="*/ 94 h 151"/>
                  <a:gd name="T78" fmla="*/ 112 w 124"/>
                  <a:gd name="T79" fmla="*/ 100 h 151"/>
                  <a:gd name="T80" fmla="*/ 112 w 124"/>
                  <a:gd name="T81" fmla="*/ 65 h 151"/>
                  <a:gd name="T82" fmla="*/ 65 w 124"/>
                  <a:gd name="T83" fmla="*/ 57 h 151"/>
                  <a:gd name="T84" fmla="*/ 65 w 124"/>
                  <a:gd name="T85" fmla="*/ 12 h 151"/>
                  <a:gd name="T86" fmla="*/ 112 w 124"/>
                  <a:gd name="T87" fmla="*/ 21 h 151"/>
                  <a:gd name="T88" fmla="*/ 112 w 124"/>
                  <a:gd name="T89" fmla="*/ 6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4" h="151">
                    <a:moveTo>
                      <a:pt x="124" y="17"/>
                    </a:moveTo>
                    <a:cubicBezTo>
                      <a:pt x="123" y="7"/>
                      <a:pt x="96" y="0"/>
                      <a:pt x="62" y="0"/>
                    </a:cubicBezTo>
                    <a:cubicBezTo>
                      <a:pt x="29" y="0"/>
                      <a:pt x="2" y="7"/>
                      <a:pt x="1" y="17"/>
                    </a:cubicBezTo>
                    <a:cubicBezTo>
                      <a:pt x="0" y="17"/>
                      <a:pt x="0" y="17"/>
                      <a:pt x="0" y="17"/>
                    </a:cubicBezTo>
                    <a:cubicBezTo>
                      <a:pt x="0" y="148"/>
                      <a:pt x="0" y="148"/>
                      <a:pt x="0" y="148"/>
                    </a:cubicBezTo>
                    <a:cubicBezTo>
                      <a:pt x="4" y="140"/>
                      <a:pt x="30" y="133"/>
                      <a:pt x="62" y="133"/>
                    </a:cubicBezTo>
                    <a:cubicBezTo>
                      <a:pt x="96" y="133"/>
                      <a:pt x="124" y="141"/>
                      <a:pt x="124" y="151"/>
                    </a:cubicBezTo>
                    <a:cubicBezTo>
                      <a:pt x="124" y="151"/>
                      <a:pt x="124" y="151"/>
                      <a:pt x="124" y="151"/>
                    </a:cubicBezTo>
                    <a:cubicBezTo>
                      <a:pt x="124" y="17"/>
                      <a:pt x="124" y="17"/>
                      <a:pt x="124" y="17"/>
                    </a:cubicBezTo>
                    <a:close/>
                    <a:moveTo>
                      <a:pt x="112" y="76"/>
                    </a:moveTo>
                    <a:cubicBezTo>
                      <a:pt x="112" y="82"/>
                      <a:pt x="112" y="82"/>
                      <a:pt x="112" y="82"/>
                    </a:cubicBezTo>
                    <a:cubicBezTo>
                      <a:pt x="104" y="78"/>
                      <a:pt x="87" y="74"/>
                      <a:pt x="62" y="74"/>
                    </a:cubicBezTo>
                    <a:cubicBezTo>
                      <a:pt x="38" y="74"/>
                      <a:pt x="21" y="78"/>
                      <a:pt x="13" y="82"/>
                    </a:cubicBezTo>
                    <a:cubicBezTo>
                      <a:pt x="13" y="76"/>
                      <a:pt x="13" y="76"/>
                      <a:pt x="13" y="76"/>
                    </a:cubicBezTo>
                    <a:cubicBezTo>
                      <a:pt x="18" y="73"/>
                      <a:pt x="35" y="68"/>
                      <a:pt x="62" y="68"/>
                    </a:cubicBezTo>
                    <a:cubicBezTo>
                      <a:pt x="89" y="68"/>
                      <a:pt x="106" y="73"/>
                      <a:pt x="112" y="76"/>
                    </a:cubicBezTo>
                    <a:close/>
                    <a:moveTo>
                      <a:pt x="13" y="30"/>
                    </a:moveTo>
                    <a:cubicBezTo>
                      <a:pt x="18" y="27"/>
                      <a:pt x="32" y="23"/>
                      <a:pt x="55" y="22"/>
                    </a:cubicBezTo>
                    <a:cubicBezTo>
                      <a:pt x="55" y="28"/>
                      <a:pt x="55" y="28"/>
                      <a:pt x="55" y="28"/>
                    </a:cubicBezTo>
                    <a:cubicBezTo>
                      <a:pt x="34" y="29"/>
                      <a:pt x="20" y="33"/>
                      <a:pt x="13" y="36"/>
                    </a:cubicBezTo>
                    <a:lnTo>
                      <a:pt x="13" y="30"/>
                    </a:lnTo>
                    <a:close/>
                    <a:moveTo>
                      <a:pt x="13" y="49"/>
                    </a:moveTo>
                    <a:cubicBezTo>
                      <a:pt x="18" y="47"/>
                      <a:pt x="32" y="42"/>
                      <a:pt x="55" y="42"/>
                    </a:cubicBezTo>
                    <a:cubicBezTo>
                      <a:pt x="55" y="48"/>
                      <a:pt x="55" y="48"/>
                      <a:pt x="55" y="48"/>
                    </a:cubicBezTo>
                    <a:cubicBezTo>
                      <a:pt x="34" y="49"/>
                      <a:pt x="20" y="52"/>
                      <a:pt x="13" y="55"/>
                    </a:cubicBezTo>
                    <a:lnTo>
                      <a:pt x="13" y="49"/>
                    </a:lnTo>
                    <a:close/>
                    <a:moveTo>
                      <a:pt x="112" y="119"/>
                    </a:moveTo>
                    <a:cubicBezTo>
                      <a:pt x="104" y="116"/>
                      <a:pt x="87" y="112"/>
                      <a:pt x="62" y="112"/>
                    </a:cubicBezTo>
                    <a:cubicBezTo>
                      <a:pt x="38" y="112"/>
                      <a:pt x="21" y="116"/>
                      <a:pt x="13" y="119"/>
                    </a:cubicBezTo>
                    <a:cubicBezTo>
                      <a:pt x="13" y="114"/>
                      <a:pt x="13" y="114"/>
                      <a:pt x="13" y="114"/>
                    </a:cubicBezTo>
                    <a:cubicBezTo>
                      <a:pt x="18" y="111"/>
                      <a:pt x="35" y="106"/>
                      <a:pt x="62" y="106"/>
                    </a:cubicBezTo>
                    <a:cubicBezTo>
                      <a:pt x="89" y="106"/>
                      <a:pt x="106" y="111"/>
                      <a:pt x="112" y="114"/>
                    </a:cubicBezTo>
                    <a:lnTo>
                      <a:pt x="112" y="119"/>
                    </a:lnTo>
                    <a:close/>
                    <a:moveTo>
                      <a:pt x="112" y="100"/>
                    </a:moveTo>
                    <a:cubicBezTo>
                      <a:pt x="104" y="97"/>
                      <a:pt x="87" y="92"/>
                      <a:pt x="62" y="92"/>
                    </a:cubicBezTo>
                    <a:cubicBezTo>
                      <a:pt x="38" y="92"/>
                      <a:pt x="21" y="97"/>
                      <a:pt x="13" y="100"/>
                    </a:cubicBezTo>
                    <a:cubicBezTo>
                      <a:pt x="13" y="94"/>
                      <a:pt x="13" y="94"/>
                      <a:pt x="13" y="94"/>
                    </a:cubicBezTo>
                    <a:cubicBezTo>
                      <a:pt x="18" y="91"/>
                      <a:pt x="36" y="86"/>
                      <a:pt x="62" y="86"/>
                    </a:cubicBezTo>
                    <a:cubicBezTo>
                      <a:pt x="89" y="86"/>
                      <a:pt x="106" y="91"/>
                      <a:pt x="112" y="94"/>
                    </a:cubicBezTo>
                    <a:lnTo>
                      <a:pt x="112" y="100"/>
                    </a:lnTo>
                    <a:close/>
                    <a:moveTo>
                      <a:pt x="112" y="65"/>
                    </a:moveTo>
                    <a:cubicBezTo>
                      <a:pt x="106" y="62"/>
                      <a:pt x="90" y="57"/>
                      <a:pt x="65" y="57"/>
                    </a:cubicBezTo>
                    <a:cubicBezTo>
                      <a:pt x="65" y="12"/>
                      <a:pt x="65" y="12"/>
                      <a:pt x="65" y="12"/>
                    </a:cubicBezTo>
                    <a:cubicBezTo>
                      <a:pt x="90" y="13"/>
                      <a:pt x="107" y="18"/>
                      <a:pt x="112" y="21"/>
                    </a:cubicBezTo>
                    <a:lnTo>
                      <a:pt x="112" y="6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grpSp>
        <p:nvGrpSpPr>
          <p:cNvPr id="14" name="组合 13"/>
          <p:cNvGrpSpPr/>
          <p:nvPr>
            <p:custDataLst>
              <p:tags r:id="rId3"/>
            </p:custDataLst>
          </p:nvPr>
        </p:nvGrpSpPr>
        <p:grpSpPr>
          <a:xfrm>
            <a:off x="8039622" y="2007927"/>
            <a:ext cx="2619669" cy="3846585"/>
            <a:chOff x="8163192" y="1765832"/>
            <a:chExt cx="2935782" cy="4310749"/>
          </a:xfrm>
        </p:grpSpPr>
        <p:grpSp>
          <p:nvGrpSpPr>
            <p:cNvPr id="12" name="组合 11"/>
            <p:cNvGrpSpPr/>
            <p:nvPr/>
          </p:nvGrpSpPr>
          <p:grpSpPr>
            <a:xfrm>
              <a:off x="8163192" y="1765832"/>
              <a:ext cx="2935782" cy="4310749"/>
              <a:chOff x="8150835" y="1802903"/>
              <a:chExt cx="2935782" cy="4310749"/>
            </a:xfrm>
          </p:grpSpPr>
          <p:sp>
            <p:nvSpPr>
              <p:cNvPr id="67" name="Rectangle 24"/>
              <p:cNvSpPr>
                <a:spLocks noChangeArrowheads="1"/>
              </p:cNvSpPr>
              <p:nvPr>
                <p:custDataLst>
                  <p:tags r:id="rId13"/>
                </p:custDataLst>
              </p:nvPr>
            </p:nvSpPr>
            <p:spPr bwMode="auto">
              <a:xfrm>
                <a:off x="8150835"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68" name="Freeform 25"/>
              <p:cNvSpPr/>
              <p:nvPr>
                <p:custDataLst>
                  <p:tags r:id="rId14"/>
                </p:custDataLst>
              </p:nvPr>
            </p:nvSpPr>
            <p:spPr bwMode="auto">
              <a:xfrm>
                <a:off x="8150835"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69" name="TextBox 18"/>
              <p:cNvSpPr txBox="1"/>
              <p:nvPr>
                <p:custDataLst>
                  <p:tags r:id="rId15"/>
                </p:custDataLst>
              </p:nvPr>
            </p:nvSpPr>
            <p:spPr>
              <a:xfrm>
                <a:off x="8372844" y="2045551"/>
                <a:ext cx="945313" cy="846834"/>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思源黑体" panose="020B0500000000000000" pitchFamily="34" charset="-122"/>
                    <a:ea typeface="思源黑体" panose="020B0500000000000000" pitchFamily="34" charset="-122"/>
                  </a:rPr>
                  <a:t>05</a:t>
                </a:r>
              </a:p>
            </p:txBody>
          </p:sp>
          <p:sp>
            <p:nvSpPr>
              <p:cNvPr id="70" name="文本框 69"/>
              <p:cNvSpPr txBox="1"/>
              <p:nvPr>
                <p:custDataLst>
                  <p:tags r:id="rId16"/>
                </p:custDataLst>
              </p:nvPr>
            </p:nvSpPr>
            <p:spPr>
              <a:xfrm>
                <a:off x="8284283" y="4235411"/>
                <a:ext cx="2668885" cy="1589770"/>
              </a:xfrm>
              <a:prstGeom prst="rect">
                <a:avLst/>
              </a:prstGeom>
              <a:noFill/>
            </p:spPr>
            <p:txBody>
              <a:bodyPr wrap="square" rtlCol="0">
                <a:spAutoFit/>
              </a:bodyPr>
              <a:lstStyle/>
              <a:p>
                <a:pPr>
                  <a:lnSpc>
                    <a:spcPct val="120000"/>
                  </a:lnSpc>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HapFlow</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的成功经验将为其他新兴操作系统或具有独特语言</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框架特性的平台，在构建其安全分析能力时提供有益的借鉴和参考，从而推动静态分析技术在更广泛领域内的创新与应用。</a:t>
                </a:r>
              </a:p>
            </p:txBody>
          </p:sp>
          <p:sp>
            <p:nvSpPr>
              <p:cNvPr id="72" name="矩形 71"/>
              <p:cNvSpPr/>
              <p:nvPr>
                <p:custDataLst>
                  <p:tags r:id="rId17"/>
                </p:custDataLst>
              </p:nvPr>
            </p:nvSpPr>
            <p:spPr>
              <a:xfrm>
                <a:off x="8151890" y="3201245"/>
                <a:ext cx="2925490" cy="763574"/>
              </a:xfrm>
              <a:prstGeom prst="rect">
                <a:avLst/>
              </a:prstGeom>
            </p:spPr>
            <p:txBody>
              <a:bodyPr wrap="square">
                <a:spAutoFit/>
              </a:bodyPr>
              <a:lstStyle/>
              <a:p>
                <a:pPr algn="ctr">
                  <a:lnSpc>
                    <a:spcPct val="120000"/>
                  </a:lnSpc>
                </a:pPr>
                <a:r>
                  <a:rPr lang="zh-CN" altLang="en-US" sz="1600" b="1" dirty="0">
                    <a:solidFill>
                      <a:srgbClr val="244C89"/>
                    </a:solidFill>
                    <a:latin typeface="思源黑体" panose="020B0500000000000000" pitchFamily="34" charset="-122"/>
                    <a:ea typeface="思源黑体" panose="020B0500000000000000" pitchFamily="34" charset="-122"/>
                  </a:rPr>
                  <a:t>推动静态分析技术在新型操作系统中的创新与应用</a:t>
                </a:r>
              </a:p>
            </p:txBody>
          </p:sp>
          <p:cxnSp>
            <p:nvCxnSpPr>
              <p:cNvPr id="73" name="直接连接符 72"/>
              <p:cNvCxnSpPr/>
              <p:nvPr>
                <p:custDataLst>
                  <p:tags r:id="rId18"/>
                </p:custDataLst>
              </p:nvPr>
            </p:nvCxnSpPr>
            <p:spPr>
              <a:xfrm>
                <a:off x="9290773"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10308271" y="2256164"/>
              <a:ext cx="528026" cy="493514"/>
              <a:chOff x="7132549" y="4412456"/>
              <a:chExt cx="485775" cy="454025"/>
            </a:xfrm>
            <a:solidFill>
              <a:srgbClr val="0B2C4F"/>
            </a:solidFill>
          </p:grpSpPr>
          <p:sp>
            <p:nvSpPr>
              <p:cNvPr id="86" name="Rectangle 18"/>
              <p:cNvSpPr>
                <a:spLocks noChangeArrowheads="1"/>
              </p:cNvSpPr>
              <p:nvPr>
                <p:custDataLst>
                  <p:tags r:id="rId4"/>
                </p:custDataLst>
              </p:nvPr>
            </p:nvSpPr>
            <p:spPr bwMode="auto">
              <a:xfrm>
                <a:off x="7199224" y="4525168"/>
                <a:ext cx="236538" cy="2222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7" name="Rectangle 19"/>
              <p:cNvSpPr>
                <a:spLocks noChangeArrowheads="1"/>
              </p:cNvSpPr>
              <p:nvPr>
                <p:custDataLst>
                  <p:tags r:id="rId5"/>
                </p:custDataLst>
              </p:nvPr>
            </p:nvSpPr>
            <p:spPr bwMode="auto">
              <a:xfrm>
                <a:off x="7497674" y="4706143"/>
                <a:ext cx="0" cy="1588"/>
              </a:xfrm>
              <a:prstGeom prst="rect">
                <a:avLst/>
              </a:prstGeom>
              <a:grp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8" name="Freeform 20"/>
              <p:cNvSpPr>
                <a:spLocks noEditPoints="1"/>
              </p:cNvSpPr>
              <p:nvPr>
                <p:custDataLst>
                  <p:tags r:id="rId6"/>
                </p:custDataLst>
              </p:nvPr>
            </p:nvSpPr>
            <p:spPr bwMode="auto">
              <a:xfrm>
                <a:off x="7132549" y="4412456"/>
                <a:ext cx="365125" cy="425450"/>
              </a:xfrm>
              <a:custGeom>
                <a:avLst/>
                <a:gdLst>
                  <a:gd name="T0" fmla="*/ 158 w 184"/>
                  <a:gd name="T1" fmla="*/ 186 h 213"/>
                  <a:gd name="T2" fmla="*/ 151 w 184"/>
                  <a:gd name="T3" fmla="*/ 190 h 213"/>
                  <a:gd name="T4" fmla="*/ 122 w 184"/>
                  <a:gd name="T5" fmla="*/ 196 h 213"/>
                  <a:gd name="T6" fmla="*/ 85 w 184"/>
                  <a:gd name="T7" fmla="*/ 184 h 213"/>
                  <a:gd name="T8" fmla="*/ 22 w 184"/>
                  <a:gd name="T9" fmla="*/ 184 h 213"/>
                  <a:gd name="T10" fmla="*/ 18 w 184"/>
                  <a:gd name="T11" fmla="*/ 181 h 213"/>
                  <a:gd name="T12" fmla="*/ 18 w 184"/>
                  <a:gd name="T13" fmla="*/ 21 h 213"/>
                  <a:gd name="T14" fmla="*/ 22 w 184"/>
                  <a:gd name="T15" fmla="*/ 17 h 213"/>
                  <a:gd name="T16" fmla="*/ 163 w 184"/>
                  <a:gd name="T17" fmla="*/ 17 h 213"/>
                  <a:gd name="T18" fmla="*/ 166 w 184"/>
                  <a:gd name="T19" fmla="*/ 21 h 213"/>
                  <a:gd name="T20" fmla="*/ 166 w 184"/>
                  <a:gd name="T21" fmla="*/ 85 h 213"/>
                  <a:gd name="T22" fmla="*/ 179 w 184"/>
                  <a:gd name="T23" fmla="*/ 102 h 213"/>
                  <a:gd name="T24" fmla="*/ 184 w 184"/>
                  <a:gd name="T25" fmla="*/ 116 h 213"/>
                  <a:gd name="T26" fmla="*/ 184 w 184"/>
                  <a:gd name="T27" fmla="*/ 21 h 213"/>
                  <a:gd name="T28" fmla="*/ 163 w 184"/>
                  <a:gd name="T29" fmla="*/ 0 h 213"/>
                  <a:gd name="T30" fmla="*/ 22 w 184"/>
                  <a:gd name="T31" fmla="*/ 0 h 213"/>
                  <a:gd name="T32" fmla="*/ 0 w 184"/>
                  <a:gd name="T33" fmla="*/ 21 h 213"/>
                  <a:gd name="T34" fmla="*/ 0 w 184"/>
                  <a:gd name="T35" fmla="*/ 192 h 213"/>
                  <a:gd name="T36" fmla="*/ 22 w 184"/>
                  <a:gd name="T37" fmla="*/ 213 h 213"/>
                  <a:gd name="T38" fmla="*/ 163 w 184"/>
                  <a:gd name="T39" fmla="*/ 213 h 213"/>
                  <a:gd name="T40" fmla="*/ 181 w 184"/>
                  <a:gd name="T41" fmla="*/ 203 h 213"/>
                  <a:gd name="T42" fmla="*/ 158 w 184"/>
                  <a:gd name="T43" fmla="*/ 186 h 213"/>
                  <a:gd name="T44" fmla="*/ 92 w 184"/>
                  <a:gd name="T45" fmla="*/ 206 h 213"/>
                  <a:gd name="T46" fmla="*/ 84 w 184"/>
                  <a:gd name="T47" fmla="*/ 199 h 213"/>
                  <a:gd name="T48" fmla="*/ 92 w 184"/>
                  <a:gd name="T49" fmla="*/ 191 h 213"/>
                  <a:gd name="T50" fmla="*/ 100 w 184"/>
                  <a:gd name="T51" fmla="*/ 199 h 213"/>
                  <a:gd name="T52" fmla="*/ 92 w 184"/>
                  <a:gd name="T53" fmla="*/ 20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13">
                    <a:moveTo>
                      <a:pt x="158" y="186"/>
                    </a:moveTo>
                    <a:cubicBezTo>
                      <a:pt x="155" y="187"/>
                      <a:pt x="153" y="189"/>
                      <a:pt x="151" y="190"/>
                    </a:cubicBezTo>
                    <a:cubicBezTo>
                      <a:pt x="142" y="194"/>
                      <a:pt x="132" y="196"/>
                      <a:pt x="122" y="196"/>
                    </a:cubicBezTo>
                    <a:cubicBezTo>
                      <a:pt x="109" y="196"/>
                      <a:pt x="96" y="192"/>
                      <a:pt x="85" y="184"/>
                    </a:cubicBezTo>
                    <a:cubicBezTo>
                      <a:pt x="22" y="184"/>
                      <a:pt x="22" y="184"/>
                      <a:pt x="22" y="184"/>
                    </a:cubicBezTo>
                    <a:cubicBezTo>
                      <a:pt x="20" y="184"/>
                      <a:pt x="18" y="183"/>
                      <a:pt x="18" y="181"/>
                    </a:cubicBezTo>
                    <a:cubicBezTo>
                      <a:pt x="18" y="21"/>
                      <a:pt x="18" y="21"/>
                      <a:pt x="18" y="21"/>
                    </a:cubicBezTo>
                    <a:cubicBezTo>
                      <a:pt x="18" y="19"/>
                      <a:pt x="20" y="17"/>
                      <a:pt x="22" y="17"/>
                    </a:cubicBezTo>
                    <a:cubicBezTo>
                      <a:pt x="163" y="17"/>
                      <a:pt x="163" y="17"/>
                      <a:pt x="163" y="17"/>
                    </a:cubicBezTo>
                    <a:cubicBezTo>
                      <a:pt x="165" y="17"/>
                      <a:pt x="166" y="19"/>
                      <a:pt x="166" y="21"/>
                    </a:cubicBezTo>
                    <a:cubicBezTo>
                      <a:pt x="166" y="85"/>
                      <a:pt x="166" y="85"/>
                      <a:pt x="166" y="85"/>
                    </a:cubicBezTo>
                    <a:cubicBezTo>
                      <a:pt x="171" y="90"/>
                      <a:pt x="175" y="95"/>
                      <a:pt x="179" y="102"/>
                    </a:cubicBezTo>
                    <a:cubicBezTo>
                      <a:pt x="181" y="107"/>
                      <a:pt x="183" y="111"/>
                      <a:pt x="184" y="116"/>
                    </a:cubicBezTo>
                    <a:cubicBezTo>
                      <a:pt x="184" y="21"/>
                      <a:pt x="184" y="21"/>
                      <a:pt x="184" y="21"/>
                    </a:cubicBezTo>
                    <a:cubicBezTo>
                      <a:pt x="184" y="9"/>
                      <a:pt x="175" y="0"/>
                      <a:pt x="163" y="0"/>
                    </a:cubicBezTo>
                    <a:cubicBezTo>
                      <a:pt x="22" y="0"/>
                      <a:pt x="22" y="0"/>
                      <a:pt x="22" y="0"/>
                    </a:cubicBezTo>
                    <a:cubicBezTo>
                      <a:pt x="10" y="0"/>
                      <a:pt x="0" y="9"/>
                      <a:pt x="0" y="21"/>
                    </a:cubicBezTo>
                    <a:cubicBezTo>
                      <a:pt x="0" y="192"/>
                      <a:pt x="0" y="192"/>
                      <a:pt x="0" y="192"/>
                    </a:cubicBezTo>
                    <a:cubicBezTo>
                      <a:pt x="0" y="204"/>
                      <a:pt x="10" y="213"/>
                      <a:pt x="22" y="213"/>
                    </a:cubicBezTo>
                    <a:cubicBezTo>
                      <a:pt x="163" y="213"/>
                      <a:pt x="163" y="213"/>
                      <a:pt x="163" y="213"/>
                    </a:cubicBezTo>
                    <a:cubicBezTo>
                      <a:pt x="171" y="213"/>
                      <a:pt x="177" y="209"/>
                      <a:pt x="181" y="203"/>
                    </a:cubicBezTo>
                    <a:cubicBezTo>
                      <a:pt x="158" y="186"/>
                      <a:pt x="158" y="186"/>
                      <a:pt x="158" y="186"/>
                    </a:cubicBezTo>
                    <a:close/>
                    <a:moveTo>
                      <a:pt x="92" y="206"/>
                    </a:moveTo>
                    <a:cubicBezTo>
                      <a:pt x="88" y="206"/>
                      <a:pt x="84" y="203"/>
                      <a:pt x="84" y="199"/>
                    </a:cubicBezTo>
                    <a:cubicBezTo>
                      <a:pt x="84" y="194"/>
                      <a:pt x="88" y="191"/>
                      <a:pt x="92" y="191"/>
                    </a:cubicBezTo>
                    <a:cubicBezTo>
                      <a:pt x="96" y="191"/>
                      <a:pt x="100" y="194"/>
                      <a:pt x="100" y="199"/>
                    </a:cubicBezTo>
                    <a:cubicBezTo>
                      <a:pt x="100" y="203"/>
                      <a:pt x="96" y="206"/>
                      <a:pt x="92" y="20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9" name="Freeform 21"/>
              <p:cNvSpPr/>
              <p:nvPr>
                <p:custDataLst>
                  <p:tags r:id="rId7"/>
                </p:custDataLst>
              </p:nvPr>
            </p:nvSpPr>
            <p:spPr bwMode="auto">
              <a:xfrm>
                <a:off x="7302412" y="4683918"/>
                <a:ext cx="130175" cy="22225"/>
              </a:xfrm>
              <a:custGeom>
                <a:avLst/>
                <a:gdLst>
                  <a:gd name="T0" fmla="*/ 3 w 65"/>
                  <a:gd name="T1" fmla="*/ 10 h 11"/>
                  <a:gd name="T2" fmla="*/ 4 w 65"/>
                  <a:gd name="T3" fmla="*/ 11 h 11"/>
                  <a:gd name="T4" fmla="*/ 65 w 65"/>
                  <a:gd name="T5" fmla="*/ 11 h 11"/>
                  <a:gd name="T6" fmla="*/ 65 w 65"/>
                  <a:gd name="T7" fmla="*/ 0 h 11"/>
                  <a:gd name="T8" fmla="*/ 0 w 65"/>
                  <a:gd name="T9" fmla="*/ 0 h 11"/>
                  <a:gd name="T10" fmla="*/ 3 w 65"/>
                  <a:gd name="T11" fmla="*/ 10 h 11"/>
                </a:gdLst>
                <a:ahLst/>
                <a:cxnLst>
                  <a:cxn ang="0">
                    <a:pos x="T0" y="T1"/>
                  </a:cxn>
                  <a:cxn ang="0">
                    <a:pos x="T2" y="T3"/>
                  </a:cxn>
                  <a:cxn ang="0">
                    <a:pos x="T4" y="T5"/>
                  </a:cxn>
                  <a:cxn ang="0">
                    <a:pos x="T6" y="T7"/>
                  </a:cxn>
                  <a:cxn ang="0">
                    <a:pos x="T8" y="T9"/>
                  </a:cxn>
                  <a:cxn ang="0">
                    <a:pos x="T10" y="T11"/>
                  </a:cxn>
                </a:cxnLst>
                <a:rect l="0" t="0" r="r" b="b"/>
                <a:pathLst>
                  <a:path w="65" h="11">
                    <a:moveTo>
                      <a:pt x="3" y="10"/>
                    </a:moveTo>
                    <a:cubicBezTo>
                      <a:pt x="4" y="11"/>
                      <a:pt x="4" y="11"/>
                      <a:pt x="4" y="11"/>
                    </a:cubicBezTo>
                    <a:cubicBezTo>
                      <a:pt x="65" y="11"/>
                      <a:pt x="65" y="11"/>
                      <a:pt x="65" y="11"/>
                    </a:cubicBezTo>
                    <a:cubicBezTo>
                      <a:pt x="65" y="0"/>
                      <a:pt x="65" y="0"/>
                      <a:pt x="65" y="0"/>
                    </a:cubicBezTo>
                    <a:cubicBezTo>
                      <a:pt x="0" y="0"/>
                      <a:pt x="0" y="0"/>
                      <a:pt x="0" y="0"/>
                    </a:cubicBezTo>
                    <a:cubicBezTo>
                      <a:pt x="1" y="3"/>
                      <a:pt x="2" y="7"/>
                      <a:pt x="3" y="1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0" name="Freeform 22"/>
              <p:cNvSpPr/>
              <p:nvPr>
                <p:custDataLst>
                  <p:tags r:id="rId8"/>
                </p:custDataLst>
              </p:nvPr>
            </p:nvSpPr>
            <p:spPr bwMode="auto">
              <a:xfrm>
                <a:off x="7196049" y="4683918"/>
                <a:ext cx="52388" cy="22225"/>
              </a:xfrm>
              <a:custGeom>
                <a:avLst/>
                <a:gdLst>
                  <a:gd name="T0" fmla="*/ 0 w 27"/>
                  <a:gd name="T1" fmla="*/ 0 h 11"/>
                  <a:gd name="T2" fmla="*/ 0 w 27"/>
                  <a:gd name="T3" fmla="*/ 11 h 11"/>
                  <a:gd name="T4" fmla="*/ 27 w 27"/>
                  <a:gd name="T5" fmla="*/ 11 h 11"/>
                  <a:gd name="T6" fmla="*/ 25 w 27"/>
                  <a:gd name="T7" fmla="*/ 0 h 11"/>
                  <a:gd name="T8" fmla="*/ 0 w 27"/>
                  <a:gd name="T9" fmla="*/ 0 h 11"/>
                </a:gdLst>
                <a:ahLst/>
                <a:cxnLst>
                  <a:cxn ang="0">
                    <a:pos x="T0" y="T1"/>
                  </a:cxn>
                  <a:cxn ang="0">
                    <a:pos x="T2" y="T3"/>
                  </a:cxn>
                  <a:cxn ang="0">
                    <a:pos x="T4" y="T5"/>
                  </a:cxn>
                  <a:cxn ang="0">
                    <a:pos x="T6" y="T7"/>
                  </a:cxn>
                  <a:cxn ang="0">
                    <a:pos x="T8" y="T9"/>
                  </a:cxn>
                </a:cxnLst>
                <a:rect l="0" t="0" r="r" b="b"/>
                <a:pathLst>
                  <a:path w="27" h="11">
                    <a:moveTo>
                      <a:pt x="0" y="0"/>
                    </a:moveTo>
                    <a:cubicBezTo>
                      <a:pt x="0" y="11"/>
                      <a:pt x="0" y="11"/>
                      <a:pt x="0" y="11"/>
                    </a:cubicBezTo>
                    <a:cubicBezTo>
                      <a:pt x="27" y="11"/>
                      <a:pt x="27" y="11"/>
                      <a:pt x="27" y="11"/>
                    </a:cubicBezTo>
                    <a:cubicBezTo>
                      <a:pt x="26" y="7"/>
                      <a:pt x="25" y="4"/>
                      <a:pt x="25"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1" name="Freeform 23"/>
              <p:cNvSpPr/>
              <p:nvPr>
                <p:custDataLst>
                  <p:tags r:id="rId9"/>
                </p:custDataLst>
              </p:nvPr>
            </p:nvSpPr>
            <p:spPr bwMode="auto">
              <a:xfrm>
                <a:off x="7302412" y="4629943"/>
                <a:ext cx="131762" cy="25400"/>
              </a:xfrm>
              <a:custGeom>
                <a:avLst/>
                <a:gdLst>
                  <a:gd name="T0" fmla="*/ 5 w 66"/>
                  <a:gd name="T1" fmla="*/ 0 h 12"/>
                  <a:gd name="T2" fmla="*/ 1 w 66"/>
                  <a:gd name="T3" fmla="*/ 9 h 12"/>
                  <a:gd name="T4" fmla="*/ 0 w 66"/>
                  <a:gd name="T5" fmla="*/ 12 h 12"/>
                  <a:gd name="T6" fmla="*/ 66 w 66"/>
                  <a:gd name="T7" fmla="*/ 12 h 12"/>
                  <a:gd name="T8" fmla="*/ 66 w 66"/>
                  <a:gd name="T9" fmla="*/ 5 h 12"/>
                  <a:gd name="T10" fmla="*/ 63 w 66"/>
                  <a:gd name="T11" fmla="*/ 0 h 12"/>
                  <a:gd name="T12" fmla="*/ 5 w 6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66" h="12">
                    <a:moveTo>
                      <a:pt x="5" y="0"/>
                    </a:moveTo>
                    <a:cubicBezTo>
                      <a:pt x="3" y="3"/>
                      <a:pt x="2" y="6"/>
                      <a:pt x="1" y="9"/>
                    </a:cubicBezTo>
                    <a:cubicBezTo>
                      <a:pt x="1" y="10"/>
                      <a:pt x="1" y="11"/>
                      <a:pt x="0" y="12"/>
                    </a:cubicBezTo>
                    <a:cubicBezTo>
                      <a:pt x="66" y="12"/>
                      <a:pt x="66" y="12"/>
                      <a:pt x="66" y="12"/>
                    </a:cubicBezTo>
                    <a:cubicBezTo>
                      <a:pt x="66" y="5"/>
                      <a:pt x="66" y="5"/>
                      <a:pt x="66" y="5"/>
                    </a:cubicBezTo>
                    <a:cubicBezTo>
                      <a:pt x="65" y="4"/>
                      <a:pt x="64" y="2"/>
                      <a:pt x="63" y="0"/>
                    </a:cubicBezTo>
                    <a:lnTo>
                      <a:pt x="5"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2" name="Freeform 24"/>
              <p:cNvSpPr/>
              <p:nvPr>
                <p:custDataLst>
                  <p:tags r:id="rId10"/>
                </p:custDataLst>
              </p:nvPr>
            </p:nvSpPr>
            <p:spPr bwMode="auto">
              <a:xfrm>
                <a:off x="7197637" y="4629943"/>
                <a:ext cx="50800" cy="25400"/>
              </a:xfrm>
              <a:custGeom>
                <a:avLst/>
                <a:gdLst>
                  <a:gd name="T0" fmla="*/ 0 w 26"/>
                  <a:gd name="T1" fmla="*/ 0 h 12"/>
                  <a:gd name="T2" fmla="*/ 0 w 26"/>
                  <a:gd name="T3" fmla="*/ 12 h 12"/>
                  <a:gd name="T4" fmla="*/ 24 w 26"/>
                  <a:gd name="T5" fmla="*/ 12 h 12"/>
                  <a:gd name="T6" fmla="*/ 26 w 26"/>
                  <a:gd name="T7" fmla="*/ 0 h 12"/>
                  <a:gd name="T8" fmla="*/ 0 w 26"/>
                  <a:gd name="T9" fmla="*/ 0 h 12"/>
                </a:gdLst>
                <a:ahLst/>
                <a:cxnLst>
                  <a:cxn ang="0">
                    <a:pos x="T0" y="T1"/>
                  </a:cxn>
                  <a:cxn ang="0">
                    <a:pos x="T2" y="T3"/>
                  </a:cxn>
                  <a:cxn ang="0">
                    <a:pos x="T4" y="T5"/>
                  </a:cxn>
                  <a:cxn ang="0">
                    <a:pos x="T6" y="T7"/>
                  </a:cxn>
                  <a:cxn ang="0">
                    <a:pos x="T8" y="T9"/>
                  </a:cxn>
                </a:cxnLst>
                <a:rect l="0" t="0" r="r" b="b"/>
                <a:pathLst>
                  <a:path w="26" h="12">
                    <a:moveTo>
                      <a:pt x="0" y="0"/>
                    </a:moveTo>
                    <a:cubicBezTo>
                      <a:pt x="0" y="12"/>
                      <a:pt x="0" y="12"/>
                      <a:pt x="0" y="12"/>
                    </a:cubicBezTo>
                    <a:cubicBezTo>
                      <a:pt x="24" y="12"/>
                      <a:pt x="24" y="12"/>
                      <a:pt x="24" y="12"/>
                    </a:cubicBezTo>
                    <a:cubicBezTo>
                      <a:pt x="24" y="8"/>
                      <a:pt x="25" y="4"/>
                      <a:pt x="26"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3" name="Freeform 25"/>
              <p:cNvSpPr/>
              <p:nvPr>
                <p:custDataLst>
                  <p:tags r:id="rId11"/>
                </p:custDataLst>
              </p:nvPr>
            </p:nvSpPr>
            <p:spPr bwMode="auto">
              <a:xfrm>
                <a:off x="7197637" y="4577556"/>
                <a:ext cx="85725" cy="22225"/>
              </a:xfrm>
              <a:custGeom>
                <a:avLst/>
                <a:gdLst>
                  <a:gd name="T0" fmla="*/ 43 w 43"/>
                  <a:gd name="T1" fmla="*/ 0 h 12"/>
                  <a:gd name="T2" fmla="*/ 0 w 43"/>
                  <a:gd name="T3" fmla="*/ 0 h 12"/>
                  <a:gd name="T4" fmla="*/ 0 w 43"/>
                  <a:gd name="T5" fmla="*/ 12 h 12"/>
                  <a:gd name="T6" fmla="*/ 34 w 43"/>
                  <a:gd name="T7" fmla="*/ 12 h 12"/>
                  <a:gd name="T8" fmla="*/ 43 w 43"/>
                  <a:gd name="T9" fmla="*/ 0 h 12"/>
                </a:gdLst>
                <a:ahLst/>
                <a:cxnLst>
                  <a:cxn ang="0">
                    <a:pos x="T0" y="T1"/>
                  </a:cxn>
                  <a:cxn ang="0">
                    <a:pos x="T2" y="T3"/>
                  </a:cxn>
                  <a:cxn ang="0">
                    <a:pos x="T4" y="T5"/>
                  </a:cxn>
                  <a:cxn ang="0">
                    <a:pos x="T6" y="T7"/>
                  </a:cxn>
                  <a:cxn ang="0">
                    <a:pos x="T8" y="T9"/>
                  </a:cxn>
                </a:cxnLst>
                <a:rect l="0" t="0" r="r" b="b"/>
                <a:pathLst>
                  <a:path w="43" h="12">
                    <a:moveTo>
                      <a:pt x="43" y="0"/>
                    </a:moveTo>
                    <a:cubicBezTo>
                      <a:pt x="0" y="0"/>
                      <a:pt x="0" y="0"/>
                      <a:pt x="0" y="0"/>
                    </a:cubicBezTo>
                    <a:cubicBezTo>
                      <a:pt x="0" y="12"/>
                      <a:pt x="0" y="12"/>
                      <a:pt x="0" y="12"/>
                    </a:cubicBezTo>
                    <a:cubicBezTo>
                      <a:pt x="34" y="12"/>
                      <a:pt x="34" y="12"/>
                      <a:pt x="34" y="12"/>
                    </a:cubicBezTo>
                    <a:cubicBezTo>
                      <a:pt x="36" y="8"/>
                      <a:pt x="39" y="4"/>
                      <a:pt x="43" y="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4" name="Freeform 26"/>
              <p:cNvSpPr>
                <a:spLocks noEditPoints="1"/>
              </p:cNvSpPr>
              <p:nvPr>
                <p:custDataLst>
                  <p:tags r:id="rId12"/>
                </p:custDataLst>
              </p:nvPr>
            </p:nvSpPr>
            <p:spPr bwMode="auto">
              <a:xfrm>
                <a:off x="7237324" y="4534693"/>
                <a:ext cx="381000" cy="331788"/>
              </a:xfrm>
              <a:custGeom>
                <a:avLst/>
                <a:gdLst>
                  <a:gd name="T0" fmla="*/ 184 w 192"/>
                  <a:gd name="T1" fmla="*/ 132 h 166"/>
                  <a:gd name="T2" fmla="*/ 129 w 192"/>
                  <a:gd name="T3" fmla="*/ 92 h 166"/>
                  <a:gd name="T4" fmla="*/ 125 w 192"/>
                  <a:gd name="T5" fmla="*/ 90 h 166"/>
                  <a:gd name="T6" fmla="*/ 121 w 192"/>
                  <a:gd name="T7" fmla="*/ 43 h 166"/>
                  <a:gd name="T8" fmla="*/ 41 w 192"/>
                  <a:gd name="T9" fmla="*/ 15 h 166"/>
                  <a:gd name="T10" fmla="*/ 15 w 192"/>
                  <a:gd name="T11" fmla="*/ 96 h 166"/>
                  <a:gd name="T12" fmla="*/ 95 w 192"/>
                  <a:gd name="T13" fmla="*/ 124 h 166"/>
                  <a:gd name="T14" fmla="*/ 105 w 192"/>
                  <a:gd name="T15" fmla="*/ 118 h 166"/>
                  <a:gd name="T16" fmla="*/ 108 w 192"/>
                  <a:gd name="T17" fmla="*/ 121 h 166"/>
                  <a:gd name="T18" fmla="*/ 163 w 192"/>
                  <a:gd name="T19" fmla="*/ 161 h 166"/>
                  <a:gd name="T20" fmla="*/ 184 w 192"/>
                  <a:gd name="T21" fmla="*/ 157 h 166"/>
                  <a:gd name="T22" fmla="*/ 188 w 192"/>
                  <a:gd name="T23" fmla="*/ 153 h 166"/>
                  <a:gd name="T24" fmla="*/ 184 w 192"/>
                  <a:gd name="T25" fmla="*/ 132 h 166"/>
                  <a:gd name="T26" fmla="*/ 87 w 192"/>
                  <a:gd name="T27" fmla="*/ 107 h 166"/>
                  <a:gd name="T28" fmla="*/ 32 w 192"/>
                  <a:gd name="T29" fmla="*/ 88 h 166"/>
                  <a:gd name="T30" fmla="*/ 49 w 192"/>
                  <a:gd name="T31" fmla="*/ 32 h 166"/>
                  <a:gd name="T32" fmla="*/ 104 w 192"/>
                  <a:gd name="T33" fmla="*/ 52 h 166"/>
                  <a:gd name="T34" fmla="*/ 87 w 192"/>
                  <a:gd name="T3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66">
                    <a:moveTo>
                      <a:pt x="184" y="132"/>
                    </a:moveTo>
                    <a:cubicBezTo>
                      <a:pt x="129" y="92"/>
                      <a:pt x="129" y="92"/>
                      <a:pt x="129" y="92"/>
                    </a:cubicBezTo>
                    <a:cubicBezTo>
                      <a:pt x="128" y="91"/>
                      <a:pt x="126" y="90"/>
                      <a:pt x="125" y="90"/>
                    </a:cubicBezTo>
                    <a:cubicBezTo>
                      <a:pt x="130" y="75"/>
                      <a:pt x="129" y="58"/>
                      <a:pt x="121" y="43"/>
                    </a:cubicBezTo>
                    <a:cubicBezTo>
                      <a:pt x="106" y="13"/>
                      <a:pt x="70" y="0"/>
                      <a:pt x="41" y="15"/>
                    </a:cubicBezTo>
                    <a:cubicBezTo>
                      <a:pt x="11" y="30"/>
                      <a:pt x="0" y="66"/>
                      <a:pt x="15" y="96"/>
                    </a:cubicBezTo>
                    <a:cubicBezTo>
                      <a:pt x="30" y="126"/>
                      <a:pt x="66" y="139"/>
                      <a:pt x="95" y="124"/>
                    </a:cubicBezTo>
                    <a:cubicBezTo>
                      <a:pt x="99" y="122"/>
                      <a:pt x="102" y="120"/>
                      <a:pt x="105" y="118"/>
                    </a:cubicBezTo>
                    <a:cubicBezTo>
                      <a:pt x="106" y="119"/>
                      <a:pt x="107" y="120"/>
                      <a:pt x="108" y="121"/>
                    </a:cubicBezTo>
                    <a:cubicBezTo>
                      <a:pt x="163" y="161"/>
                      <a:pt x="163" y="161"/>
                      <a:pt x="163" y="161"/>
                    </a:cubicBezTo>
                    <a:cubicBezTo>
                      <a:pt x="170" y="166"/>
                      <a:pt x="179" y="164"/>
                      <a:pt x="184" y="157"/>
                    </a:cubicBezTo>
                    <a:cubicBezTo>
                      <a:pt x="188" y="153"/>
                      <a:pt x="188" y="153"/>
                      <a:pt x="188" y="153"/>
                    </a:cubicBezTo>
                    <a:cubicBezTo>
                      <a:pt x="192" y="146"/>
                      <a:pt x="191" y="137"/>
                      <a:pt x="184" y="132"/>
                    </a:cubicBezTo>
                    <a:close/>
                    <a:moveTo>
                      <a:pt x="87" y="107"/>
                    </a:moveTo>
                    <a:cubicBezTo>
                      <a:pt x="67" y="117"/>
                      <a:pt x="42" y="108"/>
                      <a:pt x="32" y="88"/>
                    </a:cubicBezTo>
                    <a:cubicBezTo>
                      <a:pt x="22" y="67"/>
                      <a:pt x="29" y="42"/>
                      <a:pt x="49" y="32"/>
                    </a:cubicBezTo>
                    <a:cubicBezTo>
                      <a:pt x="69" y="22"/>
                      <a:pt x="94" y="31"/>
                      <a:pt x="104" y="52"/>
                    </a:cubicBezTo>
                    <a:cubicBezTo>
                      <a:pt x="114" y="72"/>
                      <a:pt x="107" y="97"/>
                      <a:pt x="87" y="107"/>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pic>
        <p:nvPicPr>
          <p:cNvPr id="2" name="图片 1" descr="BIARB}BRL6EIYXHWFHD9M}H"/>
          <p:cNvPicPr>
            <a:picLocks noChangeAspect="1"/>
          </p:cNvPicPr>
          <p:nvPr/>
        </p:nvPicPr>
        <p:blipFill>
          <a:blip r:embed="rId43"/>
          <a:stretch>
            <a:fillRect/>
          </a:stretch>
        </p:blipFill>
        <p:spPr>
          <a:xfrm>
            <a:off x="1504950" y="1246505"/>
            <a:ext cx="3018790" cy="154940"/>
          </a:xfrm>
          <a:prstGeom prst="rect">
            <a:avLst/>
          </a:prstGeom>
        </p:spPr>
      </p:pic>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85401" y="2443843"/>
            <a:ext cx="1643400"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02</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876558" y="2773392"/>
            <a:ext cx="4238307" cy="829945"/>
          </a:xfrm>
          <a:prstGeom prst="rect">
            <a:avLst/>
          </a:prstGeom>
          <a:noFill/>
        </p:spPr>
        <p:txBody>
          <a:bodyPr wrap="square" rtlCol="0">
            <a:spAutoFit/>
            <a:scene3d>
              <a:camera prst="orthographicFront"/>
              <a:lightRig rig="threePt" dir="t"/>
            </a:scene3d>
            <a:sp3d contourW="12700"/>
          </a:bodyPr>
          <a:lstStyle/>
          <a:p>
            <a:r>
              <a:rPr lang="zh-CN" altLang="en-US" sz="2400" b="1" dirty="0">
                <a:solidFill>
                  <a:schemeClr val="bg1"/>
                </a:solidFill>
                <a:latin typeface="微软雅黑" panose="020B0503020204020204" pitchFamily="34" charset="-122"/>
                <a:ea typeface="微软雅黑" panose="020B0503020204020204" pitchFamily="34" charset="-122"/>
                <a:sym typeface="+mn-ea"/>
              </a:rPr>
              <a:t>相关现状调研</a:t>
            </a:r>
            <a:endParaRPr lang="zh-CN" altLang="en-US" sz="2400" b="1" dirty="0">
              <a:solidFill>
                <a:schemeClr val="bg1"/>
              </a:solidFill>
              <a:latin typeface="微软雅黑" panose="020B0503020204020204" pitchFamily="34" charset="-122"/>
              <a:ea typeface="微软雅黑" panose="020B0503020204020204" pitchFamily="34" charset="-122"/>
            </a:endParaRPr>
          </a:p>
          <a:p>
            <a:endParaRPr lang="zh-CN" altLang="en-US" sz="2400" b="1" dirty="0">
              <a:solidFill>
                <a:schemeClr val="bg1"/>
              </a:solidFill>
              <a:latin typeface="微软雅黑" panose="020B0503020204020204" pitchFamily="34" charset="-122"/>
              <a:ea typeface="微软雅黑" panose="020B0503020204020204" pitchFamily="34" charset="-122"/>
              <a:sym typeface="+mn-ea"/>
            </a:endParaRP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en-US" altLang="zh-CN" sz="1200" dirty="0">
                <a:solidFill>
                  <a:schemeClr val="bg1"/>
                </a:solidFill>
                <a:latin typeface="思源黑体" panose="020B0500000000000000" pitchFamily="34" charset="-122"/>
                <a:ea typeface="思源黑体" panose="020B0500000000000000" pitchFamily="34" charset="-122"/>
              </a:rPr>
              <a:t>ArkAnalyzer</a:t>
            </a:r>
          </a:p>
        </p:txBody>
      </p:sp>
      <p:sp>
        <p:nvSpPr>
          <p:cNvPr id="11" name="文本框 9"/>
          <p:cNvSpPr txBox="1"/>
          <p:nvPr/>
        </p:nvSpPr>
        <p:spPr>
          <a:xfrm>
            <a:off x="5034394" y="3792469"/>
            <a:ext cx="1282439"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en-US" altLang="zh-CN" sz="1200" dirty="0">
                <a:solidFill>
                  <a:schemeClr val="bg1"/>
                </a:solidFill>
                <a:latin typeface="思源黑体" panose="020B0500000000000000" pitchFamily="34" charset="-122"/>
                <a:ea typeface="思源黑体" panose="020B0500000000000000" pitchFamily="34" charset="-122"/>
              </a:rPr>
              <a:t>HapFlow</a:t>
            </a:r>
          </a:p>
        </p:txBody>
      </p:sp>
      <p:sp>
        <p:nvSpPr>
          <p:cNvPr id="14" name="文本框 9"/>
          <p:cNvSpPr txBox="1"/>
          <p:nvPr/>
        </p:nvSpPr>
        <p:spPr>
          <a:xfrm>
            <a:off x="6582450" y="3531006"/>
            <a:ext cx="1577282" cy="220980"/>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en-US" altLang="zh-CN" sz="1200" dirty="0">
                <a:solidFill>
                  <a:schemeClr val="bg1"/>
                </a:solidFill>
                <a:latin typeface="思源黑体" panose="020B0500000000000000" pitchFamily="34" charset="-122"/>
                <a:ea typeface="思源黑体" panose="020B0500000000000000" pitchFamily="34" charset="-122"/>
              </a:rPr>
              <a:t>HM-SAF</a:t>
            </a:r>
          </a:p>
        </p:txBody>
      </p:sp>
      <p:sp>
        <p:nvSpPr>
          <p:cNvPr id="16" name="文本框 9"/>
          <p:cNvSpPr txBox="1"/>
          <p:nvPr/>
        </p:nvSpPr>
        <p:spPr>
          <a:xfrm>
            <a:off x="6582450" y="3792469"/>
            <a:ext cx="2100777" cy="220980"/>
          </a:xfrm>
          <a:prstGeom prst="rect">
            <a:avLst/>
          </a:prstGeom>
          <a:noFill/>
        </p:spPr>
        <p:txBody>
          <a:bodyPr wrap="square" lIns="0" tIns="0" rIns="0" bIns="0" rtlCol="0">
            <a:spAutoFit/>
          </a:bodyPr>
          <a:lstStyle/>
          <a:p>
            <a:pPr marL="0" lvl="1" indent="0">
              <a:lnSpc>
                <a:spcPct val="120000"/>
              </a:lnSpc>
              <a:buSzPct val="70000"/>
              <a:buFont typeface="Wingdings" panose="05000000000000000000" pitchFamily="2" charset="2"/>
              <a:buNone/>
            </a:pP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2" name="文本框 9"/>
          <p:cNvSpPr txBox="1"/>
          <p:nvPr/>
        </p:nvSpPr>
        <p:spPr>
          <a:xfrm>
            <a:off x="6582450" y="3792469"/>
            <a:ext cx="2100777" cy="220980"/>
          </a:xfrm>
          <a:prstGeom prst="rect">
            <a:avLst/>
          </a:prstGeom>
          <a:noFill/>
        </p:spPr>
        <p:txBody>
          <a:bodyPr wrap="square" lIns="0" tIns="0" rIns="0" bIns="0" rtlCol="0">
            <a:spAutoFit/>
          </a:bodyPr>
          <a:lstStyle/>
          <a:p>
            <a:pPr marL="0" lvl="0"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技术对比</a:t>
            </a:r>
          </a:p>
        </p:txBody>
      </p:sp>
    </p:spTree>
  </p:cSld>
  <p:clrMapOvr>
    <a:masterClrMapping/>
  </p:clrMapOvr>
  <p:transition spd="slow">
    <p:comb/>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7160" y="753110"/>
            <a:ext cx="6669405" cy="455930"/>
          </a:xfrm>
        </p:spPr>
        <p:txBody>
          <a:bodyPr/>
          <a:lstStyle/>
          <a:p>
            <a:pPr>
              <a:lnSpc>
                <a:spcPct val="120000"/>
              </a:lnSpc>
            </a:pPr>
            <a:r>
              <a:rPr lang="en-US" altLang="zh-CN" dirty="0"/>
              <a:t>ArkAnalyzer</a:t>
            </a:r>
            <a:r>
              <a:rPr lang="zh-CN" altLang="en-US" dirty="0"/>
              <a:t>：奠定</a:t>
            </a:r>
            <a:r>
              <a:rPr lang="en-US" altLang="zh-CN" dirty="0"/>
              <a:t>ArkTS</a:t>
            </a:r>
            <a:r>
              <a:rPr lang="zh-CN" altLang="en-US" dirty="0"/>
              <a:t>静态分析的基石</a:t>
            </a:r>
          </a:p>
        </p:txBody>
      </p:sp>
      <p:sp>
        <p:nvSpPr>
          <p:cNvPr id="3" name="TextBox 41"/>
          <p:cNvSpPr txBox="1"/>
          <p:nvPr/>
        </p:nvSpPr>
        <p:spPr>
          <a:xfrm>
            <a:off x="1407160" y="1438910"/>
            <a:ext cx="5505450" cy="1179830"/>
          </a:xfrm>
          <a:prstGeom prst="rect">
            <a:avLst/>
          </a:prstGeom>
          <a:noFill/>
        </p:spPr>
        <p:txBody>
          <a:bodyPr wrap="square" lIns="0" tIns="0" rIns="0" bIns="0" rtlCol="0">
            <a:spAutoFit/>
          </a:bodyPr>
          <a:lstStyle/>
          <a:p>
            <a:pPr algn="just">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作为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OpenHarmony</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静态分析的基础框架，</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ArkAnalyzer</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的核心贡献在于解决了现有</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JavaScript/ TypeScript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分析工具与</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ArkTS</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语言之间的根本性不兼容问题。</a:t>
            </a:r>
          </a:p>
          <a:p>
            <a:pPr algn="just">
              <a:lnSpc>
                <a:spcPct val="120000"/>
              </a:lnSpc>
            </a:pP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descr="BIARB}BRL6EIYXHWFHD9M}H"/>
          <p:cNvPicPr>
            <a:picLocks noChangeAspect="1"/>
          </p:cNvPicPr>
          <p:nvPr/>
        </p:nvPicPr>
        <p:blipFill>
          <a:blip r:embed="rId3"/>
          <a:stretch>
            <a:fillRect/>
          </a:stretch>
        </p:blipFill>
        <p:spPr>
          <a:xfrm>
            <a:off x="1504950" y="1246505"/>
            <a:ext cx="3018790" cy="154940"/>
          </a:xfrm>
          <a:prstGeom prst="rect">
            <a:avLst/>
          </a:prstGeom>
        </p:spPr>
      </p:pic>
      <p:pic>
        <p:nvPicPr>
          <p:cNvPr id="4" name="图片 3"/>
          <p:cNvPicPr>
            <a:picLocks noChangeAspect="1"/>
          </p:cNvPicPr>
          <p:nvPr/>
        </p:nvPicPr>
        <p:blipFill>
          <a:blip r:embed="rId4"/>
          <a:stretch>
            <a:fillRect/>
          </a:stretch>
        </p:blipFill>
        <p:spPr>
          <a:xfrm>
            <a:off x="1336675" y="2884170"/>
            <a:ext cx="5505450" cy="1647825"/>
          </a:xfrm>
          <a:prstGeom prst="rect">
            <a:avLst/>
          </a:prstGeom>
        </p:spPr>
      </p:pic>
      <p:sp>
        <p:nvSpPr>
          <p:cNvPr id="6" name="文本框 5"/>
          <p:cNvSpPr txBox="1"/>
          <p:nvPr/>
        </p:nvSpPr>
        <p:spPr>
          <a:xfrm>
            <a:off x="2127885" y="4531995"/>
            <a:ext cx="4064000" cy="645160"/>
          </a:xfrm>
          <a:prstGeom prst="rect">
            <a:avLst/>
          </a:prstGeom>
          <a:noFill/>
        </p:spPr>
        <p:txBody>
          <a:bodyPr wrap="square" rtlCol="0">
            <a:spAutoFit/>
          </a:bodyPr>
          <a:lstStyle/>
          <a:p>
            <a:r>
              <a:rPr lang="zh-CN" altLang="en-US"/>
              <a:t>现有</a:t>
            </a:r>
            <a:r>
              <a:rPr lang="en-US" altLang="zh-CN"/>
              <a:t>JavaScript/ TypeScript</a:t>
            </a:r>
            <a:r>
              <a:rPr lang="zh-CN" altLang="en-US"/>
              <a:t>分析工具与</a:t>
            </a:r>
            <a:r>
              <a:rPr lang="en-US" altLang="zh-CN"/>
              <a:t>ArkTS</a:t>
            </a:r>
            <a:r>
              <a:rPr lang="zh-CN" altLang="en-US"/>
              <a:t>语言之间的根本性不兼容问题</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9228883" name="图片 4"/>
          <p:cNvPicPr>
            <a:picLocks noChangeAspect="1" noChangeArrowheads="1"/>
          </p:cNvPicPr>
          <p:nvPr/>
        </p:nvPicPr>
        <p:blipFill>
          <a:blip r:embed="rId15">
            <a:extLst>
              <a:ext uri="{28A0092B-C50C-407E-A947-70E740481C1C}">
                <a14:useLocalDpi xmlns:a14="http://schemas.microsoft.com/office/drawing/2010/main" val="0"/>
              </a:ext>
            </a:extLst>
          </a:blip>
          <a:srcRect b="6811"/>
          <a:stretch>
            <a:fillRect/>
          </a:stretch>
        </p:blipFill>
        <p:spPr>
          <a:xfrm>
            <a:off x="488950" y="2451735"/>
            <a:ext cx="5232400" cy="2767330"/>
          </a:xfrm>
          <a:prstGeom prst="rect">
            <a:avLst/>
          </a:prstGeom>
          <a:noFill/>
          <a:ln>
            <a:noFill/>
          </a:ln>
        </p:spPr>
      </p:pic>
      <p:sp>
        <p:nvSpPr>
          <p:cNvPr id="31" name="同侧圆角矩形 30"/>
          <p:cNvSpPr/>
          <p:nvPr>
            <p:custDataLst>
              <p:tags r:id="rId1"/>
            </p:custDataLst>
          </p:nvPr>
        </p:nvSpPr>
        <p:spPr>
          <a:xfrm rot="5400000">
            <a:off x="8510024" y="-542374"/>
            <a:ext cx="862138" cy="5531926"/>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8" name="同侧圆角矩形 27"/>
          <p:cNvSpPr/>
          <p:nvPr>
            <p:custDataLst>
              <p:tags r:id="rId2"/>
            </p:custDataLst>
          </p:nvPr>
        </p:nvSpPr>
        <p:spPr>
          <a:xfrm rot="5400000">
            <a:off x="8213938" y="2534456"/>
            <a:ext cx="894746" cy="5129130"/>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9" name="同侧圆角矩形 28"/>
          <p:cNvSpPr/>
          <p:nvPr>
            <p:custDataLst>
              <p:tags r:id="rId3"/>
            </p:custDataLst>
          </p:nvPr>
        </p:nvSpPr>
        <p:spPr>
          <a:xfrm rot="5400000">
            <a:off x="8782728" y="1325023"/>
            <a:ext cx="855972" cy="4797608"/>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 name="标题 1"/>
          <p:cNvSpPr>
            <a:spLocks noGrp="1"/>
          </p:cNvSpPr>
          <p:nvPr>
            <p:ph type="title"/>
          </p:nvPr>
        </p:nvSpPr>
        <p:spPr>
          <a:xfrm>
            <a:off x="1407160" y="753110"/>
            <a:ext cx="6164580" cy="455930"/>
          </a:xfrm>
        </p:spPr>
        <p:txBody>
          <a:bodyPr/>
          <a:lstStyle/>
          <a:p>
            <a:pPr>
              <a:lnSpc>
                <a:spcPct val="120000"/>
              </a:lnSpc>
            </a:pPr>
            <a:r>
              <a:rPr lang="en-US" altLang="zh-CN" dirty="0">
                <a:sym typeface="+mn-ea"/>
              </a:rPr>
              <a:t>ArkAnalyzer</a:t>
            </a:r>
            <a:r>
              <a:rPr lang="zh-CN" altLang="en-US" dirty="0">
                <a:sym typeface="+mn-ea"/>
              </a:rPr>
              <a:t>：奠定</a:t>
            </a:r>
            <a:r>
              <a:rPr lang="en-US" altLang="zh-CN" dirty="0">
                <a:sym typeface="+mn-ea"/>
              </a:rPr>
              <a:t>ArkTS</a:t>
            </a:r>
            <a:r>
              <a:rPr lang="zh-CN" altLang="en-US" dirty="0">
                <a:sym typeface="+mn-ea"/>
              </a:rPr>
              <a:t>静态分析的基石</a:t>
            </a:r>
            <a:endParaRPr lang="zh-CN" altLang="en-US" dirty="0"/>
          </a:p>
        </p:txBody>
      </p:sp>
      <p:sp>
        <p:nvSpPr>
          <p:cNvPr id="32" name="矩形 31"/>
          <p:cNvSpPr/>
          <p:nvPr>
            <p:custDataLst>
              <p:tags r:id="rId4"/>
            </p:custDataLst>
          </p:nvPr>
        </p:nvSpPr>
        <p:spPr>
          <a:xfrm>
            <a:off x="6546025" y="1849051"/>
            <a:ext cx="4554828" cy="533400"/>
          </a:xfrm>
          <a:prstGeom prst="rect">
            <a:avLst/>
          </a:prstGeom>
        </p:spPr>
        <p:txBody>
          <a:bodyPr wrap="square">
            <a:spAutoFit/>
          </a:bodyPr>
          <a:lstStyle/>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代码表示模块：</a:t>
            </a:r>
          </a:p>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重新设计抽象语法树（</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AST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）来建模</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ArkTS</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特有的语法结构。</a:t>
            </a:r>
          </a:p>
        </p:txBody>
      </p:sp>
      <p:sp>
        <p:nvSpPr>
          <p:cNvPr id="35" name="椭圆 34"/>
          <p:cNvSpPr/>
          <p:nvPr>
            <p:custDataLst>
              <p:tags r:id="rId5"/>
            </p:custDataLst>
          </p:nvPr>
        </p:nvSpPr>
        <p:spPr>
          <a:xfrm>
            <a:off x="5648269" y="1823662"/>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01</a:t>
            </a:r>
            <a:endParaRPr lang="zh-CN" altLang="en-US" sz="3600" dirty="0">
              <a:solidFill>
                <a:schemeClr val="bg1"/>
              </a:solidFill>
              <a:latin typeface="Agency FB" panose="020B0503020202020204" pitchFamily="34" charset="0"/>
            </a:endParaRPr>
          </a:p>
        </p:txBody>
      </p:sp>
      <p:sp>
        <p:nvSpPr>
          <p:cNvPr id="36" name="椭圆 4"/>
          <p:cNvSpPr/>
          <p:nvPr>
            <p:custDataLst>
              <p:tags r:id="rId6"/>
            </p:custDataLst>
          </p:nvPr>
        </p:nvSpPr>
        <p:spPr>
          <a:xfrm>
            <a:off x="5572351" y="1747135"/>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38" name="矩形 37"/>
          <p:cNvSpPr/>
          <p:nvPr>
            <p:custDataLst>
              <p:tags r:id="rId7"/>
            </p:custDataLst>
          </p:nvPr>
        </p:nvSpPr>
        <p:spPr>
          <a:xfrm>
            <a:off x="7346315" y="3402330"/>
            <a:ext cx="3813175" cy="534670"/>
          </a:xfrm>
          <a:prstGeom prst="rect">
            <a:avLst/>
          </a:prstGeom>
        </p:spPr>
        <p:txBody>
          <a:bodyPr wrap="square">
            <a:noAutofit/>
          </a:bodyPr>
          <a:lstStyle/>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代码转换模块：</a:t>
            </a:r>
          </a:p>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通过三地址码转换和代码去糖化技术来简化复杂的程序结构。</a:t>
            </a:r>
          </a:p>
        </p:txBody>
      </p:sp>
      <p:sp>
        <p:nvSpPr>
          <p:cNvPr id="40" name="椭圆 39"/>
          <p:cNvSpPr/>
          <p:nvPr>
            <p:custDataLst>
              <p:tags r:id="rId8"/>
            </p:custDataLst>
          </p:nvPr>
        </p:nvSpPr>
        <p:spPr>
          <a:xfrm>
            <a:off x="6421122" y="3323900"/>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02</a:t>
            </a:r>
            <a:endParaRPr lang="zh-CN" altLang="en-US" sz="3600" dirty="0">
              <a:solidFill>
                <a:schemeClr val="bg1"/>
              </a:solidFill>
              <a:latin typeface="Agency FB" panose="020B0503020202020204" pitchFamily="34" charset="0"/>
            </a:endParaRPr>
          </a:p>
        </p:txBody>
      </p:sp>
      <p:sp>
        <p:nvSpPr>
          <p:cNvPr id="42" name="椭圆 4"/>
          <p:cNvSpPr/>
          <p:nvPr>
            <p:custDataLst>
              <p:tags r:id="rId9"/>
            </p:custDataLst>
          </p:nvPr>
        </p:nvSpPr>
        <p:spPr>
          <a:xfrm>
            <a:off x="6345204" y="3247373"/>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54" name="矩形 53"/>
          <p:cNvSpPr/>
          <p:nvPr>
            <p:custDataLst>
              <p:tags r:id="rId10"/>
            </p:custDataLst>
          </p:nvPr>
        </p:nvSpPr>
        <p:spPr>
          <a:xfrm>
            <a:off x="6569842" y="4744963"/>
            <a:ext cx="4179382" cy="755015"/>
          </a:xfrm>
          <a:prstGeom prst="rect">
            <a:avLst/>
          </a:prstGeom>
        </p:spPr>
        <p:txBody>
          <a:bodyPr wrap="square">
            <a:spAutoFit/>
          </a:bodyPr>
          <a:lstStyle/>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代码增强模块：</a:t>
            </a:r>
          </a:p>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为后续高级分析提供预计算的支持信息，包括构建定义</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使用链和基于规则的类型推断。</a:t>
            </a:r>
          </a:p>
        </p:txBody>
      </p:sp>
      <p:sp>
        <p:nvSpPr>
          <p:cNvPr id="56" name="椭圆 55"/>
          <p:cNvSpPr/>
          <p:nvPr>
            <p:custDataLst>
              <p:tags r:id="rId11"/>
            </p:custDataLst>
          </p:nvPr>
        </p:nvSpPr>
        <p:spPr>
          <a:xfrm>
            <a:off x="5668952" y="4699094"/>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3600" dirty="0">
                <a:solidFill>
                  <a:schemeClr val="bg1"/>
                </a:solidFill>
                <a:latin typeface="Agency FB" panose="020B0503020202020204" pitchFamily="34" charset="0"/>
              </a:rPr>
              <a:t>03</a:t>
            </a:r>
            <a:endParaRPr lang="zh-CN" altLang="en-US" sz="3600" dirty="0">
              <a:solidFill>
                <a:schemeClr val="bg1"/>
              </a:solidFill>
              <a:latin typeface="Agency FB" panose="020B0503020202020204" pitchFamily="34" charset="0"/>
            </a:endParaRPr>
          </a:p>
        </p:txBody>
      </p:sp>
      <p:sp>
        <p:nvSpPr>
          <p:cNvPr id="57" name="椭圆 4"/>
          <p:cNvSpPr/>
          <p:nvPr>
            <p:custDataLst>
              <p:tags r:id="rId12"/>
            </p:custDataLst>
          </p:nvPr>
        </p:nvSpPr>
        <p:spPr>
          <a:xfrm>
            <a:off x="5593034" y="4622567"/>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endParaRPr lang="zh-CN" altLang="en-US"/>
          </a:p>
        </p:txBody>
      </p:sp>
      <p:pic>
        <p:nvPicPr>
          <p:cNvPr id="12" name="图片 11" descr="BIARB}BRL6EIYXHWFHD9M}H"/>
          <p:cNvPicPr>
            <a:picLocks noChangeAspect="1"/>
          </p:cNvPicPr>
          <p:nvPr/>
        </p:nvPicPr>
        <p:blipFill>
          <a:blip r:embed="rId16"/>
          <a:stretch>
            <a:fillRect/>
          </a:stretch>
        </p:blipFill>
        <p:spPr>
          <a:xfrm>
            <a:off x="1504950" y="1246505"/>
            <a:ext cx="3018790" cy="154940"/>
          </a:xfrm>
          <a:prstGeom prst="rect">
            <a:avLst/>
          </a:prstGeom>
        </p:spPr>
      </p:pic>
      <p:sp>
        <p:nvSpPr>
          <p:cNvPr id="3" name="文本框 2"/>
          <p:cNvSpPr txBox="1"/>
          <p:nvPr/>
        </p:nvSpPr>
        <p:spPr>
          <a:xfrm>
            <a:off x="1657350" y="1665605"/>
            <a:ext cx="4064000" cy="521970"/>
          </a:xfrm>
          <a:prstGeom prst="rect">
            <a:avLst/>
          </a:prstGeom>
          <a:noFill/>
        </p:spPr>
        <p:txBody>
          <a:bodyPr wrap="square" rtlCol="0">
            <a:spAutoFit/>
          </a:bodyPr>
          <a:lstStyle/>
          <a:p>
            <a:r>
              <a:rPr lang="en-US" altLang="zh-CN" sz="1400">
                <a:latin typeface="微软雅黑" panose="020B0503020204020204" pitchFamily="34" charset="-122"/>
                <a:ea typeface="微软雅黑" panose="020B0503020204020204" pitchFamily="34" charset="-122"/>
                <a:cs typeface="微软雅黑" panose="020B0503020204020204" pitchFamily="34" charset="-122"/>
              </a:rPr>
              <a:t>ArkAnalyzer</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的技术突破主要体现在三个模块化的设计上。</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7160" y="753110"/>
            <a:ext cx="6489700" cy="455930"/>
          </a:xfrm>
        </p:spPr>
        <p:txBody>
          <a:bodyPr/>
          <a:lstStyle/>
          <a:p>
            <a:pPr>
              <a:lnSpc>
                <a:spcPct val="120000"/>
              </a:lnSpc>
            </a:pPr>
            <a:r>
              <a:rPr lang="en-US" altLang="zh-CN" dirty="0"/>
              <a:t>HM-SAF</a:t>
            </a:r>
            <a:r>
              <a:rPr lang="zh-CN" altLang="en-US" dirty="0"/>
              <a:t>：面向</a:t>
            </a:r>
            <a:r>
              <a:rPr lang="en-US" altLang="zh-CN" dirty="0"/>
              <a:t>HarmonyOS</a:t>
            </a:r>
            <a:r>
              <a:rPr lang="zh-CN" altLang="en-US" dirty="0"/>
              <a:t>的跨层分析框架</a:t>
            </a:r>
          </a:p>
        </p:txBody>
      </p:sp>
      <p:sp>
        <p:nvSpPr>
          <p:cNvPr id="3" name="TextBox 41"/>
          <p:cNvSpPr txBox="1"/>
          <p:nvPr/>
        </p:nvSpPr>
        <p:spPr>
          <a:xfrm>
            <a:off x="1407160" y="1438910"/>
            <a:ext cx="9284970" cy="4134485"/>
          </a:xfrm>
          <a:prstGeom prst="rect">
            <a:avLst/>
          </a:prstGeom>
          <a:noFill/>
        </p:spPr>
        <p:txBody>
          <a:bodyPr wrap="square" lIns="0" tIns="0" rIns="0" bIns="0" rtlCol="0">
            <a:noAutofit/>
          </a:bodyPr>
          <a:lstStyle/>
          <a:p>
            <a:pPr algn="just">
              <a:lnSpc>
                <a:spcPct val="120000"/>
              </a:lnSpc>
            </a:pP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HM-SAF</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HarmonyOS Static Analysis Framework</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）代表了针对</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HarmonyOS</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同源）特有架构的专用分析框架的发展。该框架的核心创新在于提出了一种基于汇总内存的自底向上数据流分析算法，旨在解决传统</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Android</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分析框架无法直接应用于</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HarmonyOS</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跨层架构的难题。</a:t>
            </a:r>
          </a:p>
          <a:p>
            <a:pPr algn="just">
              <a:lnSpc>
                <a:spcPct val="120000"/>
              </a:lnSpc>
            </a:pP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HM-SAF</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的技术特点包括：专门设计了</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HMICCBench</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HMNativeFlowBench</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基准测试套件，用于评估分析工具在跨组件及</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Native</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层数据流分析上的有效性。根据其公开的评估结果，该框架在检测数据泄露方面达到了</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93.6%</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的准确率。</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HM-SAF</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的提出标志着分析重点从通用的语言解析，转向了针对特定操作系统架构和组件交互模型的安全问题。</a:t>
            </a:r>
          </a:p>
        </p:txBody>
      </p:sp>
      <p:pic>
        <p:nvPicPr>
          <p:cNvPr id="5" name="图片 4" descr="BIARB}BRL6EIYXHWFHD9M}H"/>
          <p:cNvPicPr>
            <a:picLocks noChangeAspect="1"/>
          </p:cNvPicPr>
          <p:nvPr/>
        </p:nvPicPr>
        <p:blipFill>
          <a:blip r:embed="rId3"/>
          <a:stretch>
            <a:fillRect/>
          </a:stretch>
        </p:blipFill>
        <p:spPr>
          <a:xfrm>
            <a:off x="1504950" y="1246505"/>
            <a:ext cx="3018790" cy="154940"/>
          </a:xfrm>
          <a:prstGeom prst="rect">
            <a:avLst/>
          </a:prstGeom>
        </p:spPr>
      </p:pic>
      <p:pic>
        <p:nvPicPr>
          <p:cNvPr id="8" name="图片 7"/>
          <p:cNvPicPr>
            <a:picLocks noChangeAspect="1"/>
          </p:cNvPicPr>
          <p:nvPr/>
        </p:nvPicPr>
        <p:blipFill>
          <a:blip r:embed="rId4"/>
          <a:stretch>
            <a:fillRect/>
          </a:stretch>
        </p:blipFill>
        <p:spPr>
          <a:xfrm>
            <a:off x="1801495" y="3140075"/>
            <a:ext cx="7800975" cy="2695575"/>
          </a:xfrm>
          <a:prstGeom prst="rect">
            <a:avLst/>
          </a:prstGeom>
        </p:spPr>
      </p:pic>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VA5UF4KC`IWOFL(`2`N}1RC"/>
          <p:cNvPicPr>
            <a:picLocks noChangeAspect="1"/>
          </p:cNvPicPr>
          <p:nvPr/>
        </p:nvPicPr>
        <p:blipFill>
          <a:blip r:embed="rId15"/>
          <a:stretch>
            <a:fillRect/>
          </a:stretch>
        </p:blipFill>
        <p:spPr>
          <a:xfrm>
            <a:off x="551815" y="1849120"/>
            <a:ext cx="5869305" cy="3354070"/>
          </a:xfrm>
          <a:prstGeom prst="rect">
            <a:avLst/>
          </a:prstGeom>
        </p:spPr>
      </p:pic>
      <p:sp>
        <p:nvSpPr>
          <p:cNvPr id="31" name="同侧圆角矩形 30"/>
          <p:cNvSpPr/>
          <p:nvPr>
            <p:custDataLst>
              <p:tags r:id="rId1"/>
            </p:custDataLst>
          </p:nvPr>
        </p:nvSpPr>
        <p:spPr>
          <a:xfrm rot="5400000">
            <a:off x="8510024" y="-542374"/>
            <a:ext cx="862138" cy="5531926"/>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8" name="同侧圆角矩形 27"/>
          <p:cNvSpPr/>
          <p:nvPr>
            <p:custDataLst>
              <p:tags r:id="rId2"/>
            </p:custDataLst>
          </p:nvPr>
        </p:nvSpPr>
        <p:spPr>
          <a:xfrm rot="5400000">
            <a:off x="8213938" y="2534456"/>
            <a:ext cx="894746" cy="5129130"/>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9" name="同侧圆角矩形 28"/>
          <p:cNvSpPr/>
          <p:nvPr>
            <p:custDataLst>
              <p:tags r:id="rId3"/>
            </p:custDataLst>
          </p:nvPr>
        </p:nvSpPr>
        <p:spPr>
          <a:xfrm rot="5400000">
            <a:off x="8782728" y="1325023"/>
            <a:ext cx="855972" cy="4797608"/>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 name="标题 1"/>
          <p:cNvSpPr>
            <a:spLocks noGrp="1"/>
          </p:cNvSpPr>
          <p:nvPr>
            <p:ph type="title"/>
          </p:nvPr>
        </p:nvSpPr>
        <p:spPr>
          <a:xfrm>
            <a:off x="1407160" y="753110"/>
            <a:ext cx="7417435" cy="455930"/>
          </a:xfrm>
        </p:spPr>
        <p:txBody>
          <a:bodyPr/>
          <a:lstStyle/>
          <a:p>
            <a:pPr>
              <a:lnSpc>
                <a:spcPct val="120000"/>
              </a:lnSpc>
            </a:pPr>
            <a:r>
              <a:rPr lang="en-US" altLang="zh-CN" dirty="0"/>
              <a:t>HapFlow</a:t>
            </a:r>
            <a:r>
              <a:rPr lang="zh-CN" altLang="en-US" dirty="0"/>
              <a:t>：</a:t>
            </a:r>
            <a:r>
              <a:rPr lang="en-US" altLang="zh-CN" dirty="0"/>
              <a:t>OpenHarmony</a:t>
            </a:r>
            <a:r>
              <a:rPr lang="zh-CN" altLang="en-US" dirty="0"/>
              <a:t>污点分析的专用化实现</a:t>
            </a:r>
          </a:p>
        </p:txBody>
      </p:sp>
      <p:sp>
        <p:nvSpPr>
          <p:cNvPr id="32" name="矩形 31"/>
          <p:cNvSpPr/>
          <p:nvPr>
            <p:custDataLst>
              <p:tags r:id="rId4"/>
            </p:custDataLst>
          </p:nvPr>
        </p:nvSpPr>
        <p:spPr>
          <a:xfrm>
            <a:off x="6546025" y="1849051"/>
            <a:ext cx="4554828" cy="755015"/>
          </a:xfrm>
          <a:prstGeom prst="rect">
            <a:avLst/>
          </a:prstGeom>
        </p:spPr>
        <p:txBody>
          <a:bodyPr wrap="square">
            <a:spAutoFit/>
          </a:bodyPr>
          <a:lstStyle/>
          <a:p>
            <a:pPr algn="just">
              <a:lnSpc>
                <a:spcPct val="120000"/>
              </a:lnSpc>
            </a:pP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sym typeface="+mn-ea"/>
              </a:rPr>
              <a:t>HarmonyMain</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构造模块：</a:t>
            </a:r>
          </a:p>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收集所有潜在入口（生命周期与声明式</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UI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回调），统一建模为虚拟主函数，解决隐式调用链问题</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椭圆 34"/>
          <p:cNvSpPr/>
          <p:nvPr>
            <p:custDataLst>
              <p:tags r:id="rId5"/>
            </p:custDataLst>
          </p:nvPr>
        </p:nvSpPr>
        <p:spPr>
          <a:xfrm>
            <a:off x="5648269" y="1823662"/>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01</a:t>
            </a:r>
            <a:endParaRPr lang="zh-CN" altLang="en-US" sz="3600" dirty="0">
              <a:solidFill>
                <a:schemeClr val="bg1"/>
              </a:solidFill>
              <a:latin typeface="Agency FB" panose="020B0503020202020204" pitchFamily="34" charset="0"/>
            </a:endParaRPr>
          </a:p>
        </p:txBody>
      </p:sp>
      <p:sp>
        <p:nvSpPr>
          <p:cNvPr id="36" name="椭圆 4"/>
          <p:cNvSpPr/>
          <p:nvPr>
            <p:custDataLst>
              <p:tags r:id="rId6"/>
            </p:custDataLst>
          </p:nvPr>
        </p:nvSpPr>
        <p:spPr>
          <a:xfrm>
            <a:off x="5572351" y="1747135"/>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38" name="矩形 37"/>
          <p:cNvSpPr/>
          <p:nvPr>
            <p:custDataLst>
              <p:tags r:id="rId7"/>
            </p:custDataLst>
          </p:nvPr>
        </p:nvSpPr>
        <p:spPr>
          <a:xfrm>
            <a:off x="7346315" y="3402330"/>
            <a:ext cx="3813175" cy="534670"/>
          </a:xfrm>
          <a:prstGeom prst="rect">
            <a:avLst/>
          </a:prstGeom>
        </p:spPr>
        <p:txBody>
          <a:bodyPr wrap="square">
            <a:noAutofit/>
          </a:bodyPr>
          <a:lstStyle/>
          <a:p>
            <a:pPr algn="just">
              <a:lnSpc>
                <a:spcPct val="12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Source/Sink API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提取模块：</a:t>
            </a:r>
          </a:p>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12,019</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个</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中识别出高危敏感接口，细分为 </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return, param, callback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三类，</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Kappa</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一致性高。</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椭圆 39"/>
          <p:cNvSpPr/>
          <p:nvPr>
            <p:custDataLst>
              <p:tags r:id="rId8"/>
            </p:custDataLst>
          </p:nvPr>
        </p:nvSpPr>
        <p:spPr>
          <a:xfrm>
            <a:off x="6421122" y="3323900"/>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02</a:t>
            </a:r>
            <a:endParaRPr lang="zh-CN" altLang="en-US" sz="3600" dirty="0">
              <a:solidFill>
                <a:schemeClr val="bg1"/>
              </a:solidFill>
              <a:latin typeface="Agency FB" panose="020B0503020202020204" pitchFamily="34" charset="0"/>
            </a:endParaRPr>
          </a:p>
        </p:txBody>
      </p:sp>
      <p:sp>
        <p:nvSpPr>
          <p:cNvPr id="42" name="椭圆 4"/>
          <p:cNvSpPr/>
          <p:nvPr>
            <p:custDataLst>
              <p:tags r:id="rId9"/>
            </p:custDataLst>
          </p:nvPr>
        </p:nvSpPr>
        <p:spPr>
          <a:xfrm>
            <a:off x="6345204" y="3247373"/>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54" name="矩形 53"/>
          <p:cNvSpPr/>
          <p:nvPr>
            <p:custDataLst>
              <p:tags r:id="rId10"/>
            </p:custDataLst>
          </p:nvPr>
        </p:nvSpPr>
        <p:spPr>
          <a:xfrm>
            <a:off x="6569842" y="4744963"/>
            <a:ext cx="4179382" cy="755015"/>
          </a:xfrm>
          <a:prstGeom prst="rect">
            <a:avLst/>
          </a:prstGeom>
        </p:spPr>
        <p:txBody>
          <a:bodyPr wrap="square">
            <a:spAutoFit/>
          </a:bodyPr>
          <a:lstStyle/>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基于 </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IFDS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的精确污点分析模块：</a:t>
            </a:r>
          </a:p>
          <a:p>
            <a:pPr algn="just">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实现多维度敏感（流、字段、上下文、别名）的过程间分析，专设闭包感知传播算法。</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6" name="椭圆 55"/>
          <p:cNvSpPr/>
          <p:nvPr>
            <p:custDataLst>
              <p:tags r:id="rId11"/>
            </p:custDataLst>
          </p:nvPr>
        </p:nvSpPr>
        <p:spPr>
          <a:xfrm>
            <a:off x="5668952" y="4699094"/>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3600" dirty="0">
                <a:solidFill>
                  <a:schemeClr val="bg1"/>
                </a:solidFill>
                <a:latin typeface="Agency FB" panose="020B0503020202020204" pitchFamily="34" charset="0"/>
              </a:rPr>
              <a:t>03</a:t>
            </a:r>
            <a:endParaRPr lang="zh-CN" altLang="en-US" sz="3600" dirty="0">
              <a:solidFill>
                <a:schemeClr val="bg1"/>
              </a:solidFill>
              <a:latin typeface="Agency FB" panose="020B0503020202020204" pitchFamily="34" charset="0"/>
            </a:endParaRPr>
          </a:p>
        </p:txBody>
      </p:sp>
      <p:sp>
        <p:nvSpPr>
          <p:cNvPr id="57" name="椭圆 4"/>
          <p:cNvSpPr/>
          <p:nvPr>
            <p:custDataLst>
              <p:tags r:id="rId12"/>
            </p:custDataLst>
          </p:nvPr>
        </p:nvSpPr>
        <p:spPr>
          <a:xfrm>
            <a:off x="5593034" y="4622567"/>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endParaRPr lang="zh-CN" altLang="en-US"/>
          </a:p>
        </p:txBody>
      </p:sp>
      <p:pic>
        <p:nvPicPr>
          <p:cNvPr id="12" name="图片 11" descr="BIARB}BRL6EIYXHWFHD9M}H"/>
          <p:cNvPicPr>
            <a:picLocks noChangeAspect="1"/>
          </p:cNvPicPr>
          <p:nvPr/>
        </p:nvPicPr>
        <p:blipFill>
          <a:blip r:embed="rId16"/>
          <a:stretch>
            <a:fillRect/>
          </a:stretch>
        </p:blipFill>
        <p:spPr>
          <a:xfrm>
            <a:off x="1504950" y="1246505"/>
            <a:ext cx="3018790" cy="154940"/>
          </a:xfrm>
          <a:prstGeom prst="rect">
            <a:avLst/>
          </a:prstGeom>
        </p:spPr>
      </p:pic>
      <p:sp>
        <p:nvSpPr>
          <p:cNvPr id="3" name="文本框 2"/>
          <p:cNvSpPr txBox="1"/>
          <p:nvPr/>
        </p:nvSpPr>
        <p:spPr>
          <a:xfrm>
            <a:off x="1637030" y="1766570"/>
            <a:ext cx="3841750" cy="579120"/>
          </a:xfrm>
          <a:prstGeom prst="rect">
            <a:avLst/>
          </a:prstGeom>
          <a:noFill/>
        </p:spPr>
        <p:txBody>
          <a:bodyPr wrap="square" rtlCol="0">
            <a:noAutofit/>
          </a:bodyPr>
          <a:lstStyle/>
          <a:p>
            <a:r>
              <a:rPr lang="en-US" altLang="zh-CN" sz="1400">
                <a:latin typeface="微软雅黑" panose="020B0503020204020204" pitchFamily="34" charset="-122"/>
                <a:ea typeface="微软雅黑" panose="020B0503020204020204" pitchFamily="34" charset="-122"/>
                <a:cs typeface="微软雅黑" panose="020B0503020204020204" pitchFamily="34" charset="-122"/>
              </a:rPr>
              <a:t>HapFlow</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的整体架构由三个核心模块组成，各模块职责边界清晰，便于理解与修改</a:t>
            </a:r>
            <a:r>
              <a:rPr lang="zh-CN" altLang="en-US">
                <a:latin typeface="微软雅黑" panose="020B0503020204020204" pitchFamily="34" charset="-122"/>
                <a:ea typeface="微软雅黑" panose="020B0503020204020204" pitchFamily="34" charset="-122"/>
              </a:rPr>
              <a:t>。</a:t>
            </a: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7160" y="753110"/>
            <a:ext cx="7548245" cy="455930"/>
          </a:xfrm>
        </p:spPr>
        <p:txBody>
          <a:bodyPr/>
          <a:lstStyle/>
          <a:p>
            <a:pPr>
              <a:lnSpc>
                <a:spcPct val="120000"/>
              </a:lnSpc>
            </a:pPr>
            <a:r>
              <a:rPr lang="en-US" altLang="zh-CN" dirty="0">
                <a:sym typeface="+mn-ea"/>
              </a:rPr>
              <a:t>HapFlow</a:t>
            </a:r>
            <a:r>
              <a:rPr lang="zh-CN" altLang="en-US" dirty="0">
                <a:sym typeface="+mn-ea"/>
              </a:rPr>
              <a:t>：</a:t>
            </a:r>
            <a:r>
              <a:rPr lang="en-US" altLang="zh-CN" dirty="0">
                <a:sym typeface="+mn-ea"/>
              </a:rPr>
              <a:t>OpenHarmony</a:t>
            </a:r>
            <a:r>
              <a:rPr lang="zh-CN" altLang="en-US" dirty="0">
                <a:sym typeface="+mn-ea"/>
              </a:rPr>
              <a:t>污点分析的专用化实现</a:t>
            </a:r>
            <a:endParaRPr lang="zh-CN" altLang="en-US" dirty="0"/>
          </a:p>
        </p:txBody>
      </p:sp>
      <p:grpSp>
        <p:nvGrpSpPr>
          <p:cNvPr id="21" name="组合 20"/>
          <p:cNvGrpSpPr/>
          <p:nvPr>
            <p:custDataLst>
              <p:tags r:id="rId1"/>
            </p:custDataLst>
          </p:nvPr>
        </p:nvGrpSpPr>
        <p:grpSpPr>
          <a:xfrm>
            <a:off x="2039845" y="1893215"/>
            <a:ext cx="7730818" cy="4161528"/>
            <a:chOff x="1138238" y="995645"/>
            <a:chExt cx="9732202" cy="5238882"/>
          </a:xfrm>
        </p:grpSpPr>
        <p:sp>
          <p:nvSpPr>
            <p:cNvPr id="22" name="Freeform 6"/>
            <p:cNvSpPr/>
            <p:nvPr/>
          </p:nvSpPr>
          <p:spPr bwMode="auto">
            <a:xfrm>
              <a:off x="1138238" y="2667283"/>
              <a:ext cx="2065338" cy="1787525"/>
            </a:xfrm>
            <a:custGeom>
              <a:avLst/>
              <a:gdLst>
                <a:gd name="T0" fmla="*/ 2143 w 2858"/>
                <a:gd name="T1" fmla="*/ 0 h 2475"/>
                <a:gd name="T2" fmla="*/ 2501 w 2858"/>
                <a:gd name="T3" fmla="*/ 619 h 2475"/>
                <a:gd name="T4" fmla="*/ 2858 w 2858"/>
                <a:gd name="T5" fmla="*/ 1238 h 2475"/>
                <a:gd name="T6" fmla="*/ 2501 w 2858"/>
                <a:gd name="T7" fmla="*/ 1856 h 2475"/>
                <a:gd name="T8" fmla="*/ 2143 w 2858"/>
                <a:gd name="T9" fmla="*/ 2475 h 2475"/>
                <a:gd name="T10" fmla="*/ 1429 w 2858"/>
                <a:gd name="T11" fmla="*/ 2475 h 2475"/>
                <a:gd name="T12" fmla="*/ 714 w 2858"/>
                <a:gd name="T13" fmla="*/ 2475 h 2475"/>
                <a:gd name="T14" fmla="*/ 357 w 2858"/>
                <a:gd name="T15" fmla="*/ 1856 h 2475"/>
                <a:gd name="T16" fmla="*/ 0 w 2858"/>
                <a:gd name="T17" fmla="*/ 1238 h 2475"/>
                <a:gd name="T18" fmla="*/ 357 w 2858"/>
                <a:gd name="T19" fmla="*/ 619 h 2475"/>
                <a:gd name="T20" fmla="*/ 714 w 2858"/>
                <a:gd name="T21" fmla="*/ 0 h 2475"/>
                <a:gd name="T22" fmla="*/ 1429 w 2858"/>
                <a:gd name="T23" fmla="*/ 0 h 2475"/>
                <a:gd name="T24" fmla="*/ 2143 w 2858"/>
                <a:gd name="T25" fmla="*/ 0 h 2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sp>
          <p:nvSpPr>
            <p:cNvPr id="23" name="Line 7"/>
            <p:cNvSpPr>
              <a:spLocks noChangeShapeType="1"/>
            </p:cNvSpPr>
            <p:nvPr/>
          </p:nvSpPr>
          <p:spPr bwMode="auto">
            <a:xfrm flipV="1">
              <a:off x="2690813" y="183384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sp>
          <p:nvSpPr>
            <p:cNvPr id="24" name="Line 8"/>
            <p:cNvSpPr>
              <a:spLocks noChangeShapeType="1"/>
            </p:cNvSpPr>
            <p:nvPr/>
          </p:nvSpPr>
          <p:spPr bwMode="auto">
            <a:xfrm flipV="1">
              <a:off x="3201987" y="3564220"/>
              <a:ext cx="549275" cy="0"/>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sp>
          <p:nvSpPr>
            <p:cNvPr id="25" name="Line 13"/>
            <p:cNvSpPr>
              <a:spLocks noChangeShapeType="1"/>
            </p:cNvSpPr>
            <p:nvPr/>
          </p:nvSpPr>
          <p:spPr bwMode="auto">
            <a:xfrm>
              <a:off x="2690813" y="445639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grpSp>
          <p:nvGrpSpPr>
            <p:cNvPr id="28" name="组合 27"/>
            <p:cNvGrpSpPr/>
            <p:nvPr/>
          </p:nvGrpSpPr>
          <p:grpSpPr>
            <a:xfrm>
              <a:off x="3751263" y="995645"/>
              <a:ext cx="7119177" cy="1959512"/>
              <a:chOff x="3751263" y="995645"/>
              <a:chExt cx="7119177" cy="1959512"/>
            </a:xfrm>
          </p:grpSpPr>
          <p:sp>
            <p:nvSpPr>
              <p:cNvPr id="44" name="Rectangle 9"/>
              <p:cNvSpPr>
                <a:spLocks noChangeArrowheads="1"/>
              </p:cNvSpPr>
              <p:nvPr>
                <p:custDataLst>
                  <p:tags r:id="rId10"/>
                </p:custDataLst>
              </p:nvPr>
            </p:nvSpPr>
            <p:spPr bwMode="auto">
              <a:xfrm>
                <a:off x="3751263" y="1333579"/>
                <a:ext cx="7119177" cy="1348886"/>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5" name="Rectangle 10"/>
              <p:cNvSpPr>
                <a:spLocks noChangeArrowheads="1"/>
              </p:cNvSpPr>
              <p:nvPr>
                <p:custDataLst>
                  <p:tags r:id="rId11"/>
                </p:custDataLst>
              </p:nvPr>
            </p:nvSpPr>
            <p:spPr bwMode="auto">
              <a:xfrm>
                <a:off x="5540009" y="995645"/>
                <a:ext cx="3581400" cy="582090"/>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6" name="TextBox 16"/>
              <p:cNvSpPr txBox="1"/>
              <p:nvPr>
                <p:custDataLst>
                  <p:tags r:id="rId12"/>
                </p:custDataLst>
              </p:nvPr>
            </p:nvSpPr>
            <p:spPr>
              <a:xfrm>
                <a:off x="5776685" y="995645"/>
                <a:ext cx="3108046" cy="1044805"/>
              </a:xfrm>
              <a:prstGeom prst="rect">
                <a:avLst/>
              </a:prstGeom>
              <a:noFill/>
            </p:spPr>
            <p:txBody>
              <a:bodyPr wrap="square" rtlCol="0">
                <a:spAutoFit/>
              </a:bodyPr>
              <a:lstStyle/>
              <a:p>
                <a:pPr algn="ctr">
                  <a:lnSpc>
                    <a:spcPct val="120000"/>
                  </a:lnSpc>
                </a:pPr>
                <a:r>
                  <a:rPr lang="zh-CN" altLang="en-US" sz="2000" b="1" dirty="0">
                    <a:solidFill>
                      <a:schemeClr val="bg1"/>
                    </a:solidFill>
                    <a:latin typeface="+mn-ea"/>
                    <a:ea typeface="+mn-ea"/>
                  </a:rPr>
                  <a:t>开源制品的完整性与可获取性</a:t>
                </a:r>
              </a:p>
            </p:txBody>
          </p:sp>
          <p:sp>
            <p:nvSpPr>
              <p:cNvPr id="47" name="TextBox 17"/>
              <p:cNvSpPr txBox="1"/>
              <p:nvPr>
                <p:custDataLst>
                  <p:tags r:id="rId13"/>
                </p:custDataLst>
              </p:nvPr>
            </p:nvSpPr>
            <p:spPr>
              <a:xfrm>
                <a:off x="3938139" y="1776693"/>
                <a:ext cx="6807854" cy="1178464"/>
              </a:xfrm>
              <a:prstGeom prst="rect">
                <a:avLst/>
              </a:prstGeom>
              <a:noFill/>
            </p:spPr>
            <p:txBody>
              <a:bodyPr wrap="square" rtlCol="0">
                <a:spAutoFit/>
              </a:bodyPr>
              <a:lstStyle/>
              <a:p>
                <a:pPr algn="just">
                  <a:lnSpc>
                    <a:spcPct val="12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提供了完整的源代码、实验配置文件</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(Artifact)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，且底层依赖 </a:t>
                </a:r>
                <a:r>
                  <a:rPr lang="en-US" altLang="zh-CN" sz="1400" dirty="0" err="1">
                    <a:latin typeface="微软雅黑" panose="020B0503020204020204" pitchFamily="34" charset="-122"/>
                    <a:ea typeface="微软雅黑" panose="020B0503020204020204" pitchFamily="34" charset="-122"/>
                    <a:cs typeface="微软雅黑" panose="020B0503020204020204" pitchFamily="34" charset="-122"/>
                    <a:sym typeface="+mn-ea"/>
                  </a:rPr>
                  <a:t>ArkAnalyzer</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也全开源</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400" dirty="0" err="1">
                    <a:latin typeface="微软雅黑" panose="020B0503020204020204" pitchFamily="34" charset="-122"/>
                    <a:ea typeface="微软雅黑" panose="020B0503020204020204" pitchFamily="34" charset="-122"/>
                    <a:cs typeface="微软雅黑" panose="020B0503020204020204" pitchFamily="34" charset="-122"/>
                    <a:sym typeface="+mn-ea"/>
                  </a:rPr>
                  <a:t>Gitee</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algn="just">
                  <a:lnSpc>
                    <a:spcPct val="120000"/>
                  </a:lnSpc>
                </a:pP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1" name="组合 30"/>
            <p:cNvGrpSpPr/>
            <p:nvPr/>
          </p:nvGrpSpPr>
          <p:grpSpPr>
            <a:xfrm>
              <a:off x="3751263" y="2741895"/>
              <a:ext cx="7119177" cy="1686748"/>
              <a:chOff x="3751263" y="2741895"/>
              <a:chExt cx="7119177" cy="1686748"/>
            </a:xfrm>
          </p:grpSpPr>
          <p:sp>
            <p:nvSpPr>
              <p:cNvPr id="38" name="Rectangle 11"/>
              <p:cNvSpPr>
                <a:spLocks noChangeArrowheads="1"/>
              </p:cNvSpPr>
              <p:nvPr>
                <p:custDataLst>
                  <p:tags r:id="rId6"/>
                </p:custDataLst>
              </p:nvPr>
            </p:nvSpPr>
            <p:spPr bwMode="auto">
              <a:xfrm>
                <a:off x="3751263" y="3081414"/>
                <a:ext cx="7119177" cy="1347229"/>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0" name="Rectangle 12"/>
              <p:cNvSpPr>
                <a:spLocks noChangeArrowheads="1"/>
              </p:cNvSpPr>
              <p:nvPr>
                <p:custDataLst>
                  <p:tags r:id="rId7"/>
                </p:custDataLst>
              </p:nvPr>
            </p:nvSpPr>
            <p:spPr bwMode="auto">
              <a:xfrm>
                <a:off x="5540009" y="27418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1" name="TextBox 18"/>
              <p:cNvSpPr txBox="1"/>
              <p:nvPr>
                <p:custDataLst>
                  <p:tags r:id="rId8"/>
                </p:custDataLst>
              </p:nvPr>
            </p:nvSpPr>
            <p:spPr>
              <a:xfrm>
                <a:off x="5776685" y="2750677"/>
                <a:ext cx="3108046" cy="579559"/>
              </a:xfrm>
              <a:prstGeom prst="rect">
                <a:avLst/>
              </a:prstGeom>
              <a:noFill/>
            </p:spPr>
            <p:txBody>
              <a:bodyPr wrap="square" rtlCol="0">
                <a:spAutoFit/>
              </a:bodyPr>
              <a:lstStyle/>
              <a:p>
                <a:pPr algn="ctr">
                  <a:lnSpc>
                    <a:spcPct val="120000"/>
                  </a:lnSpc>
                </a:pPr>
                <a:r>
                  <a:rPr lang="zh-CN" altLang="en-US" sz="2000" b="1" dirty="0">
                    <a:solidFill>
                      <a:schemeClr val="bg1"/>
                    </a:solidFill>
                    <a:latin typeface="+mn-ea"/>
                  </a:rPr>
                  <a:t>充分的实验验证</a:t>
                </a:r>
              </a:p>
            </p:txBody>
          </p:sp>
          <p:sp>
            <p:nvSpPr>
              <p:cNvPr id="43" name="TextBox 19"/>
              <p:cNvSpPr txBox="1"/>
              <p:nvPr>
                <p:custDataLst>
                  <p:tags r:id="rId9"/>
                </p:custDataLst>
              </p:nvPr>
            </p:nvSpPr>
            <p:spPr>
              <a:xfrm>
                <a:off x="3938139" y="3509957"/>
                <a:ext cx="6807854" cy="765018"/>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algn="just">
                  <a:lnSpc>
                    <a:spcPct val="120000"/>
                  </a:lnSpc>
                </a:pPr>
                <a:r>
                  <a:rPr lang="en-US" altLang="zh-CN" sz="1400" dirty="0">
                    <a:solidFill>
                      <a:schemeClr val="tx1"/>
                    </a:solidFill>
                    <a:latin typeface="微软雅黑" panose="020B0503020204020204" pitchFamily="34" charset="-122"/>
                    <a:ea typeface="微软雅黑" panose="020B0503020204020204" pitchFamily="34" charset="-122"/>
                    <a:sym typeface="+mn-ea"/>
                  </a:rPr>
                  <a:t>HapFlow</a:t>
                </a:r>
                <a:r>
                  <a:rPr lang="zh-CN" altLang="en-US" sz="1400" dirty="0">
                    <a:solidFill>
                      <a:schemeClr val="tx1"/>
                    </a:solidFill>
                    <a:latin typeface="微软雅黑" panose="020B0503020204020204" pitchFamily="34" charset="-122"/>
                    <a:ea typeface="微软雅黑" panose="020B0503020204020204" pitchFamily="34" charset="-122"/>
                    <a:sym typeface="+mn-ea"/>
                  </a:rPr>
                  <a:t>在论文中展示了充分的实验验证，提供了强大的论据。包括精度评估、大规模应用评估、消融实验等。</a:t>
                </a:r>
                <a:endParaRPr lang="zh-CN" altLang="en-US" sz="1200" dirty="0">
                  <a:solidFill>
                    <a:schemeClr val="tx1"/>
                  </a:solidFill>
                  <a:latin typeface="思源黑体" panose="020B0500000000000000" pitchFamily="34" charset="-122"/>
                  <a:ea typeface="思源黑体" panose="020B0500000000000000" pitchFamily="34" charset="-122"/>
                  <a:sym typeface="+mn-ea"/>
                </a:endParaRPr>
              </a:p>
            </p:txBody>
          </p:sp>
        </p:grpSp>
        <p:grpSp>
          <p:nvGrpSpPr>
            <p:cNvPr id="32" name="组合 31"/>
            <p:cNvGrpSpPr/>
            <p:nvPr/>
          </p:nvGrpSpPr>
          <p:grpSpPr>
            <a:xfrm>
              <a:off x="3751263" y="4494495"/>
              <a:ext cx="7119177" cy="1740032"/>
              <a:chOff x="3751263" y="4494495"/>
              <a:chExt cx="7119177" cy="1740032"/>
            </a:xfrm>
          </p:grpSpPr>
          <p:sp>
            <p:nvSpPr>
              <p:cNvPr id="34" name="Rectangle 14"/>
              <p:cNvSpPr>
                <a:spLocks noChangeArrowheads="1"/>
              </p:cNvSpPr>
              <p:nvPr>
                <p:custDataLst>
                  <p:tags r:id="rId2"/>
                </p:custDataLst>
              </p:nvPr>
            </p:nvSpPr>
            <p:spPr bwMode="auto">
              <a:xfrm>
                <a:off x="3751263" y="4832429"/>
                <a:ext cx="7119177" cy="1348885"/>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35" name="Rectangle 15"/>
              <p:cNvSpPr>
                <a:spLocks noChangeArrowheads="1"/>
              </p:cNvSpPr>
              <p:nvPr>
                <p:custDataLst>
                  <p:tags r:id="rId3"/>
                </p:custDataLst>
              </p:nvPr>
            </p:nvSpPr>
            <p:spPr bwMode="auto">
              <a:xfrm>
                <a:off x="5540009" y="44944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36" name="TextBox 20"/>
              <p:cNvSpPr txBox="1"/>
              <p:nvPr>
                <p:custDataLst>
                  <p:tags r:id="rId4"/>
                </p:custDataLst>
              </p:nvPr>
            </p:nvSpPr>
            <p:spPr>
              <a:xfrm>
                <a:off x="5282097" y="4497693"/>
                <a:ext cx="4055312" cy="579559"/>
              </a:xfrm>
              <a:prstGeom prst="rect">
                <a:avLst/>
              </a:prstGeom>
              <a:noFill/>
            </p:spPr>
            <p:txBody>
              <a:bodyPr wrap="square" rtlCol="0">
                <a:spAutoFit/>
              </a:bodyPr>
              <a:lstStyle/>
              <a:p>
                <a:pPr algn="ctr">
                  <a:lnSpc>
                    <a:spcPct val="120000"/>
                  </a:lnSpc>
                </a:pPr>
                <a:r>
                  <a:rPr lang="en-US" altLang="zh-CN" sz="2000" b="1" dirty="0">
                    <a:solidFill>
                      <a:schemeClr val="bg1"/>
                    </a:solidFill>
                    <a:latin typeface="+mn-ea"/>
                  </a:rPr>
                  <a:t>HapBench </a:t>
                </a:r>
                <a:r>
                  <a:rPr lang="zh-CN" altLang="en-US" sz="2000" b="1" dirty="0">
                    <a:solidFill>
                      <a:schemeClr val="bg1"/>
                    </a:solidFill>
                    <a:latin typeface="+mn-ea"/>
                  </a:rPr>
                  <a:t>基准测试套件</a:t>
                </a:r>
              </a:p>
            </p:txBody>
          </p:sp>
          <p:sp>
            <p:nvSpPr>
              <p:cNvPr id="37" name="TextBox 21"/>
              <p:cNvSpPr txBox="1"/>
              <p:nvPr>
                <p:custDataLst>
                  <p:tags r:id="rId5"/>
                </p:custDataLst>
              </p:nvPr>
            </p:nvSpPr>
            <p:spPr>
              <a:xfrm>
                <a:off x="3938139" y="5144157"/>
                <a:ext cx="6807854" cy="1090370"/>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algn="just">
                  <a:lnSpc>
                    <a:spcPct val="120000"/>
                  </a:lnSpc>
                </a:pP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构建了</a:t>
                </a:r>
                <a:r>
                  <a:rPr lang="en-US" alt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HapBench,</a:t>
                </a: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首个专门面向 </a:t>
                </a:r>
                <a:r>
                  <a:rPr lang="en-US" altLang="zh-CN" sz="14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OpenHarmony</a:t>
                </a:r>
                <a:r>
                  <a:rPr lang="en-US" alt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的污点评估基准。</a:t>
                </a:r>
              </a:p>
              <a:p>
                <a:pPr algn="just">
                  <a:lnSpc>
                    <a:spcPct val="120000"/>
                  </a:lnSpc>
                </a:pPr>
                <a:r>
                  <a:rPr lang="en-US" alt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包含</a:t>
                </a:r>
                <a:r>
                  <a:rPr lang="en-US" alt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个类别共</a:t>
                </a:r>
                <a:r>
                  <a:rPr lang="en-US" alt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67</a:t>
                </a: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个测试用例（覆盖别名、闭包、生命周期隐式调用等），提供明确的 </a:t>
                </a:r>
                <a:r>
                  <a:rPr lang="en-US" alt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Ground Truth</a:t>
                </a: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标注。</a:t>
                </a:r>
              </a:p>
            </p:txBody>
          </p:sp>
        </p:grpSp>
        <p:sp>
          <p:nvSpPr>
            <p:cNvPr id="33" name="TextBox 22"/>
            <p:cNvSpPr txBox="1"/>
            <p:nvPr/>
          </p:nvSpPr>
          <p:spPr>
            <a:xfrm>
              <a:off x="1409419" y="2929014"/>
              <a:ext cx="1499007" cy="1230264"/>
            </a:xfrm>
            <a:prstGeom prst="rect">
              <a:avLst/>
            </a:prstGeom>
            <a:noFill/>
          </p:spPr>
          <p:txBody>
            <a:bodyPr wrap="square" rtlCol="0">
              <a:spAutoFit/>
            </a:bodyPr>
            <a:lstStyle/>
            <a:p>
              <a:pPr algn="ctr">
                <a:lnSpc>
                  <a:spcPct val="120000"/>
                </a:lnSpc>
              </a:pPr>
              <a:r>
                <a:rPr lang="zh-CN" altLang="en-US" sz="2400" b="1" dirty="0">
                  <a:solidFill>
                    <a:schemeClr val="bg1"/>
                  </a:solidFill>
                  <a:latin typeface="+mn-ea"/>
                </a:rPr>
                <a:t>工程</a:t>
              </a:r>
            </a:p>
            <a:p>
              <a:pPr algn="ctr">
                <a:lnSpc>
                  <a:spcPct val="120000"/>
                </a:lnSpc>
              </a:pPr>
              <a:r>
                <a:rPr lang="zh-CN" altLang="en-US" sz="2400" b="1" dirty="0">
                  <a:solidFill>
                    <a:schemeClr val="bg1"/>
                  </a:solidFill>
                  <a:latin typeface="+mn-ea"/>
                </a:rPr>
                <a:t>可行性</a:t>
              </a:r>
              <a:endParaRPr lang="en-US" altLang="zh-CN" sz="2400" b="1" dirty="0">
                <a:solidFill>
                  <a:schemeClr val="bg1"/>
                </a:solidFill>
                <a:latin typeface="+mn-ea"/>
              </a:endParaRPr>
            </a:p>
          </p:txBody>
        </p:sp>
      </p:grpSp>
      <p:pic>
        <p:nvPicPr>
          <p:cNvPr id="12" name="图片 11" descr="BIARB}BRL6EIYXHWFHD9M}H"/>
          <p:cNvPicPr>
            <a:picLocks noChangeAspect="1"/>
          </p:cNvPicPr>
          <p:nvPr/>
        </p:nvPicPr>
        <p:blipFill>
          <a:blip r:embed="rId16"/>
          <a:stretch>
            <a:fillRect/>
          </a:stretch>
        </p:blipFill>
        <p:spPr>
          <a:xfrm>
            <a:off x="1504950" y="1246505"/>
            <a:ext cx="3018790" cy="154940"/>
          </a:xfrm>
          <a:prstGeom prst="rect">
            <a:avLst/>
          </a:prstGeom>
        </p:spPr>
      </p:pic>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2132" y="761700"/>
            <a:ext cx="4023264" cy="456129"/>
          </a:xfrm>
        </p:spPr>
        <p:txBody>
          <a:bodyPr/>
          <a:lstStyle/>
          <a:p>
            <a:pPr>
              <a:lnSpc>
                <a:spcPct val="120000"/>
              </a:lnSpc>
            </a:pPr>
            <a:r>
              <a:rPr lang="zh-CN" altLang="en-US" dirty="0"/>
              <a:t>技术对比</a:t>
            </a:r>
          </a:p>
        </p:txBody>
      </p:sp>
      <p:grpSp>
        <p:nvGrpSpPr>
          <p:cNvPr id="16" name="组合 15"/>
          <p:cNvGrpSpPr/>
          <p:nvPr>
            <p:custDataLst>
              <p:tags r:id="rId1"/>
            </p:custDataLst>
          </p:nvPr>
        </p:nvGrpSpPr>
        <p:grpSpPr>
          <a:xfrm>
            <a:off x="1527975" y="2213539"/>
            <a:ext cx="4496308" cy="865505"/>
            <a:chOff x="1007084" y="1225382"/>
            <a:chExt cx="5440787" cy="1047309"/>
          </a:xfrm>
        </p:grpSpPr>
        <p:sp>
          <p:nvSpPr>
            <p:cNvPr id="17" name="Oval 17"/>
            <p:cNvSpPr>
              <a:spLocks noChangeArrowheads="1"/>
            </p:cNvSpPr>
            <p:nvPr>
              <p:custDataLst>
                <p:tags r:id="rId9"/>
              </p:custDataLst>
            </p:nvPr>
          </p:nvSpPr>
          <p:spPr bwMode="auto">
            <a:xfrm>
              <a:off x="1007084" y="1372699"/>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1</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18" name="矩形 17"/>
            <p:cNvSpPr/>
            <p:nvPr>
              <p:custDataLst>
                <p:tags r:id="rId10"/>
              </p:custDataLst>
            </p:nvPr>
          </p:nvSpPr>
          <p:spPr>
            <a:xfrm>
              <a:off x="1808363" y="1225382"/>
              <a:ext cx="4639508" cy="104730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对比 </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Android </a:t>
              </a: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生态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安卓工具依赖成熟</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字节码</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(Soot)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sym typeface="+mn-ea"/>
                </a:rPr>
                <a:t>HapFlow</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需从零解决前端语言解析。</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19" name="组合 18"/>
          <p:cNvGrpSpPr/>
          <p:nvPr>
            <p:custDataLst>
              <p:tags r:id="rId2"/>
            </p:custDataLst>
          </p:nvPr>
        </p:nvGrpSpPr>
        <p:grpSpPr>
          <a:xfrm>
            <a:off x="1527975" y="3533877"/>
            <a:ext cx="4496308" cy="1087120"/>
            <a:chOff x="1007084" y="2748997"/>
            <a:chExt cx="5440787" cy="1315478"/>
          </a:xfrm>
        </p:grpSpPr>
        <p:sp>
          <p:nvSpPr>
            <p:cNvPr id="20" name="Oval 17"/>
            <p:cNvSpPr>
              <a:spLocks noChangeArrowheads="1"/>
            </p:cNvSpPr>
            <p:nvPr>
              <p:custDataLst>
                <p:tags r:id="rId7"/>
              </p:custDataLst>
            </p:nvPr>
          </p:nvSpPr>
          <p:spPr bwMode="auto">
            <a:xfrm>
              <a:off x="1007084" y="2925107"/>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2</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21" name="矩形 20"/>
            <p:cNvSpPr/>
            <p:nvPr>
              <p:custDataLst>
                <p:tags r:id="rId8"/>
              </p:custDataLst>
            </p:nvPr>
          </p:nvSpPr>
          <p:spPr>
            <a:xfrm>
              <a:off x="1808363" y="2748997"/>
              <a:ext cx="4639508" cy="13154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对比 </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C/C++ </a:t>
              </a: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框架</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底层中间表示完全不同。</a:t>
              </a:r>
            </a:p>
            <a:p>
              <a:pPr>
                <a:lnSpc>
                  <a:spcPct val="12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UI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范式不同：</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sym typeface="+mn-ea"/>
                </a:rPr>
                <a:t>HapFlow</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首次实现对声明式</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UI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sym typeface="+mn-ea"/>
                </a:rPr>
                <a:t>ArkUI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）语义的精准建模。</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grpSp>
      <p:grpSp>
        <p:nvGrpSpPr>
          <p:cNvPr id="22" name="组合 21"/>
          <p:cNvGrpSpPr/>
          <p:nvPr>
            <p:custDataLst>
              <p:tags r:id="rId3"/>
            </p:custDataLst>
          </p:nvPr>
        </p:nvGrpSpPr>
        <p:grpSpPr>
          <a:xfrm>
            <a:off x="1527975" y="4854215"/>
            <a:ext cx="4361838" cy="865505"/>
            <a:chOff x="1007084" y="4355902"/>
            <a:chExt cx="5278071" cy="1047312"/>
          </a:xfrm>
        </p:grpSpPr>
        <p:sp>
          <p:nvSpPr>
            <p:cNvPr id="23" name="Oval 17"/>
            <p:cNvSpPr>
              <a:spLocks noChangeArrowheads="1"/>
            </p:cNvSpPr>
            <p:nvPr>
              <p:custDataLst>
                <p:tags r:id="rId5"/>
              </p:custDataLst>
            </p:nvPr>
          </p:nvSpPr>
          <p:spPr bwMode="auto">
            <a:xfrm>
              <a:off x="1007084" y="4484588"/>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3</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24" name="矩形 23"/>
            <p:cNvSpPr/>
            <p:nvPr>
              <p:custDataLst>
                <p:tags r:id="rId6"/>
              </p:custDataLst>
            </p:nvPr>
          </p:nvSpPr>
          <p:spPr>
            <a:xfrm>
              <a:off x="1808364" y="4355902"/>
              <a:ext cx="4476791" cy="1047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dirty="0">
                  <a:latin typeface="微软雅黑" panose="020B0503020204020204" pitchFamily="34" charset="-122"/>
                  <a:ea typeface="微软雅黑" panose="020B0503020204020204" pitchFamily="34" charset="-122"/>
                  <a:sym typeface="+mn-ea"/>
                </a:rPr>
                <a:t>总结：</a:t>
              </a:r>
            </a:p>
            <a:p>
              <a:pPr>
                <a:lnSpc>
                  <a:spcPct val="120000"/>
                </a:lnSpc>
              </a:pPr>
              <a:r>
                <a:rPr lang="zh-CN" altLang="en-US" sz="1200" dirty="0">
                  <a:latin typeface="微软雅黑" panose="020B0503020204020204" pitchFamily="34" charset="-122"/>
                  <a:ea typeface="微软雅黑" panose="020B0503020204020204" pitchFamily="34" charset="-122"/>
                  <a:sym typeface="+mn-ea"/>
                </a:rPr>
                <a:t>直接应对特定语言约束，高度模块化适应快速演进的生态架构。</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pic>
        <p:nvPicPr>
          <p:cNvPr id="5" name="图片 4" descr="BIARB}BRL6EIYXHWFHD9M}H"/>
          <p:cNvPicPr>
            <a:picLocks noChangeAspect="1"/>
          </p:cNvPicPr>
          <p:nvPr/>
        </p:nvPicPr>
        <p:blipFill>
          <a:blip r:embed="rId13"/>
          <a:stretch>
            <a:fillRect/>
          </a:stretch>
        </p:blipFill>
        <p:spPr>
          <a:xfrm>
            <a:off x="1504950" y="1246505"/>
            <a:ext cx="3018790" cy="154940"/>
          </a:xfrm>
          <a:prstGeom prst="rect">
            <a:avLst/>
          </a:prstGeom>
        </p:spPr>
      </p:pic>
      <p:sp>
        <p:nvSpPr>
          <p:cNvPr id="3" name="文本框 2"/>
          <p:cNvSpPr txBox="1"/>
          <p:nvPr/>
        </p:nvSpPr>
        <p:spPr>
          <a:xfrm>
            <a:off x="1527810" y="1393190"/>
            <a:ext cx="6424930" cy="621665"/>
          </a:xfrm>
          <a:prstGeom prst="rect">
            <a:avLst/>
          </a:prstGeom>
          <a:noFill/>
        </p:spPr>
        <p:txBody>
          <a:bodyPr wrap="square" rtlCol="0">
            <a:noAutofit/>
          </a:bodyPr>
          <a:lstStyle/>
          <a:p>
            <a:r>
              <a:rPr lang="zh-CN" altLang="en-US">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a:latin typeface="微软雅黑" panose="020B0503020204020204" pitchFamily="34" charset="-122"/>
                <a:ea typeface="微软雅黑" panose="020B0503020204020204" pitchFamily="34" charset="-122"/>
                <a:cs typeface="微软雅黑" panose="020B0503020204020204" pitchFamily="34" charset="-122"/>
              </a:rPr>
              <a:t> OpenHarmony </a:t>
            </a:r>
            <a:r>
              <a:rPr lang="zh-CN" altLang="en-US">
                <a:latin typeface="微软雅黑" panose="020B0503020204020204" pitchFamily="34" charset="-122"/>
                <a:ea typeface="微软雅黑" panose="020B0503020204020204" pitchFamily="34" charset="-122"/>
                <a:cs typeface="微软雅黑" panose="020B0503020204020204" pitchFamily="34" charset="-122"/>
              </a:rPr>
              <a:t>生态的工具与其它成熟平台的框架进行对比，可以更清晰地理解其技术演进的独特性和面临的挑战。</a:t>
            </a:r>
          </a:p>
        </p:txBody>
      </p:sp>
      <p:sp>
        <p:nvSpPr>
          <p:cNvPr id="6" name="文本框 5"/>
          <p:cNvSpPr txBox="1"/>
          <p:nvPr/>
        </p:nvSpPr>
        <p:spPr>
          <a:xfrm>
            <a:off x="6923405" y="2501265"/>
            <a:ext cx="4064000" cy="368300"/>
          </a:xfrm>
          <a:prstGeom prst="rect">
            <a:avLst/>
          </a:prstGeom>
          <a:noFill/>
        </p:spPr>
        <p:txBody>
          <a:bodyPr wrap="square" rtlCol="0">
            <a:spAutoFit/>
          </a:bodyPr>
          <a:lstStyle/>
          <a:p>
            <a:endParaRPr lang="zh-CN" altLang="en-US"/>
          </a:p>
        </p:txBody>
      </p:sp>
      <p:graphicFrame>
        <p:nvGraphicFramePr>
          <p:cNvPr id="7" name="表格 6"/>
          <p:cNvGraphicFramePr/>
          <p:nvPr>
            <p:custDataLst>
              <p:tags r:id="rId4"/>
            </p:custDataLst>
          </p:nvPr>
        </p:nvGraphicFramePr>
        <p:xfrm>
          <a:off x="5889625" y="2116455"/>
          <a:ext cx="5737860" cy="3714115"/>
        </p:xfrm>
        <a:graphic>
          <a:graphicData uri="http://schemas.openxmlformats.org/drawingml/2006/table">
            <a:tbl>
              <a:tblPr/>
              <a:tblGrid>
                <a:gridCol w="742950">
                  <a:extLst>
                    <a:ext uri="{9D8B030D-6E8A-4147-A177-3AD203B41FA5}">
                      <a16:colId xmlns:a16="http://schemas.microsoft.com/office/drawing/2014/main" val="20000"/>
                    </a:ext>
                  </a:extLst>
                </a:gridCol>
                <a:gridCol w="1071880">
                  <a:extLst>
                    <a:ext uri="{9D8B030D-6E8A-4147-A177-3AD203B41FA5}">
                      <a16:colId xmlns:a16="http://schemas.microsoft.com/office/drawing/2014/main" val="20001"/>
                    </a:ext>
                  </a:extLst>
                </a:gridCol>
                <a:gridCol w="1919605">
                  <a:extLst>
                    <a:ext uri="{9D8B030D-6E8A-4147-A177-3AD203B41FA5}">
                      <a16:colId xmlns:a16="http://schemas.microsoft.com/office/drawing/2014/main" val="20002"/>
                    </a:ext>
                  </a:extLst>
                </a:gridCol>
                <a:gridCol w="2003425">
                  <a:extLst>
                    <a:ext uri="{9D8B030D-6E8A-4147-A177-3AD203B41FA5}">
                      <a16:colId xmlns:a16="http://schemas.microsoft.com/office/drawing/2014/main" val="20003"/>
                    </a:ext>
                  </a:extLst>
                </a:gridCol>
              </a:tblGrid>
              <a:tr h="516255">
                <a:tc>
                  <a:txBody>
                    <a:bodyPr/>
                    <a:lstStyle/>
                    <a:p>
                      <a:pPr marL="121920" indent="304800" algn="just">
                        <a:spcBef>
                          <a:spcPct val="0"/>
                        </a:spcBef>
                        <a:spcAft>
                          <a:spcPct val="0"/>
                        </a:spcAft>
                      </a:pPr>
                      <a:r>
                        <a:rPr lang="zh-CN" altLang="en-US" sz="1200">
                          <a:latin typeface="微软雅黑" panose="020B0503020204020204" pitchFamily="34" charset="-122"/>
                          <a:ea typeface="微软雅黑" panose="020B0503020204020204" pitchFamily="34" charset="-122"/>
                        </a:rPr>
                        <a:t>分析框架</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304800" algn="just">
                        <a:spcBef>
                          <a:spcPct val="0"/>
                        </a:spcBef>
                        <a:spcAft>
                          <a:spcPct val="0"/>
                        </a:spcAft>
                      </a:pPr>
                      <a:r>
                        <a:rPr lang="en-US" sz="1200">
                          <a:latin typeface="微软雅黑" panose="020B0503020204020204" pitchFamily="34" charset="-122"/>
                          <a:ea typeface="微软雅黑" panose="020B0503020204020204" pitchFamily="34" charset="-122"/>
                        </a:rPr>
                        <a:t>目标平台</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304800" algn="just">
                        <a:spcBef>
                          <a:spcPct val="0"/>
                        </a:spcBef>
                        <a:spcAft>
                          <a:spcPct val="0"/>
                        </a:spcAft>
                      </a:pPr>
                      <a:r>
                        <a:rPr lang="en-US" sz="1200">
                          <a:latin typeface="微软雅黑" panose="020B0503020204020204" pitchFamily="34" charset="-122"/>
                          <a:ea typeface="微软雅黑" panose="020B0503020204020204" pitchFamily="34" charset="-122"/>
                        </a:rPr>
                        <a:t>核心技术特点</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304800" algn="just">
                        <a:spcBef>
                          <a:spcPct val="0"/>
                        </a:spcBef>
                        <a:spcAft>
                          <a:spcPct val="0"/>
                        </a:spcAft>
                      </a:pPr>
                      <a:r>
                        <a:rPr lang="en-US" sz="1200">
                          <a:latin typeface="微软雅黑" panose="020B0503020204020204" pitchFamily="34" charset="-122"/>
                          <a:ea typeface="微软雅黑" panose="020B0503020204020204" pitchFamily="34" charset="-122"/>
                        </a:rPr>
                        <a:t>演进阶段定位</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r h="533400">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ArkAnalyzer</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OpenHarmony/ ArkTS</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a:latin typeface="微软雅黑" panose="020B0503020204020204" pitchFamily="34" charset="-122"/>
                          <a:ea typeface="微软雅黑" panose="020B0503020204020204" pitchFamily="34" charset="-122"/>
                          <a:cs typeface="微软雅黑" panose="020B0503020204020204" pitchFamily="34" charset="-122"/>
                        </a:rPr>
                        <a:t>重新设计</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AST</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、三地址码转换、</a:t>
                      </a:r>
                      <a:r>
                        <a:rPr lang="en-US" sz="1100">
                          <a:latin typeface="微软雅黑" panose="020B0503020204020204" pitchFamily="34" charset="-122"/>
                          <a:ea typeface="微软雅黑" panose="020B0503020204020204" pitchFamily="34" charset="-122"/>
                          <a:cs typeface="微软雅黑" panose="020B0503020204020204" pitchFamily="34" charset="-122"/>
                        </a:rPr>
                        <a:t>代码去糖化</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b="1">
                          <a:latin typeface="微软雅黑" panose="020B0503020204020204" pitchFamily="34" charset="-122"/>
                          <a:ea typeface="微软雅黑" panose="020B0503020204020204" pitchFamily="34" charset="-122"/>
                        </a:rPr>
                        <a:t>基础设施构建</a:t>
                      </a:r>
                      <a:r>
                        <a:rPr lang="en-US" sz="1100">
                          <a:latin typeface="微软雅黑" panose="020B0503020204020204" pitchFamily="34" charset="-122"/>
                          <a:ea typeface="微软雅黑" panose="020B0503020204020204" pitchFamily="34" charset="-122"/>
                        </a:rPr>
                        <a:t>：解决语言级解析的根本问题</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532765">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HM-SAF</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HarmonyOS</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dirty="0" err="1">
                          <a:latin typeface="微软雅黑" panose="020B0503020204020204" pitchFamily="34" charset="-122"/>
                          <a:ea typeface="微软雅黑" panose="020B0503020204020204" pitchFamily="34" charset="-122"/>
                        </a:rPr>
                        <a:t>基于汇总内存的自底向上数据流分析</a:t>
                      </a:r>
                      <a:endParaRPr lang="en-US" sz="1100" dirty="0">
                        <a:latin typeface="微软雅黑" panose="020B0503020204020204" pitchFamily="34" charset="-122"/>
                        <a:ea typeface="微软雅黑" panose="020B0503020204020204" pitchFamily="34" charset="-122"/>
                      </a:endParaRP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b="1">
                          <a:latin typeface="微软雅黑" panose="020B0503020204020204" pitchFamily="34" charset="-122"/>
                          <a:ea typeface="微软雅黑" panose="020B0503020204020204" pitchFamily="34" charset="-122"/>
                          <a:cs typeface="微软雅黑" panose="020B0503020204020204" pitchFamily="34" charset="-122"/>
                        </a:rPr>
                        <a:t>通用分析框架</a:t>
                      </a:r>
                      <a:r>
                        <a:rPr lang="en-US" sz="1100">
                          <a:latin typeface="微软雅黑" panose="020B0503020204020204" pitchFamily="34" charset="-122"/>
                          <a:ea typeface="微软雅黑" panose="020B0503020204020204" pitchFamily="34" charset="-122"/>
                          <a:cs typeface="微软雅黑" panose="020B0503020204020204" pitchFamily="34" charset="-122"/>
                        </a:rPr>
                        <a:t>：针对特定</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OS</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架构</a:t>
                      </a:r>
                      <a:r>
                        <a:rPr lang="en-US" sz="1100">
                          <a:latin typeface="微软雅黑" panose="020B0503020204020204" pitchFamily="34" charset="-122"/>
                          <a:ea typeface="微软雅黑" panose="020B0503020204020204" pitchFamily="34" charset="-122"/>
                          <a:cs typeface="微软雅黑" panose="020B0503020204020204" pitchFamily="34" charset="-122"/>
                        </a:rPr>
                        <a:t>的跨层分析</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532765">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HapFlow</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altLang="zh-CN" sz="1100" dirty="0" err="1">
                          <a:latin typeface="等线" panose="02010600030101010101" charset="-122"/>
                          <a:ea typeface="等线" panose="02010600030101010101" charset="-122"/>
                        </a:rPr>
                        <a:t>OpenHarmony</a:t>
                      </a:r>
                      <a:endParaRPr lang="en-US" altLang="zh-CN" sz="1100" dirty="0">
                        <a:latin typeface="等线" panose="02010600030101010101" charset="-122"/>
                        <a:ea typeface="等线" panose="02010600030101010101" charset="-122"/>
                      </a:endParaRP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dirty="0" err="1">
                          <a:latin typeface="微软雅黑" panose="020B0503020204020204" pitchFamily="34" charset="-122"/>
                          <a:ea typeface="微软雅黑" panose="020B0503020204020204" pitchFamily="34" charset="-122"/>
                        </a:rPr>
                        <a:t>生命周期感知的污点分析（据论文标题推断</a:t>
                      </a:r>
                      <a:r>
                        <a:rPr lang="en-US" sz="1100" dirty="0">
                          <a:latin typeface="微软雅黑" panose="020B0503020204020204" pitchFamily="34" charset="-122"/>
                          <a:ea typeface="微软雅黑" panose="020B0503020204020204" pitchFamily="34" charset="-122"/>
                        </a:rPr>
                        <a:t>）</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b="1">
                          <a:latin typeface="微软雅黑" panose="020B0503020204020204" pitchFamily="34" charset="-122"/>
                          <a:ea typeface="微软雅黑" panose="020B0503020204020204" pitchFamily="34" charset="-122"/>
                        </a:rPr>
                        <a:t>专用安全工具</a:t>
                      </a:r>
                      <a:r>
                        <a:rPr lang="en-US" sz="1100">
                          <a:latin typeface="微软雅黑" panose="020B0503020204020204" pitchFamily="34" charset="-122"/>
                          <a:ea typeface="微软雅黑" panose="020B0503020204020204" pitchFamily="34" charset="-122"/>
                        </a:rPr>
                        <a:t>：在基础设施上实现特定安全分析</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532765">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FlowDroi d</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altLang="zh-CN" sz="1100" dirty="0">
                          <a:latin typeface="等线" panose="02010600030101010101" charset="-122"/>
                          <a:ea typeface="等线" panose="02010600030101010101" charset="-122"/>
                        </a:rPr>
                        <a:t>Android</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a:latin typeface="微软雅黑" panose="020B0503020204020204" pitchFamily="34" charset="-122"/>
                          <a:ea typeface="微软雅黑" panose="020B0503020204020204" pitchFamily="34" charset="-122"/>
                          <a:cs typeface="微软雅黑" panose="020B0503020204020204" pitchFamily="34" charset="-122"/>
                        </a:rPr>
                        <a:t>上下文、流、字段敏感分析，基于</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Soot</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框架</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a:latin typeface="微软雅黑" panose="020B0503020204020204" pitchFamily="34" charset="-122"/>
                          <a:ea typeface="微软雅黑" panose="020B0503020204020204" pitchFamily="34" charset="-122"/>
                        </a:rPr>
                        <a:t>成熟生态中的专用安全工具（参考基线）</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533400">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PhASAR</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C/C++</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altLang="zh-CN" sz="1100">
                          <a:latin typeface="微软雅黑" panose="020B0503020204020204" pitchFamily="34" charset="-122"/>
                          <a:ea typeface="微软雅黑" panose="020B0503020204020204" pitchFamily="34" charset="-122"/>
                          <a:cs typeface="微软雅黑" panose="020B0503020204020204" pitchFamily="34" charset="-122"/>
                        </a:rPr>
                        <a:t>IFDS/IDE</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算法、</a:t>
                      </a:r>
                      <a:r>
                        <a:rPr lang="en-US" altLang="zh-CN" sz="1100">
                          <a:latin typeface="微软雅黑" panose="020B0503020204020204" pitchFamily="34" charset="-122"/>
                          <a:ea typeface="微软雅黑" panose="020B0503020204020204" pitchFamily="34" charset="-122"/>
                          <a:cs typeface="微软雅黑" panose="020B0503020204020204" pitchFamily="34" charset="-122"/>
                        </a:rPr>
                        <a:t>LLVM IR</a:t>
                      </a:r>
                      <a:r>
                        <a:rPr lang="zh-CN" altLang="en-US" sz="1100">
                          <a:latin typeface="微软雅黑" panose="020B0503020204020204" pitchFamily="34" charset="-122"/>
                          <a:ea typeface="微软雅黑" panose="020B0503020204020204" pitchFamily="34" charset="-122"/>
                          <a:cs typeface="微软雅黑" panose="020B0503020204020204" pitchFamily="34" charset="-122"/>
                        </a:rPr>
                        <a:t>分析、</a:t>
                      </a:r>
                      <a:r>
                        <a:rPr lang="en-US" sz="1100">
                          <a:latin typeface="微软雅黑" panose="020B0503020204020204" pitchFamily="34" charset="-122"/>
                          <a:ea typeface="微软雅黑" panose="020B0503020204020204" pitchFamily="34" charset="-122"/>
                          <a:cs typeface="微软雅黑" panose="020B0503020204020204" pitchFamily="34" charset="-122"/>
                        </a:rPr>
                        <a:t>模块化设计</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a:latin typeface="微软雅黑" panose="020B0503020204020204" pitchFamily="34" charset="-122"/>
                          <a:ea typeface="微软雅黑" panose="020B0503020204020204" pitchFamily="34" charset="-122"/>
                          <a:cs typeface="微软雅黑" panose="020B0503020204020204" pitchFamily="34" charset="-122"/>
                        </a:rPr>
                        <a:t>语言无关的中间表示分析框架</a:t>
                      </a:r>
                      <a:r>
                        <a:rPr lang="en-US" altLang="zh-CN" sz="1100">
                          <a:latin typeface="微软雅黑" panose="020B0503020204020204" pitchFamily="34" charset="-122"/>
                          <a:ea typeface="微软雅黑" panose="020B0503020204020204" pitchFamily="34" charset="-122"/>
                          <a:cs typeface="微软雅黑" panose="020B0503020204020204" pitchFamily="34" charset="-122"/>
                          <a:hlinkClick r:id="rId14" action="ppaction://hlinkfile"/>
                        </a:rPr>
                        <a:t>5</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532765">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EvoTaint</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altLang="zh-CN" sz="1100">
                          <a:latin typeface="等线" panose="02010600030101010101" charset="-122"/>
                          <a:ea typeface="等线" panose="02010600030101010101" charset="-122"/>
                        </a:rPr>
                        <a:t>Android</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a:latin typeface="微软雅黑" panose="020B0503020204020204" pitchFamily="34" charset="-122"/>
                          <a:ea typeface="微软雅黑" panose="020B0503020204020204" pitchFamily="34" charset="-122"/>
                        </a:rPr>
                        <a:t>增量式污点分析，适应应用演化</a:t>
                      </a: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marL="121920" indent="0" algn="l">
                        <a:spcBef>
                          <a:spcPct val="0"/>
                        </a:spcBef>
                        <a:spcAft>
                          <a:spcPct val="0"/>
                        </a:spcAft>
                      </a:pPr>
                      <a:r>
                        <a:rPr lang="en-US" sz="1100" dirty="0" err="1">
                          <a:latin typeface="微软雅黑" panose="020B0503020204020204" pitchFamily="34" charset="-122"/>
                          <a:ea typeface="微软雅黑" panose="020B0503020204020204" pitchFamily="34" charset="-122"/>
                        </a:rPr>
                        <a:t>在成熟基础设施上对分析性能的优化</a:t>
                      </a:r>
                      <a:endParaRPr lang="en-US" sz="1100" dirty="0">
                        <a:latin typeface="微软雅黑" panose="020B0503020204020204" pitchFamily="34" charset="-122"/>
                        <a:ea typeface="微软雅黑" panose="020B0503020204020204" pitchFamily="34" charset="-122"/>
                      </a:endParaRP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AF1EA-086E-C578-E264-38EE474F6341}"/>
            </a:ext>
          </a:extLst>
        </p:cNvPr>
        <p:cNvGrpSpPr/>
        <p:nvPr/>
      </p:nvGrpSpPr>
      <p:grpSpPr>
        <a:xfrm>
          <a:off x="0" y="0"/>
          <a:ext cx="0" cy="0"/>
          <a:chOff x="0" y="0"/>
          <a:chExt cx="0" cy="0"/>
        </a:xfrm>
      </p:grpSpPr>
      <p:pic>
        <p:nvPicPr>
          <p:cNvPr id="18" name="图片 17">
            <a:extLst>
              <a:ext uri="{FF2B5EF4-FFF2-40B4-BE49-F238E27FC236}">
                <a16:creationId xmlns:a16="http://schemas.microsoft.com/office/drawing/2014/main" id="{117751BE-9CBE-1B83-DE91-F72900FB19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a:extLst>
              <a:ext uri="{FF2B5EF4-FFF2-40B4-BE49-F238E27FC236}">
                <a16:creationId xmlns:a16="http://schemas.microsoft.com/office/drawing/2014/main" id="{DA4BBC56-8935-157C-2D7B-A9E82BF01EC2}"/>
              </a:ext>
            </a:extLst>
          </p:cNvPr>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a:extLst>
              <a:ext uri="{FF2B5EF4-FFF2-40B4-BE49-F238E27FC236}">
                <a16:creationId xmlns:a16="http://schemas.microsoft.com/office/drawing/2014/main" id="{97026867-4B9A-9EE8-9E4B-90EDC6CC2142}"/>
              </a:ext>
            </a:extLst>
          </p:cNvPr>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a:extLst>
              <a:ext uri="{FF2B5EF4-FFF2-40B4-BE49-F238E27FC236}">
                <a16:creationId xmlns:a16="http://schemas.microsoft.com/office/drawing/2014/main" id="{030F4ED9-AB8A-95F1-6FD6-B514C4322950}"/>
              </a:ext>
            </a:extLst>
          </p:cNvPr>
          <p:cNvSpPr txBox="1"/>
          <p:nvPr/>
        </p:nvSpPr>
        <p:spPr>
          <a:xfrm>
            <a:off x="2857349" y="2443843"/>
            <a:ext cx="1699504"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03</a:t>
            </a:r>
            <a:endParaRPr lang="zh-CN" altLang="en-US" sz="13800" dirty="0">
              <a:solidFill>
                <a:schemeClr val="bg1"/>
              </a:solidFill>
              <a:latin typeface="Agency FB" panose="020B0503020202020204" pitchFamily="34" charset="0"/>
            </a:endParaRPr>
          </a:p>
        </p:txBody>
      </p:sp>
      <p:sp>
        <p:nvSpPr>
          <p:cNvPr id="25" name="文本框 24">
            <a:extLst>
              <a:ext uri="{FF2B5EF4-FFF2-40B4-BE49-F238E27FC236}">
                <a16:creationId xmlns:a16="http://schemas.microsoft.com/office/drawing/2014/main" id="{B6913F35-AA77-5F86-C7E7-DBFF6CD17B4B}"/>
              </a:ext>
            </a:extLst>
          </p:cNvPr>
          <p:cNvSpPr txBox="1"/>
          <p:nvPr/>
        </p:nvSpPr>
        <p:spPr>
          <a:xfrm>
            <a:off x="4911483" y="2716242"/>
            <a:ext cx="4238307" cy="521970"/>
          </a:xfrm>
          <a:prstGeom prst="rect">
            <a:avLst/>
          </a:prstGeom>
          <a:noFill/>
        </p:spPr>
        <p:txBody>
          <a:bodyPr wrap="square" rtlCol="0">
            <a:spAutoFit/>
            <a:scene3d>
              <a:camera prst="orthographicFront"/>
              <a:lightRig rig="threePt" dir="t"/>
            </a:scene3d>
            <a:sp3d contourW="12700"/>
          </a:bodyPr>
          <a:lstStyle/>
          <a:p>
            <a:r>
              <a:rPr lang="zh-CN" altLang="en-US" sz="2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工具初步搭建情况</a:t>
            </a:r>
          </a:p>
        </p:txBody>
      </p:sp>
      <p:cxnSp>
        <p:nvCxnSpPr>
          <p:cNvPr id="27" name="直接连接符 26">
            <a:extLst>
              <a:ext uri="{FF2B5EF4-FFF2-40B4-BE49-F238E27FC236}">
                <a16:creationId xmlns:a16="http://schemas.microsoft.com/office/drawing/2014/main" id="{A559B2FF-1F7D-AFC7-4363-307670A33200}"/>
              </a:ext>
            </a:extLst>
          </p:cNvPr>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75E87394-CFD5-80BB-4307-7D419CC9D6BB}"/>
              </a:ext>
            </a:extLst>
          </p:cNvPr>
          <p:cNvSpPr txBox="1"/>
          <p:nvPr/>
        </p:nvSpPr>
        <p:spPr>
          <a:xfrm>
            <a:off x="5034394" y="3531006"/>
            <a:ext cx="166457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环境配置与依赖安装</a:t>
            </a:r>
          </a:p>
        </p:txBody>
      </p:sp>
      <p:sp>
        <p:nvSpPr>
          <p:cNvPr id="14" name="文本框 9">
            <a:extLst>
              <a:ext uri="{FF2B5EF4-FFF2-40B4-BE49-F238E27FC236}">
                <a16:creationId xmlns:a16="http://schemas.microsoft.com/office/drawing/2014/main" id="{042F35D1-51D1-11C2-AC65-46AFD10B0857}"/>
              </a:ext>
            </a:extLst>
          </p:cNvPr>
          <p:cNvSpPr txBox="1"/>
          <p:nvPr/>
        </p:nvSpPr>
        <p:spPr>
          <a:xfrm>
            <a:off x="6799994" y="3514696"/>
            <a:ext cx="1577282"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2" name="文本框 1">
            <a:extLst>
              <a:ext uri="{FF2B5EF4-FFF2-40B4-BE49-F238E27FC236}">
                <a16:creationId xmlns:a16="http://schemas.microsoft.com/office/drawing/2014/main" id="{434A1DC5-654A-36B2-054B-C8EE7B955656}"/>
              </a:ext>
            </a:extLst>
          </p:cNvPr>
          <p:cNvSpPr txBox="1"/>
          <p:nvPr/>
        </p:nvSpPr>
        <p:spPr>
          <a:xfrm>
            <a:off x="6827832" y="3527649"/>
            <a:ext cx="166457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初步跑通</a:t>
            </a:r>
            <a:r>
              <a:rPr lang="en-US" altLang="zh-CN" sz="1200" dirty="0" err="1">
                <a:solidFill>
                  <a:schemeClr val="bg1"/>
                </a:solidFill>
                <a:latin typeface="思源黑体" panose="020B0500000000000000" pitchFamily="34" charset="-122"/>
                <a:ea typeface="思源黑体" panose="020B0500000000000000" pitchFamily="34" charset="-122"/>
              </a:rPr>
              <a:t>HapBench</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extLst>
      <p:ext uri="{BB962C8B-B14F-4D97-AF65-F5344CB8AC3E}">
        <p14:creationId xmlns:p14="http://schemas.microsoft.com/office/powerpoint/2010/main" val="4034404981"/>
      </p:ext>
    </p:extLst>
  </p:cSld>
  <p:clrMapOvr>
    <a:masterClrMapping/>
  </p:clrMapOvr>
  <p:transition spd="slow">
    <p:comb/>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36A1-E5CF-B748-1716-621D4719B20E}"/>
            </a:ext>
          </a:extLst>
        </p:cNvPr>
        <p:cNvGrpSpPr/>
        <p:nvPr/>
      </p:nvGrpSpPr>
      <p:grpSpPr>
        <a:xfrm>
          <a:off x="0" y="0"/>
          <a:ext cx="0" cy="0"/>
          <a:chOff x="0" y="0"/>
          <a:chExt cx="0" cy="0"/>
        </a:xfrm>
      </p:grpSpPr>
      <p:sp>
        <p:nvSpPr>
          <p:cNvPr id="27" name="圆角矩形 26">
            <a:extLst>
              <a:ext uri="{FF2B5EF4-FFF2-40B4-BE49-F238E27FC236}">
                <a16:creationId xmlns:a16="http://schemas.microsoft.com/office/drawing/2014/main" id="{B355E062-F3C7-4A34-CD0F-88AB42663BE1}"/>
              </a:ext>
            </a:extLst>
          </p:cNvPr>
          <p:cNvSpPr/>
          <p:nvPr/>
        </p:nvSpPr>
        <p:spPr>
          <a:xfrm>
            <a:off x="1125738" y="1491540"/>
            <a:ext cx="3983901" cy="1438971"/>
          </a:xfrm>
          <a:prstGeom prst="roundRect">
            <a:avLst>
              <a:gd name="adj" fmla="val 9092"/>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sp>
        <p:nvSpPr>
          <p:cNvPr id="2" name="标题 1">
            <a:extLst>
              <a:ext uri="{FF2B5EF4-FFF2-40B4-BE49-F238E27FC236}">
                <a16:creationId xmlns:a16="http://schemas.microsoft.com/office/drawing/2014/main" id="{CA2F2677-EBB0-988A-7018-120DB61B7155}"/>
              </a:ext>
            </a:extLst>
          </p:cNvPr>
          <p:cNvSpPr>
            <a:spLocks noGrp="1"/>
          </p:cNvSpPr>
          <p:nvPr>
            <p:ph type="title"/>
          </p:nvPr>
        </p:nvSpPr>
        <p:spPr/>
        <p:txBody>
          <a:bodyPr/>
          <a:lstStyle/>
          <a:p>
            <a:pPr>
              <a:lnSpc>
                <a:spcPct val="120000"/>
              </a:lnSpc>
            </a:pPr>
            <a:r>
              <a:rPr lang="en-US" altLang="zh-CN" dirty="0"/>
              <a:t>3.1 </a:t>
            </a:r>
            <a:r>
              <a:rPr lang="zh-CN" altLang="en-US" dirty="0"/>
              <a:t>环境配置与依赖安装</a:t>
            </a:r>
          </a:p>
        </p:txBody>
      </p:sp>
      <p:sp>
        <p:nvSpPr>
          <p:cNvPr id="14" name="TextBox 30">
            <a:extLst>
              <a:ext uri="{FF2B5EF4-FFF2-40B4-BE49-F238E27FC236}">
                <a16:creationId xmlns:a16="http://schemas.microsoft.com/office/drawing/2014/main" id="{99E077B1-94E0-EEDD-CE94-C300B0AC7E97}"/>
              </a:ext>
            </a:extLst>
          </p:cNvPr>
          <p:cNvSpPr txBox="1"/>
          <p:nvPr>
            <p:custDataLst>
              <p:tags r:id="rId1"/>
            </p:custDataLst>
          </p:nvPr>
        </p:nvSpPr>
        <p:spPr>
          <a:xfrm>
            <a:off x="2147301" y="3256792"/>
            <a:ext cx="2664198" cy="338041"/>
          </a:xfrm>
          <a:prstGeom prst="rect">
            <a:avLst/>
          </a:prstGeom>
          <a:noFill/>
        </p:spPr>
        <p:txBody>
          <a:bodyPr wrap="square" lIns="0" tIns="0" rIns="0" bIns="0" rtlCol="0">
            <a:spAutoFit/>
          </a:bodyPr>
          <a:lstStyle/>
          <a:p>
            <a:pPr>
              <a:lnSpc>
                <a:spcPct val="120000"/>
              </a:lnSpc>
            </a:pPr>
            <a:r>
              <a:rPr lang="zh-CN" altLang="en-US" sz="2000" dirty="0">
                <a:latin typeface="微软雅黑" panose="020B0503020204020204" pitchFamily="34" charset="-122"/>
                <a:ea typeface="微软雅黑" panose="020B0503020204020204" pitchFamily="34" charset="-122"/>
                <a:sym typeface="+mn-ea"/>
              </a:rPr>
              <a:t>软件环境严格复现论文</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grpSp>
        <p:nvGrpSpPr>
          <p:cNvPr id="67" name="组合 66">
            <a:extLst>
              <a:ext uri="{FF2B5EF4-FFF2-40B4-BE49-F238E27FC236}">
                <a16:creationId xmlns:a16="http://schemas.microsoft.com/office/drawing/2014/main" id="{EAE43DF1-AF93-2F02-6E85-4E45FA65F614}"/>
              </a:ext>
            </a:extLst>
          </p:cNvPr>
          <p:cNvGrpSpPr/>
          <p:nvPr>
            <p:custDataLst>
              <p:tags r:id="rId2"/>
            </p:custDataLst>
          </p:nvPr>
        </p:nvGrpSpPr>
        <p:grpSpPr>
          <a:xfrm>
            <a:off x="966324" y="3327065"/>
            <a:ext cx="750628" cy="750628"/>
            <a:chOff x="5892800" y="1936330"/>
            <a:chExt cx="914400" cy="914400"/>
          </a:xfrm>
        </p:grpSpPr>
        <p:sp>
          <p:nvSpPr>
            <p:cNvPr id="13" name="椭圆 12">
              <a:extLst>
                <a:ext uri="{FF2B5EF4-FFF2-40B4-BE49-F238E27FC236}">
                  <a16:creationId xmlns:a16="http://schemas.microsoft.com/office/drawing/2014/main" id="{0981673A-78B1-BB1D-4F69-8907511A365A}"/>
                </a:ext>
              </a:extLst>
            </p:cNvPr>
            <p:cNvSpPr/>
            <p:nvPr>
              <p:custDataLst>
                <p:tags r:id="rId23"/>
              </p:custDataLst>
            </p:nvPr>
          </p:nvSpPr>
          <p:spPr>
            <a:xfrm>
              <a:off x="5892800" y="1936330"/>
              <a:ext cx="914400" cy="914400"/>
            </a:xfrm>
            <a:prstGeom prst="ellipse">
              <a:avLst/>
            </a:prstGeom>
            <a:ln w="9525">
              <a:solidFill>
                <a:srgbClr val="313D5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sp>
          <p:nvSpPr>
            <p:cNvPr id="16" name="椭圆 15">
              <a:extLst>
                <a:ext uri="{FF2B5EF4-FFF2-40B4-BE49-F238E27FC236}">
                  <a16:creationId xmlns:a16="http://schemas.microsoft.com/office/drawing/2014/main" id="{8BE4435B-A08D-86F9-3B33-E573E27A28C1}"/>
                </a:ext>
              </a:extLst>
            </p:cNvPr>
            <p:cNvSpPr/>
            <p:nvPr>
              <p:custDataLst>
                <p:tags r:id="rId24"/>
              </p:custDataLst>
            </p:nvPr>
          </p:nvSpPr>
          <p:spPr>
            <a:xfrm>
              <a:off x="5974563" y="2018093"/>
              <a:ext cx="750874" cy="750874"/>
            </a:xfrm>
            <a:prstGeom prst="ellipse">
              <a:avLst/>
            </a:prstGeom>
            <a:solidFill>
              <a:srgbClr val="244C89"/>
            </a:solidFill>
            <a:ln w="9525">
              <a:no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grpSp>
      <p:grpSp>
        <p:nvGrpSpPr>
          <p:cNvPr id="49" name="组合 48">
            <a:extLst>
              <a:ext uri="{FF2B5EF4-FFF2-40B4-BE49-F238E27FC236}">
                <a16:creationId xmlns:a16="http://schemas.microsoft.com/office/drawing/2014/main" id="{9615B6F2-70DE-4385-FE60-EB4DB6085260}"/>
              </a:ext>
            </a:extLst>
          </p:cNvPr>
          <p:cNvGrpSpPr/>
          <p:nvPr>
            <p:custDataLst>
              <p:tags r:id="rId3"/>
            </p:custDataLst>
          </p:nvPr>
        </p:nvGrpSpPr>
        <p:grpSpPr>
          <a:xfrm>
            <a:off x="1144153" y="3517595"/>
            <a:ext cx="394970" cy="369568"/>
            <a:chOff x="6012173" y="3182972"/>
            <a:chExt cx="517169" cy="483911"/>
          </a:xfrm>
          <a:solidFill>
            <a:schemeClr val="bg1"/>
          </a:solidFill>
        </p:grpSpPr>
        <p:sp>
          <p:nvSpPr>
            <p:cNvPr id="50" name="Freeform 250">
              <a:extLst>
                <a:ext uri="{FF2B5EF4-FFF2-40B4-BE49-F238E27FC236}">
                  <a16:creationId xmlns:a16="http://schemas.microsoft.com/office/drawing/2014/main" id="{EC2A03E3-8080-0A2F-83BA-4BC541036F23}"/>
                </a:ext>
              </a:extLst>
            </p:cNvPr>
            <p:cNvSpPr/>
            <p:nvPr>
              <p:custDataLst>
                <p:tags r:id="rId16"/>
              </p:custDataLst>
            </p:nvPr>
          </p:nvSpPr>
          <p:spPr bwMode="auto">
            <a:xfrm>
              <a:off x="6012173" y="3324321"/>
              <a:ext cx="495551" cy="342562"/>
            </a:xfrm>
            <a:custGeom>
              <a:avLst/>
              <a:gdLst>
                <a:gd name="T0" fmla="*/ 132 w 238"/>
                <a:gd name="T1" fmla="*/ 164 h 164"/>
                <a:gd name="T2" fmla="*/ 84 w 238"/>
                <a:gd name="T3" fmla="*/ 153 h 164"/>
                <a:gd name="T4" fmla="*/ 26 w 238"/>
                <a:gd name="T5" fmla="*/ 0 h 164"/>
                <a:gd name="T6" fmla="*/ 65 w 238"/>
                <a:gd name="T7" fmla="*/ 17 h 164"/>
                <a:gd name="T8" fmla="*/ 102 w 238"/>
                <a:gd name="T9" fmla="*/ 115 h 164"/>
                <a:gd name="T10" fmla="*/ 199 w 238"/>
                <a:gd name="T11" fmla="*/ 78 h 164"/>
                <a:gd name="T12" fmla="*/ 238 w 238"/>
                <a:gd name="T13" fmla="*/ 95 h 164"/>
                <a:gd name="T14" fmla="*/ 173 w 238"/>
                <a:gd name="T15" fmla="*/ 156 h 164"/>
                <a:gd name="T16" fmla="*/ 132 w 238"/>
                <a:gd name="T17"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164">
                  <a:moveTo>
                    <a:pt x="132" y="164"/>
                  </a:moveTo>
                  <a:cubicBezTo>
                    <a:pt x="116" y="164"/>
                    <a:pt x="100" y="160"/>
                    <a:pt x="84" y="153"/>
                  </a:cubicBezTo>
                  <a:cubicBezTo>
                    <a:pt x="26" y="127"/>
                    <a:pt x="0" y="58"/>
                    <a:pt x="26" y="0"/>
                  </a:cubicBezTo>
                  <a:cubicBezTo>
                    <a:pt x="65" y="17"/>
                    <a:pt x="65" y="17"/>
                    <a:pt x="65" y="17"/>
                  </a:cubicBezTo>
                  <a:cubicBezTo>
                    <a:pt x="48" y="54"/>
                    <a:pt x="65" y="98"/>
                    <a:pt x="102" y="115"/>
                  </a:cubicBezTo>
                  <a:cubicBezTo>
                    <a:pt x="139" y="132"/>
                    <a:pt x="183" y="115"/>
                    <a:pt x="199" y="78"/>
                  </a:cubicBezTo>
                  <a:cubicBezTo>
                    <a:pt x="238" y="95"/>
                    <a:pt x="238" y="95"/>
                    <a:pt x="238" y="95"/>
                  </a:cubicBezTo>
                  <a:cubicBezTo>
                    <a:pt x="225" y="124"/>
                    <a:pt x="202" y="145"/>
                    <a:pt x="173" y="156"/>
                  </a:cubicBezTo>
                  <a:cubicBezTo>
                    <a:pt x="160" y="161"/>
                    <a:pt x="146" y="164"/>
                    <a:pt x="132" y="164"/>
                  </a:cubicBez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51" name="Freeform 251">
              <a:extLst>
                <a:ext uri="{FF2B5EF4-FFF2-40B4-BE49-F238E27FC236}">
                  <a16:creationId xmlns:a16="http://schemas.microsoft.com/office/drawing/2014/main" id="{3ED3D59F-BD7B-5125-D111-9F9D077FBCE5}"/>
                </a:ext>
              </a:extLst>
            </p:cNvPr>
            <p:cNvSpPr/>
            <p:nvPr>
              <p:custDataLst>
                <p:tags r:id="rId17"/>
              </p:custDataLst>
            </p:nvPr>
          </p:nvSpPr>
          <p:spPr bwMode="auto">
            <a:xfrm>
              <a:off x="6077027" y="3182972"/>
              <a:ext cx="187911" cy="157978"/>
            </a:xfrm>
            <a:custGeom>
              <a:avLst/>
              <a:gdLst>
                <a:gd name="T0" fmla="*/ 90 w 90"/>
                <a:gd name="T1" fmla="*/ 0 h 76"/>
                <a:gd name="T2" fmla="*/ 10 w 90"/>
                <a:gd name="T3" fmla="*/ 43 h 76"/>
                <a:gd name="T4" fmla="*/ 0 w 90"/>
                <a:gd name="T5" fmla="*/ 58 h 76"/>
                <a:gd name="T6" fmla="*/ 39 w 90"/>
                <a:gd name="T7" fmla="*/ 76 h 76"/>
                <a:gd name="T8" fmla="*/ 43 w 90"/>
                <a:gd name="T9" fmla="*/ 69 h 76"/>
                <a:gd name="T10" fmla="*/ 90 w 90"/>
                <a:gd name="T11" fmla="*/ 43 h 76"/>
                <a:gd name="T12" fmla="*/ 90 w 90"/>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90" h="76">
                  <a:moveTo>
                    <a:pt x="90" y="0"/>
                  </a:moveTo>
                  <a:cubicBezTo>
                    <a:pt x="59" y="3"/>
                    <a:pt x="30" y="18"/>
                    <a:pt x="10" y="43"/>
                  </a:cubicBezTo>
                  <a:cubicBezTo>
                    <a:pt x="6" y="48"/>
                    <a:pt x="3" y="53"/>
                    <a:pt x="0" y="58"/>
                  </a:cubicBezTo>
                  <a:cubicBezTo>
                    <a:pt x="39" y="76"/>
                    <a:pt x="39" y="76"/>
                    <a:pt x="39" y="76"/>
                  </a:cubicBezTo>
                  <a:cubicBezTo>
                    <a:pt x="40" y="74"/>
                    <a:pt x="42" y="72"/>
                    <a:pt x="43" y="69"/>
                  </a:cubicBezTo>
                  <a:cubicBezTo>
                    <a:pt x="55" y="55"/>
                    <a:pt x="72" y="45"/>
                    <a:pt x="90" y="43"/>
                  </a:cubicBezTo>
                  <a:lnTo>
                    <a:pt x="90" y="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52" name="Freeform 252">
              <a:extLst>
                <a:ext uri="{FF2B5EF4-FFF2-40B4-BE49-F238E27FC236}">
                  <a16:creationId xmlns:a16="http://schemas.microsoft.com/office/drawing/2014/main" id="{8FE47A71-1DF5-5B3B-6379-DF5868125ACD}"/>
                </a:ext>
              </a:extLst>
            </p:cNvPr>
            <p:cNvSpPr/>
            <p:nvPr>
              <p:custDataLst>
                <p:tags r:id="rId18"/>
              </p:custDataLst>
            </p:nvPr>
          </p:nvSpPr>
          <p:spPr bwMode="auto">
            <a:xfrm>
              <a:off x="6436218" y="3445714"/>
              <a:ext cx="93124" cy="56539"/>
            </a:xfrm>
            <a:custGeom>
              <a:avLst/>
              <a:gdLst>
                <a:gd name="T0" fmla="*/ 2 w 45"/>
                <a:gd name="T1" fmla="*/ 0 h 27"/>
                <a:gd name="T2" fmla="*/ 0 w 45"/>
                <a:gd name="T3" fmla="*/ 10 h 27"/>
                <a:gd name="T4" fmla="*/ 39 w 45"/>
                <a:gd name="T5" fmla="*/ 27 h 27"/>
                <a:gd name="T6" fmla="*/ 45 w 45"/>
                <a:gd name="T7" fmla="*/ 0 h 27"/>
                <a:gd name="T8" fmla="*/ 2 w 45"/>
                <a:gd name="T9" fmla="*/ 0 h 27"/>
              </a:gdLst>
              <a:ahLst/>
              <a:cxnLst>
                <a:cxn ang="0">
                  <a:pos x="T0" y="T1"/>
                </a:cxn>
                <a:cxn ang="0">
                  <a:pos x="T2" y="T3"/>
                </a:cxn>
                <a:cxn ang="0">
                  <a:pos x="T4" y="T5"/>
                </a:cxn>
                <a:cxn ang="0">
                  <a:pos x="T6" y="T7"/>
                </a:cxn>
                <a:cxn ang="0">
                  <a:pos x="T8" y="T9"/>
                </a:cxn>
              </a:cxnLst>
              <a:rect l="0" t="0" r="r" b="b"/>
              <a:pathLst>
                <a:path w="45" h="27">
                  <a:moveTo>
                    <a:pt x="2" y="0"/>
                  </a:moveTo>
                  <a:cubicBezTo>
                    <a:pt x="2" y="4"/>
                    <a:pt x="1" y="7"/>
                    <a:pt x="0" y="10"/>
                  </a:cubicBezTo>
                  <a:cubicBezTo>
                    <a:pt x="39" y="27"/>
                    <a:pt x="39" y="27"/>
                    <a:pt x="39" y="27"/>
                  </a:cubicBezTo>
                  <a:cubicBezTo>
                    <a:pt x="42" y="19"/>
                    <a:pt x="44" y="10"/>
                    <a:pt x="45" y="0"/>
                  </a:cubicBezTo>
                  <a:lnTo>
                    <a:pt x="2" y="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53" name="Freeform 253">
              <a:extLst>
                <a:ext uri="{FF2B5EF4-FFF2-40B4-BE49-F238E27FC236}">
                  <a16:creationId xmlns:a16="http://schemas.microsoft.com/office/drawing/2014/main" id="{E93B760E-6915-898C-86DC-D0CE5539F12D}"/>
                </a:ext>
              </a:extLst>
            </p:cNvPr>
            <p:cNvSpPr/>
            <p:nvPr>
              <p:custDataLst>
                <p:tags r:id="rId19"/>
              </p:custDataLst>
            </p:nvPr>
          </p:nvSpPr>
          <p:spPr bwMode="auto">
            <a:xfrm>
              <a:off x="6286555" y="3182972"/>
              <a:ext cx="242787" cy="241125"/>
            </a:xfrm>
            <a:custGeom>
              <a:avLst/>
              <a:gdLst>
                <a:gd name="T0" fmla="*/ 116 w 116"/>
                <a:gd name="T1" fmla="*/ 116 h 116"/>
                <a:gd name="T2" fmla="*/ 74 w 116"/>
                <a:gd name="T3" fmla="*/ 116 h 116"/>
                <a:gd name="T4" fmla="*/ 0 w 116"/>
                <a:gd name="T5" fmla="*/ 42 h 116"/>
                <a:gd name="T6" fmla="*/ 0 w 116"/>
                <a:gd name="T7" fmla="*/ 0 h 116"/>
                <a:gd name="T8" fmla="*/ 116 w 116"/>
                <a:gd name="T9" fmla="*/ 116 h 116"/>
              </a:gdLst>
              <a:ahLst/>
              <a:cxnLst>
                <a:cxn ang="0">
                  <a:pos x="T0" y="T1"/>
                </a:cxn>
                <a:cxn ang="0">
                  <a:pos x="T2" y="T3"/>
                </a:cxn>
                <a:cxn ang="0">
                  <a:pos x="T4" y="T5"/>
                </a:cxn>
                <a:cxn ang="0">
                  <a:pos x="T6" y="T7"/>
                </a:cxn>
                <a:cxn ang="0">
                  <a:pos x="T8" y="T9"/>
                </a:cxn>
              </a:cxnLst>
              <a:rect l="0" t="0" r="r" b="b"/>
              <a:pathLst>
                <a:path w="116" h="116">
                  <a:moveTo>
                    <a:pt x="116" y="116"/>
                  </a:moveTo>
                  <a:cubicBezTo>
                    <a:pt x="74" y="116"/>
                    <a:pt x="74" y="116"/>
                    <a:pt x="74" y="116"/>
                  </a:cubicBezTo>
                  <a:cubicBezTo>
                    <a:pt x="74" y="75"/>
                    <a:pt x="41" y="42"/>
                    <a:pt x="0" y="42"/>
                  </a:cubicBezTo>
                  <a:cubicBezTo>
                    <a:pt x="0" y="0"/>
                    <a:pt x="0" y="0"/>
                    <a:pt x="0" y="0"/>
                  </a:cubicBezTo>
                  <a:cubicBezTo>
                    <a:pt x="64" y="0"/>
                    <a:pt x="116" y="52"/>
                    <a:pt x="116" y="116"/>
                  </a:cubicBez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54" name="Rectangle 254">
              <a:extLst>
                <a:ext uri="{FF2B5EF4-FFF2-40B4-BE49-F238E27FC236}">
                  <a16:creationId xmlns:a16="http://schemas.microsoft.com/office/drawing/2014/main" id="{9A857D9C-3089-73A2-C17E-B99A91C2396E}"/>
                </a:ext>
              </a:extLst>
            </p:cNvPr>
            <p:cNvSpPr>
              <a:spLocks noChangeArrowheads="1"/>
            </p:cNvSpPr>
            <p:nvPr>
              <p:custDataLst>
                <p:tags r:id="rId20"/>
              </p:custDataLst>
            </p:nvPr>
          </p:nvSpPr>
          <p:spPr bwMode="auto">
            <a:xfrm>
              <a:off x="6200083" y="3454029"/>
              <a:ext cx="43236" cy="56539"/>
            </a:xfrm>
            <a:prstGeom prst="rect">
              <a:avLst/>
            </a:prstGeom>
            <a:grpFill/>
            <a:ln>
              <a:noFill/>
            </a:ln>
          </p:spPr>
          <p:txBody>
            <a:bodyPr vert="horz" wrap="square" lIns="91440" tIns="45720" rIns="91440" bIns="45720" numCol="1" anchor="t" anchorCtr="0" compatLnSpc="1"/>
            <a:lstStyle/>
            <a:p>
              <a:pPr>
                <a:lnSpc>
                  <a:spcPct val="120000"/>
                </a:lnSpc>
              </a:pPr>
              <a:endParaRPr lang="en-US"/>
            </a:p>
          </p:txBody>
        </p:sp>
        <p:sp>
          <p:nvSpPr>
            <p:cNvPr id="55" name="Rectangle 255">
              <a:extLst>
                <a:ext uri="{FF2B5EF4-FFF2-40B4-BE49-F238E27FC236}">
                  <a16:creationId xmlns:a16="http://schemas.microsoft.com/office/drawing/2014/main" id="{9ED64353-F382-CACA-9773-D371E9C3BED6}"/>
                </a:ext>
              </a:extLst>
            </p:cNvPr>
            <p:cNvSpPr>
              <a:spLocks noChangeArrowheads="1"/>
            </p:cNvSpPr>
            <p:nvPr>
              <p:custDataLst>
                <p:tags r:id="rId21"/>
              </p:custDataLst>
            </p:nvPr>
          </p:nvSpPr>
          <p:spPr bwMode="auto">
            <a:xfrm>
              <a:off x="6264938" y="3382523"/>
              <a:ext cx="44899" cy="128046"/>
            </a:xfrm>
            <a:prstGeom prst="rect">
              <a:avLst/>
            </a:prstGeom>
            <a:grpFill/>
            <a:ln>
              <a:noFill/>
            </a:ln>
          </p:spPr>
          <p:txBody>
            <a:bodyPr vert="horz" wrap="square" lIns="91440" tIns="45720" rIns="91440" bIns="45720" numCol="1" anchor="t" anchorCtr="0" compatLnSpc="1"/>
            <a:lstStyle/>
            <a:p>
              <a:pPr>
                <a:lnSpc>
                  <a:spcPct val="120000"/>
                </a:lnSpc>
              </a:pPr>
              <a:endParaRPr lang="en-US"/>
            </a:p>
          </p:txBody>
        </p:sp>
        <p:sp>
          <p:nvSpPr>
            <p:cNvPr id="56" name="Rectangle 256">
              <a:extLst>
                <a:ext uri="{FF2B5EF4-FFF2-40B4-BE49-F238E27FC236}">
                  <a16:creationId xmlns:a16="http://schemas.microsoft.com/office/drawing/2014/main" id="{BB29EDA3-9A5F-CBCB-0708-2A5B26677D68}"/>
                </a:ext>
              </a:extLst>
            </p:cNvPr>
            <p:cNvSpPr>
              <a:spLocks noChangeArrowheads="1"/>
            </p:cNvSpPr>
            <p:nvPr>
              <p:custDataLst>
                <p:tags r:id="rId22"/>
              </p:custDataLst>
            </p:nvPr>
          </p:nvSpPr>
          <p:spPr bwMode="auto">
            <a:xfrm>
              <a:off x="6331455" y="3345938"/>
              <a:ext cx="43236" cy="164630"/>
            </a:xfrm>
            <a:prstGeom prst="rect">
              <a:avLst/>
            </a:prstGeom>
            <a:grpFill/>
            <a:ln>
              <a:noFill/>
            </a:ln>
          </p:spPr>
          <p:txBody>
            <a:bodyPr vert="horz" wrap="square" lIns="91440" tIns="45720" rIns="91440" bIns="45720" numCol="1" anchor="t" anchorCtr="0" compatLnSpc="1"/>
            <a:lstStyle/>
            <a:p>
              <a:pPr>
                <a:lnSpc>
                  <a:spcPct val="120000"/>
                </a:lnSpc>
              </a:pPr>
              <a:endParaRPr lang="en-US"/>
            </a:p>
          </p:txBody>
        </p:sp>
      </p:grpSp>
      <p:sp>
        <p:nvSpPr>
          <p:cNvPr id="58" name="TextBox 30">
            <a:extLst>
              <a:ext uri="{FF2B5EF4-FFF2-40B4-BE49-F238E27FC236}">
                <a16:creationId xmlns:a16="http://schemas.microsoft.com/office/drawing/2014/main" id="{B159CA8D-4E60-722A-AA9D-168938B979B6}"/>
              </a:ext>
            </a:extLst>
          </p:cNvPr>
          <p:cNvSpPr txBox="1"/>
          <p:nvPr>
            <p:custDataLst>
              <p:tags r:id="rId4"/>
            </p:custDataLst>
          </p:nvPr>
        </p:nvSpPr>
        <p:spPr>
          <a:xfrm>
            <a:off x="2147301" y="4892320"/>
            <a:ext cx="2162175" cy="338041"/>
          </a:xfrm>
          <a:prstGeom prst="rect">
            <a:avLst/>
          </a:prstGeom>
          <a:noFill/>
        </p:spPr>
        <p:txBody>
          <a:bodyPr wrap="square" lIns="0" tIns="0" rIns="0" bIns="0" rtlCol="0">
            <a:spAutoFit/>
          </a:bodyPr>
          <a:lstStyle/>
          <a:p>
            <a:pPr>
              <a:lnSpc>
                <a:spcPct val="120000"/>
              </a:lnSpc>
            </a:pPr>
            <a:r>
              <a:rPr lang="zh-CN" altLang="en-US" sz="2000" dirty="0">
                <a:latin typeface="微软雅黑" panose="020B0503020204020204" pitchFamily="34" charset="-122"/>
                <a:ea typeface="微软雅黑" panose="020B0503020204020204" pitchFamily="34" charset="-122"/>
                <a:sym typeface="+mn-ea"/>
              </a:rPr>
              <a:t>项目结构初步探索</a:t>
            </a:r>
            <a:endParaRPr lang="zh-CN" altLang="en-US" sz="2000" b="1" dirty="0">
              <a:solidFill>
                <a:srgbClr val="313D51"/>
              </a:solidFill>
              <a:latin typeface="微软雅黑" panose="020B0503020204020204" pitchFamily="34" charset="-122"/>
              <a:ea typeface="微软雅黑" panose="020B0503020204020204" pitchFamily="34" charset="-122"/>
            </a:endParaRPr>
          </a:p>
        </p:txBody>
      </p:sp>
      <p:sp>
        <p:nvSpPr>
          <p:cNvPr id="59" name="TextBox 29">
            <a:extLst>
              <a:ext uri="{FF2B5EF4-FFF2-40B4-BE49-F238E27FC236}">
                <a16:creationId xmlns:a16="http://schemas.microsoft.com/office/drawing/2014/main" id="{63ECEF47-07F4-7E75-B7E4-5BF70FF8C0A6}"/>
              </a:ext>
            </a:extLst>
          </p:cNvPr>
          <p:cNvSpPr txBox="1"/>
          <p:nvPr>
            <p:custDataLst>
              <p:tags r:id="rId5"/>
            </p:custDataLst>
          </p:nvPr>
        </p:nvSpPr>
        <p:spPr>
          <a:xfrm>
            <a:off x="2147301" y="5237529"/>
            <a:ext cx="3137868" cy="867610"/>
          </a:xfrm>
          <a:prstGeom prst="rect">
            <a:avLst/>
          </a:prstGeom>
          <a:noFill/>
        </p:spPr>
        <p:txBody>
          <a:bodyPr wrap="square" lIns="0" tIns="0" rIns="0" bIns="0" rtlCol="0">
            <a:spAutoFit/>
          </a:bodyPr>
          <a:lstStyle/>
          <a:p>
            <a:pPr>
              <a:lnSpc>
                <a:spcPct val="120000"/>
              </a:lnSpc>
            </a:pPr>
            <a:r>
              <a:rPr lang="en-US" altLang="zh-CN" sz="12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arkanalyzer</a:t>
            </a:r>
            <a:r>
              <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ArkTS</a:t>
            </a: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静态分析底层基础设施</a:t>
            </a:r>
            <a:endPar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2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hapflow</a:t>
            </a:r>
            <a:r>
              <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：污点分析核心实现引擎</a:t>
            </a:r>
            <a:endPar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2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HapBench</a:t>
            </a:r>
            <a:r>
              <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67</a:t>
            </a: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个基准测试用例</a:t>
            </a:r>
            <a:endPar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2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sdk</a:t>
            </a:r>
            <a:r>
              <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SDK</a:t>
            </a:r>
            <a:endParaRPr lang="zh-CN" altLang="en-US"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68" name="组合 67">
            <a:extLst>
              <a:ext uri="{FF2B5EF4-FFF2-40B4-BE49-F238E27FC236}">
                <a16:creationId xmlns:a16="http://schemas.microsoft.com/office/drawing/2014/main" id="{8EB03F2C-3514-54A2-FB90-6AFB27570ECA}"/>
              </a:ext>
            </a:extLst>
          </p:cNvPr>
          <p:cNvGrpSpPr/>
          <p:nvPr>
            <p:custDataLst>
              <p:tags r:id="rId6"/>
            </p:custDataLst>
          </p:nvPr>
        </p:nvGrpSpPr>
        <p:grpSpPr>
          <a:xfrm>
            <a:off x="966324" y="4906250"/>
            <a:ext cx="750628" cy="750628"/>
            <a:chOff x="5892800" y="3489358"/>
            <a:chExt cx="914400" cy="914400"/>
          </a:xfrm>
        </p:grpSpPr>
        <p:sp>
          <p:nvSpPr>
            <p:cNvPr id="57" name="椭圆 56">
              <a:extLst>
                <a:ext uri="{FF2B5EF4-FFF2-40B4-BE49-F238E27FC236}">
                  <a16:creationId xmlns:a16="http://schemas.microsoft.com/office/drawing/2014/main" id="{D42ADB36-D927-91DF-95D5-CF704ED43DD7}"/>
                </a:ext>
              </a:extLst>
            </p:cNvPr>
            <p:cNvSpPr/>
            <p:nvPr>
              <p:custDataLst>
                <p:tags r:id="rId14"/>
              </p:custDataLst>
            </p:nvPr>
          </p:nvSpPr>
          <p:spPr>
            <a:xfrm>
              <a:off x="5892800" y="3489358"/>
              <a:ext cx="914400" cy="914400"/>
            </a:xfrm>
            <a:prstGeom prst="ellipse">
              <a:avLst/>
            </a:prstGeom>
            <a:ln w="9525">
              <a:solidFill>
                <a:srgbClr val="313D5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sp>
          <p:nvSpPr>
            <p:cNvPr id="60" name="椭圆 59">
              <a:extLst>
                <a:ext uri="{FF2B5EF4-FFF2-40B4-BE49-F238E27FC236}">
                  <a16:creationId xmlns:a16="http://schemas.microsoft.com/office/drawing/2014/main" id="{4118A1B3-27A4-35C1-80BC-16F06D763E67}"/>
                </a:ext>
              </a:extLst>
            </p:cNvPr>
            <p:cNvSpPr/>
            <p:nvPr>
              <p:custDataLst>
                <p:tags r:id="rId15"/>
              </p:custDataLst>
            </p:nvPr>
          </p:nvSpPr>
          <p:spPr>
            <a:xfrm>
              <a:off x="5974563" y="3571121"/>
              <a:ext cx="750874" cy="750874"/>
            </a:xfrm>
            <a:prstGeom prst="ellipse">
              <a:avLst/>
            </a:prstGeom>
            <a:solidFill>
              <a:srgbClr val="244C89"/>
            </a:solidFill>
            <a:ln w="9525">
              <a:no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grpSp>
      <p:grpSp>
        <p:nvGrpSpPr>
          <p:cNvPr id="46" name="组合 45">
            <a:extLst>
              <a:ext uri="{FF2B5EF4-FFF2-40B4-BE49-F238E27FC236}">
                <a16:creationId xmlns:a16="http://schemas.microsoft.com/office/drawing/2014/main" id="{0C4D2BFC-CF8F-2EAC-B8EF-A498F4473006}"/>
              </a:ext>
            </a:extLst>
          </p:cNvPr>
          <p:cNvGrpSpPr/>
          <p:nvPr>
            <p:custDataLst>
              <p:tags r:id="rId7"/>
            </p:custDataLst>
          </p:nvPr>
        </p:nvGrpSpPr>
        <p:grpSpPr>
          <a:xfrm>
            <a:off x="1125738" y="5123449"/>
            <a:ext cx="431800" cy="316230"/>
            <a:chOff x="7147950" y="1910835"/>
            <a:chExt cx="565394" cy="414069"/>
          </a:xfrm>
          <a:solidFill>
            <a:schemeClr val="bg1"/>
          </a:solidFill>
        </p:grpSpPr>
        <p:sp>
          <p:nvSpPr>
            <p:cNvPr id="47" name="Freeform 248">
              <a:extLst>
                <a:ext uri="{FF2B5EF4-FFF2-40B4-BE49-F238E27FC236}">
                  <a16:creationId xmlns:a16="http://schemas.microsoft.com/office/drawing/2014/main" id="{9EF48AB5-5682-855C-6D3D-23B05F25A85D}"/>
                </a:ext>
              </a:extLst>
            </p:cNvPr>
            <p:cNvSpPr/>
            <p:nvPr>
              <p:custDataLst>
                <p:tags r:id="rId12"/>
              </p:custDataLst>
            </p:nvPr>
          </p:nvSpPr>
          <p:spPr bwMode="auto">
            <a:xfrm>
              <a:off x="7147950" y="1910835"/>
              <a:ext cx="394114" cy="377484"/>
            </a:xfrm>
            <a:custGeom>
              <a:avLst/>
              <a:gdLst>
                <a:gd name="T0" fmla="*/ 79 w 189"/>
                <a:gd name="T1" fmla="*/ 136 h 181"/>
                <a:gd name="T2" fmla="*/ 69 w 189"/>
                <a:gd name="T3" fmla="*/ 134 h 181"/>
                <a:gd name="T4" fmla="*/ 68 w 189"/>
                <a:gd name="T5" fmla="*/ 133 h 181"/>
                <a:gd name="T6" fmla="*/ 66 w 189"/>
                <a:gd name="T7" fmla="*/ 133 h 181"/>
                <a:gd name="T8" fmla="*/ 43 w 189"/>
                <a:gd name="T9" fmla="*/ 143 h 181"/>
                <a:gd name="T10" fmla="*/ 49 w 189"/>
                <a:gd name="T11" fmla="*/ 125 h 181"/>
                <a:gd name="T12" fmla="*/ 43 w 189"/>
                <a:gd name="T13" fmla="*/ 122 h 181"/>
                <a:gd name="T14" fmla="*/ 17 w 189"/>
                <a:gd name="T15" fmla="*/ 78 h 181"/>
                <a:gd name="T16" fmla="*/ 102 w 189"/>
                <a:gd name="T17" fmla="*/ 17 h 181"/>
                <a:gd name="T18" fmla="*/ 166 w 189"/>
                <a:gd name="T19" fmla="*/ 38 h 181"/>
                <a:gd name="T20" fmla="*/ 177 w 189"/>
                <a:gd name="T21" fmla="*/ 37 h 181"/>
                <a:gd name="T22" fmla="*/ 189 w 189"/>
                <a:gd name="T23" fmla="*/ 38 h 181"/>
                <a:gd name="T24" fmla="*/ 102 w 189"/>
                <a:gd name="T25" fmla="*/ 0 h 181"/>
                <a:gd name="T26" fmla="*/ 0 w 189"/>
                <a:gd name="T27" fmla="*/ 78 h 181"/>
                <a:gd name="T28" fmla="*/ 28 w 189"/>
                <a:gd name="T29" fmla="*/ 132 h 181"/>
                <a:gd name="T30" fmla="*/ 11 w 189"/>
                <a:gd name="T31" fmla="*/ 181 h 181"/>
                <a:gd name="T32" fmla="*/ 31 w 189"/>
                <a:gd name="T33" fmla="*/ 169 h 181"/>
                <a:gd name="T34" fmla="*/ 66 w 189"/>
                <a:gd name="T35" fmla="*/ 151 h 181"/>
                <a:gd name="T36" fmla="*/ 90 w 189"/>
                <a:gd name="T37" fmla="*/ 155 h 181"/>
                <a:gd name="T38" fmla="*/ 79 w 189"/>
                <a:gd name="T39" fmla="*/ 136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9" h="181">
                  <a:moveTo>
                    <a:pt x="79" y="136"/>
                  </a:moveTo>
                  <a:cubicBezTo>
                    <a:pt x="76" y="136"/>
                    <a:pt x="72" y="135"/>
                    <a:pt x="69" y="134"/>
                  </a:cubicBezTo>
                  <a:cubicBezTo>
                    <a:pt x="68" y="133"/>
                    <a:pt x="68" y="133"/>
                    <a:pt x="68" y="133"/>
                  </a:cubicBezTo>
                  <a:cubicBezTo>
                    <a:pt x="66" y="133"/>
                    <a:pt x="66" y="133"/>
                    <a:pt x="66" y="133"/>
                  </a:cubicBezTo>
                  <a:cubicBezTo>
                    <a:pt x="65" y="133"/>
                    <a:pt x="61" y="133"/>
                    <a:pt x="43" y="143"/>
                  </a:cubicBezTo>
                  <a:cubicBezTo>
                    <a:pt x="49" y="125"/>
                    <a:pt x="49" y="125"/>
                    <a:pt x="49" y="125"/>
                  </a:cubicBezTo>
                  <a:cubicBezTo>
                    <a:pt x="43" y="122"/>
                    <a:pt x="43" y="122"/>
                    <a:pt x="43" y="122"/>
                  </a:cubicBezTo>
                  <a:cubicBezTo>
                    <a:pt x="26" y="110"/>
                    <a:pt x="17" y="94"/>
                    <a:pt x="17" y="78"/>
                  </a:cubicBezTo>
                  <a:cubicBezTo>
                    <a:pt x="17" y="44"/>
                    <a:pt x="55" y="17"/>
                    <a:pt x="102" y="17"/>
                  </a:cubicBezTo>
                  <a:cubicBezTo>
                    <a:pt x="127" y="17"/>
                    <a:pt x="150" y="25"/>
                    <a:pt x="166" y="38"/>
                  </a:cubicBezTo>
                  <a:cubicBezTo>
                    <a:pt x="169" y="37"/>
                    <a:pt x="173" y="37"/>
                    <a:pt x="177" y="37"/>
                  </a:cubicBezTo>
                  <a:cubicBezTo>
                    <a:pt x="181" y="37"/>
                    <a:pt x="185" y="37"/>
                    <a:pt x="189" y="38"/>
                  </a:cubicBezTo>
                  <a:cubicBezTo>
                    <a:pt x="172" y="15"/>
                    <a:pt x="139" y="0"/>
                    <a:pt x="102" y="0"/>
                  </a:cubicBezTo>
                  <a:cubicBezTo>
                    <a:pt x="45" y="0"/>
                    <a:pt x="0" y="35"/>
                    <a:pt x="0" y="78"/>
                  </a:cubicBezTo>
                  <a:cubicBezTo>
                    <a:pt x="0" y="98"/>
                    <a:pt x="10" y="117"/>
                    <a:pt x="28" y="132"/>
                  </a:cubicBezTo>
                  <a:cubicBezTo>
                    <a:pt x="11" y="181"/>
                    <a:pt x="11" y="181"/>
                    <a:pt x="11" y="181"/>
                  </a:cubicBezTo>
                  <a:cubicBezTo>
                    <a:pt x="31" y="169"/>
                    <a:pt x="31" y="169"/>
                    <a:pt x="31" y="169"/>
                  </a:cubicBezTo>
                  <a:cubicBezTo>
                    <a:pt x="44" y="162"/>
                    <a:pt x="61" y="153"/>
                    <a:pt x="66" y="151"/>
                  </a:cubicBezTo>
                  <a:cubicBezTo>
                    <a:pt x="74" y="153"/>
                    <a:pt x="82" y="154"/>
                    <a:pt x="90" y="155"/>
                  </a:cubicBezTo>
                  <a:cubicBezTo>
                    <a:pt x="85" y="149"/>
                    <a:pt x="81" y="143"/>
                    <a:pt x="79" y="136"/>
                  </a:cubicBez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48" name="Freeform 249">
              <a:extLst>
                <a:ext uri="{FF2B5EF4-FFF2-40B4-BE49-F238E27FC236}">
                  <a16:creationId xmlns:a16="http://schemas.microsoft.com/office/drawing/2014/main" id="{0A752E1B-7DBE-40C0-02C4-55BF460C5C48}"/>
                </a:ext>
              </a:extLst>
            </p:cNvPr>
            <p:cNvSpPr>
              <a:spLocks noEditPoints="1"/>
            </p:cNvSpPr>
            <p:nvPr>
              <p:custDataLst>
                <p:tags r:id="rId13"/>
              </p:custDataLst>
            </p:nvPr>
          </p:nvSpPr>
          <p:spPr bwMode="auto">
            <a:xfrm>
              <a:off x="7324220" y="2007285"/>
              <a:ext cx="389124" cy="317619"/>
            </a:xfrm>
            <a:custGeom>
              <a:avLst/>
              <a:gdLst>
                <a:gd name="T0" fmla="*/ 187 w 187"/>
                <a:gd name="T1" fmla="*/ 69 h 153"/>
                <a:gd name="T2" fmla="*/ 93 w 187"/>
                <a:gd name="T3" fmla="*/ 0 h 153"/>
                <a:gd name="T4" fmla="*/ 0 w 187"/>
                <a:gd name="T5" fmla="*/ 69 h 153"/>
                <a:gd name="T6" fmla="*/ 93 w 187"/>
                <a:gd name="T7" fmla="*/ 139 h 153"/>
                <a:gd name="T8" fmla="*/ 128 w 187"/>
                <a:gd name="T9" fmla="*/ 134 h 153"/>
                <a:gd name="T10" fmla="*/ 168 w 187"/>
                <a:gd name="T11" fmla="*/ 153 h 153"/>
                <a:gd name="T12" fmla="*/ 156 w 187"/>
                <a:gd name="T13" fmla="*/ 120 h 153"/>
                <a:gd name="T14" fmla="*/ 187 w 187"/>
                <a:gd name="T15" fmla="*/ 69 h 153"/>
                <a:gd name="T16" fmla="*/ 57 w 187"/>
                <a:gd name="T17" fmla="*/ 79 h 153"/>
                <a:gd name="T18" fmla="*/ 49 w 187"/>
                <a:gd name="T19" fmla="*/ 75 h 153"/>
                <a:gd name="T20" fmla="*/ 40 w 187"/>
                <a:gd name="T21" fmla="*/ 79 h 153"/>
                <a:gd name="T22" fmla="*/ 42 w 187"/>
                <a:gd name="T23" fmla="*/ 70 h 153"/>
                <a:gd name="T24" fmla="*/ 35 w 187"/>
                <a:gd name="T25" fmla="*/ 63 h 153"/>
                <a:gd name="T26" fmla="*/ 45 w 187"/>
                <a:gd name="T27" fmla="*/ 62 h 153"/>
                <a:gd name="T28" fmla="*/ 49 w 187"/>
                <a:gd name="T29" fmla="*/ 53 h 153"/>
                <a:gd name="T30" fmla="*/ 53 w 187"/>
                <a:gd name="T31" fmla="*/ 62 h 153"/>
                <a:gd name="T32" fmla="*/ 62 w 187"/>
                <a:gd name="T33" fmla="*/ 63 h 153"/>
                <a:gd name="T34" fmla="*/ 56 w 187"/>
                <a:gd name="T35" fmla="*/ 70 h 153"/>
                <a:gd name="T36" fmla="*/ 57 w 187"/>
                <a:gd name="T37" fmla="*/ 79 h 153"/>
                <a:gd name="T38" fmla="*/ 106 w 187"/>
                <a:gd name="T39" fmla="*/ 83 h 153"/>
                <a:gd name="T40" fmla="*/ 93 w 187"/>
                <a:gd name="T41" fmla="*/ 76 h 153"/>
                <a:gd name="T42" fmla="*/ 80 w 187"/>
                <a:gd name="T43" fmla="*/ 83 h 153"/>
                <a:gd name="T44" fmla="*/ 82 w 187"/>
                <a:gd name="T45" fmla="*/ 68 h 153"/>
                <a:gd name="T46" fmla="*/ 72 w 187"/>
                <a:gd name="T47" fmla="*/ 58 h 153"/>
                <a:gd name="T48" fmla="*/ 86 w 187"/>
                <a:gd name="T49" fmla="*/ 56 h 153"/>
                <a:gd name="T50" fmla="*/ 93 w 187"/>
                <a:gd name="T51" fmla="*/ 43 h 153"/>
                <a:gd name="T52" fmla="*/ 100 w 187"/>
                <a:gd name="T53" fmla="*/ 56 h 153"/>
                <a:gd name="T54" fmla="*/ 114 w 187"/>
                <a:gd name="T55" fmla="*/ 58 h 153"/>
                <a:gd name="T56" fmla="*/ 104 w 187"/>
                <a:gd name="T57" fmla="*/ 68 h 153"/>
                <a:gd name="T58" fmla="*/ 106 w 187"/>
                <a:gd name="T59" fmla="*/ 83 h 153"/>
                <a:gd name="T60" fmla="*/ 145 w 187"/>
                <a:gd name="T61" fmla="*/ 79 h 153"/>
                <a:gd name="T62" fmla="*/ 137 w 187"/>
                <a:gd name="T63" fmla="*/ 75 h 153"/>
                <a:gd name="T64" fmla="*/ 129 w 187"/>
                <a:gd name="T65" fmla="*/ 79 h 153"/>
                <a:gd name="T66" fmla="*/ 130 w 187"/>
                <a:gd name="T67" fmla="*/ 70 h 153"/>
                <a:gd name="T68" fmla="*/ 123 w 187"/>
                <a:gd name="T69" fmla="*/ 63 h 153"/>
                <a:gd name="T70" fmla="*/ 133 w 187"/>
                <a:gd name="T71" fmla="*/ 62 h 153"/>
                <a:gd name="T72" fmla="*/ 137 w 187"/>
                <a:gd name="T73" fmla="*/ 53 h 153"/>
                <a:gd name="T74" fmla="*/ 141 w 187"/>
                <a:gd name="T75" fmla="*/ 62 h 153"/>
                <a:gd name="T76" fmla="*/ 151 w 187"/>
                <a:gd name="T77" fmla="*/ 63 h 153"/>
                <a:gd name="T78" fmla="*/ 144 w 187"/>
                <a:gd name="T79" fmla="*/ 70 h 153"/>
                <a:gd name="T80" fmla="*/ 145 w 187"/>
                <a:gd name="T81" fmla="*/ 7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87" h="153">
                  <a:moveTo>
                    <a:pt x="187" y="69"/>
                  </a:moveTo>
                  <a:cubicBezTo>
                    <a:pt x="187" y="31"/>
                    <a:pt x="145" y="0"/>
                    <a:pt x="93" y="0"/>
                  </a:cubicBezTo>
                  <a:cubicBezTo>
                    <a:pt x="42" y="0"/>
                    <a:pt x="0" y="31"/>
                    <a:pt x="0" y="69"/>
                  </a:cubicBezTo>
                  <a:cubicBezTo>
                    <a:pt x="0" y="108"/>
                    <a:pt x="42" y="139"/>
                    <a:pt x="93" y="139"/>
                  </a:cubicBezTo>
                  <a:cubicBezTo>
                    <a:pt x="106" y="139"/>
                    <a:pt x="118" y="137"/>
                    <a:pt x="128" y="134"/>
                  </a:cubicBezTo>
                  <a:cubicBezTo>
                    <a:pt x="132" y="133"/>
                    <a:pt x="168" y="153"/>
                    <a:pt x="168" y="153"/>
                  </a:cubicBezTo>
                  <a:cubicBezTo>
                    <a:pt x="156" y="120"/>
                    <a:pt x="156" y="120"/>
                    <a:pt x="156" y="120"/>
                  </a:cubicBezTo>
                  <a:cubicBezTo>
                    <a:pt x="175" y="108"/>
                    <a:pt x="187" y="90"/>
                    <a:pt x="187" y="69"/>
                  </a:cubicBezTo>
                  <a:close/>
                  <a:moveTo>
                    <a:pt x="57" y="79"/>
                  </a:moveTo>
                  <a:cubicBezTo>
                    <a:pt x="49" y="75"/>
                    <a:pt x="49" y="75"/>
                    <a:pt x="49" y="75"/>
                  </a:cubicBezTo>
                  <a:cubicBezTo>
                    <a:pt x="40" y="79"/>
                    <a:pt x="40" y="79"/>
                    <a:pt x="40" y="79"/>
                  </a:cubicBezTo>
                  <a:cubicBezTo>
                    <a:pt x="42" y="70"/>
                    <a:pt x="42" y="70"/>
                    <a:pt x="42" y="70"/>
                  </a:cubicBezTo>
                  <a:cubicBezTo>
                    <a:pt x="35" y="63"/>
                    <a:pt x="35" y="63"/>
                    <a:pt x="35" y="63"/>
                  </a:cubicBezTo>
                  <a:cubicBezTo>
                    <a:pt x="45" y="62"/>
                    <a:pt x="45" y="62"/>
                    <a:pt x="45" y="62"/>
                  </a:cubicBezTo>
                  <a:cubicBezTo>
                    <a:pt x="49" y="53"/>
                    <a:pt x="49" y="53"/>
                    <a:pt x="49" y="53"/>
                  </a:cubicBezTo>
                  <a:cubicBezTo>
                    <a:pt x="53" y="62"/>
                    <a:pt x="53" y="62"/>
                    <a:pt x="53" y="62"/>
                  </a:cubicBezTo>
                  <a:cubicBezTo>
                    <a:pt x="62" y="63"/>
                    <a:pt x="62" y="63"/>
                    <a:pt x="62" y="63"/>
                  </a:cubicBezTo>
                  <a:cubicBezTo>
                    <a:pt x="56" y="70"/>
                    <a:pt x="56" y="70"/>
                    <a:pt x="56" y="70"/>
                  </a:cubicBezTo>
                  <a:lnTo>
                    <a:pt x="57" y="79"/>
                  </a:lnTo>
                  <a:close/>
                  <a:moveTo>
                    <a:pt x="106" y="83"/>
                  </a:moveTo>
                  <a:cubicBezTo>
                    <a:pt x="93" y="76"/>
                    <a:pt x="93" y="76"/>
                    <a:pt x="93" y="76"/>
                  </a:cubicBezTo>
                  <a:cubicBezTo>
                    <a:pt x="80" y="83"/>
                    <a:pt x="80" y="83"/>
                    <a:pt x="80" y="83"/>
                  </a:cubicBezTo>
                  <a:cubicBezTo>
                    <a:pt x="82" y="68"/>
                    <a:pt x="82" y="68"/>
                    <a:pt x="82" y="68"/>
                  </a:cubicBezTo>
                  <a:cubicBezTo>
                    <a:pt x="72" y="58"/>
                    <a:pt x="72" y="58"/>
                    <a:pt x="72" y="58"/>
                  </a:cubicBezTo>
                  <a:cubicBezTo>
                    <a:pt x="86" y="56"/>
                    <a:pt x="86" y="56"/>
                    <a:pt x="86" y="56"/>
                  </a:cubicBezTo>
                  <a:cubicBezTo>
                    <a:pt x="93" y="43"/>
                    <a:pt x="93" y="43"/>
                    <a:pt x="93" y="43"/>
                  </a:cubicBezTo>
                  <a:cubicBezTo>
                    <a:pt x="100" y="56"/>
                    <a:pt x="100" y="56"/>
                    <a:pt x="100" y="56"/>
                  </a:cubicBezTo>
                  <a:cubicBezTo>
                    <a:pt x="114" y="58"/>
                    <a:pt x="114" y="58"/>
                    <a:pt x="114" y="58"/>
                  </a:cubicBezTo>
                  <a:cubicBezTo>
                    <a:pt x="104" y="68"/>
                    <a:pt x="104" y="68"/>
                    <a:pt x="104" y="68"/>
                  </a:cubicBezTo>
                  <a:lnTo>
                    <a:pt x="106" y="83"/>
                  </a:lnTo>
                  <a:close/>
                  <a:moveTo>
                    <a:pt x="145" y="79"/>
                  </a:moveTo>
                  <a:cubicBezTo>
                    <a:pt x="137" y="75"/>
                    <a:pt x="137" y="75"/>
                    <a:pt x="137" y="75"/>
                  </a:cubicBezTo>
                  <a:cubicBezTo>
                    <a:pt x="129" y="79"/>
                    <a:pt x="129" y="79"/>
                    <a:pt x="129" y="79"/>
                  </a:cubicBezTo>
                  <a:cubicBezTo>
                    <a:pt x="130" y="70"/>
                    <a:pt x="130" y="70"/>
                    <a:pt x="130" y="70"/>
                  </a:cubicBezTo>
                  <a:cubicBezTo>
                    <a:pt x="123" y="63"/>
                    <a:pt x="123" y="63"/>
                    <a:pt x="123" y="63"/>
                  </a:cubicBezTo>
                  <a:cubicBezTo>
                    <a:pt x="133" y="62"/>
                    <a:pt x="133" y="62"/>
                    <a:pt x="133" y="62"/>
                  </a:cubicBezTo>
                  <a:cubicBezTo>
                    <a:pt x="137" y="53"/>
                    <a:pt x="137" y="53"/>
                    <a:pt x="137" y="53"/>
                  </a:cubicBezTo>
                  <a:cubicBezTo>
                    <a:pt x="141" y="62"/>
                    <a:pt x="141" y="62"/>
                    <a:pt x="141" y="62"/>
                  </a:cubicBezTo>
                  <a:cubicBezTo>
                    <a:pt x="151" y="63"/>
                    <a:pt x="151" y="63"/>
                    <a:pt x="151" y="63"/>
                  </a:cubicBezTo>
                  <a:cubicBezTo>
                    <a:pt x="144" y="70"/>
                    <a:pt x="144" y="70"/>
                    <a:pt x="144" y="70"/>
                  </a:cubicBezTo>
                  <a:lnTo>
                    <a:pt x="145" y="79"/>
                  </a:lnTo>
                  <a:close/>
                </a:path>
              </a:pathLst>
            </a:custGeom>
            <a:grpFill/>
            <a:ln>
              <a:noFill/>
            </a:ln>
          </p:spPr>
          <p:txBody>
            <a:bodyPr vert="horz" wrap="square" lIns="91440" tIns="45720" rIns="91440" bIns="45720" numCol="1" anchor="t" anchorCtr="0" compatLnSpc="1"/>
            <a:lstStyle/>
            <a:p>
              <a:pPr>
                <a:lnSpc>
                  <a:spcPct val="120000"/>
                </a:lnSpc>
              </a:pPr>
              <a:endParaRPr lang="en-US"/>
            </a:p>
          </p:txBody>
        </p:sp>
      </p:grpSp>
      <p:sp>
        <p:nvSpPr>
          <p:cNvPr id="65" name="TextBox 88">
            <a:extLst>
              <a:ext uri="{FF2B5EF4-FFF2-40B4-BE49-F238E27FC236}">
                <a16:creationId xmlns:a16="http://schemas.microsoft.com/office/drawing/2014/main" id="{7E991057-4A25-507A-C51A-3FBB70F94692}"/>
              </a:ext>
            </a:extLst>
          </p:cNvPr>
          <p:cNvSpPr txBox="1"/>
          <p:nvPr/>
        </p:nvSpPr>
        <p:spPr>
          <a:xfrm>
            <a:off x="1267992" y="1684055"/>
            <a:ext cx="3648343" cy="1076705"/>
          </a:xfrm>
          <a:prstGeom prst="rect">
            <a:avLst/>
          </a:prstGeom>
          <a:noFill/>
        </p:spPr>
        <p:txBody>
          <a:bodyPr wrap="square" lIns="0" tIns="0" rIns="0" bIns="0" rtlCol="0">
            <a:spAutoFit/>
          </a:bodyPr>
          <a:lstStyle/>
          <a:p>
            <a:pPr marL="342900" indent="-342900" algn="just">
              <a:lnSpc>
                <a:spcPct val="120000"/>
              </a:lnSpc>
              <a:buFont typeface="Arial" panose="020B0604020202020204" pitchFamily="34" charset="0"/>
              <a:buChar char="•"/>
            </a:pPr>
            <a:r>
              <a:rPr lang="en-US" altLang="zh-CN" sz="20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Vmware</a:t>
            </a: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虚拟机严格隔离部署</a:t>
            </a:r>
            <a:endParaRPr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20000"/>
              </a:lnSpc>
              <a:buFont typeface="Arial" panose="020B0604020202020204" pitchFamily="34" charset="0"/>
              <a:buChar char="•"/>
            </a:pP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开源制品体系获取完整</a:t>
            </a:r>
            <a:endParaRPr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20000"/>
              </a:lnSpc>
              <a:buFont typeface="Arial" panose="020B0604020202020204" pitchFamily="34" charset="0"/>
              <a:buChar char="•"/>
            </a:pP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依赖树完全编译通过</a:t>
            </a:r>
          </a:p>
        </p:txBody>
      </p:sp>
      <p:sp>
        <p:nvSpPr>
          <p:cNvPr id="66" name="圆角矩形 65">
            <a:extLst>
              <a:ext uri="{FF2B5EF4-FFF2-40B4-BE49-F238E27FC236}">
                <a16:creationId xmlns:a16="http://schemas.microsoft.com/office/drawing/2014/main" id="{3A752AE8-224D-FC77-C403-BDB68D234E6A}"/>
              </a:ext>
            </a:extLst>
          </p:cNvPr>
          <p:cNvSpPr/>
          <p:nvPr>
            <p:custDataLst>
              <p:tags r:id="rId8"/>
            </p:custDataLst>
          </p:nvPr>
        </p:nvSpPr>
        <p:spPr>
          <a:xfrm>
            <a:off x="756334" y="3148766"/>
            <a:ext cx="4810539" cy="3056572"/>
          </a:xfrm>
          <a:prstGeom prst="roundRect">
            <a:avLst>
              <a:gd name="adj" fmla="val 3214"/>
            </a:avLst>
          </a:prstGeom>
          <a:noFill/>
          <a:ln>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pic>
        <p:nvPicPr>
          <p:cNvPr id="12" name="图片 11" descr="BIARB}BRL6EIYXHWFHD9M}H">
            <a:extLst>
              <a:ext uri="{FF2B5EF4-FFF2-40B4-BE49-F238E27FC236}">
                <a16:creationId xmlns:a16="http://schemas.microsoft.com/office/drawing/2014/main" id="{F4A21E1C-1878-469C-B441-3F045E404A78}"/>
              </a:ext>
            </a:extLst>
          </p:cNvPr>
          <p:cNvPicPr>
            <a:picLocks noChangeAspect="1"/>
          </p:cNvPicPr>
          <p:nvPr/>
        </p:nvPicPr>
        <p:blipFill>
          <a:blip r:embed="rId27"/>
          <a:stretch>
            <a:fillRect/>
          </a:stretch>
        </p:blipFill>
        <p:spPr>
          <a:xfrm>
            <a:off x="1504950" y="1246505"/>
            <a:ext cx="3018790" cy="154940"/>
          </a:xfrm>
          <a:prstGeom prst="rect">
            <a:avLst/>
          </a:prstGeom>
        </p:spPr>
      </p:pic>
      <p:sp>
        <p:nvSpPr>
          <p:cNvPr id="3" name="TextBox 29">
            <a:extLst>
              <a:ext uri="{FF2B5EF4-FFF2-40B4-BE49-F238E27FC236}">
                <a16:creationId xmlns:a16="http://schemas.microsoft.com/office/drawing/2014/main" id="{B84638E6-C785-F1D4-A11D-ED1B8D51F3AC}"/>
              </a:ext>
            </a:extLst>
          </p:cNvPr>
          <p:cNvSpPr txBox="1"/>
          <p:nvPr>
            <p:custDataLst>
              <p:tags r:id="rId9"/>
            </p:custDataLst>
          </p:nvPr>
        </p:nvSpPr>
        <p:spPr>
          <a:xfrm>
            <a:off x="2133999" y="3628156"/>
            <a:ext cx="3534473" cy="867610"/>
          </a:xfrm>
          <a:prstGeom prst="rect">
            <a:avLst/>
          </a:prstGeom>
          <a:noFill/>
        </p:spPr>
        <p:txBody>
          <a:bodyPr wrap="square" lIns="0" tIns="0" rIns="0" bIns="0" rtlCol="0">
            <a:spAutoFit/>
          </a:bodyPr>
          <a:lstStyle/>
          <a:p>
            <a:pPr>
              <a:lnSpc>
                <a:spcPct val="120000"/>
              </a:lnSpc>
            </a:pPr>
            <a:r>
              <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Ubuntu20.04LTS(Linux kernel 5.15.0-126)</a:t>
            </a:r>
          </a:p>
          <a:p>
            <a:pPr>
              <a:lnSpc>
                <a:spcPct val="120000"/>
              </a:lnSpc>
            </a:pPr>
            <a:r>
              <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Node.js&gt;16.x</a:t>
            </a:r>
          </a:p>
          <a:p>
            <a:pPr>
              <a:lnSpc>
                <a:spcPct val="120000"/>
              </a:lnSpc>
            </a:pPr>
            <a:r>
              <a:rPr lang="en-US" altLang="zh-CN" sz="12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Npm</a:t>
            </a:r>
            <a:endPar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TypeScript</a:t>
            </a:r>
            <a:endParaRPr lang="zh-CN" altLang="en-US" sz="12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圆角矩形 26">
            <a:extLst>
              <a:ext uri="{FF2B5EF4-FFF2-40B4-BE49-F238E27FC236}">
                <a16:creationId xmlns:a16="http://schemas.microsoft.com/office/drawing/2014/main" id="{9872445A-DD7B-C745-D4F7-C2A586B62559}"/>
              </a:ext>
            </a:extLst>
          </p:cNvPr>
          <p:cNvSpPr/>
          <p:nvPr/>
        </p:nvSpPr>
        <p:spPr>
          <a:xfrm>
            <a:off x="6590454" y="1745433"/>
            <a:ext cx="4551680" cy="784521"/>
          </a:xfrm>
          <a:prstGeom prst="roundRect">
            <a:avLst>
              <a:gd name="adj" fmla="val 9092"/>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rgbClr val="313D51"/>
              </a:solidFill>
            </a:endParaRPr>
          </a:p>
        </p:txBody>
      </p:sp>
      <p:sp>
        <p:nvSpPr>
          <p:cNvPr id="5" name="TextBox 88">
            <a:extLst>
              <a:ext uri="{FF2B5EF4-FFF2-40B4-BE49-F238E27FC236}">
                <a16:creationId xmlns:a16="http://schemas.microsoft.com/office/drawing/2014/main" id="{C76E104E-66FF-C6A9-F372-93CCC79FEA79}"/>
              </a:ext>
            </a:extLst>
          </p:cNvPr>
          <p:cNvSpPr txBox="1"/>
          <p:nvPr/>
        </p:nvSpPr>
        <p:spPr>
          <a:xfrm>
            <a:off x="6700403" y="1968672"/>
            <a:ext cx="4640146" cy="338041"/>
          </a:xfrm>
          <a:prstGeom prst="rect">
            <a:avLst/>
          </a:prstGeom>
          <a:noFill/>
        </p:spPr>
        <p:txBody>
          <a:bodyPr wrap="square" lIns="0" tIns="0" rIns="0" bIns="0" rtlCol="0">
            <a:spAutoFit/>
          </a:bodyPr>
          <a:lstStyle/>
          <a:p>
            <a:pPr marL="342900" indent="-342900" algn="just">
              <a:lnSpc>
                <a:spcPct val="120000"/>
              </a:lnSpc>
              <a:buFont typeface="Arial" panose="020B0604020202020204" pitchFamily="34" charset="0"/>
              <a:buChar char="•"/>
            </a:pP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完成依赖安装并初步跑通</a:t>
            </a:r>
            <a:r>
              <a:rPr lang="en-US" altLang="zh-CN" sz="20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HapBench</a:t>
            </a:r>
            <a:endPar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圆角矩形 65">
            <a:extLst>
              <a:ext uri="{FF2B5EF4-FFF2-40B4-BE49-F238E27FC236}">
                <a16:creationId xmlns:a16="http://schemas.microsoft.com/office/drawing/2014/main" id="{8DCD336C-F525-51AB-5F21-8E5C74BCC59A}"/>
              </a:ext>
            </a:extLst>
          </p:cNvPr>
          <p:cNvSpPr/>
          <p:nvPr>
            <p:custDataLst>
              <p:tags r:id="rId10"/>
            </p:custDataLst>
          </p:nvPr>
        </p:nvSpPr>
        <p:spPr>
          <a:xfrm>
            <a:off x="6494639" y="3148766"/>
            <a:ext cx="4810539" cy="3056572"/>
          </a:xfrm>
          <a:prstGeom prst="roundRect">
            <a:avLst>
              <a:gd name="adj" fmla="val 3214"/>
            </a:avLst>
          </a:prstGeom>
          <a:noFill/>
          <a:ln>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70" name="TextBox 29">
            <a:extLst>
              <a:ext uri="{FF2B5EF4-FFF2-40B4-BE49-F238E27FC236}">
                <a16:creationId xmlns:a16="http://schemas.microsoft.com/office/drawing/2014/main" id="{7E84BB45-28B8-751D-3A6C-D0CCD8DB46A8}"/>
              </a:ext>
            </a:extLst>
          </p:cNvPr>
          <p:cNvSpPr txBox="1"/>
          <p:nvPr>
            <p:custDataLst>
              <p:tags r:id="rId11"/>
            </p:custDataLst>
          </p:nvPr>
        </p:nvSpPr>
        <p:spPr>
          <a:xfrm>
            <a:off x="6700403" y="3308734"/>
            <a:ext cx="4525273" cy="2634183"/>
          </a:xfrm>
          <a:prstGeom prst="rect">
            <a:avLst/>
          </a:prstGeom>
          <a:noFill/>
        </p:spPr>
        <p:txBody>
          <a:bodyPr wrap="square" lIns="0" tIns="0" rIns="0" bIns="0" rtlCol="0">
            <a:spAutoFit/>
          </a:bodyPr>
          <a:lstStyle/>
          <a:p>
            <a:pPr>
              <a:lnSpc>
                <a:spcPct val="120000"/>
              </a:lnSpc>
            </a:pP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安装</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arkanalyzer</a:t>
            </a:r>
            <a:r>
              <a:rPr lang="zh-CN" altLang="en-US"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依赖</a:t>
            </a:r>
            <a:endPar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cd </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arkanalyzer</a:t>
            </a: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/&amp;&amp;</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npm</a:t>
            </a: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install</a:t>
            </a:r>
          </a:p>
          <a:p>
            <a:pPr>
              <a:lnSpc>
                <a:spcPct val="120000"/>
              </a:lnSpc>
            </a:pPr>
            <a:endPar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安装</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hapflow</a:t>
            </a:r>
            <a:r>
              <a:rPr lang="zh-CN" altLang="en-US"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依赖</a:t>
            </a:r>
            <a:endPar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cd ../</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hapflow</a:t>
            </a: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/&amp;&amp;</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npm</a:t>
            </a: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install</a:t>
            </a:r>
          </a:p>
          <a:p>
            <a:pPr>
              <a:lnSpc>
                <a:spcPct val="120000"/>
              </a:lnSpc>
            </a:pPr>
            <a:endPar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运行</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HapBench</a:t>
            </a:r>
            <a:r>
              <a:rPr lang="zh-CN" altLang="en-US"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基准测试</a:t>
            </a:r>
            <a:endPar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npx</a:t>
            </a: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ts</a:t>
            </a: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-node -r </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tsconfig</a:t>
            </a:r>
            <a:r>
              <a:rPr lang="en-US" altLang="zh-CN"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-paths/register tests/</a:t>
            </a:r>
            <a:r>
              <a:rPr lang="en-US" altLang="zh-CN" sz="1600" dirty="0" err="1">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BenchTest.ts</a:t>
            </a:r>
            <a:endParaRPr lang="zh-CN" altLang="en-US" sz="1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34480565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8A0F2-1215-932C-1EFE-BB209A238B3C}"/>
            </a:ext>
          </a:extLst>
        </p:cNvPr>
        <p:cNvGrpSpPr/>
        <p:nvPr/>
      </p:nvGrpSpPr>
      <p:grpSpPr>
        <a:xfrm>
          <a:off x="0" y="0"/>
          <a:ext cx="0" cy="0"/>
          <a:chOff x="0" y="0"/>
          <a:chExt cx="0" cy="0"/>
        </a:xfrm>
      </p:grpSpPr>
      <p:pic>
        <p:nvPicPr>
          <p:cNvPr id="18" name="图片 17">
            <a:extLst>
              <a:ext uri="{FF2B5EF4-FFF2-40B4-BE49-F238E27FC236}">
                <a16:creationId xmlns:a16="http://schemas.microsoft.com/office/drawing/2014/main" id="{41E9D090-5667-38A8-5B4B-F92CE6E4F9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a:extLst>
              <a:ext uri="{FF2B5EF4-FFF2-40B4-BE49-F238E27FC236}">
                <a16:creationId xmlns:a16="http://schemas.microsoft.com/office/drawing/2014/main" id="{16BA53A4-0FF8-45CD-E95A-57DFE84864FA}"/>
              </a:ext>
            </a:extLst>
          </p:cNvPr>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a:extLst>
              <a:ext uri="{FF2B5EF4-FFF2-40B4-BE49-F238E27FC236}">
                <a16:creationId xmlns:a16="http://schemas.microsoft.com/office/drawing/2014/main" id="{8EFFDF81-B6C5-6CD2-8B19-3649A3969DF9}"/>
              </a:ext>
            </a:extLst>
          </p:cNvPr>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a:extLst>
              <a:ext uri="{FF2B5EF4-FFF2-40B4-BE49-F238E27FC236}">
                <a16:creationId xmlns:a16="http://schemas.microsoft.com/office/drawing/2014/main" id="{446828EC-681F-0D52-BF51-B3635E4F6544}"/>
              </a:ext>
            </a:extLst>
          </p:cNvPr>
          <p:cNvSpPr txBox="1"/>
          <p:nvPr/>
        </p:nvSpPr>
        <p:spPr>
          <a:xfrm>
            <a:off x="2891813" y="2443843"/>
            <a:ext cx="1630576"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04</a:t>
            </a:r>
            <a:endParaRPr lang="zh-CN" altLang="en-US" sz="13800" dirty="0">
              <a:solidFill>
                <a:schemeClr val="bg1"/>
              </a:solidFill>
              <a:latin typeface="Agency FB" panose="020B0503020202020204" pitchFamily="34" charset="0"/>
            </a:endParaRPr>
          </a:p>
        </p:txBody>
      </p:sp>
      <p:sp>
        <p:nvSpPr>
          <p:cNvPr id="25" name="文本框 24">
            <a:extLst>
              <a:ext uri="{FF2B5EF4-FFF2-40B4-BE49-F238E27FC236}">
                <a16:creationId xmlns:a16="http://schemas.microsoft.com/office/drawing/2014/main" id="{D42C6159-EF58-10AE-EE68-7F8349C0B6A5}"/>
              </a:ext>
            </a:extLst>
          </p:cNvPr>
          <p:cNvSpPr txBox="1"/>
          <p:nvPr/>
        </p:nvSpPr>
        <p:spPr>
          <a:xfrm>
            <a:off x="4911483" y="2716242"/>
            <a:ext cx="4238307" cy="521970"/>
          </a:xfrm>
          <a:prstGeom prst="rect">
            <a:avLst/>
          </a:prstGeom>
          <a:noFill/>
        </p:spPr>
        <p:txBody>
          <a:bodyPr wrap="square" rtlCol="0">
            <a:spAutoFit/>
            <a:scene3d>
              <a:camera prst="orthographicFront"/>
              <a:lightRig rig="threePt" dir="t"/>
            </a:scene3d>
            <a:sp3d contourW="12700"/>
          </a:bodyPr>
          <a:lstStyle/>
          <a:p>
            <a:r>
              <a:rPr lang="zh-CN" altLang="en-US" sz="2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进度安排与预期成效</a:t>
            </a:r>
          </a:p>
        </p:txBody>
      </p:sp>
      <p:cxnSp>
        <p:nvCxnSpPr>
          <p:cNvPr id="27" name="直接连接符 26">
            <a:extLst>
              <a:ext uri="{FF2B5EF4-FFF2-40B4-BE49-F238E27FC236}">
                <a16:creationId xmlns:a16="http://schemas.microsoft.com/office/drawing/2014/main" id="{CA58F7C5-CFCD-2B9B-0A5D-C84DA382E933}"/>
              </a:ext>
            </a:extLst>
          </p:cNvPr>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457FCA9-F727-008C-A3B4-9D831817E453}"/>
              </a:ext>
            </a:extLst>
          </p:cNvPr>
          <p:cNvSpPr txBox="1"/>
          <p:nvPr/>
        </p:nvSpPr>
        <p:spPr>
          <a:xfrm>
            <a:off x="5034394" y="3531006"/>
            <a:ext cx="1412569" cy="202812"/>
          </a:xfrm>
          <a:prstGeom prst="rect">
            <a:avLst/>
          </a:prstGeom>
          <a:noFill/>
        </p:spPr>
        <p:txBody>
          <a:bodyPr wrap="square" lIns="0" tIns="0" rIns="0" bIns="0" rtlCol="0">
            <a:spAutoFit/>
          </a:bodyPr>
          <a:lstStyle/>
          <a:p>
            <a:pPr marL="171450" lvl="1" indent="-17145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实验流程与里程碑</a:t>
            </a:r>
          </a:p>
        </p:txBody>
      </p:sp>
      <p:sp>
        <p:nvSpPr>
          <p:cNvPr id="14" name="文本框 9">
            <a:extLst>
              <a:ext uri="{FF2B5EF4-FFF2-40B4-BE49-F238E27FC236}">
                <a16:creationId xmlns:a16="http://schemas.microsoft.com/office/drawing/2014/main" id="{3623C2EB-F3D0-AEA5-C791-45F756F9670E}"/>
              </a:ext>
            </a:extLst>
          </p:cNvPr>
          <p:cNvSpPr txBox="1"/>
          <p:nvPr/>
        </p:nvSpPr>
        <p:spPr>
          <a:xfrm>
            <a:off x="6582450" y="3531006"/>
            <a:ext cx="1577282" cy="202812"/>
          </a:xfrm>
          <a:prstGeom prst="rect">
            <a:avLst/>
          </a:prstGeom>
          <a:noFill/>
        </p:spPr>
        <p:txBody>
          <a:bodyPr wrap="square" lIns="0" tIns="0" rIns="0" bIns="0" rtlCol="0">
            <a:spAutoFit/>
          </a:bodyPr>
          <a:lstStyle/>
          <a:p>
            <a:pPr marL="171450" lvl="1" indent="-171450">
              <a:lnSpc>
                <a:spcPct val="120000"/>
              </a:lnSpc>
              <a:buSzPct val="70000"/>
              <a:buFont typeface="Wingdings" panose="05000000000000000000" pitchFamily="2" charset="2"/>
              <a:buChar char="l"/>
            </a:pPr>
            <a:r>
              <a:rPr lang="en-US" altLang="zh-CN" sz="1200" dirty="0" err="1">
                <a:solidFill>
                  <a:schemeClr val="bg1"/>
                </a:solidFill>
                <a:latin typeface="思源黑体" panose="020B0500000000000000" pitchFamily="34" charset="-122"/>
                <a:ea typeface="思源黑体" panose="020B0500000000000000" pitchFamily="34" charset="-122"/>
              </a:rPr>
              <a:t>HapFlow</a:t>
            </a:r>
            <a:r>
              <a:rPr lang="zh-CN" altLang="en-US" sz="1200" dirty="0">
                <a:solidFill>
                  <a:schemeClr val="bg1"/>
                </a:solidFill>
                <a:latin typeface="思源黑体" panose="020B0500000000000000" pitchFamily="34" charset="-122"/>
                <a:ea typeface="思源黑体" panose="020B0500000000000000" pitchFamily="34" charset="-122"/>
              </a:rPr>
              <a:t>的改进空间</a:t>
            </a:r>
          </a:p>
        </p:txBody>
      </p:sp>
      <p:sp>
        <p:nvSpPr>
          <p:cNvPr id="19" name="文本框 9">
            <a:extLst>
              <a:ext uri="{FF2B5EF4-FFF2-40B4-BE49-F238E27FC236}">
                <a16:creationId xmlns:a16="http://schemas.microsoft.com/office/drawing/2014/main" id="{69DAD924-2983-CA6D-E60B-F73624E74381}"/>
              </a:ext>
            </a:extLst>
          </p:cNvPr>
          <p:cNvSpPr txBox="1"/>
          <p:nvPr/>
        </p:nvSpPr>
        <p:spPr>
          <a:xfrm>
            <a:off x="5034320" y="3842477"/>
            <a:ext cx="1577282" cy="202812"/>
          </a:xfrm>
          <a:prstGeom prst="rect">
            <a:avLst/>
          </a:prstGeom>
          <a:noFill/>
        </p:spPr>
        <p:txBody>
          <a:bodyPr wrap="square" lIns="0" tIns="0" rIns="0" bIns="0" rtlCol="0">
            <a:spAutoFit/>
          </a:bodyPr>
          <a:lstStyle/>
          <a:p>
            <a:pPr marL="171450" lvl="1" indent="-17145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预期成效</a:t>
            </a:r>
          </a:p>
        </p:txBody>
      </p:sp>
    </p:spTree>
    <p:extLst>
      <p:ext uri="{BB962C8B-B14F-4D97-AF65-F5344CB8AC3E}">
        <p14:creationId xmlns:p14="http://schemas.microsoft.com/office/powerpoint/2010/main" val="383192901"/>
      </p:ext>
    </p:extLst>
  </p:cSld>
  <p:clrMapOvr>
    <a:masterClrMapping/>
  </p:clrMapOvr>
  <p:transition spd="slow">
    <p:comb/>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a:t>实验流程与里程碑</a:t>
            </a:r>
          </a:p>
        </p:txBody>
      </p:sp>
      <p:sp>
        <p:nvSpPr>
          <p:cNvPr id="65" name="矩形 64"/>
          <p:cNvSpPr/>
          <p:nvPr>
            <p:custDataLst>
              <p:tags r:id="rId1"/>
            </p:custDataLst>
          </p:nvPr>
        </p:nvSpPr>
        <p:spPr>
          <a:xfrm>
            <a:off x="1406898" y="2038715"/>
            <a:ext cx="9206552" cy="71984"/>
          </a:xfrm>
          <a:prstGeom prst="rect">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nvGrpSpPr>
          <p:cNvPr id="69" name="组合 68"/>
          <p:cNvGrpSpPr/>
          <p:nvPr/>
        </p:nvGrpSpPr>
        <p:grpSpPr>
          <a:xfrm>
            <a:off x="4691906" y="1902430"/>
            <a:ext cx="344556" cy="344555"/>
            <a:chOff x="4971660" y="1569718"/>
            <a:chExt cx="144016" cy="144016"/>
          </a:xfrm>
          <a:solidFill>
            <a:srgbClr val="0B2C4F"/>
          </a:solidFill>
        </p:grpSpPr>
        <p:sp>
          <p:nvSpPr>
            <p:cNvPr id="70" name="椭圆 69"/>
            <p:cNvSpPr/>
            <p:nvPr>
              <p:custDataLst>
                <p:tags r:id="rId24"/>
              </p:custDataLst>
            </p:nvPr>
          </p:nvSpPr>
          <p:spPr>
            <a:xfrm>
              <a:off x="4971660" y="1569718"/>
              <a:ext cx="144016" cy="144016"/>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71" name="椭圆 70"/>
            <p:cNvSpPr/>
            <p:nvPr>
              <p:custDataLst>
                <p:tags r:id="rId25"/>
              </p:custDataLst>
            </p:nvPr>
          </p:nvSpPr>
          <p:spPr>
            <a:xfrm>
              <a:off x="5005748" y="1603806"/>
              <a:ext cx="75840" cy="75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grpSp>
        <p:nvGrpSpPr>
          <p:cNvPr id="75" name="组合 74"/>
          <p:cNvGrpSpPr/>
          <p:nvPr/>
        </p:nvGrpSpPr>
        <p:grpSpPr>
          <a:xfrm>
            <a:off x="2256006" y="1902430"/>
            <a:ext cx="344556" cy="344555"/>
            <a:chOff x="4971660" y="1569718"/>
            <a:chExt cx="144016" cy="144016"/>
          </a:xfrm>
          <a:solidFill>
            <a:srgbClr val="0A2D4F"/>
          </a:solidFill>
        </p:grpSpPr>
        <p:sp>
          <p:nvSpPr>
            <p:cNvPr id="76" name="椭圆 75"/>
            <p:cNvSpPr/>
            <p:nvPr>
              <p:custDataLst>
                <p:tags r:id="rId22"/>
              </p:custDataLst>
            </p:nvPr>
          </p:nvSpPr>
          <p:spPr>
            <a:xfrm>
              <a:off x="4971660" y="1569718"/>
              <a:ext cx="144016" cy="144016"/>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77" name="椭圆 76"/>
            <p:cNvSpPr/>
            <p:nvPr>
              <p:custDataLst>
                <p:tags r:id="rId23"/>
              </p:custDataLst>
            </p:nvPr>
          </p:nvSpPr>
          <p:spPr>
            <a:xfrm>
              <a:off x="5005748" y="1603806"/>
              <a:ext cx="75840" cy="75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grpSp>
        <p:nvGrpSpPr>
          <p:cNvPr id="81" name="组合 80"/>
          <p:cNvGrpSpPr/>
          <p:nvPr/>
        </p:nvGrpSpPr>
        <p:grpSpPr>
          <a:xfrm>
            <a:off x="9419786" y="1902430"/>
            <a:ext cx="344556" cy="344555"/>
            <a:chOff x="4971660" y="1569718"/>
            <a:chExt cx="144016" cy="144016"/>
          </a:xfrm>
          <a:solidFill>
            <a:srgbClr val="0B2C4F"/>
          </a:solidFill>
        </p:grpSpPr>
        <p:sp>
          <p:nvSpPr>
            <p:cNvPr id="82" name="椭圆 81"/>
            <p:cNvSpPr/>
            <p:nvPr>
              <p:custDataLst>
                <p:tags r:id="rId20"/>
              </p:custDataLst>
            </p:nvPr>
          </p:nvSpPr>
          <p:spPr>
            <a:xfrm>
              <a:off x="4971660" y="1569718"/>
              <a:ext cx="144016" cy="144016"/>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83" name="椭圆 82"/>
            <p:cNvSpPr/>
            <p:nvPr>
              <p:custDataLst>
                <p:tags r:id="rId21"/>
              </p:custDataLst>
            </p:nvPr>
          </p:nvSpPr>
          <p:spPr>
            <a:xfrm>
              <a:off x="5005748" y="1603806"/>
              <a:ext cx="75840" cy="75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grpSp>
        <p:nvGrpSpPr>
          <p:cNvPr id="87" name="组合 86"/>
          <p:cNvGrpSpPr/>
          <p:nvPr/>
        </p:nvGrpSpPr>
        <p:grpSpPr>
          <a:xfrm>
            <a:off x="6989241" y="1902430"/>
            <a:ext cx="344556" cy="344555"/>
            <a:chOff x="4971660" y="1569718"/>
            <a:chExt cx="144016" cy="144016"/>
          </a:xfrm>
          <a:solidFill>
            <a:srgbClr val="0A2D4F"/>
          </a:solidFill>
        </p:grpSpPr>
        <p:sp>
          <p:nvSpPr>
            <p:cNvPr id="88" name="椭圆 87"/>
            <p:cNvSpPr/>
            <p:nvPr>
              <p:custDataLst>
                <p:tags r:id="rId18"/>
              </p:custDataLst>
            </p:nvPr>
          </p:nvSpPr>
          <p:spPr>
            <a:xfrm>
              <a:off x="4971660" y="1569718"/>
              <a:ext cx="144016" cy="144016"/>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89" name="椭圆 88"/>
            <p:cNvSpPr/>
            <p:nvPr>
              <p:custDataLst>
                <p:tags r:id="rId19"/>
              </p:custDataLst>
            </p:nvPr>
          </p:nvSpPr>
          <p:spPr>
            <a:xfrm>
              <a:off x="5005748" y="1603806"/>
              <a:ext cx="75840" cy="75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pic>
        <p:nvPicPr>
          <p:cNvPr id="12" name="图片 11" descr="BIARB}BRL6EIYXHWFHD9M}H"/>
          <p:cNvPicPr>
            <a:picLocks noChangeAspect="1"/>
          </p:cNvPicPr>
          <p:nvPr/>
        </p:nvPicPr>
        <p:blipFill>
          <a:blip r:embed="rId28"/>
          <a:stretch>
            <a:fillRect/>
          </a:stretch>
        </p:blipFill>
        <p:spPr>
          <a:xfrm>
            <a:off x="1504949" y="1246505"/>
            <a:ext cx="3724063" cy="191138"/>
          </a:xfrm>
          <a:prstGeom prst="rect">
            <a:avLst/>
          </a:prstGeom>
        </p:spPr>
      </p:pic>
      <p:sp>
        <p:nvSpPr>
          <p:cNvPr id="8" name="文本框 7">
            <a:extLst>
              <a:ext uri="{FF2B5EF4-FFF2-40B4-BE49-F238E27FC236}">
                <a16:creationId xmlns:a16="http://schemas.microsoft.com/office/drawing/2014/main" id="{6862FE40-3B46-502A-2C6C-5D3CFD21588F}"/>
              </a:ext>
            </a:extLst>
          </p:cNvPr>
          <p:cNvSpPr txBox="1"/>
          <p:nvPr/>
        </p:nvSpPr>
        <p:spPr>
          <a:xfrm>
            <a:off x="1984004" y="1573876"/>
            <a:ext cx="887307" cy="369332"/>
          </a:xfrm>
          <a:prstGeom prst="rect">
            <a:avLst/>
          </a:prstGeom>
          <a:noFill/>
        </p:spPr>
        <p:txBody>
          <a:bodyPr wrap="square">
            <a:spAutoFit/>
          </a:bodyPr>
          <a:lstStyle/>
          <a:p>
            <a:r>
              <a:rPr lang="en-US" altLang="zh-CN" b="1" dirty="0"/>
              <a:t>WEEK1</a:t>
            </a:r>
            <a:endParaRPr lang="zh-CN" altLang="en-US" b="1" dirty="0"/>
          </a:p>
        </p:txBody>
      </p:sp>
      <p:sp>
        <p:nvSpPr>
          <p:cNvPr id="11" name="文本框 10">
            <a:extLst>
              <a:ext uri="{FF2B5EF4-FFF2-40B4-BE49-F238E27FC236}">
                <a16:creationId xmlns:a16="http://schemas.microsoft.com/office/drawing/2014/main" id="{78E7441B-F46F-1E1D-20E9-340C67B9430C}"/>
              </a:ext>
            </a:extLst>
          </p:cNvPr>
          <p:cNvSpPr txBox="1"/>
          <p:nvPr/>
        </p:nvSpPr>
        <p:spPr>
          <a:xfrm>
            <a:off x="4420530" y="1573876"/>
            <a:ext cx="887307" cy="369332"/>
          </a:xfrm>
          <a:prstGeom prst="rect">
            <a:avLst/>
          </a:prstGeom>
          <a:noFill/>
        </p:spPr>
        <p:txBody>
          <a:bodyPr wrap="square">
            <a:spAutoFit/>
          </a:bodyPr>
          <a:lstStyle/>
          <a:p>
            <a:r>
              <a:rPr lang="en-US" altLang="zh-CN" b="1" dirty="0"/>
              <a:t>WEEK2</a:t>
            </a:r>
            <a:endParaRPr lang="zh-CN" altLang="en-US" b="1" dirty="0"/>
          </a:p>
        </p:txBody>
      </p:sp>
      <p:sp>
        <p:nvSpPr>
          <p:cNvPr id="13" name="文本框 12">
            <a:extLst>
              <a:ext uri="{FF2B5EF4-FFF2-40B4-BE49-F238E27FC236}">
                <a16:creationId xmlns:a16="http://schemas.microsoft.com/office/drawing/2014/main" id="{F1B5E141-EEE6-9D69-7370-147EAAEE091A}"/>
              </a:ext>
            </a:extLst>
          </p:cNvPr>
          <p:cNvSpPr txBox="1"/>
          <p:nvPr/>
        </p:nvSpPr>
        <p:spPr>
          <a:xfrm>
            <a:off x="6711886" y="1579005"/>
            <a:ext cx="887307" cy="369332"/>
          </a:xfrm>
          <a:prstGeom prst="rect">
            <a:avLst/>
          </a:prstGeom>
          <a:noFill/>
        </p:spPr>
        <p:txBody>
          <a:bodyPr wrap="square">
            <a:spAutoFit/>
          </a:bodyPr>
          <a:lstStyle/>
          <a:p>
            <a:r>
              <a:rPr lang="en-US" altLang="zh-CN" b="1" dirty="0"/>
              <a:t>WEEK3</a:t>
            </a:r>
            <a:endParaRPr lang="zh-CN" altLang="en-US" b="1" dirty="0"/>
          </a:p>
        </p:txBody>
      </p:sp>
      <p:sp>
        <p:nvSpPr>
          <p:cNvPr id="14" name="文本框 13">
            <a:extLst>
              <a:ext uri="{FF2B5EF4-FFF2-40B4-BE49-F238E27FC236}">
                <a16:creationId xmlns:a16="http://schemas.microsoft.com/office/drawing/2014/main" id="{CA84F1FF-2EA7-83BF-DC7D-29D6AFBEC10B}"/>
              </a:ext>
            </a:extLst>
          </p:cNvPr>
          <p:cNvSpPr txBox="1"/>
          <p:nvPr/>
        </p:nvSpPr>
        <p:spPr>
          <a:xfrm>
            <a:off x="9148410" y="1573876"/>
            <a:ext cx="887307" cy="369332"/>
          </a:xfrm>
          <a:prstGeom prst="rect">
            <a:avLst/>
          </a:prstGeom>
          <a:noFill/>
        </p:spPr>
        <p:txBody>
          <a:bodyPr wrap="square">
            <a:spAutoFit/>
          </a:bodyPr>
          <a:lstStyle/>
          <a:p>
            <a:r>
              <a:rPr lang="en-US" altLang="zh-CN" b="1" dirty="0"/>
              <a:t>WEEK4</a:t>
            </a:r>
            <a:endParaRPr lang="zh-CN" altLang="en-US" b="1" dirty="0"/>
          </a:p>
        </p:txBody>
      </p:sp>
      <p:grpSp>
        <p:nvGrpSpPr>
          <p:cNvPr id="19" name="组合 18">
            <a:extLst>
              <a:ext uri="{FF2B5EF4-FFF2-40B4-BE49-F238E27FC236}">
                <a16:creationId xmlns:a16="http://schemas.microsoft.com/office/drawing/2014/main" id="{F714B58C-C280-84B0-8851-9DE09121D1E1}"/>
              </a:ext>
            </a:extLst>
          </p:cNvPr>
          <p:cNvGrpSpPr/>
          <p:nvPr/>
        </p:nvGrpSpPr>
        <p:grpSpPr>
          <a:xfrm>
            <a:off x="1316432" y="2545805"/>
            <a:ext cx="2222450" cy="2010722"/>
            <a:chOff x="1204856" y="3600774"/>
            <a:chExt cx="3521825" cy="2010722"/>
          </a:xfrm>
        </p:grpSpPr>
        <p:sp>
          <p:nvSpPr>
            <p:cNvPr id="16" name="圆角矩形 18">
              <a:extLst>
                <a:ext uri="{FF2B5EF4-FFF2-40B4-BE49-F238E27FC236}">
                  <a16:creationId xmlns:a16="http://schemas.microsoft.com/office/drawing/2014/main" id="{A5C8A5F6-69BE-E0BC-2291-21044AC155F1}"/>
                </a:ext>
              </a:extLst>
            </p:cNvPr>
            <p:cNvSpPr/>
            <p:nvPr>
              <p:custDataLst>
                <p:tags r:id="rId16"/>
              </p:custDataLst>
            </p:nvPr>
          </p:nvSpPr>
          <p:spPr>
            <a:xfrm>
              <a:off x="1204856" y="3885053"/>
              <a:ext cx="3521825" cy="1726443"/>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marL="285750" indent="-285750" algn="ctr">
                <a:lnSpc>
                  <a:spcPct val="120000"/>
                </a:lnSpc>
                <a:buFont typeface="Arial" panose="020B0604020202020204" pitchFamily="34" charset="0"/>
                <a:buChar char="•"/>
              </a:pPr>
              <a:r>
                <a:rPr lang="zh-CN" altLang="en-US" sz="1450" dirty="0">
                  <a:solidFill>
                    <a:schemeClr val="tx1"/>
                  </a:solidFill>
                </a:rPr>
                <a:t>运行</a:t>
              </a:r>
              <a:r>
                <a:rPr lang="en-US" altLang="zh-CN" sz="1450" dirty="0" err="1">
                  <a:solidFill>
                    <a:schemeClr val="tx1"/>
                  </a:solidFill>
                </a:rPr>
                <a:t>HapBench</a:t>
              </a:r>
              <a:endParaRPr lang="en-US" altLang="zh-CN" sz="1450" dirty="0">
                <a:solidFill>
                  <a:schemeClr val="tx1"/>
                </a:solidFill>
              </a:endParaRPr>
            </a:p>
            <a:p>
              <a:pPr marL="285750" indent="-285750" algn="ctr">
                <a:lnSpc>
                  <a:spcPct val="120000"/>
                </a:lnSpc>
                <a:buFont typeface="Arial" panose="020B0604020202020204" pitchFamily="34" charset="0"/>
                <a:buChar char="•"/>
              </a:pPr>
              <a:r>
                <a:rPr lang="zh-CN" altLang="en-US" sz="1450" dirty="0">
                  <a:solidFill>
                    <a:schemeClr val="tx1"/>
                  </a:solidFill>
                </a:rPr>
                <a:t>实施消融实验</a:t>
              </a:r>
            </a:p>
          </p:txBody>
        </p:sp>
        <p:sp>
          <p:nvSpPr>
            <p:cNvPr id="17" name="文本框 16">
              <a:extLst>
                <a:ext uri="{FF2B5EF4-FFF2-40B4-BE49-F238E27FC236}">
                  <a16:creationId xmlns:a16="http://schemas.microsoft.com/office/drawing/2014/main" id="{22B8F9C6-5BD1-7F2F-31EB-245A31508735}"/>
                </a:ext>
              </a:extLst>
            </p:cNvPr>
            <p:cNvSpPr txBox="1"/>
            <p:nvPr>
              <p:custDataLst>
                <p:tags r:id="rId17"/>
              </p:custDataLst>
            </p:nvPr>
          </p:nvSpPr>
          <p:spPr>
            <a:xfrm>
              <a:off x="1222243" y="3600774"/>
              <a:ext cx="3488822" cy="339010"/>
            </a:xfrm>
            <a:prstGeom prst="rect">
              <a:avLst/>
            </a:prstGeom>
            <a:solidFill>
              <a:srgbClr val="244C89"/>
            </a:solidFill>
            <a:effectLst/>
          </p:spPr>
          <p:txBody>
            <a:bodyPr wrap="square" lIns="67887" tIns="33944" rIns="67887" bIns="33944" rtlCol="0">
              <a:spAutoFit/>
            </a:bodyPr>
            <a:lstStyle/>
            <a:p>
              <a:pPr algn="ctr">
                <a:lnSpc>
                  <a:spcPct val="120000"/>
                </a:lnSpc>
              </a:pPr>
              <a:r>
                <a:rPr lang="zh-CN" altLang="en-US" sz="1600" b="1" dirty="0">
                  <a:solidFill>
                    <a:schemeClr val="bg1"/>
                  </a:solidFill>
                  <a:latin typeface="思源黑体" panose="020B0500000000000000" pitchFamily="34" charset="-122"/>
                  <a:ea typeface="思源黑体" panose="020B0500000000000000" pitchFamily="34" charset="-122"/>
                </a:rPr>
                <a:t>指标复现与基线核对</a:t>
              </a:r>
            </a:p>
          </p:txBody>
        </p:sp>
      </p:grpSp>
      <p:grpSp>
        <p:nvGrpSpPr>
          <p:cNvPr id="20" name="组合 19">
            <a:extLst>
              <a:ext uri="{FF2B5EF4-FFF2-40B4-BE49-F238E27FC236}">
                <a16:creationId xmlns:a16="http://schemas.microsoft.com/office/drawing/2014/main" id="{DF18C236-4C20-5CC9-BE7B-75A303ABB272}"/>
              </a:ext>
            </a:extLst>
          </p:cNvPr>
          <p:cNvGrpSpPr/>
          <p:nvPr/>
        </p:nvGrpSpPr>
        <p:grpSpPr>
          <a:xfrm>
            <a:off x="3737738" y="2545805"/>
            <a:ext cx="2252890" cy="2010722"/>
            <a:chOff x="1204856" y="3600774"/>
            <a:chExt cx="3521825" cy="2010722"/>
          </a:xfrm>
        </p:grpSpPr>
        <p:sp>
          <p:nvSpPr>
            <p:cNvPr id="21" name="圆角矩形 18">
              <a:extLst>
                <a:ext uri="{FF2B5EF4-FFF2-40B4-BE49-F238E27FC236}">
                  <a16:creationId xmlns:a16="http://schemas.microsoft.com/office/drawing/2014/main" id="{5A2B08A9-9306-6BF1-61F8-CBFAF52987A1}"/>
                </a:ext>
              </a:extLst>
            </p:cNvPr>
            <p:cNvSpPr/>
            <p:nvPr>
              <p:custDataLst>
                <p:tags r:id="rId14"/>
              </p:custDataLst>
            </p:nvPr>
          </p:nvSpPr>
          <p:spPr>
            <a:xfrm>
              <a:off x="1204856" y="3885053"/>
              <a:ext cx="3521825" cy="1726443"/>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r>
                <a:rPr lang="zh-CN" altLang="en-US" sz="1450" dirty="0">
                  <a:solidFill>
                    <a:schemeClr val="tx1"/>
                  </a:solidFill>
                </a:rPr>
                <a:t>实施</a:t>
              </a:r>
              <a:r>
                <a:rPr lang="en-US" altLang="zh-CN" sz="1450" dirty="0">
                  <a:solidFill>
                    <a:schemeClr val="tx1"/>
                  </a:solidFill>
                </a:rPr>
                <a:t>HTML</a:t>
              </a:r>
              <a:r>
                <a:rPr lang="zh-CN" altLang="en-US" sz="1450" dirty="0">
                  <a:solidFill>
                    <a:schemeClr val="tx1"/>
                  </a:solidFill>
                </a:rPr>
                <a:t>报告与异常流修复代码（见下一页）</a:t>
              </a:r>
            </a:p>
          </p:txBody>
        </p:sp>
        <p:sp>
          <p:nvSpPr>
            <p:cNvPr id="22" name="文本框 21">
              <a:extLst>
                <a:ext uri="{FF2B5EF4-FFF2-40B4-BE49-F238E27FC236}">
                  <a16:creationId xmlns:a16="http://schemas.microsoft.com/office/drawing/2014/main" id="{4F74D6DB-008F-6C09-FAC7-D25B75E2F4AA}"/>
                </a:ext>
              </a:extLst>
            </p:cNvPr>
            <p:cNvSpPr txBox="1"/>
            <p:nvPr>
              <p:custDataLst>
                <p:tags r:id="rId15"/>
              </p:custDataLst>
            </p:nvPr>
          </p:nvSpPr>
          <p:spPr>
            <a:xfrm>
              <a:off x="1222243" y="3600774"/>
              <a:ext cx="3488822" cy="339010"/>
            </a:xfrm>
            <a:prstGeom prst="rect">
              <a:avLst/>
            </a:prstGeom>
            <a:solidFill>
              <a:srgbClr val="244C89"/>
            </a:solidFill>
            <a:effectLst/>
          </p:spPr>
          <p:txBody>
            <a:bodyPr wrap="square" lIns="67887" tIns="33944" rIns="67887" bIns="33944" rtlCol="0">
              <a:spAutoFit/>
            </a:bodyPr>
            <a:lstStyle/>
            <a:p>
              <a:pPr algn="ctr">
                <a:lnSpc>
                  <a:spcPct val="120000"/>
                </a:lnSpc>
              </a:pPr>
              <a:r>
                <a:rPr lang="zh-CN" altLang="en-US" sz="1600" b="1" dirty="0">
                  <a:solidFill>
                    <a:schemeClr val="bg1"/>
                  </a:solidFill>
                  <a:latin typeface="思源黑体" panose="020B0500000000000000" pitchFamily="34" charset="-122"/>
                  <a:ea typeface="思源黑体" panose="020B0500000000000000" pitchFamily="34" charset="-122"/>
                </a:rPr>
                <a:t>改进实现与回归验证</a:t>
              </a:r>
            </a:p>
          </p:txBody>
        </p:sp>
      </p:grpSp>
      <p:grpSp>
        <p:nvGrpSpPr>
          <p:cNvPr id="23" name="组合 22">
            <a:extLst>
              <a:ext uri="{FF2B5EF4-FFF2-40B4-BE49-F238E27FC236}">
                <a16:creationId xmlns:a16="http://schemas.microsoft.com/office/drawing/2014/main" id="{0B1FD1BD-2331-2FC2-E329-962487A3A42D}"/>
              </a:ext>
            </a:extLst>
          </p:cNvPr>
          <p:cNvGrpSpPr/>
          <p:nvPr/>
        </p:nvGrpSpPr>
        <p:grpSpPr>
          <a:xfrm>
            <a:off x="6054727" y="2549938"/>
            <a:ext cx="2201623" cy="2010722"/>
            <a:chOff x="1204856" y="3600774"/>
            <a:chExt cx="3521825" cy="2010722"/>
          </a:xfrm>
        </p:grpSpPr>
        <p:sp>
          <p:nvSpPr>
            <p:cNvPr id="24" name="圆角矩形 18">
              <a:extLst>
                <a:ext uri="{FF2B5EF4-FFF2-40B4-BE49-F238E27FC236}">
                  <a16:creationId xmlns:a16="http://schemas.microsoft.com/office/drawing/2014/main" id="{E77D9AB5-87FA-967C-FA9E-2444283A1758}"/>
                </a:ext>
              </a:extLst>
            </p:cNvPr>
            <p:cNvSpPr/>
            <p:nvPr>
              <p:custDataLst>
                <p:tags r:id="rId12"/>
              </p:custDataLst>
            </p:nvPr>
          </p:nvSpPr>
          <p:spPr>
            <a:xfrm>
              <a:off x="1204856" y="3885053"/>
              <a:ext cx="3521825" cy="1726443"/>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r>
                <a:rPr lang="zh-CN" altLang="en-US" sz="1450" dirty="0">
                  <a:solidFill>
                    <a:schemeClr val="tx1"/>
                  </a:solidFill>
                </a:rPr>
                <a:t>快照环境下使用改进后的代码重跑基准实验与消融实验</a:t>
              </a:r>
            </a:p>
          </p:txBody>
        </p:sp>
        <p:sp>
          <p:nvSpPr>
            <p:cNvPr id="25" name="文本框 24">
              <a:extLst>
                <a:ext uri="{FF2B5EF4-FFF2-40B4-BE49-F238E27FC236}">
                  <a16:creationId xmlns:a16="http://schemas.microsoft.com/office/drawing/2014/main" id="{E4682D3D-F4D0-E296-9AAE-54E32A966318}"/>
                </a:ext>
              </a:extLst>
            </p:cNvPr>
            <p:cNvSpPr txBox="1"/>
            <p:nvPr>
              <p:custDataLst>
                <p:tags r:id="rId13"/>
              </p:custDataLst>
            </p:nvPr>
          </p:nvSpPr>
          <p:spPr>
            <a:xfrm>
              <a:off x="1222243" y="3600774"/>
              <a:ext cx="3488822" cy="339010"/>
            </a:xfrm>
            <a:prstGeom prst="rect">
              <a:avLst/>
            </a:prstGeom>
            <a:solidFill>
              <a:srgbClr val="244C89"/>
            </a:solidFill>
            <a:effectLst/>
          </p:spPr>
          <p:txBody>
            <a:bodyPr wrap="square" lIns="67887" tIns="33944" rIns="67887" bIns="33944" rtlCol="0">
              <a:spAutoFit/>
            </a:bodyPr>
            <a:lstStyle/>
            <a:p>
              <a:pPr algn="ctr">
                <a:lnSpc>
                  <a:spcPct val="120000"/>
                </a:lnSpc>
              </a:pPr>
              <a:r>
                <a:rPr lang="zh-CN" altLang="en-US" sz="1600" b="1" dirty="0">
                  <a:solidFill>
                    <a:schemeClr val="bg1"/>
                  </a:solidFill>
                  <a:latin typeface="思源黑体" panose="020B0500000000000000" pitchFamily="34" charset="-122"/>
                  <a:ea typeface="思源黑体" panose="020B0500000000000000" pitchFamily="34" charset="-122"/>
                </a:rPr>
                <a:t>全量对比再消融</a:t>
              </a:r>
            </a:p>
          </p:txBody>
        </p:sp>
      </p:grpSp>
      <p:grpSp>
        <p:nvGrpSpPr>
          <p:cNvPr id="26" name="组合 25">
            <a:extLst>
              <a:ext uri="{FF2B5EF4-FFF2-40B4-BE49-F238E27FC236}">
                <a16:creationId xmlns:a16="http://schemas.microsoft.com/office/drawing/2014/main" id="{F2FEDF29-2309-C10E-9E28-8573FEDB3009}"/>
              </a:ext>
            </a:extLst>
          </p:cNvPr>
          <p:cNvGrpSpPr/>
          <p:nvPr/>
        </p:nvGrpSpPr>
        <p:grpSpPr>
          <a:xfrm>
            <a:off x="8473800" y="2545805"/>
            <a:ext cx="2315250" cy="2010722"/>
            <a:chOff x="1204856" y="3600774"/>
            <a:chExt cx="3521825" cy="2010722"/>
          </a:xfrm>
        </p:grpSpPr>
        <p:sp>
          <p:nvSpPr>
            <p:cNvPr id="27" name="圆角矩形 18">
              <a:extLst>
                <a:ext uri="{FF2B5EF4-FFF2-40B4-BE49-F238E27FC236}">
                  <a16:creationId xmlns:a16="http://schemas.microsoft.com/office/drawing/2014/main" id="{46197799-91F5-BF2F-686F-818FFECCCCDE}"/>
                </a:ext>
              </a:extLst>
            </p:cNvPr>
            <p:cNvSpPr/>
            <p:nvPr>
              <p:custDataLst>
                <p:tags r:id="rId10"/>
              </p:custDataLst>
            </p:nvPr>
          </p:nvSpPr>
          <p:spPr>
            <a:xfrm>
              <a:off x="1204856" y="3885053"/>
              <a:ext cx="3521825" cy="1726443"/>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marL="285750" indent="-285750" algn="ctr">
                <a:lnSpc>
                  <a:spcPct val="120000"/>
                </a:lnSpc>
                <a:buFont typeface="Arial" panose="020B0604020202020204" pitchFamily="34" charset="0"/>
                <a:buChar char="•"/>
              </a:pPr>
              <a:r>
                <a:rPr lang="zh-CN" altLang="en-US" sz="1450" dirty="0">
                  <a:solidFill>
                    <a:schemeClr val="tx1"/>
                  </a:solidFill>
                </a:rPr>
                <a:t>撰写结题文档</a:t>
              </a:r>
              <a:endParaRPr lang="en-US" altLang="zh-CN" sz="1450" dirty="0">
                <a:solidFill>
                  <a:schemeClr val="tx1"/>
                </a:solidFill>
              </a:endParaRPr>
            </a:p>
            <a:p>
              <a:pPr marL="285750" indent="-285750" algn="ctr">
                <a:lnSpc>
                  <a:spcPct val="120000"/>
                </a:lnSpc>
                <a:buFont typeface="Arial" panose="020B0604020202020204" pitchFamily="34" charset="0"/>
                <a:buChar char="•"/>
              </a:pPr>
              <a:r>
                <a:rPr lang="zh-CN" altLang="en-US" sz="1450" dirty="0">
                  <a:solidFill>
                    <a:schemeClr val="tx1"/>
                  </a:solidFill>
                </a:rPr>
                <a:t>沉淀全套步骤</a:t>
              </a:r>
            </a:p>
          </p:txBody>
        </p:sp>
        <p:sp>
          <p:nvSpPr>
            <p:cNvPr id="28" name="文本框 27">
              <a:extLst>
                <a:ext uri="{FF2B5EF4-FFF2-40B4-BE49-F238E27FC236}">
                  <a16:creationId xmlns:a16="http://schemas.microsoft.com/office/drawing/2014/main" id="{4134DDD5-C58E-3040-4111-108DD7C60D3F}"/>
                </a:ext>
              </a:extLst>
            </p:cNvPr>
            <p:cNvSpPr txBox="1"/>
            <p:nvPr>
              <p:custDataLst>
                <p:tags r:id="rId11"/>
              </p:custDataLst>
            </p:nvPr>
          </p:nvSpPr>
          <p:spPr>
            <a:xfrm>
              <a:off x="1222243" y="3600774"/>
              <a:ext cx="3488822" cy="339010"/>
            </a:xfrm>
            <a:prstGeom prst="rect">
              <a:avLst/>
            </a:prstGeom>
            <a:solidFill>
              <a:srgbClr val="244C89"/>
            </a:solidFill>
            <a:effectLst/>
          </p:spPr>
          <p:txBody>
            <a:bodyPr wrap="square" lIns="67887" tIns="33944" rIns="67887" bIns="33944" rtlCol="0">
              <a:spAutoFit/>
            </a:bodyPr>
            <a:lstStyle/>
            <a:p>
              <a:pPr algn="ctr">
                <a:lnSpc>
                  <a:spcPct val="120000"/>
                </a:lnSpc>
              </a:pPr>
              <a:r>
                <a:rPr lang="zh-CN" altLang="en-US" sz="1600" b="1" dirty="0">
                  <a:solidFill>
                    <a:schemeClr val="bg1"/>
                  </a:solidFill>
                  <a:latin typeface="思源黑体" panose="020B0500000000000000" pitchFamily="34" charset="-122"/>
                  <a:ea typeface="思源黑体" panose="020B0500000000000000" pitchFamily="34" charset="-122"/>
                </a:rPr>
                <a:t>汇总与材料整理</a:t>
              </a:r>
            </a:p>
          </p:txBody>
        </p:sp>
      </p:grpSp>
      <p:sp>
        <p:nvSpPr>
          <p:cNvPr id="3" name="椭圆 2">
            <a:extLst>
              <a:ext uri="{FF2B5EF4-FFF2-40B4-BE49-F238E27FC236}">
                <a16:creationId xmlns:a16="http://schemas.microsoft.com/office/drawing/2014/main" id="{EA62803A-5F12-0F96-AC6E-3C9E0FED64F2}"/>
              </a:ext>
            </a:extLst>
          </p:cNvPr>
          <p:cNvSpPr/>
          <p:nvPr>
            <p:custDataLst>
              <p:tags r:id="rId2"/>
            </p:custDataLst>
          </p:nvPr>
        </p:nvSpPr>
        <p:spPr>
          <a:xfrm>
            <a:off x="1994323" y="4746862"/>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01</a:t>
            </a:r>
            <a:endParaRPr lang="zh-CN" altLang="en-US" sz="3600" dirty="0">
              <a:solidFill>
                <a:schemeClr val="bg1"/>
              </a:solidFill>
              <a:latin typeface="Agency FB" panose="020B0503020202020204" pitchFamily="34" charset="0"/>
            </a:endParaRPr>
          </a:p>
        </p:txBody>
      </p:sp>
      <p:sp>
        <p:nvSpPr>
          <p:cNvPr id="4" name="椭圆 4">
            <a:extLst>
              <a:ext uri="{FF2B5EF4-FFF2-40B4-BE49-F238E27FC236}">
                <a16:creationId xmlns:a16="http://schemas.microsoft.com/office/drawing/2014/main" id="{BC5C288B-03D1-7DB6-8507-3A8247F826EF}"/>
              </a:ext>
            </a:extLst>
          </p:cNvPr>
          <p:cNvSpPr/>
          <p:nvPr>
            <p:custDataLst>
              <p:tags r:id="rId3"/>
            </p:custDataLst>
          </p:nvPr>
        </p:nvSpPr>
        <p:spPr>
          <a:xfrm>
            <a:off x="1918405" y="4670335"/>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5" name="椭圆 4">
            <a:extLst>
              <a:ext uri="{FF2B5EF4-FFF2-40B4-BE49-F238E27FC236}">
                <a16:creationId xmlns:a16="http://schemas.microsoft.com/office/drawing/2014/main" id="{31B7FE4E-00F1-F10D-F4BC-A94C8996336D}"/>
              </a:ext>
            </a:extLst>
          </p:cNvPr>
          <p:cNvSpPr/>
          <p:nvPr>
            <p:custDataLst>
              <p:tags r:id="rId4"/>
            </p:custDataLst>
          </p:nvPr>
        </p:nvSpPr>
        <p:spPr>
          <a:xfrm>
            <a:off x="4431750" y="4746862"/>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02</a:t>
            </a:r>
            <a:endParaRPr lang="zh-CN" altLang="en-US" sz="3600" dirty="0">
              <a:solidFill>
                <a:schemeClr val="bg1"/>
              </a:solidFill>
              <a:latin typeface="Agency FB" panose="020B0503020202020204" pitchFamily="34" charset="0"/>
            </a:endParaRPr>
          </a:p>
        </p:txBody>
      </p:sp>
      <p:sp>
        <p:nvSpPr>
          <p:cNvPr id="6" name="椭圆 4">
            <a:extLst>
              <a:ext uri="{FF2B5EF4-FFF2-40B4-BE49-F238E27FC236}">
                <a16:creationId xmlns:a16="http://schemas.microsoft.com/office/drawing/2014/main" id="{3ECB5FE6-D69B-9827-CAEB-858967916CBC}"/>
              </a:ext>
            </a:extLst>
          </p:cNvPr>
          <p:cNvSpPr/>
          <p:nvPr>
            <p:custDataLst>
              <p:tags r:id="rId5"/>
            </p:custDataLst>
          </p:nvPr>
        </p:nvSpPr>
        <p:spPr>
          <a:xfrm>
            <a:off x="4355832" y="4670335"/>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10" name="椭圆 9">
            <a:extLst>
              <a:ext uri="{FF2B5EF4-FFF2-40B4-BE49-F238E27FC236}">
                <a16:creationId xmlns:a16="http://schemas.microsoft.com/office/drawing/2014/main" id="{27CDCDDD-3D1C-8E0F-F4C2-FC15A939405B}"/>
              </a:ext>
            </a:extLst>
          </p:cNvPr>
          <p:cNvSpPr/>
          <p:nvPr>
            <p:custDataLst>
              <p:tags r:id="rId6"/>
            </p:custDataLst>
          </p:nvPr>
        </p:nvSpPr>
        <p:spPr>
          <a:xfrm>
            <a:off x="9284156" y="4746862"/>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04</a:t>
            </a:r>
            <a:endParaRPr lang="zh-CN" altLang="en-US" sz="3600" dirty="0">
              <a:solidFill>
                <a:schemeClr val="bg1"/>
              </a:solidFill>
              <a:latin typeface="Agency FB" panose="020B0503020202020204" pitchFamily="34" charset="0"/>
            </a:endParaRPr>
          </a:p>
        </p:txBody>
      </p:sp>
      <p:sp>
        <p:nvSpPr>
          <p:cNvPr id="15" name="椭圆 4">
            <a:extLst>
              <a:ext uri="{FF2B5EF4-FFF2-40B4-BE49-F238E27FC236}">
                <a16:creationId xmlns:a16="http://schemas.microsoft.com/office/drawing/2014/main" id="{BA201143-4B21-1346-842E-7412661CEC9D}"/>
              </a:ext>
            </a:extLst>
          </p:cNvPr>
          <p:cNvSpPr/>
          <p:nvPr>
            <p:custDataLst>
              <p:tags r:id="rId7"/>
            </p:custDataLst>
          </p:nvPr>
        </p:nvSpPr>
        <p:spPr>
          <a:xfrm>
            <a:off x="9208238" y="4670335"/>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18" name="椭圆 17">
            <a:extLst>
              <a:ext uri="{FF2B5EF4-FFF2-40B4-BE49-F238E27FC236}">
                <a16:creationId xmlns:a16="http://schemas.microsoft.com/office/drawing/2014/main" id="{262F3652-05DB-AB47-7C6B-44EBD93CFCA5}"/>
              </a:ext>
            </a:extLst>
          </p:cNvPr>
          <p:cNvSpPr/>
          <p:nvPr>
            <p:custDataLst>
              <p:tags r:id="rId8"/>
            </p:custDataLst>
          </p:nvPr>
        </p:nvSpPr>
        <p:spPr>
          <a:xfrm>
            <a:off x="6670261" y="4746862"/>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3600" dirty="0">
                <a:solidFill>
                  <a:schemeClr val="bg1"/>
                </a:solidFill>
                <a:latin typeface="Agency FB" panose="020B0503020202020204" pitchFamily="34" charset="0"/>
              </a:rPr>
              <a:t>03</a:t>
            </a:r>
            <a:endParaRPr lang="zh-CN" altLang="en-US" sz="3600" dirty="0">
              <a:solidFill>
                <a:schemeClr val="bg1"/>
              </a:solidFill>
              <a:latin typeface="Agency FB" panose="020B0503020202020204" pitchFamily="34" charset="0"/>
            </a:endParaRPr>
          </a:p>
        </p:txBody>
      </p:sp>
      <p:sp>
        <p:nvSpPr>
          <p:cNvPr id="29" name="椭圆 4">
            <a:extLst>
              <a:ext uri="{FF2B5EF4-FFF2-40B4-BE49-F238E27FC236}">
                <a16:creationId xmlns:a16="http://schemas.microsoft.com/office/drawing/2014/main" id="{9A2A85A6-E0E5-7EBA-4170-B6DB58506C96}"/>
              </a:ext>
            </a:extLst>
          </p:cNvPr>
          <p:cNvSpPr/>
          <p:nvPr>
            <p:custDataLst>
              <p:tags r:id="rId9"/>
            </p:custDataLst>
          </p:nvPr>
        </p:nvSpPr>
        <p:spPr>
          <a:xfrm>
            <a:off x="6594343" y="4670335"/>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endParaRPr lang="zh-CN" altLang="en-US"/>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8">
            <a:extLst>
              <a:ext uri="{FF2B5EF4-FFF2-40B4-BE49-F238E27FC236}">
                <a16:creationId xmlns:a16="http://schemas.microsoft.com/office/drawing/2014/main" id="{51279FE1-C74C-A5B7-4CDE-DC4AE6A10A53}"/>
              </a:ext>
            </a:extLst>
          </p:cNvPr>
          <p:cNvSpPr/>
          <p:nvPr>
            <p:custDataLst>
              <p:tags r:id="rId1"/>
            </p:custDataLst>
          </p:nvPr>
        </p:nvSpPr>
        <p:spPr>
          <a:xfrm>
            <a:off x="2382958" y="5068358"/>
            <a:ext cx="7059070" cy="470059"/>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endParaRPr lang="zh-CN" altLang="en-US" sz="1450" dirty="0">
              <a:solidFill>
                <a:schemeClr val="tx1"/>
              </a:solidFill>
            </a:endParaRPr>
          </a:p>
        </p:txBody>
      </p:sp>
      <p:sp>
        <p:nvSpPr>
          <p:cNvPr id="15" name="圆角矩形 18">
            <a:extLst>
              <a:ext uri="{FF2B5EF4-FFF2-40B4-BE49-F238E27FC236}">
                <a16:creationId xmlns:a16="http://schemas.microsoft.com/office/drawing/2014/main" id="{340A6459-BB95-1812-22E8-5910F8338D29}"/>
              </a:ext>
            </a:extLst>
          </p:cNvPr>
          <p:cNvSpPr/>
          <p:nvPr>
            <p:custDataLst>
              <p:tags r:id="rId2"/>
            </p:custDataLst>
          </p:nvPr>
        </p:nvSpPr>
        <p:spPr>
          <a:xfrm>
            <a:off x="2382958" y="4256166"/>
            <a:ext cx="7059070" cy="648785"/>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endParaRPr lang="zh-CN" altLang="en-US" sz="1450" dirty="0">
              <a:solidFill>
                <a:schemeClr val="tx1"/>
              </a:solidFill>
            </a:endParaRPr>
          </a:p>
        </p:txBody>
      </p:sp>
      <p:sp>
        <p:nvSpPr>
          <p:cNvPr id="14" name="圆角矩形 18">
            <a:extLst>
              <a:ext uri="{FF2B5EF4-FFF2-40B4-BE49-F238E27FC236}">
                <a16:creationId xmlns:a16="http://schemas.microsoft.com/office/drawing/2014/main" id="{E91B6398-B167-7A7B-518A-4E37544F9D0F}"/>
              </a:ext>
            </a:extLst>
          </p:cNvPr>
          <p:cNvSpPr/>
          <p:nvPr>
            <p:custDataLst>
              <p:tags r:id="rId3"/>
            </p:custDataLst>
          </p:nvPr>
        </p:nvSpPr>
        <p:spPr>
          <a:xfrm>
            <a:off x="2382958" y="3190049"/>
            <a:ext cx="6876806" cy="432651"/>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endParaRPr lang="zh-CN" altLang="en-US" sz="1450" dirty="0">
              <a:solidFill>
                <a:schemeClr val="tx1"/>
              </a:solidFill>
            </a:endParaRPr>
          </a:p>
        </p:txBody>
      </p:sp>
      <p:sp>
        <p:nvSpPr>
          <p:cNvPr id="5" name="圆角矩形 18">
            <a:extLst>
              <a:ext uri="{FF2B5EF4-FFF2-40B4-BE49-F238E27FC236}">
                <a16:creationId xmlns:a16="http://schemas.microsoft.com/office/drawing/2014/main" id="{E84DCADA-F546-6071-A181-5BBD36B979CE}"/>
              </a:ext>
            </a:extLst>
          </p:cNvPr>
          <p:cNvSpPr/>
          <p:nvPr>
            <p:custDataLst>
              <p:tags r:id="rId4"/>
            </p:custDataLst>
          </p:nvPr>
        </p:nvSpPr>
        <p:spPr>
          <a:xfrm>
            <a:off x="2382958" y="2135901"/>
            <a:ext cx="6876806" cy="874193"/>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endParaRPr lang="zh-CN" altLang="en-US" sz="1450" dirty="0">
              <a:solidFill>
                <a:schemeClr val="tx1"/>
              </a:solidFill>
            </a:endParaRPr>
          </a:p>
        </p:txBody>
      </p:sp>
      <p:sp>
        <p:nvSpPr>
          <p:cNvPr id="9" name="文本框 8">
            <a:extLst>
              <a:ext uri="{FF2B5EF4-FFF2-40B4-BE49-F238E27FC236}">
                <a16:creationId xmlns:a16="http://schemas.microsoft.com/office/drawing/2014/main" id="{7BB32A88-2096-E63A-003A-4D31D4B24A0A}"/>
              </a:ext>
            </a:extLst>
          </p:cNvPr>
          <p:cNvSpPr txBox="1"/>
          <p:nvPr>
            <p:custDataLst>
              <p:tags r:id="rId5"/>
            </p:custDataLst>
          </p:nvPr>
        </p:nvSpPr>
        <p:spPr>
          <a:xfrm>
            <a:off x="2454114" y="1623905"/>
            <a:ext cx="782577" cy="339010"/>
          </a:xfrm>
          <a:prstGeom prst="rect">
            <a:avLst/>
          </a:prstGeom>
          <a:solidFill>
            <a:srgbClr val="244C89"/>
          </a:solidFill>
          <a:effectLst/>
        </p:spPr>
        <p:txBody>
          <a:bodyPr wrap="square" lIns="67887" tIns="33944" rIns="67887" bIns="33944" rtlCol="0">
            <a:spAutoFit/>
          </a:bodyPr>
          <a:lstStyle/>
          <a:p>
            <a:pPr algn="ctr">
              <a:lnSpc>
                <a:spcPct val="120000"/>
              </a:lnSpc>
            </a:pPr>
            <a:endParaRPr lang="zh-CN" altLang="en-US" sz="1600" b="1" dirty="0">
              <a:solidFill>
                <a:schemeClr val="bg1"/>
              </a:solidFill>
              <a:latin typeface="思源黑体" panose="020B0500000000000000" pitchFamily="34" charset="-122"/>
              <a:ea typeface="思源黑体" panose="020B0500000000000000" pitchFamily="34" charset="-122"/>
            </a:endParaRPr>
          </a:p>
        </p:txBody>
      </p:sp>
      <p:sp>
        <p:nvSpPr>
          <p:cNvPr id="10" name="文本框 9">
            <a:extLst>
              <a:ext uri="{FF2B5EF4-FFF2-40B4-BE49-F238E27FC236}">
                <a16:creationId xmlns:a16="http://schemas.microsoft.com/office/drawing/2014/main" id="{3D662A66-B8EA-DD7D-AD07-DA7E8621E797}"/>
              </a:ext>
            </a:extLst>
          </p:cNvPr>
          <p:cNvSpPr txBox="1"/>
          <p:nvPr>
            <p:custDataLst>
              <p:tags r:id="rId6"/>
            </p:custDataLst>
          </p:nvPr>
        </p:nvSpPr>
        <p:spPr>
          <a:xfrm>
            <a:off x="2454114" y="3719524"/>
            <a:ext cx="782578" cy="339010"/>
          </a:xfrm>
          <a:prstGeom prst="rect">
            <a:avLst/>
          </a:prstGeom>
          <a:solidFill>
            <a:srgbClr val="244C89"/>
          </a:solidFill>
          <a:effectLst/>
        </p:spPr>
        <p:txBody>
          <a:bodyPr wrap="square" lIns="67887" tIns="33944" rIns="67887" bIns="33944" rtlCol="0">
            <a:spAutoFit/>
          </a:bodyPr>
          <a:lstStyle/>
          <a:p>
            <a:pPr algn="ctr">
              <a:lnSpc>
                <a:spcPct val="120000"/>
              </a:lnSpc>
            </a:pPr>
            <a:endParaRPr lang="zh-CN" altLang="en-US" sz="1600" b="1" dirty="0">
              <a:solidFill>
                <a:schemeClr val="bg1"/>
              </a:solidFill>
              <a:latin typeface="思源黑体" panose="020B0500000000000000" pitchFamily="34" charset="-122"/>
              <a:ea typeface="思源黑体" panose="020B0500000000000000" pitchFamily="34" charset="-122"/>
            </a:endParaRPr>
          </a:p>
        </p:txBody>
      </p:sp>
      <p:sp>
        <p:nvSpPr>
          <p:cNvPr id="2" name="标题 1"/>
          <p:cNvSpPr>
            <a:spLocks noGrp="1"/>
          </p:cNvSpPr>
          <p:nvPr>
            <p:ph type="title"/>
          </p:nvPr>
        </p:nvSpPr>
        <p:spPr/>
        <p:txBody>
          <a:bodyPr/>
          <a:lstStyle/>
          <a:p>
            <a:pPr>
              <a:lnSpc>
                <a:spcPct val="120000"/>
              </a:lnSpc>
            </a:pPr>
            <a:r>
              <a:rPr lang="en-US" altLang="zh-CN" dirty="0" err="1"/>
              <a:t>HapFlow</a:t>
            </a:r>
            <a:r>
              <a:rPr lang="zh-CN" altLang="en-US" dirty="0"/>
              <a:t>的改进空间</a:t>
            </a:r>
          </a:p>
        </p:txBody>
      </p:sp>
      <p:grpSp>
        <p:nvGrpSpPr>
          <p:cNvPr id="3" name="组合 2"/>
          <p:cNvGrpSpPr/>
          <p:nvPr>
            <p:custDataLst>
              <p:tags r:id="rId7"/>
            </p:custDataLst>
          </p:nvPr>
        </p:nvGrpSpPr>
        <p:grpSpPr>
          <a:xfrm>
            <a:off x="1333626" y="1589870"/>
            <a:ext cx="978986" cy="904442"/>
            <a:chOff x="964390" y="1912008"/>
            <a:chExt cx="1144622" cy="1057466"/>
          </a:xfrm>
        </p:grpSpPr>
        <p:grpSp>
          <p:nvGrpSpPr>
            <p:cNvPr id="8" name="组合 7"/>
            <p:cNvGrpSpPr/>
            <p:nvPr/>
          </p:nvGrpSpPr>
          <p:grpSpPr>
            <a:xfrm>
              <a:off x="1079211" y="2016920"/>
              <a:ext cx="914982" cy="846745"/>
              <a:chOff x="1135555" y="1996465"/>
              <a:chExt cx="960161" cy="888555"/>
            </a:xfrm>
          </p:grpSpPr>
          <p:sp>
            <p:nvSpPr>
              <p:cNvPr id="7" name="Freeform 7"/>
              <p:cNvSpPr/>
              <p:nvPr>
                <p:custDataLst>
                  <p:tags r:id="rId17"/>
                </p:custDataLst>
              </p:nvPr>
            </p:nvSpPr>
            <p:spPr bwMode="auto">
              <a:xfrm>
                <a:off x="1135555" y="1996465"/>
                <a:ext cx="960161" cy="888555"/>
              </a:xfrm>
              <a:custGeom>
                <a:avLst/>
                <a:gdLst>
                  <a:gd name="T0" fmla="*/ 1297 w 2136"/>
                  <a:gd name="T1" fmla="*/ 1868 h 1968"/>
                  <a:gd name="T2" fmla="*/ 1068 w 2136"/>
                  <a:gd name="T3" fmla="*/ 1815 h 1968"/>
                  <a:gd name="T4" fmla="*/ 839 w 2136"/>
                  <a:gd name="T5" fmla="*/ 1868 h 1968"/>
                  <a:gd name="T6" fmla="*/ 415 w 2136"/>
                  <a:gd name="T7" fmla="*/ 1620 h 1968"/>
                  <a:gd name="T8" fmla="*/ 347 w 2136"/>
                  <a:gd name="T9" fmla="*/ 1399 h 1968"/>
                  <a:gd name="T10" fmla="*/ 189 w 2136"/>
                  <a:gd name="T11" fmla="*/ 1229 h 1968"/>
                  <a:gd name="T12" fmla="*/ 189 w 2136"/>
                  <a:gd name="T13" fmla="*/ 736 h 1968"/>
                  <a:gd name="T14" fmla="*/ 347 w 2136"/>
                  <a:gd name="T15" fmla="*/ 566 h 1968"/>
                  <a:gd name="T16" fmla="*/ 415 w 2136"/>
                  <a:gd name="T17" fmla="*/ 345 h 1968"/>
                  <a:gd name="T18" fmla="*/ 844 w 2136"/>
                  <a:gd name="T19" fmla="*/ 99 h 1968"/>
                  <a:gd name="T20" fmla="*/ 1068 w 2136"/>
                  <a:gd name="T21" fmla="*/ 150 h 1968"/>
                  <a:gd name="T22" fmla="*/ 1293 w 2136"/>
                  <a:gd name="T23" fmla="*/ 98 h 1968"/>
                  <a:gd name="T24" fmla="*/ 1580 w 2136"/>
                  <a:gd name="T25" fmla="*/ 102 h 1968"/>
                  <a:gd name="T26" fmla="*/ 1721 w 2136"/>
                  <a:gd name="T27" fmla="*/ 345 h 1968"/>
                  <a:gd name="T28" fmla="*/ 1789 w 2136"/>
                  <a:gd name="T29" fmla="*/ 566 h 1968"/>
                  <a:gd name="T30" fmla="*/ 1947 w 2136"/>
                  <a:gd name="T31" fmla="*/ 736 h 1968"/>
                  <a:gd name="T32" fmla="*/ 1948 w 2136"/>
                  <a:gd name="T33" fmla="*/ 1228 h 1968"/>
                  <a:gd name="T34" fmla="*/ 1789 w 2136"/>
                  <a:gd name="T35" fmla="*/ 1399 h 1968"/>
                  <a:gd name="T36" fmla="*/ 1721 w 2136"/>
                  <a:gd name="T37" fmla="*/ 1621 h 1968"/>
                  <a:gd name="T38" fmla="*/ 1297 w 2136"/>
                  <a:gd name="T39" fmla="*/ 1868 h 1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6" h="1968">
                    <a:moveTo>
                      <a:pt x="1297" y="1868"/>
                    </a:moveTo>
                    <a:cubicBezTo>
                      <a:pt x="1228" y="1834"/>
                      <a:pt x="1150" y="1815"/>
                      <a:pt x="1068" y="1815"/>
                    </a:cubicBezTo>
                    <a:cubicBezTo>
                      <a:pt x="986" y="1815"/>
                      <a:pt x="908" y="1834"/>
                      <a:pt x="839" y="1868"/>
                    </a:cubicBezTo>
                    <a:cubicBezTo>
                      <a:pt x="636" y="1968"/>
                      <a:pt x="431" y="1843"/>
                      <a:pt x="415" y="1620"/>
                    </a:cubicBezTo>
                    <a:cubicBezTo>
                      <a:pt x="409" y="1544"/>
                      <a:pt x="387" y="1469"/>
                      <a:pt x="347" y="1399"/>
                    </a:cubicBezTo>
                    <a:cubicBezTo>
                      <a:pt x="306" y="1329"/>
                      <a:pt x="252" y="1271"/>
                      <a:pt x="189" y="1229"/>
                    </a:cubicBezTo>
                    <a:cubicBezTo>
                      <a:pt x="0" y="1101"/>
                      <a:pt x="1" y="863"/>
                      <a:pt x="189" y="736"/>
                    </a:cubicBezTo>
                    <a:cubicBezTo>
                      <a:pt x="252" y="693"/>
                      <a:pt x="306" y="636"/>
                      <a:pt x="347" y="566"/>
                    </a:cubicBezTo>
                    <a:cubicBezTo>
                      <a:pt x="387" y="496"/>
                      <a:pt x="409" y="420"/>
                      <a:pt x="415" y="345"/>
                    </a:cubicBezTo>
                    <a:cubicBezTo>
                      <a:pt x="431" y="114"/>
                      <a:pt x="638" y="0"/>
                      <a:pt x="844" y="99"/>
                    </a:cubicBezTo>
                    <a:cubicBezTo>
                      <a:pt x="912" y="131"/>
                      <a:pt x="988" y="150"/>
                      <a:pt x="1068" y="150"/>
                    </a:cubicBezTo>
                    <a:cubicBezTo>
                      <a:pt x="1149" y="150"/>
                      <a:pt x="1225" y="131"/>
                      <a:pt x="1293" y="98"/>
                    </a:cubicBezTo>
                    <a:cubicBezTo>
                      <a:pt x="1397" y="48"/>
                      <a:pt x="1501" y="54"/>
                      <a:pt x="1580" y="102"/>
                    </a:cubicBezTo>
                    <a:cubicBezTo>
                      <a:pt x="1658" y="148"/>
                      <a:pt x="1713" y="235"/>
                      <a:pt x="1721" y="345"/>
                    </a:cubicBezTo>
                    <a:cubicBezTo>
                      <a:pt x="1726" y="420"/>
                      <a:pt x="1748" y="496"/>
                      <a:pt x="1789" y="566"/>
                    </a:cubicBezTo>
                    <a:cubicBezTo>
                      <a:pt x="1829" y="636"/>
                      <a:pt x="1884" y="693"/>
                      <a:pt x="1947" y="736"/>
                    </a:cubicBezTo>
                    <a:cubicBezTo>
                      <a:pt x="2132" y="862"/>
                      <a:pt x="2136" y="1102"/>
                      <a:pt x="1948" y="1228"/>
                    </a:cubicBezTo>
                    <a:cubicBezTo>
                      <a:pt x="1885" y="1270"/>
                      <a:pt x="1829" y="1328"/>
                      <a:pt x="1789" y="1399"/>
                    </a:cubicBezTo>
                    <a:cubicBezTo>
                      <a:pt x="1748" y="1469"/>
                      <a:pt x="1726" y="1545"/>
                      <a:pt x="1721" y="1621"/>
                    </a:cubicBezTo>
                    <a:cubicBezTo>
                      <a:pt x="1705" y="1843"/>
                      <a:pt x="1499" y="1968"/>
                      <a:pt x="1297" y="1868"/>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a:solidFill>
                    <a:schemeClr val="lt1"/>
                  </a:solidFill>
                </a:endParaRPr>
              </a:p>
            </p:txBody>
          </p:sp>
          <p:sp>
            <p:nvSpPr>
              <p:cNvPr id="139" name="TextBox 50"/>
              <p:cNvSpPr txBox="1"/>
              <p:nvPr>
                <p:custDataLst>
                  <p:tags r:id="rId18"/>
                </p:custDataLst>
              </p:nvPr>
            </p:nvSpPr>
            <p:spPr>
              <a:xfrm>
                <a:off x="1392367" y="2109505"/>
                <a:ext cx="423174" cy="570046"/>
              </a:xfrm>
              <a:prstGeom prst="rect">
                <a:avLst/>
              </a:prstGeom>
              <a:noFill/>
            </p:spPr>
            <p:txBody>
              <a:bodyPr wrap="square" lIns="0" tIns="0" rIns="0" bIns="0" rtlCol="0">
                <a:spAutoFit/>
              </a:bodyPr>
              <a:lstStyle/>
              <a:p>
                <a:pPr algn="ctr">
                  <a:lnSpc>
                    <a:spcPct val="120000"/>
                  </a:lnSpc>
                </a:pPr>
                <a:r>
                  <a:rPr lang="en-US" altLang="zh-CN" sz="2800" dirty="0">
                    <a:solidFill>
                      <a:schemeClr val="bg1">
                        <a:lumMod val="95000"/>
                      </a:schemeClr>
                    </a:solidFill>
                    <a:latin typeface="Agency FB" panose="020B0503020202020204" pitchFamily="34" charset="0"/>
                    <a:ea typeface="思源黑体" panose="020B0500000000000000" pitchFamily="34" charset="-122"/>
                  </a:rPr>
                  <a:t>01</a:t>
                </a:r>
              </a:p>
            </p:txBody>
          </p:sp>
        </p:grpSp>
        <p:sp>
          <p:nvSpPr>
            <p:cNvPr id="6" name="Freeform 6"/>
            <p:cNvSpPr/>
            <p:nvPr>
              <p:custDataLst>
                <p:tags r:id="rId16"/>
              </p:custDataLst>
            </p:nvPr>
          </p:nvSpPr>
          <p:spPr bwMode="auto">
            <a:xfrm rot="1800000">
              <a:off x="964390" y="1912008"/>
              <a:ext cx="1144622" cy="1057466"/>
            </a:xfrm>
            <a:custGeom>
              <a:avLst/>
              <a:gdLst>
                <a:gd name="T0" fmla="*/ 1730 w 2851"/>
                <a:gd name="T1" fmla="*/ 2494 h 2627"/>
                <a:gd name="T2" fmla="*/ 1425 w 2851"/>
                <a:gd name="T3" fmla="*/ 2423 h 2627"/>
                <a:gd name="T4" fmla="*/ 1120 w 2851"/>
                <a:gd name="T5" fmla="*/ 2493 h 2627"/>
                <a:gd name="T6" fmla="*/ 553 w 2851"/>
                <a:gd name="T7" fmla="*/ 2162 h 2627"/>
                <a:gd name="T8" fmla="*/ 462 w 2851"/>
                <a:gd name="T9" fmla="*/ 1867 h 2627"/>
                <a:gd name="T10" fmla="*/ 252 w 2851"/>
                <a:gd name="T11" fmla="*/ 1640 h 2627"/>
                <a:gd name="T12" fmla="*/ 252 w 2851"/>
                <a:gd name="T13" fmla="*/ 982 h 2627"/>
                <a:gd name="T14" fmla="*/ 462 w 2851"/>
                <a:gd name="T15" fmla="*/ 755 h 2627"/>
                <a:gd name="T16" fmla="*/ 553 w 2851"/>
                <a:gd name="T17" fmla="*/ 460 h 2627"/>
                <a:gd name="T18" fmla="*/ 1126 w 2851"/>
                <a:gd name="T19" fmla="*/ 132 h 2627"/>
                <a:gd name="T20" fmla="*/ 1425 w 2851"/>
                <a:gd name="T21" fmla="*/ 200 h 2627"/>
                <a:gd name="T22" fmla="*/ 1726 w 2851"/>
                <a:gd name="T23" fmla="*/ 131 h 2627"/>
                <a:gd name="T24" fmla="*/ 2109 w 2851"/>
                <a:gd name="T25" fmla="*/ 135 h 2627"/>
                <a:gd name="T26" fmla="*/ 2296 w 2851"/>
                <a:gd name="T27" fmla="*/ 460 h 2627"/>
                <a:gd name="T28" fmla="*/ 2387 w 2851"/>
                <a:gd name="T29" fmla="*/ 755 h 2627"/>
                <a:gd name="T30" fmla="*/ 2598 w 2851"/>
                <a:gd name="T31" fmla="*/ 982 h 2627"/>
                <a:gd name="T32" fmla="*/ 2600 w 2851"/>
                <a:gd name="T33" fmla="*/ 1639 h 2627"/>
                <a:gd name="T34" fmla="*/ 2387 w 2851"/>
                <a:gd name="T35" fmla="*/ 1867 h 2627"/>
                <a:gd name="T36" fmla="*/ 2297 w 2851"/>
                <a:gd name="T37" fmla="*/ 2164 h 2627"/>
                <a:gd name="T38" fmla="*/ 1730 w 2851"/>
                <a:gd name="T39" fmla="*/ 2494 h 2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51" h="2627">
                  <a:moveTo>
                    <a:pt x="1730" y="2494"/>
                  </a:moveTo>
                  <a:cubicBezTo>
                    <a:pt x="1638" y="2448"/>
                    <a:pt x="1534" y="2423"/>
                    <a:pt x="1425" y="2423"/>
                  </a:cubicBezTo>
                  <a:cubicBezTo>
                    <a:pt x="1315" y="2423"/>
                    <a:pt x="1212" y="2448"/>
                    <a:pt x="1120" y="2493"/>
                  </a:cubicBezTo>
                  <a:cubicBezTo>
                    <a:pt x="848" y="2627"/>
                    <a:pt x="575" y="2461"/>
                    <a:pt x="553" y="2162"/>
                  </a:cubicBezTo>
                  <a:cubicBezTo>
                    <a:pt x="546" y="2061"/>
                    <a:pt x="516" y="1960"/>
                    <a:pt x="462" y="1867"/>
                  </a:cubicBezTo>
                  <a:cubicBezTo>
                    <a:pt x="408" y="1773"/>
                    <a:pt x="336" y="1697"/>
                    <a:pt x="252" y="1640"/>
                  </a:cubicBezTo>
                  <a:cubicBezTo>
                    <a:pt x="0" y="1470"/>
                    <a:pt x="0" y="1152"/>
                    <a:pt x="252" y="982"/>
                  </a:cubicBezTo>
                  <a:cubicBezTo>
                    <a:pt x="336" y="925"/>
                    <a:pt x="408" y="849"/>
                    <a:pt x="462" y="755"/>
                  </a:cubicBezTo>
                  <a:cubicBezTo>
                    <a:pt x="516" y="662"/>
                    <a:pt x="546" y="561"/>
                    <a:pt x="553" y="460"/>
                  </a:cubicBezTo>
                  <a:cubicBezTo>
                    <a:pt x="575" y="152"/>
                    <a:pt x="851" y="0"/>
                    <a:pt x="1126" y="132"/>
                  </a:cubicBezTo>
                  <a:cubicBezTo>
                    <a:pt x="1217" y="175"/>
                    <a:pt x="1318" y="200"/>
                    <a:pt x="1425" y="200"/>
                  </a:cubicBezTo>
                  <a:cubicBezTo>
                    <a:pt x="1533" y="200"/>
                    <a:pt x="1635" y="175"/>
                    <a:pt x="1726" y="131"/>
                  </a:cubicBezTo>
                  <a:cubicBezTo>
                    <a:pt x="1865" y="63"/>
                    <a:pt x="2003" y="72"/>
                    <a:pt x="2109" y="135"/>
                  </a:cubicBezTo>
                  <a:cubicBezTo>
                    <a:pt x="2213" y="198"/>
                    <a:pt x="2286" y="313"/>
                    <a:pt x="2296" y="460"/>
                  </a:cubicBezTo>
                  <a:cubicBezTo>
                    <a:pt x="2304" y="561"/>
                    <a:pt x="2333" y="662"/>
                    <a:pt x="2387" y="755"/>
                  </a:cubicBezTo>
                  <a:cubicBezTo>
                    <a:pt x="2441" y="849"/>
                    <a:pt x="2514" y="925"/>
                    <a:pt x="2598" y="982"/>
                  </a:cubicBezTo>
                  <a:cubicBezTo>
                    <a:pt x="2846" y="1150"/>
                    <a:pt x="2851" y="1470"/>
                    <a:pt x="2600" y="1639"/>
                  </a:cubicBezTo>
                  <a:cubicBezTo>
                    <a:pt x="2515" y="1696"/>
                    <a:pt x="2442" y="1772"/>
                    <a:pt x="2387" y="1867"/>
                  </a:cubicBezTo>
                  <a:cubicBezTo>
                    <a:pt x="2333" y="1961"/>
                    <a:pt x="2304" y="2062"/>
                    <a:pt x="2297" y="2164"/>
                  </a:cubicBezTo>
                  <a:cubicBezTo>
                    <a:pt x="2275" y="2460"/>
                    <a:pt x="2000" y="2627"/>
                    <a:pt x="1730" y="2494"/>
                  </a:cubicBezTo>
                  <a:close/>
                </a:path>
              </a:pathLst>
            </a:custGeom>
            <a:no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dirty="0">
                <a:solidFill>
                  <a:schemeClr val="lt1"/>
                </a:solidFill>
              </a:endParaRPr>
            </a:p>
          </p:txBody>
        </p:sp>
      </p:grpSp>
      <p:sp>
        <p:nvSpPr>
          <p:cNvPr id="140" name="TextBox 42"/>
          <p:cNvSpPr txBox="1"/>
          <p:nvPr>
            <p:custDataLst>
              <p:tags r:id="rId8"/>
            </p:custDataLst>
          </p:nvPr>
        </p:nvSpPr>
        <p:spPr>
          <a:xfrm>
            <a:off x="2471631" y="1962915"/>
            <a:ext cx="6699461" cy="1864806"/>
          </a:xfrm>
          <a:prstGeom prst="rect">
            <a:avLst/>
          </a:prstGeom>
          <a:noFill/>
        </p:spPr>
        <p:txBody>
          <a:bodyPr wrap="square" lIns="0" tIns="0" rIns="0" bIns="0" rtlCol="0">
            <a:spAutoFit/>
          </a:bodyPr>
          <a:lstStyle/>
          <a:p>
            <a:pPr algn="just">
              <a:lnSpc>
                <a:spcPct val="120000"/>
              </a:lnSpc>
            </a:pPr>
            <a:r>
              <a:rPr lang="zh-CN" altLang="en-US" sz="1200" b="1" dirty="0">
                <a:sym typeface="+mn-ea"/>
              </a:rPr>
              <a:t>现有局限性分析：</a:t>
            </a:r>
            <a:endParaRPr lang="en-US" altLang="zh-CN" sz="1200" b="1" dirty="0">
              <a:sym typeface="+mn-ea"/>
            </a:endParaRPr>
          </a:p>
          <a:p>
            <a:pPr marL="171450" indent="-171450" algn="just">
              <a:lnSpc>
                <a:spcPct val="120000"/>
              </a:lnSpc>
              <a:buFont typeface="Arial" panose="020B0604020202020204" pitchFamily="34" charset="0"/>
              <a:buChar char="•"/>
            </a:pPr>
            <a:r>
              <a:rPr lang="en-US" altLang="zh-CN" sz="1100" dirty="0" err="1">
                <a:sym typeface="+mn-ea"/>
              </a:rPr>
              <a:t>HapFlow</a:t>
            </a:r>
            <a:r>
              <a:rPr lang="zh-CN" altLang="en-US" sz="1100" dirty="0">
                <a:sym typeface="+mn-ea"/>
              </a:rPr>
              <a:t>分析结果主要以控制台文本输出的形式展示，缺乏结构化或可视化的呈现手段。</a:t>
            </a:r>
            <a:endParaRPr lang="en-US" altLang="zh-CN" sz="1100" dirty="0">
              <a:sym typeface="+mn-ea"/>
            </a:endParaRPr>
          </a:p>
          <a:p>
            <a:pPr marL="171450" indent="-171450" algn="just">
              <a:lnSpc>
                <a:spcPct val="120000"/>
              </a:lnSpc>
              <a:buFont typeface="Arial" panose="020B0604020202020204" pitchFamily="34" charset="0"/>
              <a:buChar char="•"/>
            </a:pPr>
            <a:r>
              <a:rPr lang="zh-CN" altLang="en-US" sz="1100" dirty="0">
                <a:sym typeface="+mn-ea"/>
              </a:rPr>
              <a:t>成熟的静态分析工具（如</a:t>
            </a:r>
            <a:r>
              <a:rPr lang="en-US" altLang="zh-CN" sz="1100" dirty="0">
                <a:sym typeface="+mn-ea"/>
              </a:rPr>
              <a:t>Android</a:t>
            </a:r>
            <a:r>
              <a:rPr lang="zh-CN" altLang="en-US" sz="1100" dirty="0">
                <a:sym typeface="+mn-ea"/>
              </a:rPr>
              <a:t>生态的</a:t>
            </a:r>
            <a:r>
              <a:rPr lang="en-US" altLang="zh-CN" sz="1100" dirty="0" err="1">
                <a:sym typeface="+mn-ea"/>
              </a:rPr>
              <a:t>FlowDroid</a:t>
            </a:r>
            <a:r>
              <a:rPr lang="zh-CN" altLang="en-US" sz="1100" dirty="0">
                <a:sym typeface="+mn-ea"/>
              </a:rPr>
              <a:t>、通用框架</a:t>
            </a:r>
            <a:r>
              <a:rPr lang="en-US" altLang="zh-CN" sz="1100" dirty="0" err="1">
                <a:sym typeface="+mn-ea"/>
              </a:rPr>
              <a:t>PhASAR</a:t>
            </a:r>
            <a:r>
              <a:rPr lang="zh-CN" altLang="en-US" sz="1100" dirty="0">
                <a:sym typeface="+mn-ea"/>
              </a:rPr>
              <a:t>等）普遍提供结构化的分析报告，甚至支持交互式的可视化浏览。因此，为</a:t>
            </a:r>
            <a:r>
              <a:rPr lang="en-US" altLang="zh-CN" sz="1100" dirty="0" err="1">
                <a:sym typeface="+mn-ea"/>
              </a:rPr>
              <a:t>HapFlow</a:t>
            </a:r>
            <a:r>
              <a:rPr lang="zh-CN" altLang="en-US" sz="1100" dirty="0">
                <a:sym typeface="+mn-ea"/>
              </a:rPr>
              <a:t>补充结构化的报告输出能力，将是提升其工具链完整度的一个有意义的方向。</a:t>
            </a:r>
            <a:endParaRPr lang="en-US" altLang="zh-CN" sz="1100" dirty="0">
              <a:sym typeface="+mn-ea"/>
            </a:endParaRPr>
          </a:p>
          <a:p>
            <a:pPr algn="just">
              <a:lnSpc>
                <a:spcPct val="120000"/>
              </a:lnSpc>
            </a:pPr>
            <a:r>
              <a:rPr lang="zh-CN" altLang="en-US" sz="1200" b="1" dirty="0">
                <a:sym typeface="+mn-ea"/>
              </a:rPr>
              <a:t>具体改进方向：</a:t>
            </a:r>
            <a:endParaRPr lang="en-US" altLang="zh-CN" sz="1200" b="1" dirty="0">
              <a:sym typeface="+mn-ea"/>
            </a:endParaRPr>
          </a:p>
          <a:p>
            <a:pPr algn="just">
              <a:lnSpc>
                <a:spcPct val="120000"/>
              </a:lnSpc>
            </a:pPr>
            <a:r>
              <a:rPr lang="zh-CN" altLang="en-US" sz="1100" dirty="0">
                <a:sym typeface="+mn-ea"/>
              </a:rPr>
              <a:t>构建可视化报告生成模块</a:t>
            </a:r>
          </a:p>
          <a:p>
            <a:pPr algn="just">
              <a:lnSpc>
                <a:spcPct val="120000"/>
              </a:lnSpc>
            </a:pPr>
            <a:r>
              <a:rPr lang="zh-CN" altLang="en-US" sz="1100" dirty="0">
                <a:sym typeface="+mn-ea"/>
              </a:rPr>
              <a:t>提取污点溯源路径、行号与方法，生成可折叠的</a:t>
            </a:r>
            <a:r>
              <a:rPr lang="en-US" altLang="zh-CN" sz="1100" dirty="0">
                <a:sym typeface="+mn-ea"/>
              </a:rPr>
              <a:t>HTML</a:t>
            </a:r>
            <a:r>
              <a:rPr lang="zh-CN" altLang="en-US" sz="1100" dirty="0">
                <a:sym typeface="+mn-ea"/>
              </a:rPr>
              <a:t>可视化审查报告。</a:t>
            </a:r>
            <a:endParaRPr lang="en-US" altLang="zh-CN" sz="11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141" name="TextBox 43"/>
          <p:cNvSpPr txBox="1"/>
          <p:nvPr>
            <p:custDataLst>
              <p:tags r:id="rId9"/>
            </p:custDataLst>
          </p:nvPr>
        </p:nvSpPr>
        <p:spPr>
          <a:xfrm>
            <a:off x="2471456" y="1622374"/>
            <a:ext cx="732965" cy="304250"/>
          </a:xfrm>
          <a:prstGeom prst="rect">
            <a:avLst/>
          </a:prstGeom>
          <a:noFill/>
        </p:spPr>
        <p:txBody>
          <a:bodyPr wrap="square" lIns="0" tIns="0" rIns="0" bIns="0" rtlCol="0">
            <a:spAutoFit/>
          </a:bodyPr>
          <a:lstStyle>
            <a:defPPr>
              <a:defRPr lang="zh-CN"/>
            </a:defPPr>
            <a:lvl1pPr>
              <a:defRPr sz="2000" b="1">
                <a:solidFill>
                  <a:schemeClr val="accent1"/>
                </a:solidFill>
                <a:latin typeface="微软雅黑" panose="020B0503020204020204" pitchFamily="34" charset="-122"/>
                <a:ea typeface="微软雅黑" panose="020B0503020204020204" pitchFamily="34" charset="-122"/>
              </a:defRPr>
            </a:lvl1pPr>
          </a:lstStyle>
          <a:p>
            <a:pPr>
              <a:lnSpc>
                <a:spcPct val="120000"/>
              </a:lnSpc>
            </a:pPr>
            <a:r>
              <a:rPr lang="zh-CN" altLang="en-US" sz="1800" dirty="0">
                <a:solidFill>
                  <a:schemeClr val="bg1"/>
                </a:solidFill>
                <a:latin typeface="思源黑体" panose="020B0500000000000000" pitchFamily="34" charset="-122"/>
                <a:ea typeface="思源黑体" panose="020B0500000000000000" pitchFamily="34" charset="-122"/>
              </a:rPr>
              <a:t>方向一</a:t>
            </a:r>
          </a:p>
        </p:txBody>
      </p:sp>
      <p:sp>
        <p:nvSpPr>
          <p:cNvPr id="57" name="TextBox 42"/>
          <p:cNvSpPr txBox="1"/>
          <p:nvPr>
            <p:custDataLst>
              <p:tags r:id="rId10"/>
            </p:custDataLst>
          </p:nvPr>
        </p:nvSpPr>
        <p:spPr>
          <a:xfrm>
            <a:off x="2471456" y="4051145"/>
            <a:ext cx="6868972" cy="1442574"/>
          </a:xfrm>
          <a:prstGeom prst="rect">
            <a:avLst/>
          </a:prstGeom>
          <a:noFill/>
        </p:spPr>
        <p:txBody>
          <a:bodyPr wrap="square" lIns="0" tIns="0" rIns="0" bIns="0" rtlCol="0">
            <a:spAutoFit/>
          </a:bodyPr>
          <a:lstStyle/>
          <a:p>
            <a:pPr algn="just">
              <a:lnSpc>
                <a:spcPct val="120000"/>
              </a:lnSpc>
            </a:pPr>
            <a:r>
              <a:rPr lang="zh-CN" altLang="en-US" sz="1200" b="1" dirty="0">
                <a:sym typeface="+mn-ea"/>
              </a:rPr>
              <a:t>现有局限性分析：</a:t>
            </a:r>
            <a:endParaRPr lang="en-US" altLang="zh-CN" sz="1200" b="1" dirty="0">
              <a:sym typeface="+mn-ea"/>
            </a:endParaRPr>
          </a:p>
          <a:p>
            <a:pPr marL="171450" indent="-171450" algn="just">
              <a:lnSpc>
                <a:spcPct val="120000"/>
              </a:lnSpc>
              <a:buFont typeface="Arial" panose="020B0604020202020204" pitchFamily="34" charset="0"/>
              <a:buChar char="•"/>
            </a:pPr>
            <a:r>
              <a:rPr lang="zh-CN" altLang="en-US" sz="1100" dirty="0">
                <a:sym typeface="+mn-ea"/>
              </a:rPr>
              <a:t>在论文实验结果分析中，我们发现</a:t>
            </a:r>
            <a:r>
              <a:rPr lang="en-US" altLang="zh-CN" sz="1100" dirty="0" err="1">
                <a:sym typeface="+mn-ea"/>
              </a:rPr>
              <a:t>HapFlow</a:t>
            </a:r>
            <a:r>
              <a:rPr lang="zh-CN" altLang="en-US" sz="1100" dirty="0">
                <a:sym typeface="+mn-ea"/>
              </a:rPr>
              <a:t>在识别</a:t>
            </a:r>
            <a:r>
              <a:rPr lang="en-US" altLang="zh-CN" sz="1100" dirty="0">
                <a:sym typeface="+mn-ea"/>
              </a:rPr>
              <a:t>Catch</a:t>
            </a:r>
            <a:r>
              <a:rPr lang="zh-CN" altLang="en-US" sz="1100" dirty="0">
                <a:sym typeface="+mn-ea"/>
              </a:rPr>
              <a:t>块中的污点时出现了漏报的情况。</a:t>
            </a:r>
            <a:endParaRPr lang="en-US" altLang="zh-CN" sz="1100" dirty="0">
              <a:sym typeface="+mn-ea"/>
            </a:endParaRPr>
          </a:p>
          <a:p>
            <a:pPr marL="171450" indent="-171450" algn="just">
              <a:lnSpc>
                <a:spcPct val="120000"/>
              </a:lnSpc>
              <a:buFont typeface="Arial" panose="020B0604020202020204" pitchFamily="34" charset="0"/>
              <a:buChar char="•"/>
            </a:pPr>
            <a:r>
              <a:rPr lang="zh-CN" altLang="en-US" sz="1100" dirty="0">
                <a:sym typeface="+mn-ea"/>
              </a:rPr>
              <a:t>在代码走查过程中，我们注意到</a:t>
            </a:r>
            <a:r>
              <a:rPr lang="en-US" altLang="zh-CN" sz="1100" dirty="0" err="1">
                <a:sym typeface="+mn-ea"/>
              </a:rPr>
              <a:t>HapFlow</a:t>
            </a:r>
            <a:r>
              <a:rPr lang="zh-CN" altLang="en-US" sz="1100" dirty="0">
                <a:sym typeface="+mn-ea"/>
              </a:rPr>
              <a:t>的异常流污点传播模块存在若干标注为待完善的逻辑，源代码中也留有相关的</a:t>
            </a:r>
            <a:r>
              <a:rPr lang="en-US" altLang="zh-CN" sz="1100" dirty="0">
                <a:sym typeface="+mn-ea"/>
              </a:rPr>
              <a:t>TODO</a:t>
            </a:r>
            <a:r>
              <a:rPr lang="zh-CN" altLang="en-US" sz="1100" dirty="0">
                <a:sym typeface="+mn-ea"/>
              </a:rPr>
              <a:t>注释，暗示开发者对该部分功能的完善性持保留态度。</a:t>
            </a:r>
            <a:endParaRPr lang="en-US" altLang="zh-CN" sz="1100" dirty="0">
              <a:sym typeface="+mn-ea"/>
            </a:endParaRPr>
          </a:p>
          <a:p>
            <a:pPr algn="just">
              <a:lnSpc>
                <a:spcPct val="120000"/>
              </a:lnSpc>
            </a:pPr>
            <a:r>
              <a:rPr lang="zh-CN" altLang="en-US" sz="1200" b="1" dirty="0">
                <a:sym typeface="+mn-ea"/>
              </a:rPr>
              <a:t>具体改进方向：</a:t>
            </a:r>
            <a:endParaRPr lang="en-US" altLang="zh-CN" sz="1200" b="1" dirty="0">
              <a:sym typeface="+mn-ea"/>
            </a:endParaRPr>
          </a:p>
          <a:p>
            <a:pPr algn="just">
              <a:lnSpc>
                <a:spcPct val="120000"/>
              </a:lnSpc>
            </a:pPr>
            <a:r>
              <a:rPr lang="zh-CN" altLang="en-US" sz="1100" dirty="0">
                <a:sym typeface="+mn-ea"/>
              </a:rPr>
              <a:t>修复异常流污点传播缺陷</a:t>
            </a:r>
            <a:endParaRPr lang="en-US" altLang="zh-CN" sz="1100" dirty="0">
              <a:sym typeface="+mn-ea"/>
            </a:endParaRPr>
          </a:p>
          <a:p>
            <a:pPr algn="just">
              <a:lnSpc>
                <a:spcPct val="120000"/>
              </a:lnSpc>
            </a:pPr>
            <a:r>
              <a:rPr lang="zh-CN" altLang="en-US" sz="1100" dirty="0">
                <a:sym typeface="+mn-ea"/>
              </a:rPr>
              <a:t>优化 </a:t>
            </a:r>
            <a:r>
              <a:rPr lang="en-US" altLang="zh-CN" sz="1100" dirty="0">
                <a:sym typeface="+mn-ea"/>
              </a:rPr>
              <a:t>IFDS </a:t>
            </a:r>
            <a:r>
              <a:rPr lang="zh-CN" altLang="en-US" sz="1100" dirty="0">
                <a:sym typeface="+mn-ea"/>
              </a:rPr>
              <a:t>节点处理逻辑，隔离循环局部变量状态，确保 </a:t>
            </a:r>
            <a:r>
              <a:rPr lang="en-US" altLang="zh-CN" sz="1100" dirty="0">
                <a:sym typeface="+mn-ea"/>
              </a:rPr>
              <a:t>throw-catch </a:t>
            </a:r>
            <a:r>
              <a:rPr lang="zh-CN" altLang="en-US" sz="1100" dirty="0">
                <a:sym typeface="+mn-ea"/>
              </a:rPr>
              <a:t>数据事实精确传播，提升异常场景召回率。</a:t>
            </a:r>
            <a:endParaRPr lang="en-US" altLang="zh-CN" sz="11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8" name="TextBox 43"/>
          <p:cNvSpPr txBox="1"/>
          <p:nvPr>
            <p:custDataLst>
              <p:tags r:id="rId11"/>
            </p:custDataLst>
          </p:nvPr>
        </p:nvSpPr>
        <p:spPr>
          <a:xfrm>
            <a:off x="2471457" y="3719524"/>
            <a:ext cx="732964" cy="304250"/>
          </a:xfrm>
          <a:prstGeom prst="rect">
            <a:avLst/>
          </a:prstGeom>
          <a:noFill/>
        </p:spPr>
        <p:txBody>
          <a:bodyPr wrap="square" lIns="0" tIns="0" rIns="0" bIns="0" rtlCol="0">
            <a:spAutoFit/>
          </a:bodyPr>
          <a:lstStyle>
            <a:defPPr>
              <a:defRPr lang="zh-CN"/>
            </a:defPPr>
            <a:lvl1pPr>
              <a:defRPr sz="2000" b="1">
                <a:solidFill>
                  <a:schemeClr val="accent1"/>
                </a:solidFill>
                <a:latin typeface="微软雅黑" panose="020B0503020204020204" pitchFamily="34" charset="-122"/>
                <a:ea typeface="微软雅黑" panose="020B0503020204020204" pitchFamily="34" charset="-122"/>
              </a:defRPr>
            </a:lvl1pPr>
          </a:lstStyle>
          <a:p>
            <a:pPr>
              <a:lnSpc>
                <a:spcPct val="120000"/>
              </a:lnSpc>
            </a:pPr>
            <a:r>
              <a:rPr lang="zh-CN" altLang="en-US" sz="1800" dirty="0">
                <a:solidFill>
                  <a:schemeClr val="bg1"/>
                </a:solidFill>
                <a:latin typeface="思源黑体" panose="020B0500000000000000" pitchFamily="34" charset="-122"/>
                <a:ea typeface="思源黑体" panose="020B0500000000000000" pitchFamily="34" charset="-122"/>
              </a:rPr>
              <a:t>方向二</a:t>
            </a:r>
          </a:p>
        </p:txBody>
      </p:sp>
      <p:grpSp>
        <p:nvGrpSpPr>
          <p:cNvPr id="47" name="组合 46"/>
          <p:cNvGrpSpPr/>
          <p:nvPr>
            <p:custDataLst>
              <p:tags r:id="rId12"/>
            </p:custDataLst>
          </p:nvPr>
        </p:nvGrpSpPr>
        <p:grpSpPr>
          <a:xfrm>
            <a:off x="1324105" y="3719524"/>
            <a:ext cx="978986" cy="904442"/>
            <a:chOff x="964390" y="1912008"/>
            <a:chExt cx="1144622" cy="1057466"/>
          </a:xfrm>
        </p:grpSpPr>
        <p:grpSp>
          <p:nvGrpSpPr>
            <p:cNvPr id="48" name="组合 47"/>
            <p:cNvGrpSpPr/>
            <p:nvPr/>
          </p:nvGrpSpPr>
          <p:grpSpPr>
            <a:xfrm>
              <a:off x="1079211" y="2016920"/>
              <a:ext cx="914982" cy="846745"/>
              <a:chOff x="1135555" y="1996465"/>
              <a:chExt cx="960161" cy="888555"/>
            </a:xfrm>
          </p:grpSpPr>
          <p:sp>
            <p:nvSpPr>
              <p:cNvPr id="50" name="Freeform 7"/>
              <p:cNvSpPr/>
              <p:nvPr>
                <p:custDataLst>
                  <p:tags r:id="rId14"/>
                </p:custDataLst>
              </p:nvPr>
            </p:nvSpPr>
            <p:spPr bwMode="auto">
              <a:xfrm>
                <a:off x="1135555" y="1996465"/>
                <a:ext cx="960161" cy="888555"/>
              </a:xfrm>
              <a:custGeom>
                <a:avLst/>
                <a:gdLst>
                  <a:gd name="T0" fmla="*/ 1297 w 2136"/>
                  <a:gd name="T1" fmla="*/ 1868 h 1968"/>
                  <a:gd name="T2" fmla="*/ 1068 w 2136"/>
                  <a:gd name="T3" fmla="*/ 1815 h 1968"/>
                  <a:gd name="T4" fmla="*/ 839 w 2136"/>
                  <a:gd name="T5" fmla="*/ 1868 h 1968"/>
                  <a:gd name="T6" fmla="*/ 415 w 2136"/>
                  <a:gd name="T7" fmla="*/ 1620 h 1968"/>
                  <a:gd name="T8" fmla="*/ 347 w 2136"/>
                  <a:gd name="T9" fmla="*/ 1399 h 1968"/>
                  <a:gd name="T10" fmla="*/ 189 w 2136"/>
                  <a:gd name="T11" fmla="*/ 1229 h 1968"/>
                  <a:gd name="T12" fmla="*/ 189 w 2136"/>
                  <a:gd name="T13" fmla="*/ 736 h 1968"/>
                  <a:gd name="T14" fmla="*/ 347 w 2136"/>
                  <a:gd name="T15" fmla="*/ 566 h 1968"/>
                  <a:gd name="T16" fmla="*/ 415 w 2136"/>
                  <a:gd name="T17" fmla="*/ 345 h 1968"/>
                  <a:gd name="T18" fmla="*/ 844 w 2136"/>
                  <a:gd name="T19" fmla="*/ 99 h 1968"/>
                  <a:gd name="T20" fmla="*/ 1068 w 2136"/>
                  <a:gd name="T21" fmla="*/ 150 h 1968"/>
                  <a:gd name="T22" fmla="*/ 1293 w 2136"/>
                  <a:gd name="T23" fmla="*/ 98 h 1968"/>
                  <a:gd name="T24" fmla="*/ 1580 w 2136"/>
                  <a:gd name="T25" fmla="*/ 102 h 1968"/>
                  <a:gd name="T26" fmla="*/ 1721 w 2136"/>
                  <a:gd name="T27" fmla="*/ 345 h 1968"/>
                  <a:gd name="T28" fmla="*/ 1789 w 2136"/>
                  <a:gd name="T29" fmla="*/ 566 h 1968"/>
                  <a:gd name="T30" fmla="*/ 1947 w 2136"/>
                  <a:gd name="T31" fmla="*/ 736 h 1968"/>
                  <a:gd name="T32" fmla="*/ 1948 w 2136"/>
                  <a:gd name="T33" fmla="*/ 1228 h 1968"/>
                  <a:gd name="T34" fmla="*/ 1789 w 2136"/>
                  <a:gd name="T35" fmla="*/ 1399 h 1968"/>
                  <a:gd name="T36" fmla="*/ 1721 w 2136"/>
                  <a:gd name="T37" fmla="*/ 1621 h 1968"/>
                  <a:gd name="T38" fmla="*/ 1297 w 2136"/>
                  <a:gd name="T39" fmla="*/ 1868 h 1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6" h="1968">
                    <a:moveTo>
                      <a:pt x="1297" y="1868"/>
                    </a:moveTo>
                    <a:cubicBezTo>
                      <a:pt x="1228" y="1834"/>
                      <a:pt x="1150" y="1815"/>
                      <a:pt x="1068" y="1815"/>
                    </a:cubicBezTo>
                    <a:cubicBezTo>
                      <a:pt x="986" y="1815"/>
                      <a:pt x="908" y="1834"/>
                      <a:pt x="839" y="1868"/>
                    </a:cubicBezTo>
                    <a:cubicBezTo>
                      <a:pt x="636" y="1968"/>
                      <a:pt x="431" y="1843"/>
                      <a:pt x="415" y="1620"/>
                    </a:cubicBezTo>
                    <a:cubicBezTo>
                      <a:pt x="409" y="1544"/>
                      <a:pt x="387" y="1469"/>
                      <a:pt x="347" y="1399"/>
                    </a:cubicBezTo>
                    <a:cubicBezTo>
                      <a:pt x="306" y="1329"/>
                      <a:pt x="252" y="1271"/>
                      <a:pt x="189" y="1229"/>
                    </a:cubicBezTo>
                    <a:cubicBezTo>
                      <a:pt x="0" y="1101"/>
                      <a:pt x="1" y="863"/>
                      <a:pt x="189" y="736"/>
                    </a:cubicBezTo>
                    <a:cubicBezTo>
                      <a:pt x="252" y="693"/>
                      <a:pt x="306" y="636"/>
                      <a:pt x="347" y="566"/>
                    </a:cubicBezTo>
                    <a:cubicBezTo>
                      <a:pt x="387" y="496"/>
                      <a:pt x="409" y="420"/>
                      <a:pt x="415" y="345"/>
                    </a:cubicBezTo>
                    <a:cubicBezTo>
                      <a:pt x="431" y="114"/>
                      <a:pt x="638" y="0"/>
                      <a:pt x="844" y="99"/>
                    </a:cubicBezTo>
                    <a:cubicBezTo>
                      <a:pt x="912" y="131"/>
                      <a:pt x="988" y="150"/>
                      <a:pt x="1068" y="150"/>
                    </a:cubicBezTo>
                    <a:cubicBezTo>
                      <a:pt x="1149" y="150"/>
                      <a:pt x="1225" y="131"/>
                      <a:pt x="1293" y="98"/>
                    </a:cubicBezTo>
                    <a:cubicBezTo>
                      <a:pt x="1397" y="48"/>
                      <a:pt x="1501" y="54"/>
                      <a:pt x="1580" y="102"/>
                    </a:cubicBezTo>
                    <a:cubicBezTo>
                      <a:pt x="1658" y="148"/>
                      <a:pt x="1713" y="235"/>
                      <a:pt x="1721" y="345"/>
                    </a:cubicBezTo>
                    <a:cubicBezTo>
                      <a:pt x="1726" y="420"/>
                      <a:pt x="1748" y="496"/>
                      <a:pt x="1789" y="566"/>
                    </a:cubicBezTo>
                    <a:cubicBezTo>
                      <a:pt x="1829" y="636"/>
                      <a:pt x="1884" y="693"/>
                      <a:pt x="1947" y="736"/>
                    </a:cubicBezTo>
                    <a:cubicBezTo>
                      <a:pt x="2132" y="862"/>
                      <a:pt x="2136" y="1102"/>
                      <a:pt x="1948" y="1228"/>
                    </a:cubicBezTo>
                    <a:cubicBezTo>
                      <a:pt x="1885" y="1270"/>
                      <a:pt x="1829" y="1328"/>
                      <a:pt x="1789" y="1399"/>
                    </a:cubicBezTo>
                    <a:cubicBezTo>
                      <a:pt x="1748" y="1469"/>
                      <a:pt x="1726" y="1545"/>
                      <a:pt x="1721" y="1621"/>
                    </a:cubicBezTo>
                    <a:cubicBezTo>
                      <a:pt x="1705" y="1843"/>
                      <a:pt x="1499" y="1968"/>
                      <a:pt x="1297" y="1868"/>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a:solidFill>
                    <a:schemeClr val="lt1"/>
                  </a:solidFill>
                </a:endParaRPr>
              </a:p>
            </p:txBody>
          </p:sp>
          <p:sp>
            <p:nvSpPr>
              <p:cNvPr id="51" name="TextBox 50"/>
              <p:cNvSpPr txBox="1"/>
              <p:nvPr>
                <p:custDataLst>
                  <p:tags r:id="rId15"/>
                </p:custDataLst>
              </p:nvPr>
            </p:nvSpPr>
            <p:spPr>
              <a:xfrm>
                <a:off x="1325681" y="2133310"/>
                <a:ext cx="556544" cy="570046"/>
              </a:xfrm>
              <a:prstGeom prst="rect">
                <a:avLst/>
              </a:prstGeom>
              <a:noFill/>
            </p:spPr>
            <p:txBody>
              <a:bodyPr wrap="square" lIns="0" tIns="0" rIns="0" bIns="0" rtlCol="0">
                <a:spAutoFit/>
              </a:bodyPr>
              <a:lstStyle/>
              <a:p>
                <a:pPr algn="ctr">
                  <a:lnSpc>
                    <a:spcPct val="120000"/>
                  </a:lnSpc>
                </a:pPr>
                <a:r>
                  <a:rPr lang="en-US" altLang="zh-CN" sz="2800" dirty="0">
                    <a:solidFill>
                      <a:schemeClr val="bg1">
                        <a:lumMod val="95000"/>
                      </a:schemeClr>
                    </a:solidFill>
                    <a:latin typeface="Agency FB" panose="020B0503020202020204" pitchFamily="34" charset="0"/>
                    <a:ea typeface="思源黑体" panose="020B0500000000000000" pitchFamily="34" charset="-122"/>
                  </a:rPr>
                  <a:t>02</a:t>
                </a:r>
              </a:p>
            </p:txBody>
          </p:sp>
        </p:grpSp>
        <p:sp>
          <p:nvSpPr>
            <p:cNvPr id="49" name="Freeform 6"/>
            <p:cNvSpPr/>
            <p:nvPr>
              <p:custDataLst>
                <p:tags r:id="rId13"/>
              </p:custDataLst>
            </p:nvPr>
          </p:nvSpPr>
          <p:spPr bwMode="auto">
            <a:xfrm rot="1800000">
              <a:off x="964390" y="1912008"/>
              <a:ext cx="1144622" cy="1057466"/>
            </a:xfrm>
            <a:custGeom>
              <a:avLst/>
              <a:gdLst>
                <a:gd name="T0" fmla="*/ 1730 w 2851"/>
                <a:gd name="T1" fmla="*/ 2494 h 2627"/>
                <a:gd name="T2" fmla="*/ 1425 w 2851"/>
                <a:gd name="T3" fmla="*/ 2423 h 2627"/>
                <a:gd name="T4" fmla="*/ 1120 w 2851"/>
                <a:gd name="T5" fmla="*/ 2493 h 2627"/>
                <a:gd name="T6" fmla="*/ 553 w 2851"/>
                <a:gd name="T7" fmla="*/ 2162 h 2627"/>
                <a:gd name="T8" fmla="*/ 462 w 2851"/>
                <a:gd name="T9" fmla="*/ 1867 h 2627"/>
                <a:gd name="T10" fmla="*/ 252 w 2851"/>
                <a:gd name="T11" fmla="*/ 1640 h 2627"/>
                <a:gd name="T12" fmla="*/ 252 w 2851"/>
                <a:gd name="T13" fmla="*/ 982 h 2627"/>
                <a:gd name="T14" fmla="*/ 462 w 2851"/>
                <a:gd name="T15" fmla="*/ 755 h 2627"/>
                <a:gd name="T16" fmla="*/ 553 w 2851"/>
                <a:gd name="T17" fmla="*/ 460 h 2627"/>
                <a:gd name="T18" fmla="*/ 1126 w 2851"/>
                <a:gd name="T19" fmla="*/ 132 h 2627"/>
                <a:gd name="T20" fmla="*/ 1425 w 2851"/>
                <a:gd name="T21" fmla="*/ 200 h 2627"/>
                <a:gd name="T22" fmla="*/ 1726 w 2851"/>
                <a:gd name="T23" fmla="*/ 131 h 2627"/>
                <a:gd name="T24" fmla="*/ 2109 w 2851"/>
                <a:gd name="T25" fmla="*/ 135 h 2627"/>
                <a:gd name="T26" fmla="*/ 2296 w 2851"/>
                <a:gd name="T27" fmla="*/ 460 h 2627"/>
                <a:gd name="T28" fmla="*/ 2387 w 2851"/>
                <a:gd name="T29" fmla="*/ 755 h 2627"/>
                <a:gd name="T30" fmla="*/ 2598 w 2851"/>
                <a:gd name="T31" fmla="*/ 982 h 2627"/>
                <a:gd name="T32" fmla="*/ 2600 w 2851"/>
                <a:gd name="T33" fmla="*/ 1639 h 2627"/>
                <a:gd name="T34" fmla="*/ 2387 w 2851"/>
                <a:gd name="T35" fmla="*/ 1867 h 2627"/>
                <a:gd name="T36" fmla="*/ 2297 w 2851"/>
                <a:gd name="T37" fmla="*/ 2164 h 2627"/>
                <a:gd name="T38" fmla="*/ 1730 w 2851"/>
                <a:gd name="T39" fmla="*/ 2494 h 2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51" h="2627">
                  <a:moveTo>
                    <a:pt x="1730" y="2494"/>
                  </a:moveTo>
                  <a:cubicBezTo>
                    <a:pt x="1638" y="2448"/>
                    <a:pt x="1534" y="2423"/>
                    <a:pt x="1425" y="2423"/>
                  </a:cubicBezTo>
                  <a:cubicBezTo>
                    <a:pt x="1315" y="2423"/>
                    <a:pt x="1212" y="2448"/>
                    <a:pt x="1120" y="2493"/>
                  </a:cubicBezTo>
                  <a:cubicBezTo>
                    <a:pt x="848" y="2627"/>
                    <a:pt x="575" y="2461"/>
                    <a:pt x="553" y="2162"/>
                  </a:cubicBezTo>
                  <a:cubicBezTo>
                    <a:pt x="546" y="2061"/>
                    <a:pt x="516" y="1960"/>
                    <a:pt x="462" y="1867"/>
                  </a:cubicBezTo>
                  <a:cubicBezTo>
                    <a:pt x="408" y="1773"/>
                    <a:pt x="336" y="1697"/>
                    <a:pt x="252" y="1640"/>
                  </a:cubicBezTo>
                  <a:cubicBezTo>
                    <a:pt x="0" y="1470"/>
                    <a:pt x="0" y="1152"/>
                    <a:pt x="252" y="982"/>
                  </a:cubicBezTo>
                  <a:cubicBezTo>
                    <a:pt x="336" y="925"/>
                    <a:pt x="408" y="849"/>
                    <a:pt x="462" y="755"/>
                  </a:cubicBezTo>
                  <a:cubicBezTo>
                    <a:pt x="516" y="662"/>
                    <a:pt x="546" y="561"/>
                    <a:pt x="553" y="460"/>
                  </a:cubicBezTo>
                  <a:cubicBezTo>
                    <a:pt x="575" y="152"/>
                    <a:pt x="851" y="0"/>
                    <a:pt x="1126" y="132"/>
                  </a:cubicBezTo>
                  <a:cubicBezTo>
                    <a:pt x="1217" y="175"/>
                    <a:pt x="1318" y="200"/>
                    <a:pt x="1425" y="200"/>
                  </a:cubicBezTo>
                  <a:cubicBezTo>
                    <a:pt x="1533" y="200"/>
                    <a:pt x="1635" y="175"/>
                    <a:pt x="1726" y="131"/>
                  </a:cubicBezTo>
                  <a:cubicBezTo>
                    <a:pt x="1865" y="63"/>
                    <a:pt x="2003" y="72"/>
                    <a:pt x="2109" y="135"/>
                  </a:cubicBezTo>
                  <a:cubicBezTo>
                    <a:pt x="2213" y="198"/>
                    <a:pt x="2286" y="313"/>
                    <a:pt x="2296" y="460"/>
                  </a:cubicBezTo>
                  <a:cubicBezTo>
                    <a:pt x="2304" y="561"/>
                    <a:pt x="2333" y="662"/>
                    <a:pt x="2387" y="755"/>
                  </a:cubicBezTo>
                  <a:cubicBezTo>
                    <a:pt x="2441" y="849"/>
                    <a:pt x="2514" y="925"/>
                    <a:pt x="2598" y="982"/>
                  </a:cubicBezTo>
                  <a:cubicBezTo>
                    <a:pt x="2846" y="1150"/>
                    <a:pt x="2851" y="1470"/>
                    <a:pt x="2600" y="1639"/>
                  </a:cubicBezTo>
                  <a:cubicBezTo>
                    <a:pt x="2515" y="1696"/>
                    <a:pt x="2442" y="1772"/>
                    <a:pt x="2387" y="1867"/>
                  </a:cubicBezTo>
                  <a:cubicBezTo>
                    <a:pt x="2333" y="1961"/>
                    <a:pt x="2304" y="2062"/>
                    <a:pt x="2297" y="2164"/>
                  </a:cubicBezTo>
                  <a:cubicBezTo>
                    <a:pt x="2275" y="2460"/>
                    <a:pt x="2000" y="2627"/>
                    <a:pt x="1730" y="2494"/>
                  </a:cubicBezTo>
                  <a:close/>
                </a:path>
              </a:pathLst>
            </a:custGeom>
            <a:no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dirty="0">
                <a:solidFill>
                  <a:schemeClr val="lt1"/>
                </a:solidFill>
              </a:endParaRPr>
            </a:p>
          </p:txBody>
        </p:sp>
      </p:grpSp>
      <p:pic>
        <p:nvPicPr>
          <p:cNvPr id="12" name="图片 11" descr="BIARB}BRL6EIYXHWFHD9M}H"/>
          <p:cNvPicPr>
            <a:picLocks noChangeAspect="1"/>
          </p:cNvPicPr>
          <p:nvPr/>
        </p:nvPicPr>
        <p:blipFill>
          <a:blip r:embed="rId21"/>
          <a:stretch>
            <a:fillRect/>
          </a:stretch>
        </p:blipFill>
        <p:spPr>
          <a:xfrm>
            <a:off x="1504950" y="1246505"/>
            <a:ext cx="3018790" cy="154940"/>
          </a:xfrm>
          <a:prstGeom prst="rect">
            <a:avLst/>
          </a:prstGeom>
        </p:spPr>
      </p:pic>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5250B-073A-845B-BDDD-D102004EB2A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69ACBD-33AB-1C1A-945A-740EDB50E8E1}"/>
              </a:ext>
            </a:extLst>
          </p:cNvPr>
          <p:cNvSpPr>
            <a:spLocks noGrp="1"/>
          </p:cNvSpPr>
          <p:nvPr>
            <p:ph type="title"/>
          </p:nvPr>
        </p:nvSpPr>
        <p:spPr/>
        <p:txBody>
          <a:bodyPr/>
          <a:lstStyle/>
          <a:p>
            <a:pPr>
              <a:lnSpc>
                <a:spcPct val="120000"/>
              </a:lnSpc>
            </a:pPr>
            <a:r>
              <a:rPr lang="zh-CN" altLang="en-US" dirty="0"/>
              <a:t>预期成效</a:t>
            </a:r>
          </a:p>
        </p:txBody>
      </p:sp>
      <p:pic>
        <p:nvPicPr>
          <p:cNvPr id="12" name="图片 11" descr="BIARB}BRL6EIYXHWFHD9M}H">
            <a:extLst>
              <a:ext uri="{FF2B5EF4-FFF2-40B4-BE49-F238E27FC236}">
                <a16:creationId xmlns:a16="http://schemas.microsoft.com/office/drawing/2014/main" id="{3B9FF916-9D80-849B-2A30-8BE2E926629C}"/>
              </a:ext>
            </a:extLst>
          </p:cNvPr>
          <p:cNvPicPr>
            <a:picLocks noChangeAspect="1"/>
          </p:cNvPicPr>
          <p:nvPr/>
        </p:nvPicPr>
        <p:blipFill>
          <a:blip r:embed="rId19"/>
          <a:stretch>
            <a:fillRect/>
          </a:stretch>
        </p:blipFill>
        <p:spPr>
          <a:xfrm>
            <a:off x="1490550" y="1208929"/>
            <a:ext cx="3018790" cy="194203"/>
          </a:xfrm>
          <a:prstGeom prst="rect">
            <a:avLst/>
          </a:prstGeom>
        </p:spPr>
      </p:pic>
      <p:grpSp>
        <p:nvGrpSpPr>
          <p:cNvPr id="20" name="组合 19">
            <a:extLst>
              <a:ext uri="{FF2B5EF4-FFF2-40B4-BE49-F238E27FC236}">
                <a16:creationId xmlns:a16="http://schemas.microsoft.com/office/drawing/2014/main" id="{9AFE1901-48C0-431A-2764-655BD4BD8664}"/>
              </a:ext>
            </a:extLst>
          </p:cNvPr>
          <p:cNvGrpSpPr/>
          <p:nvPr/>
        </p:nvGrpSpPr>
        <p:grpSpPr>
          <a:xfrm>
            <a:off x="2056182" y="1772424"/>
            <a:ext cx="3194607" cy="1775448"/>
            <a:chOff x="816410" y="1638312"/>
            <a:chExt cx="4810539" cy="3572092"/>
          </a:xfrm>
        </p:grpSpPr>
        <p:sp>
          <p:nvSpPr>
            <p:cNvPr id="4" name="圆角矩形 65">
              <a:extLst>
                <a:ext uri="{FF2B5EF4-FFF2-40B4-BE49-F238E27FC236}">
                  <a16:creationId xmlns:a16="http://schemas.microsoft.com/office/drawing/2014/main" id="{E4C1AA52-A2F9-9D45-145D-BF27D7EAC552}"/>
                </a:ext>
              </a:extLst>
            </p:cNvPr>
            <p:cNvSpPr/>
            <p:nvPr>
              <p:custDataLst>
                <p:tags r:id="rId15"/>
              </p:custDataLst>
            </p:nvPr>
          </p:nvSpPr>
          <p:spPr>
            <a:xfrm>
              <a:off x="816410" y="1638312"/>
              <a:ext cx="4810539" cy="3572092"/>
            </a:xfrm>
            <a:prstGeom prst="roundRect">
              <a:avLst>
                <a:gd name="adj" fmla="val 3214"/>
              </a:avLst>
            </a:prstGeom>
            <a:solidFill>
              <a:srgbClr val="F0F2F4"/>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altLang="zh-CN" dirty="0">
                <a:solidFill>
                  <a:schemeClr val="tx1"/>
                </a:solidFill>
              </a:endParaRPr>
            </a:p>
            <a:p>
              <a:pPr algn="ctr">
                <a:lnSpc>
                  <a:spcPct val="120000"/>
                </a:lnSpc>
              </a:pPr>
              <a:r>
                <a:rPr lang="zh-CN" altLang="en-US" sz="1600" dirty="0">
                  <a:solidFill>
                    <a:schemeClr val="tx1"/>
                  </a:solidFill>
                </a:rPr>
                <a:t>在</a:t>
              </a:r>
              <a:r>
                <a:rPr lang="en-US" altLang="zh-CN" sz="1600" dirty="0" err="1">
                  <a:solidFill>
                    <a:schemeClr val="tx1"/>
                  </a:solidFill>
                </a:rPr>
                <a:t>HapBench</a:t>
              </a:r>
              <a:r>
                <a:rPr lang="zh-CN" altLang="en-US" sz="1600" dirty="0">
                  <a:solidFill>
                    <a:schemeClr val="tx1"/>
                  </a:solidFill>
                </a:rPr>
                <a:t>上得到与论文可对照的</a:t>
              </a:r>
              <a:r>
                <a:rPr lang="en-US" altLang="zh-CN" sz="1600" dirty="0" err="1">
                  <a:solidFill>
                    <a:schemeClr val="tx1"/>
                  </a:solidFill>
                </a:rPr>
                <a:t>HapBench</a:t>
              </a:r>
              <a:r>
                <a:rPr lang="zh-CN" altLang="en-US" sz="1600" dirty="0">
                  <a:solidFill>
                    <a:schemeClr val="tx1"/>
                  </a:solidFill>
                </a:rPr>
                <a:t>基准实验结果与消融实验结果。</a:t>
              </a:r>
            </a:p>
          </p:txBody>
        </p:sp>
        <p:sp>
          <p:nvSpPr>
            <p:cNvPr id="19" name="任意多边形: 形状 18">
              <a:extLst>
                <a:ext uri="{FF2B5EF4-FFF2-40B4-BE49-F238E27FC236}">
                  <a16:creationId xmlns:a16="http://schemas.microsoft.com/office/drawing/2014/main" id="{A39B5AD9-BADC-0535-88C2-7A4618C44B52}"/>
                </a:ext>
              </a:extLst>
            </p:cNvPr>
            <p:cNvSpPr/>
            <p:nvPr>
              <p:custDataLst>
                <p:tags r:id="rId16"/>
              </p:custDataLst>
            </p:nvPr>
          </p:nvSpPr>
          <p:spPr>
            <a:xfrm>
              <a:off x="816410" y="1638312"/>
              <a:ext cx="4810539" cy="861048"/>
            </a:xfrm>
            <a:custGeom>
              <a:avLst/>
              <a:gdLst>
                <a:gd name="csX0" fmla="*/ 114807 w 4810539"/>
                <a:gd name="csY0" fmla="*/ 0 h 861048"/>
                <a:gd name="csX1" fmla="*/ 4695732 w 4810539"/>
                <a:gd name="csY1" fmla="*/ 0 h 861048"/>
                <a:gd name="csX2" fmla="*/ 4810539 w 4810539"/>
                <a:gd name="csY2" fmla="*/ 114807 h 861048"/>
                <a:gd name="csX3" fmla="*/ 4810539 w 4810539"/>
                <a:gd name="csY3" fmla="*/ 833374 h 861048"/>
                <a:gd name="csX4" fmla="*/ 4782865 w 4810539"/>
                <a:gd name="csY4" fmla="*/ 861048 h 861048"/>
                <a:gd name="csX5" fmla="*/ 27674 w 4810539"/>
                <a:gd name="csY5" fmla="*/ 861048 h 861048"/>
                <a:gd name="csX6" fmla="*/ 0 w 4810539"/>
                <a:gd name="csY6" fmla="*/ 833374 h 861048"/>
                <a:gd name="csX7" fmla="*/ 0 w 4810539"/>
                <a:gd name="csY7" fmla="*/ 114807 h 861048"/>
                <a:gd name="csX8" fmla="*/ 114807 w 4810539"/>
                <a:gd name="csY8" fmla="*/ 0 h 861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810539" h="861048">
                  <a:moveTo>
                    <a:pt x="114807" y="0"/>
                  </a:moveTo>
                  <a:lnTo>
                    <a:pt x="4695732" y="0"/>
                  </a:lnTo>
                  <a:cubicBezTo>
                    <a:pt x="4759138" y="0"/>
                    <a:pt x="4810539" y="51401"/>
                    <a:pt x="4810539" y="114807"/>
                  </a:cubicBezTo>
                  <a:lnTo>
                    <a:pt x="4810539" y="833374"/>
                  </a:lnTo>
                  <a:cubicBezTo>
                    <a:pt x="4810539" y="848658"/>
                    <a:pt x="4798149" y="861048"/>
                    <a:pt x="4782865" y="861048"/>
                  </a:cubicBezTo>
                  <a:lnTo>
                    <a:pt x="27674" y="861048"/>
                  </a:lnTo>
                  <a:cubicBezTo>
                    <a:pt x="12390" y="861048"/>
                    <a:pt x="0" y="848658"/>
                    <a:pt x="0" y="833374"/>
                  </a:cubicBezTo>
                  <a:lnTo>
                    <a:pt x="0" y="114807"/>
                  </a:lnTo>
                  <a:cubicBezTo>
                    <a:pt x="0" y="51401"/>
                    <a:pt x="51401" y="0"/>
                    <a:pt x="114807" y="0"/>
                  </a:cubicBezTo>
                  <a:close/>
                </a:path>
              </a:pathLst>
            </a:custGeom>
            <a:solidFill>
              <a:srgbClr val="244C89"/>
            </a:solidFill>
            <a:ln>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r>
                <a:rPr lang="zh-CN" altLang="en-US" b="1" dirty="0"/>
                <a:t>基线复现</a:t>
              </a:r>
            </a:p>
          </p:txBody>
        </p:sp>
      </p:grpSp>
      <p:grpSp>
        <p:nvGrpSpPr>
          <p:cNvPr id="44" name="组合 43">
            <a:extLst>
              <a:ext uri="{FF2B5EF4-FFF2-40B4-BE49-F238E27FC236}">
                <a16:creationId xmlns:a16="http://schemas.microsoft.com/office/drawing/2014/main" id="{D9199159-1971-C706-C9DF-F93D2072832F}"/>
              </a:ext>
            </a:extLst>
          </p:cNvPr>
          <p:cNvGrpSpPr/>
          <p:nvPr/>
        </p:nvGrpSpPr>
        <p:grpSpPr>
          <a:xfrm>
            <a:off x="6941211" y="1772424"/>
            <a:ext cx="3194607" cy="1775448"/>
            <a:chOff x="816410" y="1638312"/>
            <a:chExt cx="4810539" cy="3572092"/>
          </a:xfrm>
        </p:grpSpPr>
        <p:sp>
          <p:nvSpPr>
            <p:cNvPr id="45" name="圆角矩形 65">
              <a:extLst>
                <a:ext uri="{FF2B5EF4-FFF2-40B4-BE49-F238E27FC236}">
                  <a16:creationId xmlns:a16="http://schemas.microsoft.com/office/drawing/2014/main" id="{D0C98ED9-C81A-72F0-27C4-BDD57A688E96}"/>
                </a:ext>
              </a:extLst>
            </p:cNvPr>
            <p:cNvSpPr/>
            <p:nvPr>
              <p:custDataLst>
                <p:tags r:id="rId13"/>
              </p:custDataLst>
            </p:nvPr>
          </p:nvSpPr>
          <p:spPr>
            <a:xfrm>
              <a:off x="816410" y="1638312"/>
              <a:ext cx="4810539" cy="3572092"/>
            </a:xfrm>
            <a:prstGeom prst="roundRect">
              <a:avLst>
                <a:gd name="adj" fmla="val 3214"/>
              </a:avLst>
            </a:prstGeom>
            <a:solidFill>
              <a:srgbClr val="F0F2F4"/>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altLang="zh-CN" dirty="0">
                <a:solidFill>
                  <a:schemeClr val="tx1"/>
                </a:solidFill>
              </a:endParaRPr>
            </a:p>
            <a:p>
              <a:pPr algn="ctr">
                <a:lnSpc>
                  <a:spcPct val="120000"/>
                </a:lnSpc>
              </a:pPr>
              <a:r>
                <a:rPr lang="zh-CN" altLang="en-US" sz="1600" dirty="0">
                  <a:solidFill>
                    <a:schemeClr val="tx1"/>
                  </a:solidFill>
                </a:rPr>
                <a:t>形成可独立运行的结果可视化报告模块与异常流传播修复，并确保在关键用例上行为可解释。</a:t>
              </a:r>
            </a:p>
          </p:txBody>
        </p:sp>
        <p:sp>
          <p:nvSpPr>
            <p:cNvPr id="46" name="任意多边形: 形状 45">
              <a:extLst>
                <a:ext uri="{FF2B5EF4-FFF2-40B4-BE49-F238E27FC236}">
                  <a16:creationId xmlns:a16="http://schemas.microsoft.com/office/drawing/2014/main" id="{4BF50C76-BFAA-27EB-881E-24BA8F80F9CB}"/>
                </a:ext>
              </a:extLst>
            </p:cNvPr>
            <p:cNvSpPr/>
            <p:nvPr>
              <p:custDataLst>
                <p:tags r:id="rId14"/>
              </p:custDataLst>
            </p:nvPr>
          </p:nvSpPr>
          <p:spPr>
            <a:xfrm>
              <a:off x="816410" y="1638312"/>
              <a:ext cx="4810539" cy="861048"/>
            </a:xfrm>
            <a:custGeom>
              <a:avLst/>
              <a:gdLst>
                <a:gd name="csX0" fmla="*/ 114807 w 4810539"/>
                <a:gd name="csY0" fmla="*/ 0 h 861048"/>
                <a:gd name="csX1" fmla="*/ 4695732 w 4810539"/>
                <a:gd name="csY1" fmla="*/ 0 h 861048"/>
                <a:gd name="csX2" fmla="*/ 4810539 w 4810539"/>
                <a:gd name="csY2" fmla="*/ 114807 h 861048"/>
                <a:gd name="csX3" fmla="*/ 4810539 w 4810539"/>
                <a:gd name="csY3" fmla="*/ 833374 h 861048"/>
                <a:gd name="csX4" fmla="*/ 4782865 w 4810539"/>
                <a:gd name="csY4" fmla="*/ 861048 h 861048"/>
                <a:gd name="csX5" fmla="*/ 27674 w 4810539"/>
                <a:gd name="csY5" fmla="*/ 861048 h 861048"/>
                <a:gd name="csX6" fmla="*/ 0 w 4810539"/>
                <a:gd name="csY6" fmla="*/ 833374 h 861048"/>
                <a:gd name="csX7" fmla="*/ 0 w 4810539"/>
                <a:gd name="csY7" fmla="*/ 114807 h 861048"/>
                <a:gd name="csX8" fmla="*/ 114807 w 4810539"/>
                <a:gd name="csY8" fmla="*/ 0 h 861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810539" h="861048">
                  <a:moveTo>
                    <a:pt x="114807" y="0"/>
                  </a:moveTo>
                  <a:lnTo>
                    <a:pt x="4695732" y="0"/>
                  </a:lnTo>
                  <a:cubicBezTo>
                    <a:pt x="4759138" y="0"/>
                    <a:pt x="4810539" y="51401"/>
                    <a:pt x="4810539" y="114807"/>
                  </a:cubicBezTo>
                  <a:lnTo>
                    <a:pt x="4810539" y="833374"/>
                  </a:lnTo>
                  <a:cubicBezTo>
                    <a:pt x="4810539" y="848658"/>
                    <a:pt x="4798149" y="861048"/>
                    <a:pt x="4782865" y="861048"/>
                  </a:cubicBezTo>
                  <a:lnTo>
                    <a:pt x="27674" y="861048"/>
                  </a:lnTo>
                  <a:cubicBezTo>
                    <a:pt x="12390" y="861048"/>
                    <a:pt x="0" y="848658"/>
                    <a:pt x="0" y="833374"/>
                  </a:cubicBezTo>
                  <a:lnTo>
                    <a:pt x="0" y="114807"/>
                  </a:lnTo>
                  <a:cubicBezTo>
                    <a:pt x="0" y="51401"/>
                    <a:pt x="51401" y="0"/>
                    <a:pt x="114807" y="0"/>
                  </a:cubicBezTo>
                  <a:close/>
                </a:path>
              </a:pathLst>
            </a:custGeom>
            <a:solidFill>
              <a:srgbClr val="244C89"/>
            </a:solidFill>
            <a:ln>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r>
                <a:rPr lang="zh-CN" altLang="en-US" b="1" dirty="0"/>
                <a:t>对比结论</a:t>
              </a:r>
            </a:p>
          </p:txBody>
        </p:sp>
      </p:grpSp>
      <p:grpSp>
        <p:nvGrpSpPr>
          <p:cNvPr id="52" name="组合 51">
            <a:extLst>
              <a:ext uri="{FF2B5EF4-FFF2-40B4-BE49-F238E27FC236}">
                <a16:creationId xmlns:a16="http://schemas.microsoft.com/office/drawing/2014/main" id="{2836594D-97C0-CAD2-F561-FACAA9BCD8E0}"/>
              </a:ext>
            </a:extLst>
          </p:cNvPr>
          <p:cNvGrpSpPr/>
          <p:nvPr/>
        </p:nvGrpSpPr>
        <p:grpSpPr>
          <a:xfrm>
            <a:off x="2056181" y="3936504"/>
            <a:ext cx="3194607" cy="1775448"/>
            <a:chOff x="816410" y="1638312"/>
            <a:chExt cx="4810539" cy="3572092"/>
          </a:xfrm>
        </p:grpSpPr>
        <p:sp>
          <p:nvSpPr>
            <p:cNvPr id="53" name="圆角矩形 65">
              <a:extLst>
                <a:ext uri="{FF2B5EF4-FFF2-40B4-BE49-F238E27FC236}">
                  <a16:creationId xmlns:a16="http://schemas.microsoft.com/office/drawing/2014/main" id="{C5E16980-A469-C6D6-7C68-29A185470518}"/>
                </a:ext>
              </a:extLst>
            </p:cNvPr>
            <p:cNvSpPr/>
            <p:nvPr>
              <p:custDataLst>
                <p:tags r:id="rId11"/>
              </p:custDataLst>
            </p:nvPr>
          </p:nvSpPr>
          <p:spPr>
            <a:xfrm>
              <a:off x="816410" y="1638312"/>
              <a:ext cx="4810539" cy="3572092"/>
            </a:xfrm>
            <a:prstGeom prst="roundRect">
              <a:avLst>
                <a:gd name="adj" fmla="val 3214"/>
              </a:avLst>
            </a:prstGeom>
            <a:solidFill>
              <a:srgbClr val="F0F2F4"/>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altLang="zh-CN" sz="1600" dirty="0">
                <a:solidFill>
                  <a:schemeClr val="tx1"/>
                </a:solidFill>
              </a:endParaRPr>
            </a:p>
            <a:p>
              <a:pPr algn="ctr">
                <a:lnSpc>
                  <a:spcPct val="120000"/>
                </a:lnSpc>
              </a:pPr>
              <a:r>
                <a:rPr lang="zh-CN" altLang="en-US" sz="1600" dirty="0">
                  <a:solidFill>
                    <a:schemeClr val="tx1"/>
                  </a:solidFill>
                </a:rPr>
                <a:t>输出改进前后在 </a:t>
              </a:r>
              <a:r>
                <a:rPr lang="en-US" altLang="zh-CN" sz="1600" dirty="0" err="1">
                  <a:solidFill>
                    <a:schemeClr val="tx1"/>
                  </a:solidFill>
                </a:rPr>
                <a:t>HapBench</a:t>
              </a:r>
              <a:r>
                <a:rPr lang="en-US" altLang="zh-CN" sz="1600" dirty="0">
                  <a:solidFill>
                    <a:schemeClr val="tx1"/>
                  </a:solidFill>
                </a:rPr>
                <a:t> </a:t>
              </a:r>
              <a:r>
                <a:rPr lang="zh-CN" altLang="en-US" sz="1600" dirty="0">
                  <a:solidFill>
                    <a:schemeClr val="tx1"/>
                  </a:solidFill>
                </a:rPr>
                <a:t>上的效果对比。</a:t>
              </a:r>
            </a:p>
          </p:txBody>
        </p:sp>
        <p:sp>
          <p:nvSpPr>
            <p:cNvPr id="54" name="任意多边形: 形状 53">
              <a:extLst>
                <a:ext uri="{FF2B5EF4-FFF2-40B4-BE49-F238E27FC236}">
                  <a16:creationId xmlns:a16="http://schemas.microsoft.com/office/drawing/2014/main" id="{E80EFFFB-1A20-D77E-D868-F2CCD1814464}"/>
                </a:ext>
              </a:extLst>
            </p:cNvPr>
            <p:cNvSpPr/>
            <p:nvPr>
              <p:custDataLst>
                <p:tags r:id="rId12"/>
              </p:custDataLst>
            </p:nvPr>
          </p:nvSpPr>
          <p:spPr>
            <a:xfrm>
              <a:off x="816410" y="1638312"/>
              <a:ext cx="4810539" cy="861048"/>
            </a:xfrm>
            <a:custGeom>
              <a:avLst/>
              <a:gdLst>
                <a:gd name="csX0" fmla="*/ 114807 w 4810539"/>
                <a:gd name="csY0" fmla="*/ 0 h 861048"/>
                <a:gd name="csX1" fmla="*/ 4695732 w 4810539"/>
                <a:gd name="csY1" fmla="*/ 0 h 861048"/>
                <a:gd name="csX2" fmla="*/ 4810539 w 4810539"/>
                <a:gd name="csY2" fmla="*/ 114807 h 861048"/>
                <a:gd name="csX3" fmla="*/ 4810539 w 4810539"/>
                <a:gd name="csY3" fmla="*/ 833374 h 861048"/>
                <a:gd name="csX4" fmla="*/ 4782865 w 4810539"/>
                <a:gd name="csY4" fmla="*/ 861048 h 861048"/>
                <a:gd name="csX5" fmla="*/ 27674 w 4810539"/>
                <a:gd name="csY5" fmla="*/ 861048 h 861048"/>
                <a:gd name="csX6" fmla="*/ 0 w 4810539"/>
                <a:gd name="csY6" fmla="*/ 833374 h 861048"/>
                <a:gd name="csX7" fmla="*/ 0 w 4810539"/>
                <a:gd name="csY7" fmla="*/ 114807 h 861048"/>
                <a:gd name="csX8" fmla="*/ 114807 w 4810539"/>
                <a:gd name="csY8" fmla="*/ 0 h 861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810539" h="861048">
                  <a:moveTo>
                    <a:pt x="114807" y="0"/>
                  </a:moveTo>
                  <a:lnTo>
                    <a:pt x="4695732" y="0"/>
                  </a:lnTo>
                  <a:cubicBezTo>
                    <a:pt x="4759138" y="0"/>
                    <a:pt x="4810539" y="51401"/>
                    <a:pt x="4810539" y="114807"/>
                  </a:cubicBezTo>
                  <a:lnTo>
                    <a:pt x="4810539" y="833374"/>
                  </a:lnTo>
                  <a:cubicBezTo>
                    <a:pt x="4810539" y="848658"/>
                    <a:pt x="4798149" y="861048"/>
                    <a:pt x="4782865" y="861048"/>
                  </a:cubicBezTo>
                  <a:lnTo>
                    <a:pt x="27674" y="861048"/>
                  </a:lnTo>
                  <a:cubicBezTo>
                    <a:pt x="12390" y="861048"/>
                    <a:pt x="0" y="848658"/>
                    <a:pt x="0" y="833374"/>
                  </a:cubicBezTo>
                  <a:lnTo>
                    <a:pt x="0" y="114807"/>
                  </a:lnTo>
                  <a:cubicBezTo>
                    <a:pt x="0" y="51401"/>
                    <a:pt x="51401" y="0"/>
                    <a:pt x="114807" y="0"/>
                  </a:cubicBezTo>
                  <a:close/>
                </a:path>
              </a:pathLst>
            </a:custGeom>
            <a:solidFill>
              <a:srgbClr val="244C89"/>
            </a:solidFill>
            <a:ln>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r>
                <a:rPr lang="zh-CN" altLang="en-US" b="1" dirty="0"/>
                <a:t>改进落地</a:t>
              </a:r>
            </a:p>
          </p:txBody>
        </p:sp>
      </p:grpSp>
      <p:grpSp>
        <p:nvGrpSpPr>
          <p:cNvPr id="55" name="组合 54">
            <a:extLst>
              <a:ext uri="{FF2B5EF4-FFF2-40B4-BE49-F238E27FC236}">
                <a16:creationId xmlns:a16="http://schemas.microsoft.com/office/drawing/2014/main" id="{0ACC31E7-109E-6767-6001-3A45F54F3903}"/>
              </a:ext>
            </a:extLst>
          </p:cNvPr>
          <p:cNvGrpSpPr/>
          <p:nvPr/>
        </p:nvGrpSpPr>
        <p:grpSpPr>
          <a:xfrm>
            <a:off x="6941214" y="3936504"/>
            <a:ext cx="3194607" cy="1775448"/>
            <a:chOff x="816410" y="1638312"/>
            <a:chExt cx="4810539" cy="3572092"/>
          </a:xfrm>
        </p:grpSpPr>
        <p:sp>
          <p:nvSpPr>
            <p:cNvPr id="56" name="圆角矩形 65">
              <a:extLst>
                <a:ext uri="{FF2B5EF4-FFF2-40B4-BE49-F238E27FC236}">
                  <a16:creationId xmlns:a16="http://schemas.microsoft.com/office/drawing/2014/main" id="{875FD72B-3C46-E8DC-5A67-0EA26B1983A3}"/>
                </a:ext>
              </a:extLst>
            </p:cNvPr>
            <p:cNvSpPr/>
            <p:nvPr>
              <p:custDataLst>
                <p:tags r:id="rId9"/>
              </p:custDataLst>
            </p:nvPr>
          </p:nvSpPr>
          <p:spPr>
            <a:xfrm>
              <a:off x="816410" y="1638312"/>
              <a:ext cx="4810539" cy="3572092"/>
            </a:xfrm>
            <a:prstGeom prst="roundRect">
              <a:avLst>
                <a:gd name="adj" fmla="val 3214"/>
              </a:avLst>
            </a:prstGeom>
            <a:solidFill>
              <a:srgbClr val="F0F2F4"/>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altLang="zh-CN" sz="1600" dirty="0">
                <a:solidFill>
                  <a:schemeClr val="tx1"/>
                </a:solidFill>
              </a:endParaRPr>
            </a:p>
            <a:p>
              <a:pPr algn="ctr">
                <a:lnSpc>
                  <a:spcPct val="120000"/>
                </a:lnSpc>
              </a:pPr>
              <a:endParaRPr lang="en-US" altLang="zh-CN" sz="1600" dirty="0">
                <a:solidFill>
                  <a:schemeClr val="tx1"/>
                </a:solidFill>
              </a:endParaRPr>
            </a:p>
            <a:p>
              <a:pPr algn="ctr">
                <a:lnSpc>
                  <a:spcPct val="120000"/>
                </a:lnSpc>
              </a:pPr>
              <a:r>
                <a:rPr lang="zh-CN" altLang="zh-CN" sz="1600" dirty="0">
                  <a:solidFill>
                    <a:schemeClr val="tx1"/>
                  </a:solidFill>
                </a:rPr>
                <a:t>沉淀一份可直接复查的实验说明（环境、命令、配置、输出与归档结构），使审阅者可快速验证结论</a:t>
              </a:r>
              <a:r>
                <a:rPr lang="zh-CN" altLang="en-US" sz="1600" dirty="0">
                  <a:solidFill>
                    <a:schemeClr val="tx1"/>
                  </a:solidFill>
                </a:rPr>
                <a:t>。</a:t>
              </a:r>
            </a:p>
          </p:txBody>
        </p:sp>
        <p:sp>
          <p:nvSpPr>
            <p:cNvPr id="59" name="任意多边形: 形状 58">
              <a:extLst>
                <a:ext uri="{FF2B5EF4-FFF2-40B4-BE49-F238E27FC236}">
                  <a16:creationId xmlns:a16="http://schemas.microsoft.com/office/drawing/2014/main" id="{0B6408F2-C8AA-F2D7-5F11-53146B2EBA58}"/>
                </a:ext>
              </a:extLst>
            </p:cNvPr>
            <p:cNvSpPr/>
            <p:nvPr>
              <p:custDataLst>
                <p:tags r:id="rId10"/>
              </p:custDataLst>
            </p:nvPr>
          </p:nvSpPr>
          <p:spPr>
            <a:xfrm>
              <a:off x="816410" y="1638312"/>
              <a:ext cx="4810539" cy="861048"/>
            </a:xfrm>
            <a:custGeom>
              <a:avLst/>
              <a:gdLst>
                <a:gd name="csX0" fmla="*/ 114807 w 4810539"/>
                <a:gd name="csY0" fmla="*/ 0 h 861048"/>
                <a:gd name="csX1" fmla="*/ 4695732 w 4810539"/>
                <a:gd name="csY1" fmla="*/ 0 h 861048"/>
                <a:gd name="csX2" fmla="*/ 4810539 w 4810539"/>
                <a:gd name="csY2" fmla="*/ 114807 h 861048"/>
                <a:gd name="csX3" fmla="*/ 4810539 w 4810539"/>
                <a:gd name="csY3" fmla="*/ 833374 h 861048"/>
                <a:gd name="csX4" fmla="*/ 4782865 w 4810539"/>
                <a:gd name="csY4" fmla="*/ 861048 h 861048"/>
                <a:gd name="csX5" fmla="*/ 27674 w 4810539"/>
                <a:gd name="csY5" fmla="*/ 861048 h 861048"/>
                <a:gd name="csX6" fmla="*/ 0 w 4810539"/>
                <a:gd name="csY6" fmla="*/ 833374 h 861048"/>
                <a:gd name="csX7" fmla="*/ 0 w 4810539"/>
                <a:gd name="csY7" fmla="*/ 114807 h 861048"/>
                <a:gd name="csX8" fmla="*/ 114807 w 4810539"/>
                <a:gd name="csY8" fmla="*/ 0 h 861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810539" h="861048">
                  <a:moveTo>
                    <a:pt x="114807" y="0"/>
                  </a:moveTo>
                  <a:lnTo>
                    <a:pt x="4695732" y="0"/>
                  </a:lnTo>
                  <a:cubicBezTo>
                    <a:pt x="4759138" y="0"/>
                    <a:pt x="4810539" y="51401"/>
                    <a:pt x="4810539" y="114807"/>
                  </a:cubicBezTo>
                  <a:lnTo>
                    <a:pt x="4810539" y="833374"/>
                  </a:lnTo>
                  <a:cubicBezTo>
                    <a:pt x="4810539" y="848658"/>
                    <a:pt x="4798149" y="861048"/>
                    <a:pt x="4782865" y="861048"/>
                  </a:cubicBezTo>
                  <a:lnTo>
                    <a:pt x="27674" y="861048"/>
                  </a:lnTo>
                  <a:cubicBezTo>
                    <a:pt x="12390" y="861048"/>
                    <a:pt x="0" y="848658"/>
                    <a:pt x="0" y="833374"/>
                  </a:cubicBezTo>
                  <a:lnTo>
                    <a:pt x="0" y="114807"/>
                  </a:lnTo>
                  <a:cubicBezTo>
                    <a:pt x="0" y="51401"/>
                    <a:pt x="51401" y="0"/>
                    <a:pt x="114807" y="0"/>
                  </a:cubicBezTo>
                  <a:close/>
                </a:path>
              </a:pathLst>
            </a:custGeom>
            <a:solidFill>
              <a:srgbClr val="244C89"/>
            </a:solidFill>
            <a:ln>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r>
                <a:rPr lang="zh-CN" altLang="en-US" b="1" dirty="0"/>
                <a:t>复现材料</a:t>
              </a:r>
            </a:p>
          </p:txBody>
        </p:sp>
      </p:grpSp>
      <p:sp>
        <p:nvSpPr>
          <p:cNvPr id="3" name="椭圆 2">
            <a:extLst>
              <a:ext uri="{FF2B5EF4-FFF2-40B4-BE49-F238E27FC236}">
                <a16:creationId xmlns:a16="http://schemas.microsoft.com/office/drawing/2014/main" id="{30B771E3-847B-94F3-2521-3162186639CE}"/>
              </a:ext>
            </a:extLst>
          </p:cNvPr>
          <p:cNvSpPr/>
          <p:nvPr>
            <p:custDataLst>
              <p:tags r:id="rId1"/>
            </p:custDataLst>
          </p:nvPr>
        </p:nvSpPr>
        <p:spPr>
          <a:xfrm>
            <a:off x="1657550" y="1509571"/>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01</a:t>
            </a:r>
            <a:endParaRPr lang="zh-CN" altLang="en-US" sz="3600" dirty="0">
              <a:solidFill>
                <a:schemeClr val="bg1"/>
              </a:solidFill>
              <a:latin typeface="Agency FB" panose="020B0503020202020204" pitchFamily="34" charset="0"/>
            </a:endParaRPr>
          </a:p>
        </p:txBody>
      </p:sp>
      <p:sp>
        <p:nvSpPr>
          <p:cNvPr id="5" name="椭圆 4">
            <a:extLst>
              <a:ext uri="{FF2B5EF4-FFF2-40B4-BE49-F238E27FC236}">
                <a16:creationId xmlns:a16="http://schemas.microsoft.com/office/drawing/2014/main" id="{748D4038-6EAD-F1B5-E4B2-4004C9C43780}"/>
              </a:ext>
            </a:extLst>
          </p:cNvPr>
          <p:cNvSpPr/>
          <p:nvPr>
            <p:custDataLst>
              <p:tags r:id="rId2"/>
            </p:custDataLst>
          </p:nvPr>
        </p:nvSpPr>
        <p:spPr>
          <a:xfrm>
            <a:off x="1581632" y="1433044"/>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6" name="椭圆 5">
            <a:extLst>
              <a:ext uri="{FF2B5EF4-FFF2-40B4-BE49-F238E27FC236}">
                <a16:creationId xmlns:a16="http://schemas.microsoft.com/office/drawing/2014/main" id="{5B61B32D-956B-D1B6-FF6E-AEE990E44F37}"/>
              </a:ext>
            </a:extLst>
          </p:cNvPr>
          <p:cNvSpPr/>
          <p:nvPr>
            <p:custDataLst>
              <p:tags r:id="rId3"/>
            </p:custDataLst>
          </p:nvPr>
        </p:nvSpPr>
        <p:spPr>
          <a:xfrm>
            <a:off x="6590535" y="1515547"/>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02</a:t>
            </a:r>
            <a:endParaRPr lang="zh-CN" altLang="en-US" sz="3600" dirty="0">
              <a:solidFill>
                <a:schemeClr val="bg1"/>
              </a:solidFill>
              <a:latin typeface="Agency FB" panose="020B0503020202020204" pitchFamily="34" charset="0"/>
            </a:endParaRPr>
          </a:p>
        </p:txBody>
      </p:sp>
      <p:sp>
        <p:nvSpPr>
          <p:cNvPr id="7" name="椭圆 4">
            <a:extLst>
              <a:ext uri="{FF2B5EF4-FFF2-40B4-BE49-F238E27FC236}">
                <a16:creationId xmlns:a16="http://schemas.microsoft.com/office/drawing/2014/main" id="{B3CE9427-2362-DDA7-C641-12977AB96E78}"/>
              </a:ext>
            </a:extLst>
          </p:cNvPr>
          <p:cNvSpPr/>
          <p:nvPr>
            <p:custDataLst>
              <p:tags r:id="rId4"/>
            </p:custDataLst>
          </p:nvPr>
        </p:nvSpPr>
        <p:spPr>
          <a:xfrm>
            <a:off x="6514617" y="1439020"/>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8" name="椭圆 7">
            <a:extLst>
              <a:ext uri="{FF2B5EF4-FFF2-40B4-BE49-F238E27FC236}">
                <a16:creationId xmlns:a16="http://schemas.microsoft.com/office/drawing/2014/main" id="{670976A2-C8CD-A6D4-FF2F-D7F5A862CA5A}"/>
              </a:ext>
            </a:extLst>
          </p:cNvPr>
          <p:cNvSpPr/>
          <p:nvPr>
            <p:custDataLst>
              <p:tags r:id="rId5"/>
            </p:custDataLst>
          </p:nvPr>
        </p:nvSpPr>
        <p:spPr>
          <a:xfrm>
            <a:off x="6590535" y="3674791"/>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a:solidFill>
                  <a:schemeClr val="bg1"/>
                </a:solidFill>
                <a:latin typeface="Agency FB" panose="020B0503020202020204" pitchFamily="34" charset="0"/>
              </a:rPr>
              <a:t>04</a:t>
            </a:r>
            <a:endParaRPr lang="zh-CN" altLang="en-US" sz="3600" dirty="0">
              <a:solidFill>
                <a:schemeClr val="bg1"/>
              </a:solidFill>
              <a:latin typeface="Agency FB" panose="020B0503020202020204" pitchFamily="34" charset="0"/>
            </a:endParaRPr>
          </a:p>
        </p:txBody>
      </p:sp>
      <p:sp>
        <p:nvSpPr>
          <p:cNvPr id="9" name="椭圆 4">
            <a:extLst>
              <a:ext uri="{FF2B5EF4-FFF2-40B4-BE49-F238E27FC236}">
                <a16:creationId xmlns:a16="http://schemas.microsoft.com/office/drawing/2014/main" id="{662DE3F8-A219-5A67-952B-495B2BE617A2}"/>
              </a:ext>
            </a:extLst>
          </p:cNvPr>
          <p:cNvSpPr/>
          <p:nvPr>
            <p:custDataLst>
              <p:tags r:id="rId6"/>
            </p:custDataLst>
          </p:nvPr>
        </p:nvSpPr>
        <p:spPr>
          <a:xfrm>
            <a:off x="6514617" y="3598264"/>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10" name="椭圆 9">
            <a:extLst>
              <a:ext uri="{FF2B5EF4-FFF2-40B4-BE49-F238E27FC236}">
                <a16:creationId xmlns:a16="http://schemas.microsoft.com/office/drawing/2014/main" id="{D3C53185-19C5-8A92-F0E5-81E0AD518601}"/>
              </a:ext>
            </a:extLst>
          </p:cNvPr>
          <p:cNvSpPr/>
          <p:nvPr>
            <p:custDataLst>
              <p:tags r:id="rId7"/>
            </p:custDataLst>
          </p:nvPr>
        </p:nvSpPr>
        <p:spPr>
          <a:xfrm>
            <a:off x="1733468" y="3674791"/>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3600" dirty="0">
                <a:solidFill>
                  <a:schemeClr val="bg1"/>
                </a:solidFill>
                <a:latin typeface="Agency FB" panose="020B0503020202020204" pitchFamily="34" charset="0"/>
              </a:rPr>
              <a:t>03</a:t>
            </a:r>
            <a:endParaRPr lang="zh-CN" altLang="en-US" sz="3600" dirty="0">
              <a:solidFill>
                <a:schemeClr val="bg1"/>
              </a:solidFill>
              <a:latin typeface="Agency FB" panose="020B0503020202020204" pitchFamily="34" charset="0"/>
            </a:endParaRPr>
          </a:p>
        </p:txBody>
      </p:sp>
      <p:sp>
        <p:nvSpPr>
          <p:cNvPr id="11" name="椭圆 4">
            <a:extLst>
              <a:ext uri="{FF2B5EF4-FFF2-40B4-BE49-F238E27FC236}">
                <a16:creationId xmlns:a16="http://schemas.microsoft.com/office/drawing/2014/main" id="{CACFDFB1-D348-5615-A089-DF862EFB96D6}"/>
              </a:ext>
            </a:extLst>
          </p:cNvPr>
          <p:cNvSpPr/>
          <p:nvPr>
            <p:custDataLst>
              <p:tags r:id="rId8"/>
            </p:custDataLst>
          </p:nvPr>
        </p:nvSpPr>
        <p:spPr>
          <a:xfrm>
            <a:off x="1657550" y="3598264"/>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endParaRPr lang="zh-CN" altLang="en-US"/>
          </a:p>
        </p:txBody>
      </p:sp>
    </p:spTree>
    <p:extLst>
      <p:ext uri="{BB962C8B-B14F-4D97-AF65-F5344CB8AC3E}">
        <p14:creationId xmlns:p14="http://schemas.microsoft.com/office/powerpoint/2010/main" val="330015159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D34F9-A376-BBC8-F3F0-1ABD74013B23}"/>
            </a:ext>
          </a:extLst>
        </p:cNvPr>
        <p:cNvGrpSpPr/>
        <p:nvPr/>
      </p:nvGrpSpPr>
      <p:grpSpPr>
        <a:xfrm>
          <a:off x="0" y="0"/>
          <a:ext cx="0" cy="0"/>
          <a:chOff x="0" y="0"/>
          <a:chExt cx="0" cy="0"/>
        </a:xfrm>
      </p:grpSpPr>
      <p:pic>
        <p:nvPicPr>
          <p:cNvPr id="12" name="图片 11" descr="BIARB}BRL6EIYXHWFHD9M}H">
            <a:extLst>
              <a:ext uri="{FF2B5EF4-FFF2-40B4-BE49-F238E27FC236}">
                <a16:creationId xmlns:a16="http://schemas.microsoft.com/office/drawing/2014/main" id="{19BC49B0-3AB5-F505-8609-7DB9C5413715}"/>
              </a:ext>
            </a:extLst>
          </p:cNvPr>
          <p:cNvPicPr>
            <a:picLocks noChangeAspect="1"/>
          </p:cNvPicPr>
          <p:nvPr/>
        </p:nvPicPr>
        <p:blipFill>
          <a:blip r:embed="rId3"/>
          <a:stretch>
            <a:fillRect/>
          </a:stretch>
        </p:blipFill>
        <p:spPr>
          <a:xfrm>
            <a:off x="1504950" y="1246505"/>
            <a:ext cx="3018790" cy="154940"/>
          </a:xfrm>
          <a:prstGeom prst="rect">
            <a:avLst/>
          </a:prstGeom>
        </p:spPr>
      </p:pic>
      <p:sp>
        <p:nvSpPr>
          <p:cNvPr id="3" name="文本框 2">
            <a:extLst>
              <a:ext uri="{FF2B5EF4-FFF2-40B4-BE49-F238E27FC236}">
                <a16:creationId xmlns:a16="http://schemas.microsoft.com/office/drawing/2014/main" id="{DE47B047-ED03-EB5D-9192-37D9EF69B9A1}"/>
              </a:ext>
            </a:extLst>
          </p:cNvPr>
          <p:cNvSpPr txBox="1"/>
          <p:nvPr/>
        </p:nvSpPr>
        <p:spPr>
          <a:xfrm>
            <a:off x="779781" y="1447800"/>
            <a:ext cx="10948924" cy="4447371"/>
          </a:xfrm>
          <a:prstGeom prst="rect">
            <a:avLst/>
          </a:prstGeom>
          <a:noFill/>
        </p:spPr>
        <p:txBody>
          <a:bodyPr wrap="square" rtlCol="0">
            <a:spAutoFit/>
          </a:bodyPr>
          <a:lstStyle/>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Li, L., Gao, X., Sun, H., Hu, C., Sun, C., Wang, H., ... &amp; Wang, H. (2025). Software engineering for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openharmony</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 research roadmap. ACM Computing Surveys, 58(2), 1-36.</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Chen, H., Chen, D., Yang, Y., Xu, L., Gao, L., Zhou, M., ... &amp; Li, L. (2025, April).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Arkanalyzer</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The static analysis framework for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openharmony</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In 2025 IEEE/ACM 47th International Conference on Software Engineering: Software Engineering in Practice (ICSE-SEIP) (pp. 136-147). IEEE.</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Yang, Y., Xu, L., Zhou, M., &amp; Li, L. (2025, November). Context-Sensitive Pointer Analysis for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ArkTS</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In 2025 40th IEEE/ACM International Conference on Automated Software Engineering (ASE) (pp. 3262-3273). IEEE.</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Zhu, Y., Guo, J., Xu, F., Chen, R., Zhang, X., Yi, S., &amp; Yu, J. (2023, August). HM-SAF: Cross-Layer Static Analysis Framework For HarmonyOS. In </a:t>
            </a:r>
            <a:r>
              <a:rPr lang="en-US" altLang="zh-CN" sz="1400" i="1" kern="100" dirty="0">
                <a:effectLst/>
                <a:latin typeface="Times New Roman" panose="02020603050405020304" pitchFamily="18" charset="0"/>
                <a:ea typeface="宋体" panose="02010600030101010101" pitchFamily="2" charset="-122"/>
                <a:cs typeface="Times New Roman" panose="02020603050405020304" pitchFamily="18" charset="0"/>
              </a:rPr>
              <a:t>2023 IEEE Smart World Congress (SWC)</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(pp. 1-10). IEEE.</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Schubert, P. D., Hermann, B., &amp; Bodden, E. (2019, April).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Phasar</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An inter-procedural static analysis framework for c/</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In International Conference on Tools and Algorithms for the Construction and Analysis of Systems (pp. 393-410). Cham: Springer International Publishing.</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ZERO-A-ONE. GitHub. </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hlinkClick r:id="rId4">
                  <a:extLst>
                    <a:ext uri="{A12FA001-AC4F-418D-AE19-62706E023703}">
                      <ahyp:hlinkClr xmlns:ahyp="http://schemas.microsoft.com/office/drawing/2018/hyperlinkcolor" val="tx"/>
                    </a:ext>
                  </a:extLst>
                </a:hlinkClick>
              </a:rPr>
              <a:t>https://github.com/ZERO-A-ONE</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Chen, H., Zhou, M., Zhao, Y., &amp; Li, L. (2026).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HapFlow</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The Taint Analysis Framework for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OpenHarmony</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Apps. </a:t>
            </a:r>
            <a:r>
              <a:rPr lang="en-US" altLang="zh-CN" sz="1400" i="1" kern="100" dirty="0">
                <a:effectLst/>
                <a:latin typeface="Times New Roman" panose="02020603050405020304" pitchFamily="18" charset="0"/>
                <a:ea typeface="宋体" panose="02010600030101010101" pitchFamily="2" charset="-122"/>
                <a:cs typeface="Times New Roman" panose="02020603050405020304" pitchFamily="18" charset="0"/>
              </a:rPr>
              <a:t>ACM Transactions on Software Engineering and Methodology</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Zhao, Y. (2024). Yanjie Zhao - Homepage. </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hlinkClick r:id="rId5">
                  <a:extLst>
                    <a:ext uri="{A12FA001-AC4F-418D-AE19-62706E023703}">
                      <ahyp:hlinkClr xmlns:ahyp="http://schemas.microsoft.com/office/drawing/2018/hyperlinkcolor" val="tx"/>
                    </a:ext>
                  </a:extLst>
                </a:hlinkClick>
              </a:rPr>
              <a:t>https://yanjiezhao96.github.io</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Guo, J., &amp; Cai, H. (2026).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EvoTaint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Incremental static taint analysis of evolving Android apps. </a:t>
            </a:r>
            <a:r>
              <a:rPr lang="en-US" altLang="zh-CN" sz="1400" i="1" kern="100" dirty="0">
                <a:effectLst/>
                <a:latin typeface="Times New Roman" panose="02020603050405020304" pitchFamily="18" charset="0"/>
                <a:ea typeface="宋体" panose="02010600030101010101" pitchFamily="2" charset="-122"/>
                <a:cs typeface="Times New Roman" panose="02020603050405020304" pitchFamily="18" charset="0"/>
              </a:rPr>
              <a:t>ACM Transactions on Software Engineering and Methodology</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i="1" kern="100" dirty="0">
                <a:effectLst/>
                <a:latin typeface="Times New Roman" panose="02020603050405020304" pitchFamily="18" charset="0"/>
                <a:ea typeface="宋体" panose="02010600030101010101" pitchFamily="2" charset="-122"/>
                <a:cs typeface="Times New Roman" panose="02020603050405020304" pitchFamily="18" charset="0"/>
              </a:rPr>
              <a:t>35</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(4), 1-46.</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latinLnBrk="1">
              <a:spcBef>
                <a:spcPts val="600"/>
              </a:spcBef>
              <a:buFont typeface="+mj-lt"/>
              <a:buAutoNum type="arabicPeriod"/>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Anonymous.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HapFlow</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Artifacts.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Figshare</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hlinkClick r:id="rId6">
                  <a:extLst>
                    <a:ext uri="{A12FA001-AC4F-418D-AE19-62706E023703}">
                      <ahyp:hlinkClr xmlns:ahyp="http://schemas.microsoft.com/office/drawing/2018/hyperlinkcolor" val="tx"/>
                    </a:ext>
                  </a:extLst>
                </a:hlinkClick>
              </a:rPr>
              <a:t>https://figshare.com/s/8e5c07d1d6d6da88439b</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1" name="组合 10">
            <a:extLst>
              <a:ext uri="{FF2B5EF4-FFF2-40B4-BE49-F238E27FC236}">
                <a16:creationId xmlns:a16="http://schemas.microsoft.com/office/drawing/2014/main" id="{1EDD911D-D2F8-2609-15F6-086AC65E974D}"/>
              </a:ext>
            </a:extLst>
          </p:cNvPr>
          <p:cNvGrpSpPr/>
          <p:nvPr/>
        </p:nvGrpSpPr>
        <p:grpSpPr>
          <a:xfrm>
            <a:off x="779780" y="654697"/>
            <a:ext cx="2532219" cy="713903"/>
            <a:chOff x="463295" y="0"/>
            <a:chExt cx="4384476" cy="1815324"/>
          </a:xfrm>
        </p:grpSpPr>
        <p:grpSp>
          <p:nvGrpSpPr>
            <p:cNvPr id="6" name="组合 5">
              <a:extLst>
                <a:ext uri="{FF2B5EF4-FFF2-40B4-BE49-F238E27FC236}">
                  <a16:creationId xmlns:a16="http://schemas.microsoft.com/office/drawing/2014/main" id="{03A23B15-602A-F9D1-F541-6A4F914EFCDA}"/>
                </a:ext>
              </a:extLst>
            </p:cNvPr>
            <p:cNvGrpSpPr/>
            <p:nvPr/>
          </p:nvGrpSpPr>
          <p:grpSpPr>
            <a:xfrm>
              <a:off x="463295" y="0"/>
              <a:ext cx="4384476" cy="1815324"/>
              <a:chOff x="2449721" y="1906265"/>
              <a:chExt cx="7292557" cy="3045469"/>
            </a:xfrm>
          </p:grpSpPr>
          <p:sp>
            <p:nvSpPr>
              <p:cNvPr id="7" name="矩形 6">
                <a:extLst>
                  <a:ext uri="{FF2B5EF4-FFF2-40B4-BE49-F238E27FC236}">
                    <a16:creationId xmlns:a16="http://schemas.microsoft.com/office/drawing/2014/main" id="{B25E591A-CD74-0F61-9162-B787B981AD90}"/>
                  </a:ext>
                </a:extLst>
              </p:cNvPr>
              <p:cNvSpPr/>
              <p:nvPr/>
            </p:nvSpPr>
            <p:spPr>
              <a:xfrm>
                <a:off x="2449721" y="1906265"/>
                <a:ext cx="7292557" cy="304546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a:extLst>
                  <a:ext uri="{FF2B5EF4-FFF2-40B4-BE49-F238E27FC236}">
                    <a16:creationId xmlns:a16="http://schemas.microsoft.com/office/drawing/2014/main" id="{16AB5203-FC11-F956-5561-E26AD2F4E074}"/>
                  </a:ext>
                </a:extLst>
              </p:cNvPr>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9" name="文本框 8">
              <a:extLst>
                <a:ext uri="{FF2B5EF4-FFF2-40B4-BE49-F238E27FC236}">
                  <a16:creationId xmlns:a16="http://schemas.microsoft.com/office/drawing/2014/main" id="{3163FA3B-3D18-3637-CB49-52423FAF8981}"/>
                </a:ext>
              </a:extLst>
            </p:cNvPr>
            <p:cNvSpPr txBox="1"/>
            <p:nvPr/>
          </p:nvSpPr>
          <p:spPr>
            <a:xfrm>
              <a:off x="687521" y="117908"/>
              <a:ext cx="1680269" cy="1233538"/>
            </a:xfrm>
            <a:prstGeom prst="rect">
              <a:avLst/>
            </a:prstGeom>
            <a:noFill/>
          </p:spPr>
          <p:txBody>
            <a:bodyPr wrap="square" rtlCol="0">
              <a:spAutoFit/>
            </a:bodyPr>
            <a:lstStyle/>
            <a:p>
              <a:pPr algn="ctr"/>
              <a:r>
                <a:rPr lang="en-US" altLang="zh-CN" sz="3600" dirty="0">
                  <a:solidFill>
                    <a:schemeClr val="bg1"/>
                  </a:solidFill>
                  <a:latin typeface="Agency FB" panose="020B0503020202020204" pitchFamily="34" charset="0"/>
                </a:rPr>
                <a:t>05</a:t>
              </a:r>
              <a:endParaRPr lang="zh-CN" altLang="en-US" sz="6000" dirty="0">
                <a:solidFill>
                  <a:schemeClr val="bg1"/>
                </a:solidFill>
                <a:latin typeface="Agency FB" panose="020B0503020202020204" pitchFamily="34" charset="0"/>
              </a:endParaRPr>
            </a:p>
          </p:txBody>
        </p:sp>
        <p:cxnSp>
          <p:nvCxnSpPr>
            <p:cNvPr id="10" name="直接连接符 9">
              <a:extLst>
                <a:ext uri="{FF2B5EF4-FFF2-40B4-BE49-F238E27FC236}">
                  <a16:creationId xmlns:a16="http://schemas.microsoft.com/office/drawing/2014/main" id="{AF885102-983A-16E9-C436-BDEEAC9D4129}"/>
                </a:ext>
              </a:extLst>
            </p:cNvPr>
            <p:cNvCxnSpPr>
              <a:cxnSpLocks/>
            </p:cNvCxnSpPr>
            <p:nvPr/>
          </p:nvCxnSpPr>
          <p:spPr>
            <a:xfrm>
              <a:off x="2469411" y="469213"/>
              <a:ext cx="0" cy="88223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文本框 12">
            <a:extLst>
              <a:ext uri="{FF2B5EF4-FFF2-40B4-BE49-F238E27FC236}">
                <a16:creationId xmlns:a16="http://schemas.microsoft.com/office/drawing/2014/main" id="{E4DC00D1-2782-7DA9-92A4-D55207E54710}"/>
              </a:ext>
            </a:extLst>
          </p:cNvPr>
          <p:cNvSpPr txBox="1"/>
          <p:nvPr/>
        </p:nvSpPr>
        <p:spPr>
          <a:xfrm>
            <a:off x="2045889" y="860196"/>
            <a:ext cx="1028510" cy="338554"/>
          </a:xfrm>
          <a:prstGeom prst="rect">
            <a:avLst/>
          </a:prstGeom>
          <a:noFill/>
        </p:spPr>
        <p:txBody>
          <a:bodyPr wrap="square" rtlCol="0">
            <a:spAutoFit/>
            <a:scene3d>
              <a:camera prst="orthographicFront"/>
              <a:lightRig rig="threePt" dir="t"/>
            </a:scene3d>
            <a:sp3d contourW="12700"/>
          </a:bodyPr>
          <a:lstStyle/>
          <a:p>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参考文献</a:t>
            </a:r>
          </a:p>
        </p:txBody>
      </p:sp>
    </p:spTree>
    <p:extLst>
      <p:ext uri="{BB962C8B-B14F-4D97-AF65-F5344CB8AC3E}">
        <p14:creationId xmlns:p14="http://schemas.microsoft.com/office/powerpoint/2010/main" val="324862537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grpSp>
        <p:nvGrpSpPr>
          <p:cNvPr id="5" name="组合 4">
            <a:extLst>
              <a:ext uri="{FF2B5EF4-FFF2-40B4-BE49-F238E27FC236}">
                <a16:creationId xmlns:a16="http://schemas.microsoft.com/office/drawing/2014/main" id="{686F4A69-990E-3D10-0B99-C2D69E62E0DF}"/>
              </a:ext>
            </a:extLst>
          </p:cNvPr>
          <p:cNvGrpSpPr/>
          <p:nvPr/>
        </p:nvGrpSpPr>
        <p:grpSpPr>
          <a:xfrm>
            <a:off x="1613647" y="840105"/>
            <a:ext cx="8964706" cy="5177790"/>
            <a:chOff x="2160497" y="1465866"/>
            <a:chExt cx="7871010" cy="3932089"/>
          </a:xfrm>
        </p:grpSpPr>
        <p:sp>
          <p:nvSpPr>
            <p:cNvPr id="3" name="矩形 2"/>
            <p:cNvSpPr/>
            <p:nvPr/>
          </p:nvSpPr>
          <p:spPr>
            <a:xfrm>
              <a:off x="2160497" y="1465866"/>
              <a:ext cx="7871010" cy="393208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9" name="矩形 8"/>
            <p:cNvSpPr/>
            <p:nvPr/>
          </p:nvSpPr>
          <p:spPr>
            <a:xfrm>
              <a:off x="2429435" y="1711367"/>
              <a:ext cx="7333130" cy="3441085"/>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4" name="文本框 3"/>
          <p:cNvSpPr txBox="1"/>
          <p:nvPr/>
        </p:nvSpPr>
        <p:spPr>
          <a:xfrm>
            <a:off x="2569440" y="2361302"/>
            <a:ext cx="7053116" cy="829945"/>
          </a:xfrm>
          <a:prstGeom prst="rect">
            <a:avLst/>
          </a:prstGeom>
          <a:noFill/>
        </p:spPr>
        <p:txBody>
          <a:bodyPr wrap="square" rtlCol="0">
            <a:spAutoFit/>
            <a:scene3d>
              <a:camera prst="orthographicFront"/>
              <a:lightRig rig="threePt" dir="t"/>
            </a:scene3d>
            <a:sp3d contourW="12700"/>
          </a:bodyPr>
          <a:lstStyle/>
          <a:p>
            <a:pPr algn="ctr">
              <a:defRPr/>
            </a:pPr>
            <a:r>
              <a:rPr lang="zh-CN" altLang="en-US" sz="4800" b="1" dirty="0">
                <a:solidFill>
                  <a:schemeClr val="bg1"/>
                </a:solidFill>
                <a:latin typeface="思源黑体" panose="020B0500000000000000" pitchFamily="34" charset="-122"/>
                <a:ea typeface="思源黑体" panose="020B0500000000000000" pitchFamily="34" charset="-122"/>
              </a:rPr>
              <a:t>感  谢  聆  听 </a:t>
            </a:r>
            <a:r>
              <a:rPr lang="en-US" altLang="zh-CN" sz="4800" b="1" dirty="0">
                <a:solidFill>
                  <a:schemeClr val="bg1"/>
                </a:solidFill>
                <a:latin typeface="思源黑体" panose="020B0500000000000000" pitchFamily="34" charset="-122"/>
                <a:ea typeface="思源黑体" panose="020B0500000000000000" pitchFamily="34" charset="-122"/>
              </a:rPr>
              <a:t>!</a:t>
            </a:r>
            <a:r>
              <a:rPr lang="zh-CN" altLang="en-US" sz="4800" b="1" dirty="0">
                <a:solidFill>
                  <a:schemeClr val="bg1"/>
                </a:solidFill>
                <a:latin typeface="思源黑体" panose="020B0500000000000000" pitchFamily="34" charset="-122"/>
                <a:ea typeface="思源黑体" panose="020B0500000000000000" pitchFamily="34" charset="-122"/>
              </a:rPr>
              <a:t> </a:t>
            </a:r>
          </a:p>
        </p:txBody>
      </p:sp>
      <p:sp>
        <p:nvSpPr>
          <p:cNvPr id="7" name="文本框 6">
            <a:extLst>
              <a:ext uri="{FF2B5EF4-FFF2-40B4-BE49-F238E27FC236}">
                <a16:creationId xmlns:a16="http://schemas.microsoft.com/office/drawing/2014/main" id="{F3E72DAB-EEB1-7689-42AB-D8690B2E0CF8}"/>
              </a:ext>
            </a:extLst>
          </p:cNvPr>
          <p:cNvSpPr txBox="1"/>
          <p:nvPr/>
        </p:nvSpPr>
        <p:spPr>
          <a:xfrm>
            <a:off x="2435338" y="3627323"/>
            <a:ext cx="7321319" cy="1631216"/>
          </a:xfrm>
          <a:prstGeom prst="rect">
            <a:avLst/>
          </a:prstGeom>
          <a:noFill/>
        </p:spPr>
        <p:txBody>
          <a:bodyPr wrap="square" rtlCol="0">
            <a:spAutoFit/>
          </a:bodyPr>
          <a:lstStyle/>
          <a:p>
            <a:pPr>
              <a:spcAft>
                <a:spcPts val="600"/>
              </a:spcAft>
            </a:pPr>
            <a:r>
              <a:rPr lang="zh-CN" altLang="zh-CN" sz="1600" b="1" dirty="0">
                <a:solidFill>
                  <a:schemeClr val="bg1">
                    <a:lumMod val="85000"/>
                  </a:schemeClr>
                </a:solidFill>
                <a:latin typeface="仿宋" panose="02010609060101010101" pitchFamily="49" charset="-122"/>
                <a:ea typeface="仿宋" panose="02010609060101010101" pitchFamily="49" charset="-122"/>
              </a:rPr>
              <a:t>王亦冕</a:t>
            </a:r>
            <a:r>
              <a:rPr lang="en-US" altLang="zh-CN" sz="1600" b="1" dirty="0">
                <a:solidFill>
                  <a:schemeClr val="bg1">
                    <a:lumMod val="85000"/>
                  </a:schemeClr>
                </a:solidFill>
                <a:latin typeface="仿宋" panose="02010609060101010101" pitchFamily="49" charset="-122"/>
                <a:ea typeface="仿宋" panose="02010609060101010101" pitchFamily="49" charset="-122"/>
              </a:rPr>
              <a:t> 23009200555</a:t>
            </a:r>
            <a:r>
              <a:rPr lang="zh-CN" altLang="en-US" sz="1600" b="1" dirty="0">
                <a:solidFill>
                  <a:schemeClr val="bg1">
                    <a:lumMod val="85000"/>
                  </a:schemeClr>
                </a:solidFill>
                <a:latin typeface="仿宋" panose="02010609060101010101" pitchFamily="49" charset="-122"/>
                <a:ea typeface="仿宋" panose="02010609060101010101" pitchFamily="49" charset="-122"/>
              </a:rPr>
              <a:t>：</a:t>
            </a:r>
            <a:r>
              <a:rPr lang="zh-CN" altLang="en-US" sz="1600" b="1" dirty="0">
                <a:solidFill>
                  <a:schemeClr val="bg1"/>
                </a:solidFill>
                <a:latin typeface="仿宋" panose="02010609060101010101" pitchFamily="49" charset="-122"/>
                <a:ea typeface="仿宋" panose="02010609060101010101" pitchFamily="49" charset="-122"/>
              </a:rPr>
              <a:t>组长</a:t>
            </a:r>
            <a:r>
              <a:rPr lang="zh-CN" altLang="en-US" sz="1600" dirty="0">
                <a:solidFill>
                  <a:schemeClr val="bg1">
                    <a:lumMod val="85000"/>
                  </a:schemeClr>
                </a:solidFill>
                <a:latin typeface="仿宋" panose="02010609060101010101" pitchFamily="49" charset="-122"/>
                <a:ea typeface="仿宋" panose="02010609060101010101" pitchFamily="49" charset="-122"/>
              </a:rPr>
              <a:t>，任务统筹，报告撰写，代码环境搭建，</a:t>
            </a:r>
            <a:r>
              <a:rPr lang="zh-CN" altLang="en-US" sz="1600" b="1" dirty="0">
                <a:solidFill>
                  <a:schemeClr val="bg1"/>
                </a:solidFill>
                <a:latin typeface="仿宋" panose="02010609060101010101" pitchFamily="49" charset="-122"/>
                <a:ea typeface="仿宋" panose="02010609060101010101" pitchFamily="49" charset="-122"/>
              </a:rPr>
              <a:t>前期调研</a:t>
            </a:r>
            <a:endParaRPr lang="en-US" altLang="zh-CN" sz="1600" b="1" dirty="0">
              <a:solidFill>
                <a:schemeClr val="bg1"/>
              </a:solidFill>
              <a:latin typeface="仿宋" panose="02010609060101010101" pitchFamily="49" charset="-122"/>
              <a:ea typeface="仿宋" panose="02010609060101010101" pitchFamily="49" charset="-122"/>
            </a:endParaRPr>
          </a:p>
          <a:p>
            <a:pPr>
              <a:spcAft>
                <a:spcPts val="600"/>
              </a:spcAft>
            </a:pPr>
            <a:r>
              <a:rPr lang="zh-CN" altLang="zh-CN" sz="1600" b="1" dirty="0">
                <a:solidFill>
                  <a:schemeClr val="bg1">
                    <a:lumMod val="85000"/>
                  </a:schemeClr>
                </a:solidFill>
                <a:latin typeface="仿宋" panose="02010609060101010101" pitchFamily="49" charset="-122"/>
                <a:ea typeface="仿宋" panose="02010609060101010101" pitchFamily="49" charset="-122"/>
              </a:rPr>
              <a:t>陈凯 </a:t>
            </a:r>
            <a:r>
              <a:rPr lang="en-US" altLang="zh-CN" sz="1600" b="1" dirty="0">
                <a:solidFill>
                  <a:schemeClr val="bg1">
                    <a:lumMod val="85000"/>
                  </a:schemeClr>
                </a:solidFill>
                <a:latin typeface="仿宋" panose="02010609060101010101" pitchFamily="49" charset="-122"/>
                <a:ea typeface="仿宋" panose="02010609060101010101" pitchFamily="49" charset="-122"/>
              </a:rPr>
              <a:t>23009201354</a:t>
            </a:r>
            <a:r>
              <a:rPr lang="zh-CN" altLang="en-US" sz="1600" b="1" dirty="0">
                <a:solidFill>
                  <a:schemeClr val="bg1">
                    <a:lumMod val="85000"/>
                  </a:schemeClr>
                </a:solidFill>
                <a:latin typeface="仿宋" panose="02010609060101010101" pitchFamily="49" charset="-122"/>
                <a:ea typeface="仿宋" panose="02010609060101010101" pitchFamily="49" charset="-122"/>
              </a:rPr>
              <a:t>：</a:t>
            </a:r>
            <a:r>
              <a:rPr lang="zh-CN" altLang="en-US" sz="1600" b="1" dirty="0">
                <a:solidFill>
                  <a:schemeClr val="bg1"/>
                </a:solidFill>
                <a:latin typeface="仿宋" panose="02010609060101010101" pitchFamily="49" charset="-122"/>
                <a:ea typeface="仿宋" panose="02010609060101010101" pitchFamily="49" charset="-122"/>
              </a:rPr>
              <a:t>代码</a:t>
            </a:r>
            <a:r>
              <a:rPr lang="zh-CN" altLang="en-US" sz="1600" dirty="0">
                <a:solidFill>
                  <a:schemeClr val="bg1">
                    <a:lumMod val="85000"/>
                  </a:schemeClr>
                </a:solidFill>
                <a:latin typeface="仿宋" panose="02010609060101010101" pitchFamily="49" charset="-122"/>
                <a:ea typeface="仿宋" panose="02010609060101010101" pitchFamily="49" charset="-122"/>
              </a:rPr>
              <a:t>环境搭建，改进实现，实验运行，</a:t>
            </a:r>
            <a:r>
              <a:rPr lang="zh-CN" altLang="en-US" sz="1600" b="1" dirty="0">
                <a:solidFill>
                  <a:schemeClr val="bg1"/>
                </a:solidFill>
                <a:latin typeface="仿宋" panose="02010609060101010101" pitchFamily="49" charset="-122"/>
                <a:ea typeface="仿宋" panose="02010609060101010101" pitchFamily="49" charset="-122"/>
              </a:rPr>
              <a:t>前期调研</a:t>
            </a:r>
            <a:endParaRPr lang="en-US" altLang="zh-CN" sz="1600" b="1" dirty="0">
              <a:solidFill>
                <a:schemeClr val="bg1"/>
              </a:solidFill>
              <a:latin typeface="仿宋" panose="02010609060101010101" pitchFamily="49" charset="-122"/>
              <a:ea typeface="仿宋" panose="02010609060101010101" pitchFamily="49" charset="-122"/>
            </a:endParaRPr>
          </a:p>
          <a:p>
            <a:pPr>
              <a:spcAft>
                <a:spcPts val="600"/>
              </a:spcAft>
            </a:pPr>
            <a:r>
              <a:rPr lang="zh-CN" altLang="zh-CN" sz="1600" b="1" dirty="0">
                <a:solidFill>
                  <a:schemeClr val="bg1">
                    <a:lumMod val="85000"/>
                  </a:schemeClr>
                </a:solidFill>
                <a:latin typeface="仿宋" panose="02010609060101010101" pitchFamily="49" charset="-122"/>
                <a:ea typeface="仿宋" panose="02010609060101010101" pitchFamily="49" charset="-122"/>
              </a:rPr>
              <a:t>王晶晶 </a:t>
            </a:r>
            <a:r>
              <a:rPr lang="en-US" altLang="zh-CN" sz="1600" b="1" dirty="0">
                <a:solidFill>
                  <a:schemeClr val="bg1">
                    <a:lumMod val="85000"/>
                  </a:schemeClr>
                </a:solidFill>
                <a:latin typeface="仿宋" panose="02010609060101010101" pitchFamily="49" charset="-122"/>
                <a:ea typeface="仿宋" panose="02010609060101010101" pitchFamily="49" charset="-122"/>
              </a:rPr>
              <a:t>23009200143</a:t>
            </a:r>
            <a:r>
              <a:rPr lang="zh-CN" altLang="en-US" sz="1600" b="1" dirty="0">
                <a:solidFill>
                  <a:schemeClr val="bg1">
                    <a:lumMod val="85000"/>
                  </a:schemeClr>
                </a:solidFill>
                <a:latin typeface="仿宋" panose="02010609060101010101" pitchFamily="49" charset="-122"/>
                <a:ea typeface="仿宋" panose="02010609060101010101" pitchFamily="49" charset="-122"/>
              </a:rPr>
              <a:t>：</a:t>
            </a:r>
            <a:r>
              <a:rPr lang="zh-CN" altLang="en-US" sz="1600" b="1" dirty="0">
                <a:solidFill>
                  <a:schemeClr val="bg1"/>
                </a:solidFill>
                <a:latin typeface="仿宋" panose="02010609060101010101" pitchFamily="49" charset="-122"/>
                <a:ea typeface="仿宋" panose="02010609060101010101" pitchFamily="49" charset="-122"/>
              </a:rPr>
              <a:t>汇报</a:t>
            </a:r>
            <a:r>
              <a:rPr lang="zh-CN" altLang="en-US" sz="1600" dirty="0">
                <a:solidFill>
                  <a:schemeClr val="bg1">
                    <a:lumMod val="85000"/>
                  </a:schemeClr>
                </a:solidFill>
                <a:latin typeface="仿宋" panose="02010609060101010101" pitchFamily="49" charset="-122"/>
                <a:ea typeface="仿宋" panose="02010609060101010101" pitchFamily="49" charset="-122"/>
              </a:rPr>
              <a:t>稿撰写，答辩汇报人，</a:t>
            </a:r>
            <a:r>
              <a:rPr lang="zh-CN" altLang="en-US" sz="1600" b="1" dirty="0">
                <a:solidFill>
                  <a:schemeClr val="bg1"/>
                </a:solidFill>
                <a:latin typeface="仿宋" panose="02010609060101010101" pitchFamily="49" charset="-122"/>
                <a:ea typeface="仿宋" panose="02010609060101010101" pitchFamily="49" charset="-122"/>
              </a:rPr>
              <a:t>前期调研</a:t>
            </a:r>
            <a:endParaRPr lang="en-US" altLang="zh-CN" sz="1600" b="1" dirty="0">
              <a:solidFill>
                <a:schemeClr val="bg1"/>
              </a:solidFill>
              <a:latin typeface="仿宋" panose="02010609060101010101" pitchFamily="49" charset="-122"/>
              <a:ea typeface="仿宋" panose="02010609060101010101" pitchFamily="49" charset="-122"/>
            </a:endParaRPr>
          </a:p>
          <a:p>
            <a:pPr>
              <a:spcAft>
                <a:spcPts val="600"/>
              </a:spcAft>
            </a:pPr>
            <a:r>
              <a:rPr lang="zh-CN" altLang="zh-CN" sz="1600" b="1" dirty="0">
                <a:solidFill>
                  <a:schemeClr val="bg1">
                    <a:lumMod val="85000"/>
                  </a:schemeClr>
                </a:solidFill>
                <a:latin typeface="仿宋" panose="02010609060101010101" pitchFamily="49" charset="-122"/>
                <a:ea typeface="仿宋" panose="02010609060101010101" pitchFamily="49" charset="-122"/>
              </a:rPr>
              <a:t>蔡亦林 </a:t>
            </a:r>
            <a:r>
              <a:rPr lang="en-US" altLang="zh-CN" sz="1600" b="1" dirty="0">
                <a:solidFill>
                  <a:schemeClr val="bg1">
                    <a:lumMod val="85000"/>
                  </a:schemeClr>
                </a:solidFill>
                <a:latin typeface="仿宋" panose="02010609060101010101" pitchFamily="49" charset="-122"/>
                <a:ea typeface="仿宋" panose="02010609060101010101" pitchFamily="49" charset="-122"/>
              </a:rPr>
              <a:t>22009200875</a:t>
            </a:r>
            <a:r>
              <a:rPr lang="zh-CN" altLang="en-US" sz="1600" b="1" dirty="0">
                <a:solidFill>
                  <a:schemeClr val="bg1">
                    <a:lumMod val="85000"/>
                  </a:schemeClr>
                </a:solidFill>
                <a:latin typeface="仿宋" panose="02010609060101010101" pitchFamily="49" charset="-122"/>
                <a:ea typeface="仿宋" panose="02010609060101010101" pitchFamily="49" charset="-122"/>
              </a:rPr>
              <a:t>：</a:t>
            </a:r>
            <a:r>
              <a:rPr lang="en-US" altLang="zh-CN" sz="1600" b="1" dirty="0">
                <a:solidFill>
                  <a:schemeClr val="bg1"/>
                </a:solidFill>
                <a:latin typeface="仿宋" panose="02010609060101010101" pitchFamily="49" charset="-122"/>
                <a:ea typeface="仿宋" panose="02010609060101010101" pitchFamily="49" charset="-122"/>
              </a:rPr>
              <a:t>PPT</a:t>
            </a:r>
            <a:r>
              <a:rPr lang="zh-CN" altLang="en-US" sz="1600" dirty="0">
                <a:solidFill>
                  <a:schemeClr val="bg1">
                    <a:lumMod val="85000"/>
                  </a:schemeClr>
                </a:solidFill>
                <a:latin typeface="仿宋" panose="02010609060101010101" pitchFamily="49" charset="-122"/>
                <a:ea typeface="仿宋" panose="02010609060101010101" pitchFamily="49" charset="-122"/>
              </a:rPr>
              <a:t>制作与优化，</a:t>
            </a:r>
            <a:r>
              <a:rPr lang="zh-CN" altLang="en-US" sz="1600" b="1" dirty="0">
                <a:solidFill>
                  <a:schemeClr val="bg1"/>
                </a:solidFill>
                <a:latin typeface="仿宋" panose="02010609060101010101" pitchFamily="49" charset="-122"/>
                <a:ea typeface="仿宋" panose="02010609060101010101" pitchFamily="49" charset="-122"/>
              </a:rPr>
              <a:t>前期调研</a:t>
            </a:r>
            <a:endParaRPr lang="zh-CN" altLang="zh-CN" sz="1600" b="1" dirty="0">
              <a:solidFill>
                <a:schemeClr val="bg1"/>
              </a:solidFill>
              <a:latin typeface="仿宋" panose="02010609060101010101" pitchFamily="49" charset="-122"/>
              <a:ea typeface="仿宋" panose="02010609060101010101" pitchFamily="49" charset="-122"/>
            </a:endParaRPr>
          </a:p>
          <a:p>
            <a:pPr>
              <a:spcAft>
                <a:spcPts val="600"/>
              </a:spcAft>
            </a:pPr>
            <a:r>
              <a:rPr lang="zh-CN" altLang="zh-CN" sz="1600" b="1" dirty="0">
                <a:solidFill>
                  <a:schemeClr val="bg1">
                    <a:lumMod val="85000"/>
                  </a:schemeClr>
                </a:solidFill>
                <a:latin typeface="仿宋" panose="02010609060101010101" pitchFamily="49" charset="-122"/>
                <a:ea typeface="仿宋" panose="02010609060101010101" pitchFamily="49" charset="-122"/>
              </a:rPr>
              <a:t>高智湧 </a:t>
            </a:r>
            <a:r>
              <a:rPr lang="en-US" altLang="zh-CN" sz="1600" b="1" dirty="0">
                <a:solidFill>
                  <a:schemeClr val="bg1">
                    <a:lumMod val="85000"/>
                  </a:schemeClr>
                </a:solidFill>
                <a:latin typeface="仿宋" panose="02010609060101010101" pitchFamily="49" charset="-122"/>
                <a:ea typeface="仿宋" panose="02010609060101010101" pitchFamily="49" charset="-122"/>
              </a:rPr>
              <a:t>23009201389</a:t>
            </a:r>
            <a:r>
              <a:rPr lang="zh-CN" altLang="en-US" sz="1600" b="1" dirty="0">
                <a:solidFill>
                  <a:schemeClr val="bg1">
                    <a:lumMod val="85000"/>
                  </a:schemeClr>
                </a:solidFill>
                <a:latin typeface="仿宋" panose="02010609060101010101" pitchFamily="49" charset="-122"/>
                <a:ea typeface="仿宋" panose="02010609060101010101" pitchFamily="49" charset="-122"/>
              </a:rPr>
              <a:t>：</a:t>
            </a:r>
            <a:r>
              <a:rPr lang="zh-CN" altLang="en-US" sz="1600" b="1" dirty="0">
                <a:solidFill>
                  <a:schemeClr val="bg1"/>
                </a:solidFill>
                <a:latin typeface="仿宋" panose="02010609060101010101" pitchFamily="49" charset="-122"/>
                <a:ea typeface="仿宋" panose="02010609060101010101" pitchFamily="49" charset="-122"/>
              </a:rPr>
              <a:t>文档</a:t>
            </a:r>
            <a:r>
              <a:rPr lang="zh-CN" altLang="en-US" sz="1600" dirty="0">
                <a:solidFill>
                  <a:schemeClr val="bg1">
                    <a:lumMod val="85000"/>
                  </a:schemeClr>
                </a:solidFill>
                <a:latin typeface="仿宋" panose="02010609060101010101" pitchFamily="49" charset="-122"/>
                <a:ea typeface="仿宋" panose="02010609060101010101" pitchFamily="49" charset="-122"/>
              </a:rPr>
              <a:t>整理与文书优化，</a:t>
            </a:r>
            <a:r>
              <a:rPr lang="zh-CN" altLang="en-US" sz="1600" b="1" dirty="0">
                <a:solidFill>
                  <a:schemeClr val="bg1"/>
                </a:solidFill>
                <a:latin typeface="仿宋" panose="02010609060101010101" pitchFamily="49" charset="-122"/>
                <a:ea typeface="仿宋" panose="02010609060101010101" pitchFamily="49" charset="-122"/>
              </a:rPr>
              <a:t>前期调研</a:t>
            </a:r>
            <a:endParaRPr lang="zh-CN" altLang="zh-CN" sz="1600" b="1" dirty="0">
              <a:solidFill>
                <a:schemeClr val="bg1"/>
              </a:solidFill>
              <a:latin typeface="仿宋" panose="02010609060101010101" pitchFamily="49" charset="-122"/>
              <a:ea typeface="仿宋"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7A251DB4-07BE-47B3-8E91-FE7746FF9ADF"/>
  <p:tag name="ISPRING_SCORM_RATE_SLIDES" val="1"/>
  <p:tag name="ISPRING_SCORM_PASSING_SCORE" val="100.0000000000"/>
  <p:tag name="ISPRINGONLINEFOLDERID" val="0"/>
  <p:tag name="ISPRINGONLINEFOLDERPATH" val="Content List"/>
  <p:tag name="ISPRINGCLOUDFOLDERID" val="0"/>
  <p:tag name="ISPRINGCLOUDFOLDERPATH" val="Repository"/>
  <p:tag name="ISPRING_RESOURCE_PATHS_HASH_PRESENTER" val="dda1421ddb3ffb98a498c34c1cc89e982539480"/>
  <p:tag name="ISPRING_PRESENTATION_TITLE" val="毕业论文答辩PPT-13"/>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wQUAAIACACBerJKWn+5mToEAADhDgAAHQAAAHVuaXZlcnNhbC9jb21tb25fbWVzc2FnZXMubG5nrVf/bts2EP6/QN+BEFBgA7a0HdCiGBIHtMTYQmTJleg42Q8IjMTYRCgxkyi32V99mj7YnmRHym7spoOkdIBtmLTvu9Pdd9+Rx6cfC4k2vKqFKk+c10evHMTLTOWiXJ04C3r28zsH1ZqVOZOq5CdOqRx0Onr+7FiyctWwFYfvz58hdFzwuoZlPTKrhzUS+YkzH6duNJvj8CoNokmUjv2JM3JVccfKexSolfqj+uGXt+8+vn7z9sfjl1vLPkDJDAfBIRSySG9e9QAKaRwFKaCRIA3JJXVG5nOYXbSggR8SZ7T9Msx6HpMLZ2Q+O+0WcUxCmiaB75HUT9IwojYXAaHEc0ZXqkFrtuFIK7QR/APSaw6V1KLiqJYitz9kCjbKhnc586IZ9sM0JgmNfZf6UeiMElVV9z9ZWNbotarAXY1yUbNryXPrEzhjf7+reA2umQZOIXjptYB/qoKJ8qjTdYyXfjhJaRQFSUpCb7fjjEiZI69ixs1AlBgnJAaAitW8eoJtallmzRGWchjC1J9MA3hTE8JUrNYS3npoHHMCNZjzsssKOEJiYFeSLKPYM0kDV4ihO1bXH1SVH/Bjv1BdwH7oRkBBl+6BU4OxA4YaC1COquKZ7gKbkSTBE5KOo0sgMvRdNMQiOod2Ox9icUUSaBGSdNmE+MKfYEN402I7/u/6K2OGzvIesSwDO5O+jVBNDTsmpdAFttPqYV4S8n4BVfNx8I0ubgEhsbZeK7HhEEKVd7MHNMUlnuHP+4X/W3qG/YB4KRDKi5YptWJnnDGQh1JpxKRU5gHAL8s3rMw4uuYZa4Dw9/C3XOT2b6bYNpK/GvE3YnorLS+2qhR65PLF0cDQDoTscYRFU0N4WvPiTne53gv/KVEYYv9nCH0efaD/pG3WsQ8dMBaqvwUBeTaCBIoq+1v54Rk4mrc9D6LglzcDfIbRFiBU6KkYF5CqgxAuIIUD7JdknPgUhu2SX9dCd84xW9m2QN8uagYHB8k1fyjsNb9R0BOSs007zkDWbKU7C7o3LQ+0h/o0gJBDAFy1IxEgpSgg/rwH5mJGdhloJePgSZaqkbltUSlurWxAbpuCP57DN5Uq7K5k9Y68rWqdfk8U7cPFrdP5gHmSEBy709TFoUvMEc40jexpBFw0MQU0SQM8NuZAyoLpbA1aeaOaMu8J1J7CPHKGAWyb0oSzKlv/8+lzT4yvIml30Xb310Eg0GFGiMgXsN9DpXn9ZxcIxeNDO7voY7U9te7seh5iqQ90+F9Oh6zV9EIVsHXU7RfYti0aphS70xkQMrH8U02VdY/efYQZjs9BVOz5yhnNWHULikSVkoNQbKoNAfUw7w8Xh0ZLUfIhtt+n6eaBqT9PsefZWxQ0nxTZbTu8cjgrZtvrlITrVF8wd4pDELyv8Hgu9EBAOyN28gKN3q4f2nzzeGR8WdX2Mnr8cu9u+i9QSwMEFAACAAgAgXqySgn+cEwJAwAAtQoAACcAAAB1bml2ZXJzYWwvZmxhc2hfcHVibGlzaGluZ19zZXR0aW5ncy54bWzVVt1SGjEUvucpMul4KYsWq2UWnI7A1FGBEdrqlRM2BzZjNtlusiBe9Wn6YH2SnmwEYbTOqnWm5QZyfr7znZ8cEh7eJJLMIDNCqybdqdYoARVpLtS0Sb+MutsHlBjLFGdSK2hSpSk5bFXCNB9LYeIhWIumhiCMMo3UNmlsbdoIgvl8XhUmzZxWy9wivqlGOgnSDAwoC1mQSrbAL7tIwdBWpUJI6EVnmucSiOBIQQnHjsmuZCamgTcbs+h6mulc8SMtdUay6bhJ39WKz9LGQ7VFAsolZ1oodGLbYJwLx4fJobgFEoOYxkh8v07JXHAbN+lu3aGgdfAQpcD2OTCHcqQxGWXv4BOwjDPL/NHHs3BjzVLgRXyhWCKiEWqIy79J26Orz5eDzvnpce/katTvn46OB55E4RNs4oTBZqAQCek8i2AVJ2TWsihG3ugzYdJAGKyLlmYTrTbIuTMZa4m1L7xwHpIx8B5LYK0bw2uhumi5Q8kEE5GLJv2UCSYpEZZJEa2cTT42Vtii/911S4JYOGdAzob0PryvThSzzMA6raXGuJpHrW86l5wsdE6kuAZiNcH88wR/xUDWm0MmmU4KKY6PJUYKjDgTMAd+WNT0DvBPgS4xRJKjJ05uKsH6CN9zcUvGMNEZ4gKb4YyjXBiPX30WcMqMuQdlS45bw9PjdufquNfuXGy5BBmfMRU9ExwbDklq3wKfYe5KYwgpNVZzDQIrE7HcQNEfLnhhVibN0rFjNiua7hpZgGK7BfLxmKiIcDSFyqEsYMQU0UouCIvwChk3QjOhc4MSPywe2ryIoHclQhVUp3iDMFjGISuDVtvZfV/f+7B/8LFRDX79+Ln9pNPdWhlI5qL5vXL05GJZLZeHdy4M3C54fDXYLP83N8PgvPO1TF17nYtRqW52hqXg+mWs+idlrM79KhusrbFSFHAPTf3Sw00kRSIs8L85Yi8Yk1f9g/gZe5sxecOcX3M1/puU/Wn1GNl4fYTBo88jp0mEEgkWwm3E1ZuqtVev4XvmUVWlgmibT81W5TdQSwMEFAACAAgAgXqyStqYtsO1AgAAVQoAACEAAAB1bml2ZXJzYWwvZmxhc2hfc2tpbl9zZXR0aW5ncy54bWyVVm1P4zAM/n6/Ytp9p/cKOqlMggESEnegA/E9bb02WppMiTtu//6cNKVJt25lEdLy+Hkcx7E9UrPmcvFpNktzJZR+BkQuS2ORDpvx4nKeNYhKnuVKIkg8k0rXTMwXn6/v7EoTxzylUlvQpPniPic0K5ZDf8yF+0yR+DN+Xtg1JshVvWFy96BKdZaxfF1q1ciCZHfuMyardhvQgsu1vcSvi+Xt6AGCG7xHqKOYvt/ZNU2y0WAM2JDOb+06qRIsAzEtwwNNf9Tx2w9kW244OtnVV7vGZBtWQpzk49HRw5D3DwsQ/iFRv53bNUoVbAf6Q87Vptl8SKBVaRMaa44/4rtGKFZQ+5Hg5otdJwX2Qvagk6/g0/Pjxq6A5L+GfZ/adtVKPNm8DgaCffRMwAJ1A2nS7VqbqdTbY4PUH7BYMWGIEEI96YmCfmKN6dzEWM/7C29cFqEvj/SUVyWaGpZtwIG7GO/5y+W1mxWh03csiFDD1oNBiD3YM/9QXveYAdgznwUv4FGK3X4EQ1Mr6h75mvnnPJ5/soJktC28tdt1VnvSg21dE4TqgY5TqwIWxobzwmuw75YmDmtDSvZiSiXb8pIhV/K35WU7dxmTJgODr7XDlZUiRwGHCs7FSGM6TJfbx/XorXFBtj8L/eXa/Qxpil/OGSLLq5p+lsx85nXUJpSYeXJYYeck0UHfy5UKNO7sMVHN9Br0i1Ji6jFSIZip7lXbXGP0NAlykCaHs5x6J4fSL5s6A31Lr8bBdFmOwZZY8bIS9IevHN6gGChGrK0UK/InGX+vywDwRQBM51VXte2mtdSNQC5gC13zB4C78tjdUkNVOlZwV/gAKwxLziOTatLPir5W4hkS4Af4rxRW5HhgmVD2yDLjbhZ1fjeG+1iiwdyNM1t84SRze19LkWOy72eQQPvv5H9QSwMEFAACAAgAgXqySnjWJgneAgAAxgkAACYAAAB1bml2ZXJzYWwvaHRtbF9wdWJsaXNoaW5nX3NldHRpbmdzLnhtbM1WwU4bMRC95yssVxzJAqWFRpugigSBoCQiaQsnNFk7WQuvvbW9CeHUr+mH9Us6XpOQCBotCKrmkux45s17M+PZxAe3mSQTbqzQqkm361uUcJVoJtS4Sb8Ojjb3KbEOFAOpFW9SpSk5aNXivBhKYdM+dw5dLUEYZRu5a9LUubwRRdPptC5sbvyploVDfFtPdBblhluuHDdRLmGGX26Wc0tbtRohcTB90ayQnAiGFJTw7EAeu0zSKHgNIbkZG10odqilNsSMh036bqv8zH0CUltkXHlttoVGb3YNYEx4OiD74o6TlItxirz3dimZCubSJt3Z9SjoHT1GKbGDBPAohxq1KHcPn3EHDByEx5DP8Vtn54ZgYjMFmUgGeEK8/CZtD66Pr3qdi7OT89PrQbd7NjjpBRJlTLSKE0eriWIkpAuT8EWeGJyDJEXeGDMCaXkcLZvmbiOtVsj5ZzLUEktfRlEyQqZy1qSfjQBJiXAgRbI4dWDG3B0JiRp87HZ9pBx9AAx6kxSM5cuJ5ifWVzFpfdeFZGSmCyLFDSdOE1RUZPgr5WS53GRkdFZaJVhHrBSMk4ngU84OyirdA/4t0RWmyAqMxFHMJXchw49C3JEhH2mDuBwmOLRoFzbg158FnIO1D6Aw57jRPztpd65Pztudyw0vENgEVPJMcGwhz3L3FviA2pXGFFJqrOYSBFYmgcLysj9MsNKtiszKuVOYlE33jSxBsd0C+QRMPEhwtIQqeFXABBTRSs4IJHgprB+hidCFRUsYlgBtX0QwhBKhSqpjXFCYzDBuqqBtbe+83/3wcW//U6Me/f75a3Nt0P2i6Enw2cKmOFy7Khbr4vGdiyN/Q5++7M4U/+qu9y4636pU6rxzOajUn06/Ely3ilf3tIrXRVhOvaXFVIkCbpZxWGO4W6TIhOPsNYfmBY1fv+XDWLxS499Qxdrx/X9FhKfFS33lLR5HT/7NqKF99b9Xq/YHUEsDBBQAAgAIAIF6skrb73U9lgEAAB8GAAAfAAAAdW5pdmVyc2FsL2h0bWxfc2tpbl9zZXR0aW5ncy5qc42Uy27CMBBF93xF5G4rRF+gdtcWkCqxqFR2VRdOGEKEY0e2k0IR/97Y4WE7kxbPBt8c3xkP8ux6Ub1IQqKnaGd/2/27v7caGE3LEq59nXXoudGJYtkC5lkOLONAAqQ6Hj3J+zOBGRNuTePth7FVjh8R5suSMuXiBWIhEU1hhysE/Ea0DXb45yT2nHs1d3IaHZdaC95PBNfAdZ8LmVPLkKuXqQn3igEsKpANOrALQZc0Ac90ZFcXeXZ8GJlwuUTkBeXbmUhFP6bJOpWi5IuGntrl0qttAbL+y9eHAh9HrxPPjmVKv2nIw8R3UxPdZCFBKTjkHU5MoDCjMbA/WxSgnnH7QgFdZSrTR/r5xoRLFzSFVpfaJdQNrb0u5TRsdEPcDk14BKNbkJdYiaIsLuGkSE1HWmi75yeUCbrIeNpw44EJlDPFGtuu7p0vej82QbwnJIIntMKeX941O0JQIaD2xtIxrwryzjA7hokcySEQDZtWFT5HdDhHzP4zIlRrmqzyejzUw7FuA5VrkHMhWF391391hrl6+19QSwMEFAACAAgAgXqySh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IF6skqw7V1XbgAAAHYAAAAcAAAAdW5pdmVyc2FsL2xvY2FsX3NldHRpbmdzLnhtbA3MPQ7CMAxA4b2nsLyXn42haTc2EBLlAFZjUCTHRomF4PZ4e8OnNy3fKvDh1otpwuPugMC6WS76SvhYz+MJoTtpJjHlhGoIyzxMYhvJnd0DdngL/bitXCOcr1RD3hp3ViePM4xwieezcMb9PPwBUEsDBBQAAgAIAIOZ9U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IF6skoXqeFBbwEAAPsCAAApAAAAdW5pdmVyc2FsL3NraW5fY3VzdG9taXphdGlvbl9zZXR0aW5ncy54bWyNUttq3DAQfc9XiPzAShrdDO6Cbi5+SUKykGd3rRbTRC6WQkvRx1dOsmy22dBqnmbOmTPM6LTp+xTtU8rz4/R7yNMc70LOU/yWthcItfv5YV5ulpBCTptj5X6K4/yzj1/ntVarKQ9xHJbRrmjaYtQ9P6SkVk7VjBlGkWSeeoWc57ZiDbgGbMUcJbbd/CXxoruEfYj5vGq7OUHfN/QxhSX3cQy/tnDKfgudbvB5Gcap8tJWsDXKYWpxbA3ECJfcF6oBQCDLHXG4SNlITZDHjGMoRlGggAjnpBGFSMqhZl0jqgrzjUBMMkZdoZ7WbqS1cdQWCQ0huk7zqrGl64zEGBFCgLnCBXQGo8qGqqFBrQcEBwZE0UYTBaiznelY8c4Ly5GiXmBcmDGA8fG4x+3enutY/e91Duf8h+DZLziLrt7anDFXu39alkrehccfD0MO6MuQQj9+ury59Xf+aqd3/fXV5as3n318YK6GrZt/6O8/UEsDBBQAAgAIAIJ6skqlSRcUvw0AAAIjAAAXAAAAdW5pdmVyc2FsL3VuaXZlcnNhbC5wbmftWmlYkunef8xOTqXZOpYZtGrnVC6hmaZQWdmmdaaZadxtXEkRFdeRpXKmTlPKlBXu2BkdZzIhRTEXoEVlTFyOTjAIirlAiqCGgsj2Pth0vrzX+/X9xIfn5rqX333/+W+//31d9+2L/r5Wq2xXAQBgdeb0iS8AYLkfAJgnf7YCHCFtdOOBP2aYL3yPA5RuuwmwszzmmN8xAKghrtZe+RvYX5l4OgADAGteGz8zNvrXSADYSTpz4tiXGaGyQdad+HQde3b78bU7Pru63GXlzpqze9LWLXv0m/afIevWH3N+2OAa+/jfOWU5J/fvvxG+bu2s75XHZTk5X2mttZeUGpyT6IKXasytmXYkXcE4QmX/YNGcWeoBw3Rz4sUt6dHK3+50sdJFONVIPS+0OWP84WVH7/k/LoFSATFxXUejIQcx92Qs1U17ayj87j5zcLguX/37YrqHa6ZG1jC60gwcGeAUjyXHfiAbtA6lRmDZ2/GWyCFa3ufLjMubikktM69WJ+0AO0erDEWksR+Mi8a/XQ62sTa7jMPNm5f2afsMbHsdT4HttTSXJfSddcYNQ+4aITITxAQxQUwQE8QEMUFMEBPEBDFBTBATxAQxQUwQE8QEMUFMkP93SEZFJRm/ODJOCmNmzAy/bNuKbkmaZUzjpm/DeHEUUXBPIxN5BFz5nub9ix87T9UWbJgddyKoT7EZmIGAmGpyt4aZLyWw2ToXyBwH1hPshV1wDuU7vA0WNQ4hs4zI2SlaD7yGpUW02am66RWoocJ+YUPEYgQH9R1HKTp+14KxOFk1uwo+If6uUubx1jIid9vv2MlL5KaFmVsILVN/j4gdGxmFGhYqiLipiOmg7sEC5NiACqp77wsNoDNCKIWB3Si6v+qxNe79vagqaFYzpInoldv5XJ5C1o45TCd7ZmUOERWbrob6rQBe+HXVCDzWnH9Exc9XJTU3iF2RgxjnBtm2lvCd7dly6YmrlPSB0kuclxIJwqDuNP9PHXYaRlZzNAPCsn4JgMMqaWSGtgmxLT1CqbM8F00mLPaT8ejEg9m3U4PuSsgE/fCLOG4RlSYvTjhQpGmz3BnNX8Q3J9yX7yKOHqR4DsZLiw1CUow6jcGOkkvS1bSIbs0a/OFlQOIpsQ2KytJ/h4Vn+vfR0RWp3R3CdqKa9MQF8oDyB+4eXUIXb8esCZVI7b7/pT++yyzds6zk8ufx1l9KWnI9EP7uGtyRa/kWXMuzYo0u/MqKSExQlwqTyEyguaUEVBZpXntmkHe0Kr/aQdYIJSPDUR4p0EZZFOfQ02kqKJaiCSF62zuWnfHDQAij0BK4pnCmXvTv2dXjN6CsrutuLBB4ojQH2jIuNh1XnRwoFQTmVUXcssP0MrxnvFv3+cEPY4qm0M1bHDk8nXMcM4y6rOBlu20gZ+ZKSfRTzWvL3UqqbYGBOUn3/niqCoNgyFPiMmpRRIHF7Kr65gy3LQAguQKX7vS+5eWL1DT0eUqic60go5Ki1k+HXqo2/7MuPg6fx9L5EQ5aTErfWgoZKYLqxx34a86iaQvriBJ8gKTAnzB4caQXN/ZH52FlCi+EdamcPRpymmQFHG1QnxzxIOR2hA5YBCFLMK7o/jMCwmqjfjlG/X4pBQ4dEAxA6xK6rn/Y7+6sDq8QyA2Y2PvdhM2Fdk4hhwBgsFudfSGvzpoOindV/zR5wMJ94+ixiR+FNsgs//o14f21UUPJSe9dYc4FPfdPk6NeDhY2/Blv8ZWgx7WAOXQDRicja90qw9DoLVLFqV+qFYGUxfN5VfJdlaHtNZUwVzNgWNgy13duNnPU45zmyr5qTHcodrbtOTRhe3t238PnOQTtKJR4OI3/9z5l8WT+4w7LE9yYsqmu6wuLQHcUwblzMF/n9To7VcBB1azYBXuQL4i6GRj3rP7mXkWqlQ1dylHH31oH+/VPCg0aHB+SDm3siuLoPtjzxs9sLdQu8li5uifklRO1ZsB7154sxL96uFl95biah1yPGOI7J1Q7aIj1DUlvw8eeRFWeFmCe8NW8QUDTcGq/FOWR5TBUJnwxJc3UdH7jc78+fsWmOH5LU8S8zOIl5fobz0ElPcg8d0Ix/+R6q1D+G1EQ2l4ssW21w4RQbIXF//CGWKtfWuMTZzUig344wvBJjJQ3ZJvSsGGZbsSGlYFWE/FzP/s+Ysxzg2wQGn6PIx6MvtAs+CiJpR3PkriI0LwtmFBaPFNOCnGQ3QH9NlXcxDmUIGjKpW1TiIxfx36yzl2EVo3mK0rgbDNBqjKB5vRoA0K0G1Twpuc5souRhLUpb2svlcvM5KHfedkrsmeoBF0cdooKum/M8aZ4AFjkxASUS+6wA3t8Vdzh8NKGX8ZHS9KHGpVYMel7GtZbVXL9ZWCMduICoWkqbnvSBiQhviKVQqOo0hJdsu+iglgL56PVlg/EGr64ngE7WkBXstNKGI0tHl2okhm1PeiPjtpDyiPDfxq1bC5kzGUEK4mqat0EPSwvhQ8AKZnyRskIpq0oX1IsPYrnPIsUcHsjs7YjzHNBPTiRcFZHlBKaSiDSKz+4Ci4ncZr6oxNrvWU1fXD+WWlwDKUnXxYk6+2NPHCB60kbhB0O8PlZlxgrE1UpB1Ec3C5ZXpwx5oYF+duepU79VxWOGraGG1jKtF+yzIfD+sBuL4kQ+ox6mcBRIWMPDuE1sk7mipUTWDq3yoluft+t7Axa4HFqwAEMNilnPoB7SBQde5CLD64UTb9OuuyT14guxyXnbLY+a4PdSjOn54ak/Vjn/WLwHJEdZcgQBXb283Ybgy6kT9FaVCgpxiQiLKYjrHzED9fRsFkXERa6CEJhKrwj7eKz0JJauHWU1SYlmu/x9acDC1Al0kMCd6qlh6srX2AN55bFxoc11qaCJ99Tdrh967U35D3qaUmdXfPURmTWtWYShNipn2XWP6qknjHaualcctu9vpQor7Z2CbGYjxt2ic53JsfU4qo6JjEzrHrcpg5bOoc3zy3O1LwJxF9Cko12hvGQFNWAnN/t45MnS8vlU2SZKNEjWGdD5+c+eQa3I+HSJbtiHqrv7AEt1OA0hFV0+WJHt4qeL7Q6wNfxzIacvCEk3Sgu7sCFTwYfzXH/y+CCy4VPX76oXTPJ23eKC1xBbM9PG7xuUJp/wQvCKAlXxPZ/Gbl5mxTzjZglkQ64S1kN0j2wxIL+6uv9SkXwo3oCVNUbKd+KJAfvAr3+b6L2qWvVEaSSnaieHbDN6i40HtMrfIYprHOc+fV/+Z4ajMTN5H1DrV6SlslrOITrFinKTcMqxXBAKTbtuzVUm/y07gKYH3n8BLby4c5Re5+8zB+6PKmyZ7EMN2Rj1eMOoXsfvPHUXYuK1cwcvlkQ2/EImNzHzoUtfmH3YDdmIAXyglDBjqi1n5uoYek1n1KBYvhl9gJ29htFseKJudLVNQBdvSXuJ2dRZYNkqieL8SpyKqw6+dLHWAOLl6wSHnkVRPO4I20racuPHH0BzoUblM9N63mBLFE9vwNK4dCnP3zcKAUrpz6b9PH/D7XI7K18KR9AHShGiGC2bWMZdGh5gUgnT7cxNo2veExl/cI3jbfnMrwi8UcpHamB+Lc93xt1M5e5OFHpBIFjN5NhkIg1XKptKGdtuD/NsNodtjyfefPvCt0OwXz0v54t2u4Vfj0A/eilA9PEzKLuufl/3Atg0q+g/WGaSKaItS2mpEd54EycodTzaKCY6ay6XYfIXQtSzSphe9reWsRnTVeNJDDVFZM/dWsnQSMQOerVPYTQwmlVJ+FDHjlYu8BG5FqMe6n7yq75VrDf+IEs+JV4D0Hhc/BA81+JzNNbJcTMeow2ntN8C3KNfIlrnHI3Lh0DMpoSr1eQEQfXqhVkg5aZPYUU9GsnL7OatNg83cRzaN9P/935I79SSWF4DzjaKwaJAK3Qza+iMm1Vr62MyWS9kcAZMufI8uypGsQgj6Wfz/AsxSJPv/i5L2Lcvm901rG8cwVQJpBSWRDykdKqTxwb2L0S3RlgjNV7GqOB8Jvvr6ll61Nu2qsu264HHXTJFC2rl3xECZagxXNqe5XfR4afB2vPdlyij5HifwcpPgZtUBarLfN0x5R6jF+LtwR/zmcZ5CFkn/vsMe2Fq467jOmGExNYLvlJshdl+DpQYscA6ThJg95h5N9GJ1DjFdY3dEaWGjJTYllhcOhyjW6aYLhnniQnuu4e/udETfIGBfzVXD62GPI6a5MZcDgC2orpczj2sY7K5LBXuEBSwsK4KVPox2C9qFZZnaQoqtE46QjIIbctxrz4+nkqoW2HmWG+ZBrrAP86YYQStt5D4k2657gVAB5ZWENaJXmSb+Gvd6FU3GL76ixH8SF/Ae7GZusman9j0flCcfUh5OH7HGR/JkAsVG0YajOUi72g/UvCYCR6tT3bTlWq2Jcgf0/6DZQFOh3ZwE8KU7+5PPJTZKa0usHxAi3MGrxEOPC0r2R2Fg5siKpUOhxLn8jFF9iOPpRPurenv3sgOk54tzrseYaiy13k7lzQsJ8jyOjzBCt+L76830XmkvCdUMDUuW/8v64oCU4tM8dDjTeTi5PJoR8G4qhtS+8rqh0le6aZmoTgpbXgVPIsy2AMqgvG2d5o8W7FdHLsQQN+4TW0fcOyTw87VEO9kXrdO2vCc+NbkJGzxsWSq+IdMBv1NOvOHYPZH+cFpe/cowTGiTMn/U9Qjoff+B9QSwMEFAACAAgAgnqyStIooFJKAAAAawAAABsAAAB1bml2ZXJzYWwvdW5pdmVyc2FsLnBuZy54bWyzsa/IzVEoSy0qzszPs1Uy1DNQsrfj5bIpKEoty0wtV6gAihnpGUCAkkIlKrc8M6UkAyhkYG6OEMxIzUzPKLFVsjCwgAvqA80EAFBLAQIAABQAAgAIAEOUV0cNwDEewAEAANoDAAAPAAAAAAAAAAEAAAAAAAAAAABub25lL3BsYXllci54bWxQSwECAAAUAAIACACBerJKWn+5mToEAADhDgAAHQAAAAAAAAABAAAAAADtAQAAdW5pdmVyc2FsL2NvbW1vbl9tZXNzYWdlcy5sbmdQSwECAAAUAAIACACBerJKCf5wTAkDAAC1CgAAJwAAAAAAAAABAAAAAABiBgAAdW5pdmVyc2FsL2ZsYXNoX3B1Ymxpc2hpbmdfc2V0dGluZ3MueG1sUEsBAgAAFAACAAgAgXqyStqYtsO1AgAAVQoAACEAAAAAAAAAAQAAAAAAsAkAAHVuaXZlcnNhbC9mbGFzaF9za2luX3NldHRpbmdzLnhtbFBLAQIAABQAAgAIAIF6skp41iYJ3gIAAMYJAAAmAAAAAAAAAAEAAAAAAKQMAAB1bml2ZXJzYWwvaHRtbF9wdWJsaXNoaW5nX3NldHRpbmdzLnhtbFBLAQIAABQAAgAIAIF6skrb73U9lgEAAB8GAAAfAAAAAAAAAAEAAAAAAMYPAAB1bml2ZXJzYWwvaHRtbF9za2luX3NldHRpbmdzLmpzUEsBAgAAFAACAAgAgXqyShra6juqAAAAHwEAABoAAAAAAAAAAQAAAAAAmREAAHVuaXZlcnNhbC9pMThuX3ByZXNldHMueG1sUEsBAgAAFAACAAgAgXqySrDtXVduAAAAdgAAABwAAAAAAAAAAQAAAAAAexIAAHVuaXZlcnNhbC9sb2NhbF9zZXR0aW5ncy54bWxQSwECAAAUAAIACACDmfVEzoIJN+wCAACICAAAFAAAAAAAAAABAAAAAAAjEwAAdW5pdmVyc2FsL3BsYXllci54bWxQSwECAAAUAAIACACBerJKF6nhQW8BAAD7AgAAKQAAAAAAAAABAAAAAABBFgAAdW5pdmVyc2FsL3NraW5fY3VzdG9taXphdGlvbl9zZXR0aW5ncy54bWxQSwECAAAUAAIACACCerJKpUkXFL8NAAACIwAAFwAAAAAAAAAAAAAAAAD3FwAAdW5pdmVyc2FsL3VuaXZlcnNhbC5wbmdQSwECAAAUAAIACACCerJK0iigUkoAAABrAAAAGwAAAAAAAAABAAAAAADrJQAAdW5pdmVyc2FsL3VuaXZlcnNhbC5wbmcueG1sUEsFBgAAAAAMAAwAhgMAAG4mAAAAAA=="/>
  <p:tag name="ISPRING_SCORM_ENDPOINT" val="&lt;endpoint&gt;&lt;enable&gt;0&lt;/enable&gt;&lt;lrs&gt;http://&lt;/lrs&gt;&lt;auth&gt;0&lt;/auth&gt;&lt;login&gt;&lt;/login&gt;&lt;password&gt;&lt;/password&gt;&lt;key&gt;&lt;/key&gt;&lt;name&gt;&lt;/name&gt;&lt;email&gt;&lt;/email&gt;&lt;/endpoint&gt;&#10;"/>
</p:tagLst>
</file>

<file path=ppt/tags/tag2.xml><?xml version="1.0" encoding="utf-8"?>
<p:tagLst xmlns:a="http://schemas.openxmlformats.org/drawingml/2006/main" xmlns:r="http://schemas.openxmlformats.org/officeDocument/2006/relationships" xmlns:p="http://schemas.openxmlformats.org/presentationml/2006/main">
  <p:tag name="PA" val="v3.2.0"/>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16.7587401574803,&quot;left&quot;:408.6991338582676,&quot;top&quot;:131.0659842519685,&quot;width&quot;:484.400000000000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31.2,&quot;left&quot;:81.4,&quot;top&quot;:96.6,&quot;width&quot;:760.2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31.2,&quot;left&quot;:81.4,&quot;top&quot;:96.6,&quot;width&quot;:760.2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31.2,&quot;left&quot;:81.4,&quot;top&quot;:96.6,&quot;width&quot;:760.2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31.2,&quot;left&quot;:81.4,&quot;top&quot;:96.6,&quot;width&quot;:760.2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31.2,&quot;left&quot;:81.4,&quot;top&quot;:96.6,&quot;width&quot;:760.2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31.2,&quot;left&quot;:81.4,&quot;top&quot;:96.6,&quot;width&quot;:760.2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31.2,&quot;left&quot;:81.4,&quot;top&quot;:96.6,&quot;width&quot;:760.2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31.2,&quot;left&quot;:81.4,&quot;top&quot;:96.6,&quot;width&quot;:760.2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87.1122344498646,&quot;left&quot;:-3.446924380211931,&quot;top&quot;:158.10448818897638,&quot;width&quot;:967.2620977056926}"/>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27.67937007874013,&quot;left&quot;:160.6177165354331,&quot;top&quot;:149.07204724409448,&quot;width&quot;:608.7258267716536}"/>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24.35102362204725,&quot;left&quot;:160.6177165354331,&quot;top&quot;:149.07204724409448,&quot;width&quot;:608.7258267716536}"/>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24.35102362204725,&quot;left&quot;:160.6177165354331,&quot;top&quot;:149.07204724409448,&quot;width&quot;:608.7258267716536}"/>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24.35102362204725,&quot;left&quot;:160.6177165354331,&quot;top&quot;:149.07204724409448,&quot;width&quot;:608.7258267716536}"/>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24.35102362204725,&quot;left&quot;:160.6177165354331,&quot;top&quot;:149.07204724409448,&quot;width&quot;:608.7258267716536}"/>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27.67937007874013,&quot;left&quot;:160.6177165354331,&quot;top&quot;:149.07204724409448,&quot;width&quot;:608.7258267716536}"/>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27.67937007874013,&quot;left&quot;:160.6177165354331,&quot;top&quot;:149.07204724409448,&quot;width&quot;:608.7258267716536}"/>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27.67937007874013,&quot;left&quot;:160.6177165354331,&quot;top&quot;:149.07204724409448,&quot;width&quot;:608.7258267716536}"/>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27.67937007874013,&quot;left&quot;:160.6177165354331,&quot;top&quot;:149.07204724409448,&quot;width&quot;:608.7258267716536}"/>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27.67937007874013,&quot;left&quot;:160.6177165354331,&quot;top&quot;:149.07204724409448,&quot;width&quot;:608.7258267716536}"/>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27.67937007874013,&quot;left&quot;:160.6177165354331,&quot;top&quot;:149.07204724409448,&quot;width&quot;:608.7258267716536}"/>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27.67937007874013,&quot;left&quot;:160.6177165354331,&quot;top&quot;:149.07204724409448,&quot;width&quot;:608.7258267716536}"/>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27.67937007874013,&quot;left&quot;:160.6177165354331,&quot;top&quot;:149.07204724409448,&quot;width&quot;:608.7258267716536}"/>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293.5772381701169,&quot;left&quot;:120.31299212598424,&quot;top&quot;:174.2944094488189,&quot;width&quot;:354.0400000000001}"/>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293.5772381701169,&quot;left&quot;:120.31299212598424,&quot;top&quot;:174.2944094488189,&quot;width&quot;:354.0400000000001}"/>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293.5772381701169,&quot;left&quot;:120.31299212598424,&quot;top&quot;:174.2944094488189,&quot;width&quot;:354.0400000000001}"/>
</p:tagLst>
</file>

<file path=ppt/tags/tag127.xml><?xml version="1.0" encoding="utf-8"?>
<p:tagLst xmlns:a="http://schemas.openxmlformats.org/drawingml/2006/main" xmlns:r="http://schemas.openxmlformats.org/officeDocument/2006/relationships" xmlns:p="http://schemas.openxmlformats.org/presentationml/2006/main">
  <p:tag name="TABLE_ENDDRAG_ORIGIN_RECT" val="451*292"/>
  <p:tag name="TABLE_ENDDRAG_RECT" val="463*166*451*292"/>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293.5772381701169,&quot;left&quot;:120.31299212598424,&quot;top&quot;:174.2944094488189,&quot;width&quot;:354.0400000000001}"/>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293.5772381701169,&quot;left&quot;:120.31299212598424,&quot;top&quot;:174.2944094488189,&quot;width&quot;:354.0400000000001}"/>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293.5772381701169,&quot;left&quot;:120.31299212598424,&quot;top&quot;:174.2944094488189,&quot;width&quot;:354.0400000000001}"/>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293.5772381701169,&quot;left&quot;:120.31299212598424,&quot;top&quot;:174.2944094488189,&quot;width&quot;:354.0400000000001}"/>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293.5772381701169,&quot;left&quot;:120.31299212598424,&quot;top&quot;:174.2944094488189,&quot;width&quot;:354.0400000000001}"/>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293.5772381701169,&quot;left&quot;:120.31299212598424,&quot;top&quot;:174.2944094488189,&quot;width&quot;:354.0400000000001}"/>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08.185204477072,&quot;left&quot;:37.02858267716535,&quot;top&quot;:168.59062992125985,&quot;width&quot;:888.6856692913386}"/>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08.185204477072,&quot;left&quot;:37.02858267716535,&quot;top&quot;:168.59062992125985,&quot;width&quot;:888.6856692913386}"/>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08.185204477072,&quot;left&quot;:37.02858267716535,&quot;top&quot;:168.59062992125985,&quot;width&quot;:888.6856692913386}"/>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08.185204477072,&quot;left&quot;:37.02858267716535,&quot;top&quot;:168.59062992125985,&quot;width&quot;:888.6856692913386}"/>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08.185204477072,&quot;left&quot;:37.02858267716535,&quot;top&quot;:168.59062992125985,&quot;width&quot;:888.6856692913386}"/>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08.185204477072,&quot;left&quot;:37.02858267716535,&quot;top&quot;:168.59062992125985,&quot;width&quot;:888.6856692913386}"/>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08.185204477072,&quot;left&quot;:37.02858267716535,&quot;top&quot;:168.59062992125985,&quot;width&quot;:888.6856692913386}"/>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08.185204477072,&quot;left&quot;:37.02858267716535,&quot;top&quot;:168.59062992125985,&quot;width&quot;:888.6856692913386}"/>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08.185204477072,&quot;left&quot;:37.02858267716535,&quot;top&quot;:168.59062992125985,&quot;width&quot;:888.6856692913386}"/>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20.85235044515116,&quot;left&quot;:95.61433070866138,&quot;top&quot;:141.94283464566928,&quot;width&quot;:768.6637795275591}"/>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432.18212598425197,&quot;left&quot;:150.34322834645667,&quot;top&quot;:163.77637795275592,&quot;width&quot;:672.6434645669291}"/>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57.0494488188977,&quot;left&quot;:438.7677952755906,&quot;top&quot;:137.56968503937006,&quot;width&quot;:483.0476377952756}"/>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280.9321259842519,&quot;left&quot;:413.48574803149603,&quot;top&quot;:180.03141732283464,&quot;width&quot;:448.4570866141732}"/>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F0F2F4"/>
      </a:lt2>
      <a:accent1>
        <a:srgbClr val="D90944"/>
      </a:accent1>
      <a:accent2>
        <a:srgbClr val="243B7A"/>
      </a:accent2>
      <a:accent3>
        <a:srgbClr val="5188E1"/>
      </a:accent3>
      <a:accent4>
        <a:srgbClr val="F65083"/>
      </a:accent4>
      <a:accent5>
        <a:srgbClr val="FFFFFF"/>
      </a:accent5>
      <a:accent6>
        <a:srgbClr val="FFFFFF"/>
      </a:accent6>
      <a:hlink>
        <a:srgbClr val="FFFFFF"/>
      </a:hlink>
      <a:folHlink>
        <a:srgbClr val="FFFFFF"/>
      </a:folHlink>
    </a:clrScheme>
    <a:fontScheme name="自定义 7">
      <a:majorFont>
        <a:latin typeface="Segoe UI"/>
        <a:ea typeface="微软雅黑"/>
        <a:cs typeface=""/>
      </a:majorFont>
      <a:minorFont>
        <a:latin typeface="Calibr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2270</Words>
  <Application>Microsoft Office PowerPoint</Application>
  <PresentationFormat>宽屏</PresentationFormat>
  <Paragraphs>239</Paragraphs>
  <Slides>20</Slides>
  <Notes>19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等线</vt:lpstr>
      <vt:lpstr>仿宋</vt:lpstr>
      <vt:lpstr>思源黑体</vt:lpstr>
      <vt:lpstr>微软雅黑</vt:lpstr>
      <vt:lpstr>Agency FB</vt:lpstr>
      <vt:lpstr>Arial</vt:lpstr>
      <vt:lpstr>Calibri</vt:lpstr>
      <vt:lpstr>Times New Roman</vt:lpstr>
      <vt:lpstr>Wingdings</vt:lpstr>
      <vt:lpstr>Office 主题</vt:lpstr>
      <vt:lpstr>PowerPoint 演示文稿</vt:lpstr>
      <vt:lpstr>PowerPoint 演示文稿</vt:lpstr>
      <vt:lpstr>PowerPoint 演示文稿</vt:lpstr>
      <vt:lpstr>研究意义</vt:lpstr>
      <vt:lpstr>研究意义</vt:lpstr>
      <vt:lpstr>PowerPoint 演示文稿</vt:lpstr>
      <vt:lpstr>ArkAnalyzer：奠定ArkTS静态分析的基石</vt:lpstr>
      <vt:lpstr>ArkAnalyzer：奠定ArkTS静态分析的基石</vt:lpstr>
      <vt:lpstr>HM-SAF：面向HarmonyOS的跨层分析框架</vt:lpstr>
      <vt:lpstr>HapFlow：OpenHarmony污点分析的专用化实现</vt:lpstr>
      <vt:lpstr>HapFlow：OpenHarmony污点分析的专用化实现</vt:lpstr>
      <vt:lpstr>技术对比</vt:lpstr>
      <vt:lpstr>PowerPoint 演示文稿</vt:lpstr>
      <vt:lpstr>3.1 环境配置与依赖安装</vt:lpstr>
      <vt:lpstr>PowerPoint 演示文稿</vt:lpstr>
      <vt:lpstr>实验流程与里程碑</vt:lpstr>
      <vt:lpstr>HapFlow的改进空间</vt:lpstr>
      <vt:lpstr>预期成效</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
  <cp:lastModifiedBy/>
  <cp:revision>4</cp:revision>
  <dcterms:created xsi:type="dcterms:W3CDTF">2021-05-12T03:31:00Z</dcterms:created>
  <dcterms:modified xsi:type="dcterms:W3CDTF">2026-04-03T12:54:56Z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F2AF6E5978644F0A95547377FAC6B208_13</vt:lpwstr>
  </property>
</Properties>
</file>