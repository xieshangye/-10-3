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sldIdLst>
    <p:sldId id="258" r:id="rId3"/>
    <p:sldId id="278" r:id="rId4"/>
    <p:sldId id="260" r:id="rId5"/>
    <p:sldId id="276" r:id="rId6"/>
    <p:sldId id="279" r:id="rId7"/>
    <p:sldId id="281" r:id="rId8"/>
    <p:sldId id="259" r:id="rId9"/>
    <p:sldId id="269" r:id="rId10"/>
    <p:sldId id="262" r:id="rId11"/>
    <p:sldId id="282" r:id="rId12"/>
    <p:sldId id="270" r:id="rId13"/>
    <p:sldId id="274" r:id="rId14"/>
    <p:sldId id="26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showGuides="1">
      <p:cViewPr varScale="1">
        <p:scale>
          <a:sx n="81" d="100"/>
          <a:sy n="81" d="100"/>
        </p:scale>
        <p:origin x="72" y="132"/>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2F851F-98DE-E84B-B6F1-112EE897FC2E}" type="slidenum">
              <a:rPr/>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2FF19-9D0A-674D-9D47-6BFADE4156DE}" type="datetimeFigureOut">
              <a:rPr lang="zh-CN" altLang="en-US"/>
              <a:t>2026/4/5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2F851F-98DE-E84B-B6F1-112EE897FC2E}" type="slidenum">
              <a:rPr/>
              <a:t>‹#›</a:t>
            </a:fld>
            <a:endParaRPr kumimoji="1"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91460" y="2430780"/>
            <a:ext cx="6609080" cy="76835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4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LLM</a:t>
            </a:r>
            <a:r>
              <a:rPr kumimoji="0" lang="zh-CN" altLang="en-US" sz="4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辅助并发程序修复</a:t>
            </a:r>
          </a:p>
        </p:txBody>
      </p:sp>
      <p:sp>
        <p:nvSpPr>
          <p:cNvPr id="5" name="文本框 4"/>
          <p:cNvSpPr txBox="1"/>
          <p:nvPr/>
        </p:nvSpPr>
        <p:spPr>
          <a:xfrm>
            <a:off x="2653665" y="3672840"/>
            <a:ext cx="6885305" cy="368300"/>
          </a:xfrm>
          <a:prstGeom prst="rect">
            <a:avLst/>
          </a:prstGeom>
          <a:noFill/>
          <a:effectLst/>
        </p:spPr>
        <p:txBody>
          <a:bodyPr wrap="square" rtlCol="0">
            <a:spAutoFit/>
          </a:bodyPr>
          <a:lstStyle>
            <a:defPPr>
              <a:defRPr lang="zh-CN"/>
            </a:defPPr>
            <a:lvl1pPr>
              <a:defRPr sz="4800">
                <a:solidFill>
                  <a:schemeClr val="bg1"/>
                </a:solidFill>
                <a:latin typeface="思源黑体 CN Heavy" panose="020B0A00000000000000" pitchFamily="34" charset="-122"/>
                <a:ea typeface="思源黑体 CN Heavy" panose="020B0A00000000000000" pitchFamily="34" charset="-122"/>
              </a:defRPr>
            </a:lvl1pPr>
          </a:lstStyle>
          <a:p>
            <a:pPr algn="ctr"/>
            <a:r>
              <a:rPr lang="zh-CN" altLang="en-US" sz="1800" spc="600" dirty="0">
                <a:solidFill>
                  <a:schemeClr val="tx1">
                    <a:lumMod val="75000"/>
                    <a:lumOff val="25000"/>
                  </a:schemeClr>
                </a:solidFill>
                <a:latin typeface="微软雅黑" panose="020B0503020204020204" pitchFamily="34" charset="-122"/>
                <a:ea typeface="微软雅黑" panose="020B0503020204020204" pitchFamily="34" charset="-122"/>
              </a:rPr>
              <a:t>组员：廖振华、鲁浩、魏浩天、王禹涵、牛海兴</a:t>
            </a:r>
          </a:p>
        </p:txBody>
      </p:sp>
      <p:sp>
        <p:nvSpPr>
          <p:cNvPr id="8" name="矩形 7"/>
          <p:cNvSpPr/>
          <p:nvPr/>
        </p:nvSpPr>
        <p:spPr>
          <a:xfrm>
            <a:off x="11232515" y="497150"/>
            <a:ext cx="627628" cy="5850384"/>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1085-F25E-EFD0-0D93-17FB0F0EC7E8}"/>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20350FFD-9A1F-03C6-C0C3-67B5012BF1AF}"/>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2584F9C5-14B0-2829-1C23-48780971B8B2}"/>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7790B9E1-9C86-07D0-2FE2-C80E8E96AEE0}"/>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项目选题背景</a:t>
            </a:r>
            <a:r>
              <a:rPr lang="en-US" sz="1750" dirty="0">
                <a:solidFill>
                  <a:srgbClr val="FF0000"/>
                </a:solidFill>
                <a:latin typeface="Lato" pitchFamily="34" charset="0"/>
                <a:ea typeface="Lato" pitchFamily="34" charset="-122"/>
                <a:cs typeface="Lato" pitchFamily="34" charset="-120"/>
              </a:rPr>
              <a:t> </a:t>
            </a:r>
            <a:endParaRPr lang="en-US" sz="1750" dirty="0">
              <a:solidFill>
                <a:srgbClr val="FF0000"/>
              </a:solidFill>
            </a:endParaRPr>
          </a:p>
        </p:txBody>
      </p:sp>
      <p:sp>
        <p:nvSpPr>
          <p:cNvPr id="7" name="Text 2">
            <a:extLst>
              <a:ext uri="{FF2B5EF4-FFF2-40B4-BE49-F238E27FC236}">
                <a16:creationId xmlns:a16="http://schemas.microsoft.com/office/drawing/2014/main" id="{35618567-7651-55CD-FD9E-F9BBD472B6D9}"/>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3B496ECB-238E-BEB7-54B6-58C6D20CAE9C}"/>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83256D9B-5585-8A61-7376-87CD2BB234F0}"/>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FB091DC4-898C-6D43-5F60-895FDD8C18D5}"/>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C67F92DD-ED91-8510-ED73-80A810105AFE}"/>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0EE17596-1076-B557-C8D0-E69383D7B392}"/>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314A239A-1A72-0050-9A1F-1BEE14AABA8A}"/>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CA032D7D-D2F5-0B8A-1D0C-53FA54BBA41E}"/>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41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56250" y="497150"/>
            <a:ext cx="11079499" cy="1478299"/>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4567374" y="1005585"/>
            <a:ext cx="2972303"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p>
        </p:txBody>
      </p:sp>
      <p:sp>
        <p:nvSpPr>
          <p:cNvPr id="2" name="文本框 1">
            <a:extLst>
              <a:ext uri="{FF2B5EF4-FFF2-40B4-BE49-F238E27FC236}">
                <a16:creationId xmlns:a16="http://schemas.microsoft.com/office/drawing/2014/main" id="{6FB1590C-77C7-4DDA-959A-2293710CEA76}"/>
              </a:ext>
            </a:extLst>
          </p:cNvPr>
          <p:cNvSpPr txBox="1"/>
          <p:nvPr/>
        </p:nvSpPr>
        <p:spPr>
          <a:xfrm>
            <a:off x="647699" y="1975449"/>
            <a:ext cx="10667365" cy="4770537"/>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algn="l">
              <a:defRPr/>
            </a:pP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软件在日常生活中使用度日益提高，也带来了相应的软件漏洞。这些漏洞在多个领域或多或少产生不可忽视的影响，上到航空航天，中到影响金融系统，下到人们日常使用的购物平台。不论是因客观因素需要软件漏洞检测，还是追求软件的可用性，修复这些问题的负担日益加重。同时，</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相关技术不断涌现，</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LLMs</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现在已经超越了简单的文本解释，在代码描述，代码生成，代码分析等方面积极展现不可忽视的实力。不仅是</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cluade</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code</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GitHub copilot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，市面上已经有一些专门致力于分析生成代码的工具，利用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LLMs</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进行代码分析修复也是不可绕开的问。</a:t>
            </a:r>
          </a:p>
          <a:p>
            <a:pPr lvl="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其中，随着多核处理器和并发编程的普及，并发程序中的资源竞争、死锁、数据竞争等问题日益突出。这类错误具有难以复现、难以定位、修复复杂等特点，传统静态分析工具（如</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Clang Thread Safety Analyzer</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）虽然能检测部分问题，但往往缺乏自动修复能力。近年来，以</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GPT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DeepSeek</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Claude</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为代表的大语言模型在代码理解与生成方面展现出强大能力，为并发程序修复提供了新的可能性。同时，引入</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进行并发程序修复，不仅能持续的对代码进行改进从而降低了在修复问题的时间人力资源，实现更灵活的开发流程，也能提升用户满意度，建立用户信任。因此，探索</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辅助并发程序修复的方法，具有重要的理论价值与现实意义。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750"/>
                            </p:stCondLst>
                            <p:childTnLst>
                              <p:par>
                                <p:cTn id="9" presetID="1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1644-9468-4CF2-C434-0F33627605B2}"/>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85E5C49-6C40-1362-BEE3-7B3617D4D7F5}"/>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069C0564-06A4-B3AD-6149-D8BA1A9C2985}"/>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D560AC18-404C-5FB0-92B1-C2DB94DFDD56}"/>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4CDB0FB8-A3FD-6D51-A60D-49D03C96BF63}"/>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2C1A8454-0608-BCDB-6E10-0A762F98BE5B}"/>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CC7ACCD7-6F2B-9B25-3AD2-310170E74FA8}"/>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ACCC97FB-4427-E0B3-7BE7-2FD92E3B9D07}"/>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D5B61DBD-36AE-522F-92DC-16F1179B4B6B}"/>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B95FC21F-65A7-44F0-3689-CA951DED5ACB}"/>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25AFBD54-54A3-6116-6AEB-8B70C1A5A3FC}"/>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国内外研究现状</a:t>
            </a:r>
            <a:r>
              <a:rPr lang="en-US" sz="3600" b="1" dirty="0">
                <a:solidFill>
                  <a:srgbClr val="FF0000"/>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BAEE6C08-73CC-853E-852C-CEB022D4EBD2}"/>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2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E2C39-AF56-1E0F-59F6-BA242F9496E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D65E5AF6-8798-FC70-16EB-B13A6DEC9091}"/>
              </a:ext>
            </a:extLst>
          </p:cNvPr>
          <p:cNvSpPr/>
          <p:nvPr/>
        </p:nvSpPr>
        <p:spPr>
          <a:xfrm>
            <a:off x="556250" y="497150"/>
            <a:ext cx="11079499" cy="1478299"/>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a:extLst>
              <a:ext uri="{FF2B5EF4-FFF2-40B4-BE49-F238E27FC236}">
                <a16:creationId xmlns:a16="http://schemas.microsoft.com/office/drawing/2014/main" id="{F6813F77-8F1D-2A80-FF3D-265F9AD3DA28}"/>
              </a:ext>
            </a:extLst>
          </p:cNvPr>
          <p:cNvSpPr txBox="1"/>
          <p:nvPr/>
        </p:nvSpPr>
        <p:spPr>
          <a:xfrm>
            <a:off x="4567374" y="1005585"/>
            <a:ext cx="347304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国内外研究现状</a:t>
            </a:r>
          </a:p>
        </p:txBody>
      </p:sp>
      <p:sp>
        <p:nvSpPr>
          <p:cNvPr id="2" name="文本框 1">
            <a:extLst>
              <a:ext uri="{FF2B5EF4-FFF2-40B4-BE49-F238E27FC236}">
                <a16:creationId xmlns:a16="http://schemas.microsoft.com/office/drawing/2014/main" id="{A005DBDC-0497-4BF6-F662-66AE27612A90}"/>
              </a:ext>
            </a:extLst>
          </p:cNvPr>
          <p:cNvSpPr txBox="1"/>
          <p:nvPr/>
        </p:nvSpPr>
        <p:spPr>
          <a:xfrm>
            <a:off x="647699" y="1975449"/>
            <a:ext cx="10667365" cy="4093428"/>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algn="l">
              <a:defRPr/>
            </a:pP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经参考论文，目前通过</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进行代码修复的方式主要分为微调、提示工程、自主架构、管道架构，同时检索增强形式（</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RAG</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）可融合与各个主要方式进行辅助修复。针对模型可以分为</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BERT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仅编码器，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GPT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仅解码器，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T5</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编码器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解码器三种形式。利用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进行代码分析修复</a:t>
            </a:r>
          </a:p>
          <a:p>
            <a:pPr lvl="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不可否认，国内外针对于利用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LLMs</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并发程序修复研究较少，主要是针对已有框架进行并发程序修复，或者利用</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LLMs</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进行通用代码修复。虽然通用代码修复具有一定静态分析处理程序错误能力，但在复杂程序问题中不一定发挥一定的能力。</a:t>
            </a:r>
          </a:p>
          <a:p>
            <a:pPr lvl="0" algn="l">
              <a:defRPr/>
            </a:pP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就目前而言，所接触到的是</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，利用微软部署</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inferfix</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与</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的集成方案，该论文中也没有就并行程序分析为主要命题开展，其中涉及到并行程序安全问题。文中提出了进行静态分析进行缺陷检测、定位、分类</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inferfix</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框架，旨在用开源软件</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进行静态分析采集数据，然后结合提示增强或数据集微调的</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辅助进行错误定位修复。</a:t>
            </a:r>
          </a:p>
          <a:p>
            <a:pPr lvl="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尽管通用代码修复研究较多，但专门针对并发错误的</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修复研究仍较少。</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InferFix</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是目前较为接近的工作，但其重点并非并发程序，且依赖大规模</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GPU</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资源。因此，本项目将在其基础上，探索资源简化实现方案。</a:t>
            </a:r>
          </a:p>
        </p:txBody>
      </p:sp>
    </p:spTree>
    <p:extLst>
      <p:ext uri="{BB962C8B-B14F-4D97-AF65-F5344CB8AC3E}">
        <p14:creationId xmlns:p14="http://schemas.microsoft.com/office/powerpoint/2010/main" val="84145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750"/>
                            </p:stCondLst>
                            <p:childTnLst>
                              <p:par>
                                <p:cTn id="9" presetID="1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DAC9E-B63D-C5CA-7156-8E93C6FDF333}"/>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6B026B18-51DB-25AC-8A87-6A0D42F184BC}"/>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6D3314A7-8FA9-89DA-2170-AD23FC2935FD}"/>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CF90055D-FD3D-7E9C-B076-3CD37A2D8D58}"/>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4B861488-ADC6-6F29-B1F4-AF49AEF9DE4C}"/>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96355F40-63F5-34E9-7300-81542778235F}"/>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研究目标与路线</a:t>
            </a:r>
            <a:endParaRPr lang="en-US" sz="1750" dirty="0">
              <a:solidFill>
                <a:srgbClr val="FF0000"/>
              </a:solidFill>
            </a:endParaRPr>
          </a:p>
        </p:txBody>
      </p:sp>
      <p:sp>
        <p:nvSpPr>
          <p:cNvPr id="11" name="文本框 10">
            <a:extLst>
              <a:ext uri="{FF2B5EF4-FFF2-40B4-BE49-F238E27FC236}">
                <a16:creationId xmlns:a16="http://schemas.microsoft.com/office/drawing/2014/main" id="{928A7C99-8294-6AB0-B550-3CA734E1B2DF}"/>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4E7229B3-1C97-C06D-0B17-77AD630BC4E1}"/>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917B34DA-42A0-2A95-6D04-44BB82DF98FD}"/>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079E29EB-4BBF-674A-35B0-1E0577600480}"/>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64D38427-0693-3347-F64E-252E65887369}"/>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BA9BF488-EC9B-D189-EF74-97C405CBD5BD}"/>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33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103959" y="1005273"/>
            <a:ext cx="3270271" cy="3190104"/>
          </a:xfrm>
          <a:prstGeom prst="rect">
            <a:avLst/>
          </a:prstGeom>
          <a:noFill/>
          <a:ln w="101600">
            <a:solidFill>
              <a:srgbClr val="496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6200000">
            <a:off x="-136497" y="2919353"/>
            <a:ext cx="4890596" cy="1062437"/>
            <a:chOff x="1694202" y="1422016"/>
            <a:chExt cx="4890596" cy="1062437"/>
          </a:xfrm>
        </p:grpSpPr>
        <p:sp>
          <p:nvSpPr>
            <p:cNvPr id="6" name="文本框 5"/>
            <p:cNvSpPr txBox="1"/>
            <p:nvPr/>
          </p:nvSpPr>
          <p:spPr>
            <a:xfrm>
              <a:off x="1694202" y="1422016"/>
              <a:ext cx="4890596" cy="646331"/>
            </a:xfrm>
            <a:prstGeom prst="rect">
              <a:avLst/>
            </a:prstGeom>
            <a:noFill/>
          </p:spPr>
          <p:txBody>
            <a:bodyPr wrap="square" rtlCol="0">
              <a:spAutoFit/>
            </a:bodyPr>
            <a:lstStyle/>
            <a:p>
              <a:r>
                <a:rPr lang="en-US" altLang="zh-CN" sz="3600" spc="-300" dirty="0">
                  <a:solidFill>
                    <a:schemeClr val="bg1"/>
                  </a:solidFill>
                  <a:latin typeface="微软雅黑" panose="020B0503020204020204" pitchFamily="34" charset="-122"/>
                  <a:ea typeface="微软雅黑" panose="020B0503020204020204" pitchFamily="34" charset="-122"/>
                </a:rPr>
                <a:t>YOUR TITLE HERE</a:t>
              </a:r>
              <a:endParaRPr lang="zh-CN" altLang="en-US" sz="3600" spc="-3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722777" y="1961233"/>
              <a:ext cx="3259005"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请输入标题内容</a:t>
              </a:r>
            </a:p>
          </p:txBody>
        </p:sp>
      </p:grpSp>
      <p:grpSp>
        <p:nvGrpSpPr>
          <p:cNvPr id="9" name="组合 8"/>
          <p:cNvGrpSpPr/>
          <p:nvPr/>
        </p:nvGrpSpPr>
        <p:grpSpPr>
          <a:xfrm>
            <a:off x="8311756" y="1519547"/>
            <a:ext cx="5852952" cy="3531280"/>
            <a:chOff x="1044000" y="2268000"/>
            <a:chExt cx="6096000" cy="3680834"/>
          </a:xfrm>
          <a:effectLst/>
        </p:grpSpPr>
        <p:grpSp>
          <p:nvGrpSpPr>
            <p:cNvPr id="10" name="Group 22"/>
            <p:cNvGrpSpPr/>
            <p:nvPr/>
          </p:nvGrpSpPr>
          <p:grpSpPr>
            <a:xfrm>
              <a:off x="1044000" y="2268000"/>
              <a:ext cx="6096000" cy="3680834"/>
              <a:chOff x="2392014" y="1138727"/>
              <a:chExt cx="4388572" cy="2647847"/>
            </a:xfrm>
          </p:grpSpPr>
          <p:pic>
            <p:nvPicPr>
              <p:cNvPr id="12" name="Picture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2014" y="1138727"/>
                <a:ext cx="4388572" cy="2647847"/>
              </a:xfrm>
              <a:prstGeom prst="rect">
                <a:avLst/>
              </a:prstGeom>
            </p:spPr>
          </p:pic>
          <p:sp>
            <p:nvSpPr>
              <p:cNvPr id="13" name="Rectangle 32"/>
              <p:cNvSpPr/>
              <p:nvPr/>
            </p:nvSpPr>
            <p:spPr>
              <a:xfrm>
                <a:off x="2908092" y="1313332"/>
                <a:ext cx="3310128" cy="2049481"/>
              </a:xfrm>
              <a:prstGeom prst="rect">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lumMod val="75000"/>
                      <a:lumOff val="25000"/>
                    </a:schemeClr>
                  </a:solidFill>
                  <a:latin typeface="+mn-ea"/>
                </a:endParaRPr>
              </a:p>
            </p:txBody>
          </p:sp>
        </p:grpSp>
        <p:pic>
          <p:nvPicPr>
            <p:cNvPr id="11" name="图片占位符 2"/>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1760864" y="2410991"/>
              <a:ext cx="4683588" cy="2948764"/>
            </a:xfrm>
            <a:prstGeom prst="rect">
              <a:avLst/>
            </a:prstGeom>
            <a:blipFill>
              <a:blip r:embed="rId4" cstate="print">
                <a:grayscl/>
                <a:extLst>
                  <a:ext uri="{28A0092B-C50C-407E-A947-70E740481C1C}">
                    <a14:useLocalDpi xmlns:a14="http://schemas.microsoft.com/office/drawing/2010/main" val="0"/>
                  </a:ext>
                </a:extLst>
              </a:blip>
              <a:stretch>
                <a:fillRect/>
              </a:stretch>
            </a:blipFill>
          </p:spPr>
        </p:pic>
      </p:grpSp>
      <p:sp>
        <p:nvSpPr>
          <p:cNvPr id="15" name="文本框 14"/>
          <p:cNvSpPr txBox="1"/>
          <p:nvPr/>
        </p:nvSpPr>
        <p:spPr>
          <a:xfrm>
            <a:off x="2743832" y="1196037"/>
            <a:ext cx="5349240" cy="460375"/>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研究目标</a:t>
            </a:r>
            <a:endParaRPr kumimoji="0" lang="zh-CN" altLang="en-US" sz="2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1457664" y="1875905"/>
            <a:ext cx="5626100" cy="2818564"/>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6"/>
          <p:cNvSpPr txBox="1"/>
          <p:nvPr/>
        </p:nvSpPr>
        <p:spPr>
          <a:xfrm>
            <a:off x="1730079" y="2456512"/>
            <a:ext cx="4992370" cy="1323439"/>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。在该论文基础上进行架构复现</a:t>
            </a:r>
          </a:p>
          <a:p>
            <a:endPar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。在该论文基础上进行简化</a:t>
            </a:r>
          </a:p>
          <a:p>
            <a:endParaRPr lang="en-US" sz="20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par>
                                <p:cTn id="20" presetID="2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5" grpId="0"/>
      <p:bldP spid="15" grpId="1"/>
      <p:bldP spid="2" grpId="0" animBg="1"/>
      <p:bldP spid="2" grpId="1" animBg="1"/>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335915" y="447040"/>
            <a:ext cx="4152900"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路线</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224790" y="1522730"/>
            <a:ext cx="9154795" cy="707886"/>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并发程序代码</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[Infer</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静态分析</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提取错误信息</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构建提示词</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调用</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 API] → [</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生成修复建议</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验证修复结果</a:t>
            </a:r>
            <a:r>
              <a:rPr lang="en-US" altLang="zh-CN" sz="2000" b="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endParaRPr kumimoji="0" lang="zh-CN" altLang="en-US" sz="20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文本框 10"/>
          <p:cNvSpPr txBox="1"/>
          <p:nvPr/>
        </p:nvSpPr>
        <p:spPr>
          <a:xfrm>
            <a:off x="224790" y="3016250"/>
            <a:ext cx="4620895" cy="2058670"/>
          </a:xfrm>
          <a:prstGeom prst="rect">
            <a:avLst/>
          </a:prstGeom>
          <a:noFill/>
        </p:spPr>
        <p:txBody>
          <a:bodyPr wrap="square" rtlCol="0">
            <a:no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）针对并发程序代码，采用测试集</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dataracebench</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，力求实现与论文相持的并发程序错误可能情况</a:t>
            </a:r>
          </a:p>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）针对静态分析，可采用</a:t>
            </a:r>
            <a:r>
              <a:rPr lang="en-US" altLang="zh-CN" sz="20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threadsanitizer</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等其他静态工具分析实现</a:t>
            </a:r>
          </a:p>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）其中针对</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调用，改用通用模型使用提示工程或少量样本学习进行修复方案提出</a:t>
            </a: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zh-CN" altLang="en-US" sz="20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12" name="图片 11"/>
          <p:cNvPicPr>
            <a:picLocks noChangeAspect="1"/>
          </p:cNvPicPr>
          <p:nvPr/>
        </p:nvPicPr>
        <p:blipFill>
          <a:blip r:embed="rId2"/>
          <a:stretch>
            <a:fillRect/>
          </a:stretch>
        </p:blipFill>
        <p:spPr>
          <a:xfrm>
            <a:off x="4673600" y="2407285"/>
            <a:ext cx="7045325" cy="4130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p:tgtEl>
                                          <p:spTgt spid="15"/>
                                        </p:tgtEl>
                                        <p:attrNameLst>
                                          <p:attrName>ppt_y</p:attrName>
                                        </p:attrNameLst>
                                      </p:cBhvr>
                                      <p:tavLst>
                                        <p:tav tm="0">
                                          <p:val>
                                            <p:strVal val="#ppt_y-#ppt_h*1.125000"/>
                                          </p:val>
                                        </p:tav>
                                        <p:tav tm="100000">
                                          <p:val>
                                            <p:strVal val="#ppt_y"/>
                                          </p:val>
                                        </p:tav>
                                      </p:tavLst>
                                    </p:anim>
                                    <p:animEffect transition="in" filter="wipe(down)">
                                      <p:cBhvr>
                                        <p:cTn id="12" dur="500"/>
                                        <p:tgtEl>
                                          <p:spTgt spid="15"/>
                                        </p:tgtEl>
                                      </p:cBhvr>
                                    </p:animEffect>
                                  </p:childTnLst>
                                </p:cTn>
                              </p:par>
                            </p:childTnLst>
                          </p:cTn>
                        </p:par>
                        <p:par>
                          <p:cTn id="13" fill="hold">
                            <p:stCondLst>
                              <p:cond delay="1500"/>
                            </p:stCondLst>
                            <p:childTnLst>
                              <p:par>
                                <p:cTn id="14" presetID="12" presetClass="entr" presetSubtype="1"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ppt_y</p:attrName>
                                        </p:attrNameLst>
                                      </p:cBhvr>
                                      <p:tavLst>
                                        <p:tav tm="0">
                                          <p:val>
                                            <p:strVal val="#ppt_y-#ppt_h*1.125000"/>
                                          </p:val>
                                        </p:tav>
                                        <p:tav tm="100000">
                                          <p:val>
                                            <p:strVal val="#ppt_y"/>
                                          </p:val>
                                        </p:tav>
                                      </p:tavLst>
                                    </p:anim>
                                    <p:animEffect transition="in" filter="wipe(down)">
                                      <p:cBhvr>
                                        <p:cTn id="17" dur="500"/>
                                        <p:tgtEl>
                                          <p:spTgt spid="11"/>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335915" y="447040"/>
            <a:ext cx="5673725"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技术选型</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a:extLst>
              <a:ext uri="{FF2B5EF4-FFF2-40B4-BE49-F238E27FC236}">
                <a16:creationId xmlns:a16="http://schemas.microsoft.com/office/drawing/2014/main" id="{3E13DB38-E1B0-C882-E03B-7577DD6AB976}"/>
              </a:ext>
            </a:extLst>
          </p:cNvPr>
          <p:cNvSpPr txBox="1"/>
          <p:nvPr/>
        </p:nvSpPr>
        <p:spPr>
          <a:xfrm>
            <a:off x="756744" y="1702676"/>
            <a:ext cx="7859110" cy="2585323"/>
          </a:xfrm>
          <a:prstGeom prst="rect">
            <a:avLst/>
          </a:prstGeom>
          <a:noFill/>
        </p:spPr>
        <p:txBody>
          <a:bodyPr wrap="square" rtlCol="0">
            <a:spAutoFit/>
          </a:bodyPr>
          <a:lstStyle/>
          <a:p>
            <a:r>
              <a:rPr lang="zh-CN" altLang="en-US"/>
              <a:t>（</a:t>
            </a:r>
            <a:r>
              <a:rPr lang="en-US" altLang="zh-CN"/>
              <a:t>1</a:t>
            </a:r>
            <a:r>
              <a:rPr lang="zh-CN" altLang="en-US"/>
              <a:t>）静态分析工具	</a:t>
            </a:r>
            <a:r>
              <a:rPr lang="en-US" altLang="zh-CN"/>
              <a:t>Infer</a:t>
            </a:r>
            <a:r>
              <a:rPr lang="zh-CN" altLang="en-US"/>
              <a:t>（开源，支持</a:t>
            </a:r>
            <a:r>
              <a:rPr lang="en-US" altLang="zh-CN"/>
              <a:t>C/C++/Java</a:t>
            </a:r>
            <a:r>
              <a:rPr lang="zh-CN" altLang="en-US"/>
              <a:t>，安装简单，命令行友好）</a:t>
            </a:r>
            <a:r>
              <a:rPr lang="en-US" altLang="zh-CN"/>
              <a:t>/threadsanitizer</a:t>
            </a:r>
            <a:r>
              <a:rPr lang="zh-CN" altLang="en-US"/>
              <a:t>（开源，支持与数据集协同工作）</a:t>
            </a:r>
          </a:p>
          <a:p>
            <a:r>
              <a:rPr lang="zh-CN" altLang="en-US"/>
              <a:t>（</a:t>
            </a:r>
            <a:r>
              <a:rPr lang="en-US" altLang="zh-CN"/>
              <a:t>2</a:t>
            </a:r>
            <a:r>
              <a:rPr lang="zh-CN" altLang="en-US"/>
              <a:t>）测试数据集	</a:t>
            </a:r>
            <a:r>
              <a:rPr lang="en-US" altLang="zh-CN"/>
              <a:t>DataraceBench</a:t>
            </a:r>
            <a:r>
              <a:rPr lang="zh-CN" altLang="en-US"/>
              <a:t>（标准数据竞争检测基准，包含多种并发错误）</a:t>
            </a:r>
          </a:p>
          <a:p>
            <a:r>
              <a:rPr lang="zh-CN" altLang="en-US"/>
              <a:t>（</a:t>
            </a:r>
            <a:r>
              <a:rPr lang="en-US" altLang="zh-CN"/>
              <a:t>4</a:t>
            </a:r>
            <a:r>
              <a:rPr lang="zh-CN" altLang="en-US"/>
              <a:t>）</a:t>
            </a:r>
            <a:r>
              <a:rPr lang="en-US" altLang="zh-CN"/>
              <a:t>LLM</a:t>
            </a:r>
            <a:r>
              <a:rPr lang="zh-CN" altLang="en-US"/>
              <a:t>模型	</a:t>
            </a:r>
            <a:r>
              <a:rPr lang="en-US" altLang="zh-CN"/>
              <a:t>DeepSeek V3 API </a:t>
            </a:r>
            <a:r>
              <a:rPr lang="zh-CN" altLang="en-US"/>
              <a:t>或 </a:t>
            </a:r>
            <a:r>
              <a:rPr lang="en-US" altLang="zh-CN"/>
              <a:t>GPT-4o-mini</a:t>
            </a:r>
            <a:r>
              <a:rPr lang="zh-CN" altLang="en-US"/>
              <a:t>（成本低，支持代码生成，无需本地部署）</a:t>
            </a:r>
          </a:p>
          <a:p>
            <a:r>
              <a:rPr lang="zh-CN" altLang="en-US"/>
              <a:t>（</a:t>
            </a:r>
            <a:r>
              <a:rPr lang="en-US" altLang="zh-CN"/>
              <a:t>5</a:t>
            </a:r>
            <a:r>
              <a:rPr lang="zh-CN" altLang="en-US"/>
              <a:t>）提示工程	手动设计</a:t>
            </a:r>
            <a:r>
              <a:rPr lang="en-US" altLang="zh-CN"/>
              <a:t>Few-shot</a:t>
            </a:r>
            <a:r>
              <a:rPr lang="zh-CN" altLang="en-US"/>
              <a:t>提示模板，包含错误类型、代码片段、期望输出格式</a:t>
            </a:r>
          </a:p>
          <a:p>
            <a:r>
              <a:rPr lang="zh-CN" altLang="en-US"/>
              <a:t>（</a:t>
            </a:r>
            <a:r>
              <a:rPr lang="en-US" altLang="zh-CN"/>
              <a:t>6</a:t>
            </a:r>
            <a:r>
              <a:rPr lang="zh-CN" altLang="en-US"/>
              <a:t>）验证方式	重新运行测试工具 </a:t>
            </a:r>
            <a:r>
              <a:rPr lang="en-US" altLang="zh-CN"/>
              <a:t>+ </a:t>
            </a:r>
            <a:r>
              <a:rPr lang="zh-CN" altLang="en-US"/>
              <a:t>手动检查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FF92B-C9B0-AA35-E563-5B789CE73C87}"/>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D45036A-BEFA-555A-4A2D-773CC0A1B8EA}"/>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00E94B42-84B2-5955-7237-AB26A948BE81}"/>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E83605A6-0BC4-22CC-B82C-58BD2DA49E47}"/>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F2A69537-6A6A-8ABB-D7B7-5D663580B8C7}"/>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FF0000"/>
                </a:solidFill>
                <a:latin typeface="Lato" pitchFamily="34" charset="0"/>
                <a:ea typeface="Lato" pitchFamily="34" charset="-122"/>
                <a:cs typeface="Lato" pitchFamily="34" charset="-120"/>
              </a:rPr>
              <a:t>预期成果与时间安排</a:t>
            </a:r>
            <a:r>
              <a:rPr lang="en-US" sz="3600" b="1" dirty="0">
                <a:solidFill>
                  <a:srgbClr val="FF0000"/>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86476352-9DE6-D343-2D0F-18C66B19147D}"/>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219E9F6B-49F9-87BA-EB65-008EA032CE5C}"/>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DCCF6475-E1B8-71CB-962D-B6245374DE12}"/>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BBCEE636-5281-3373-626E-F04520CF956C}"/>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C1C00FC1-1566-CC17-6AD7-1E57092262D9}"/>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F8076B9E-CED7-AF02-D84A-2CCCFD8BF454}"/>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630BBEDB-C27C-120A-28F1-D6378CCE661C}"/>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35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264795" y="447040"/>
            <a:ext cx="5154295"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预期成果与时间安排</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0" y="1626235"/>
            <a:ext cx="9481185" cy="2308324"/>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原型系统：一个轻量级</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辅助并发程序修复工具，支持输入代码 → 输出修复建议；</a:t>
            </a: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实验分析报告：包含修复成功率、错误类型分析、提示词设计经验；</a:t>
            </a: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课程展示材料：</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PPT</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、演示视频、代码仓库（</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GitHub</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4.</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成果：</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RAG</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检索增强模块（若选）、提示模板集。</a:t>
            </a:r>
            <a:endPar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lvl="0" indent="457200" algn="l">
              <a:defRPr/>
            </a:pPr>
            <a:endPar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lvl="0" indent="457200" algn="l">
              <a:defRPr/>
            </a:pPr>
            <a:endPar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en-US" altLang="zh-CN" sz="18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zh-CN" altLang="en-US" sz="18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4" name="表格 3">
            <a:extLst>
              <a:ext uri="{FF2B5EF4-FFF2-40B4-BE49-F238E27FC236}">
                <a16:creationId xmlns:a16="http://schemas.microsoft.com/office/drawing/2014/main" id="{A9B8C036-A37F-C2CF-D2EF-DE331FCE7013}"/>
              </a:ext>
            </a:extLst>
          </p:cNvPr>
          <p:cNvGraphicFramePr>
            <a:graphicFrameLocks noGrp="1"/>
          </p:cNvGraphicFramePr>
          <p:nvPr>
            <p:extLst>
              <p:ext uri="{D42A27DB-BD31-4B8C-83A1-F6EECF244321}">
                <p14:modId xmlns:p14="http://schemas.microsoft.com/office/powerpoint/2010/main" val="2094810801"/>
              </p:ext>
            </p:extLst>
          </p:nvPr>
        </p:nvGraphicFramePr>
        <p:xfrm>
          <a:off x="828040" y="3384862"/>
          <a:ext cx="5267960" cy="2194560"/>
        </p:xfrm>
        <a:graphic>
          <a:graphicData uri="http://schemas.openxmlformats.org/drawingml/2006/table">
            <a:tbl>
              <a:tblPr firstRow="1" firstCol="1" bandRow="1">
                <a:tableStyleId>{5C22544A-7EE6-4342-B048-85BDC9FD1C3A}</a:tableStyleId>
              </a:tblPr>
              <a:tblGrid>
                <a:gridCol w="1755775">
                  <a:extLst>
                    <a:ext uri="{9D8B030D-6E8A-4147-A177-3AD203B41FA5}">
                      <a16:colId xmlns:a16="http://schemas.microsoft.com/office/drawing/2014/main" val="2780722770"/>
                    </a:ext>
                  </a:extLst>
                </a:gridCol>
                <a:gridCol w="1755775">
                  <a:extLst>
                    <a:ext uri="{9D8B030D-6E8A-4147-A177-3AD203B41FA5}">
                      <a16:colId xmlns:a16="http://schemas.microsoft.com/office/drawing/2014/main" val="1162891729"/>
                    </a:ext>
                  </a:extLst>
                </a:gridCol>
                <a:gridCol w="1756410">
                  <a:extLst>
                    <a:ext uri="{9D8B030D-6E8A-4147-A177-3AD203B41FA5}">
                      <a16:colId xmlns:a16="http://schemas.microsoft.com/office/drawing/2014/main" val="374408804"/>
                    </a:ext>
                  </a:extLst>
                </a:gridCol>
              </a:tblGrid>
              <a:tr h="0">
                <a:tc>
                  <a:txBody>
                    <a:bodyPr/>
                    <a:lstStyle/>
                    <a:p>
                      <a:pPr marL="266700" indent="266700" algn="just">
                        <a:buNone/>
                      </a:pPr>
                      <a:r>
                        <a:rPr lang="zh-CN" sz="1200" kern="100">
                          <a:effectLst/>
                        </a:rPr>
                        <a:t>阶段</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266700" indent="266700" algn="just">
                        <a:buNone/>
                      </a:pPr>
                      <a:r>
                        <a:rPr lang="zh-CN" sz="1200" kern="100">
                          <a:effectLst/>
                        </a:rPr>
                        <a:t>时间</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266700" indent="266700" algn="just">
                        <a:buNone/>
                      </a:pPr>
                      <a:r>
                        <a:rPr lang="zh-CN" sz="1200" kern="100">
                          <a:effectLst/>
                        </a:rPr>
                        <a:t>任务</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15925519"/>
                  </a:ext>
                </a:extLst>
              </a:tr>
              <a:tr h="0">
                <a:tc>
                  <a:txBody>
                    <a:bodyPr/>
                    <a:lstStyle/>
                    <a:p>
                      <a:pPr algn="just">
                        <a:buNone/>
                      </a:pPr>
                      <a:r>
                        <a:rPr lang="zh-CN" sz="1200" kern="100">
                          <a:effectLst/>
                        </a:rPr>
                        <a:t>第</a:t>
                      </a:r>
                      <a:r>
                        <a:rPr lang="en-US" sz="1200" kern="100">
                          <a:effectLst/>
                        </a:rPr>
                        <a:t>1</a:t>
                      </a:r>
                      <a:r>
                        <a:rPr lang="zh-CN" sz="1200" kern="100">
                          <a:effectLst/>
                        </a:rPr>
                        <a:t>周</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调研与工具熟悉</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安装</a:t>
                      </a:r>
                      <a:r>
                        <a:rPr lang="en-US" sz="1200" kern="100">
                          <a:effectLst/>
                        </a:rPr>
                        <a:t>Infer</a:t>
                      </a:r>
                      <a:r>
                        <a:rPr lang="zh-CN" sz="1200" kern="100">
                          <a:effectLst/>
                        </a:rPr>
                        <a:t>，运行</a:t>
                      </a:r>
                      <a:r>
                        <a:rPr lang="en-US" sz="1200" kern="100">
                          <a:effectLst/>
                        </a:rPr>
                        <a:t>DataraceBench</a:t>
                      </a:r>
                      <a:r>
                        <a:rPr lang="zh-CN" sz="1200" kern="100">
                          <a:effectLst/>
                        </a:rPr>
                        <a:t>，理解输出格式</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51669519"/>
                  </a:ext>
                </a:extLst>
              </a:tr>
              <a:tr h="0">
                <a:tc>
                  <a:txBody>
                    <a:bodyPr/>
                    <a:lstStyle/>
                    <a:p>
                      <a:pPr algn="just">
                        <a:buNone/>
                      </a:pPr>
                      <a:r>
                        <a:rPr lang="zh-CN" sz="1200" kern="100">
                          <a:effectLst/>
                        </a:rPr>
                        <a:t>第</a:t>
                      </a:r>
                      <a:r>
                        <a:rPr lang="en-US" sz="1200" kern="100">
                          <a:effectLst/>
                        </a:rPr>
                        <a:t>2</a:t>
                      </a:r>
                      <a:r>
                        <a:rPr lang="zh-CN" sz="1200" kern="100">
                          <a:effectLst/>
                        </a:rPr>
                        <a:t>周</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提示工程与</a:t>
                      </a:r>
                      <a:r>
                        <a:rPr lang="en-US" sz="1200" kern="100">
                          <a:effectLst/>
                        </a:rPr>
                        <a:t>API</a:t>
                      </a:r>
                      <a:r>
                        <a:rPr lang="zh-CN" sz="1200" kern="100">
                          <a:effectLst/>
                        </a:rPr>
                        <a:t>调用</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设计提示模板，调用</a:t>
                      </a:r>
                      <a:r>
                        <a:rPr lang="en-US" sz="1200" kern="100">
                          <a:effectLst/>
                        </a:rPr>
                        <a:t>DeepSeek/GPT API</a:t>
                      </a:r>
                      <a:r>
                        <a:rPr lang="zh-CN" sz="1200" kern="100">
                          <a:effectLst/>
                        </a:rPr>
                        <a:t>，解析返回结果</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78273280"/>
                  </a:ext>
                </a:extLst>
              </a:tr>
              <a:tr h="0">
                <a:tc>
                  <a:txBody>
                    <a:bodyPr/>
                    <a:lstStyle/>
                    <a:p>
                      <a:pPr algn="just">
                        <a:buNone/>
                      </a:pPr>
                      <a:r>
                        <a:rPr lang="zh-CN" sz="1200" kern="100">
                          <a:effectLst/>
                        </a:rPr>
                        <a:t>第</a:t>
                      </a:r>
                      <a:r>
                        <a:rPr lang="en-US" sz="1200" kern="100">
                          <a:effectLst/>
                        </a:rPr>
                        <a:t>3</a:t>
                      </a:r>
                      <a:r>
                        <a:rPr lang="zh-CN" sz="1200" kern="100">
                          <a:effectLst/>
                        </a:rPr>
                        <a:t>周</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dirty="0">
                          <a:effectLst/>
                        </a:rPr>
                        <a:t>系统集成与测试</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编写</a:t>
                      </a:r>
                      <a:r>
                        <a:rPr lang="en-US" sz="1200" kern="100">
                          <a:effectLst/>
                        </a:rPr>
                        <a:t>Python</a:t>
                      </a:r>
                      <a:r>
                        <a:rPr lang="zh-CN" sz="1200" kern="100">
                          <a:effectLst/>
                        </a:rPr>
                        <a:t>脚本串联全流程，测试</a:t>
                      </a:r>
                      <a:r>
                        <a:rPr lang="en-US" sz="1200" kern="100">
                          <a:effectLst/>
                        </a:rPr>
                        <a:t>10~20</a:t>
                      </a:r>
                      <a:r>
                        <a:rPr lang="zh-CN" sz="1200" kern="100">
                          <a:effectLst/>
                        </a:rPr>
                        <a:t>个样本</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6600681"/>
                  </a:ext>
                </a:extLst>
              </a:tr>
              <a:tr h="0">
                <a:tc>
                  <a:txBody>
                    <a:bodyPr/>
                    <a:lstStyle/>
                    <a:p>
                      <a:pPr algn="just">
                        <a:buNone/>
                      </a:pPr>
                      <a:r>
                        <a:rPr lang="zh-CN" sz="1200" kern="100">
                          <a:effectLst/>
                        </a:rPr>
                        <a:t>第</a:t>
                      </a:r>
                      <a:r>
                        <a:rPr lang="en-US" sz="1200" kern="100">
                          <a:effectLst/>
                        </a:rPr>
                        <a:t>4</a:t>
                      </a:r>
                      <a:r>
                        <a:rPr lang="zh-CN" sz="1200" kern="100">
                          <a:effectLst/>
                        </a:rPr>
                        <a:t>周</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a:effectLst/>
                        </a:rPr>
                        <a:t>结果分析与报告撰写</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dirty="0">
                          <a:effectLst/>
                        </a:rPr>
                        <a:t>统计结果，撰写实验报告，准备展示材料</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3753433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p:tgtEl>
                                          <p:spTgt spid="15"/>
                                        </p:tgtEl>
                                        <p:attrNameLst>
                                          <p:attrName>ppt_y</p:attrName>
                                        </p:attrNameLst>
                                      </p:cBhvr>
                                      <p:tavLst>
                                        <p:tav tm="0">
                                          <p:val>
                                            <p:strVal val="#ppt_y-#ppt_h*1.125000"/>
                                          </p:val>
                                        </p:tav>
                                        <p:tav tm="100000">
                                          <p:val>
                                            <p:strVal val="#ppt_y"/>
                                          </p:val>
                                        </p:tav>
                                      </p:tavLst>
                                    </p:anim>
                                    <p:animEffect transition="in" filter="wipe(down)">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264795" y="447040"/>
            <a:ext cx="7435416" cy="596900"/>
          </a:xfrm>
          <a:prstGeom prst="rect">
            <a:avLst/>
          </a:prstGeom>
          <a:noFill/>
        </p:spPr>
        <p:txBody>
          <a:bodyPr wrap="square" rtlCol="0">
            <a:noAutofit/>
          </a:bodyPr>
          <a:lstStyle/>
          <a:p>
            <a:pPr algn="ctr"/>
            <a:r>
              <a:rPr lang="zh-CN" alt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rPr>
              <a:t>参考文献</a:t>
            </a: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a:extLst>
              <a:ext uri="{FF2B5EF4-FFF2-40B4-BE49-F238E27FC236}">
                <a16:creationId xmlns:a16="http://schemas.microsoft.com/office/drawing/2014/main" id="{94FD2726-2FA5-205A-0A5A-7E6C0C9E87CD}"/>
              </a:ext>
            </a:extLst>
          </p:cNvPr>
          <p:cNvSpPr txBox="1"/>
          <p:nvPr/>
        </p:nvSpPr>
        <p:spPr>
          <a:xfrm>
            <a:off x="1110888" y="1616910"/>
            <a:ext cx="10342760" cy="3600986"/>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algn="l">
              <a:defRPr/>
            </a:pPr>
            <a:r>
              <a:rPr lang="zh-CN" altLang="en-US"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  Fida Zubair, Maryam Al-</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Hitmi</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Cagatay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Catal</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The use of large language models for program repair,</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Computer Standards &amp; Interfaces,</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Volume 93,</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2025,</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103951,</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ISSN 0920-5489,</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https://doi.org/10.1016/j.csi.2024.103951.</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  A survey of LLM-based automated program repair: Taxonomies, design paradigms, and applications</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Yang, Boyang and Cai, Zijian and Liu,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Fengling</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and Le, Bach and Zhang,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Lingming</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and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Bissyand</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Tegawend</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F and Liu, Yang and Tian,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Haoye</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arXiv</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preprint arXiv:2506.23749,</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2025</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https://arxiv.org/abs/2506.23749</a:t>
            </a:r>
          </a:p>
          <a:p>
            <a:pPr lvl="0" algn="l">
              <a:defRPr/>
            </a:pP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  Matthew Jin, Syed Shahriar, Michele Tufano, Xin Shi, Shuai Lu, Neel Sundaresan, and Alexey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Svyatkovskiy</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2023. </a:t>
            </a:r>
            <a:r>
              <a:rPr lang="en-US" altLang="zh-CN" sz="12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InferFix</a:t>
            </a:r>
            <a:r>
              <a:rPr lang="en-US" altLang="zh-CN" sz="12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End-to-End Program Repair with LLMs. In Proceedings of the 31st ACM Joint European Software Engineering Conference and Symposium on the Foundations of Software Engineering (ESEC/FSE 2023). Association for Computing Machinery, New York, NY, USA, 1646–1656. https://doi.org/10.1145/3611643.3613892</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34590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3198599-4FD9-B410-42C9-88A0E6C946EE}"/>
              </a:ext>
            </a:extLst>
          </p:cNvPr>
          <p:cNvGrpSpPr/>
          <p:nvPr/>
        </p:nvGrpSpPr>
        <p:grpSpPr>
          <a:xfrm>
            <a:off x="1767840" y="1710028"/>
            <a:ext cx="8656320" cy="2338886"/>
            <a:chOff x="1767840" y="1759585"/>
            <a:chExt cx="8656320" cy="2338886"/>
          </a:xfrm>
        </p:grpSpPr>
        <p:sp>
          <p:nvSpPr>
            <p:cNvPr id="5" name="文本框 4">
              <a:extLst>
                <a:ext uri="{FF2B5EF4-FFF2-40B4-BE49-F238E27FC236}">
                  <a16:creationId xmlns:a16="http://schemas.microsoft.com/office/drawing/2014/main" id="{1CA86F2E-3D09-4C0A-78BA-CFED4DF55B62}"/>
                </a:ext>
              </a:extLst>
            </p:cNvPr>
            <p:cNvSpPr txBox="1"/>
            <p:nvPr/>
          </p:nvSpPr>
          <p:spPr>
            <a:xfrm>
              <a:off x="1767840" y="3268526"/>
              <a:ext cx="8656320" cy="829945"/>
            </a:xfrm>
            <a:prstGeom prst="rect">
              <a:avLst/>
            </a:prstGeom>
            <a:noFill/>
          </p:spPr>
          <p:txBody>
            <a:bodyPr wrap="square" rtlCol="0">
              <a:spAutoFit/>
            </a:bodyPr>
            <a:lstStyle/>
            <a:p>
              <a:pPr algn="ctr"/>
              <a:r>
                <a:rPr lang="zh-CN" altLang="en-US" sz="4800" b="1" dirty="0">
                  <a:solidFill>
                    <a:schemeClr val="tx1">
                      <a:lumMod val="75000"/>
                      <a:lumOff val="25000"/>
                    </a:schemeClr>
                  </a:solidFill>
                  <a:latin typeface="思源黑体 CN Medium" panose="020B0600000000000000" pitchFamily="34" charset="-122"/>
                  <a:ea typeface="思源黑体 CN Medium" panose="020B0600000000000000" pitchFamily="34" charset="-122"/>
                </a:rPr>
                <a:t>期待您的指正</a:t>
              </a:r>
            </a:p>
          </p:txBody>
        </p:sp>
        <p:sp>
          <p:nvSpPr>
            <p:cNvPr id="6" name="文本框 5">
              <a:extLst>
                <a:ext uri="{FF2B5EF4-FFF2-40B4-BE49-F238E27FC236}">
                  <a16:creationId xmlns:a16="http://schemas.microsoft.com/office/drawing/2014/main" id="{4BBEA159-D04D-535F-B9E1-BF2B966FEAB3}"/>
                </a:ext>
              </a:extLst>
            </p:cNvPr>
            <p:cNvSpPr txBox="1"/>
            <p:nvPr/>
          </p:nvSpPr>
          <p:spPr>
            <a:xfrm>
              <a:off x="3184208" y="1759585"/>
              <a:ext cx="5823585" cy="1198880"/>
            </a:xfrm>
            <a:prstGeom prst="rect">
              <a:avLst/>
            </a:prstGeom>
            <a:noFill/>
          </p:spPr>
          <p:txBody>
            <a:bodyPr wrap="square" rtlCol="0">
              <a:spAutoFit/>
            </a:bodyPr>
            <a:lstStyle/>
            <a:p>
              <a:pPr algn="ctr"/>
              <a:r>
                <a:rPr lang="en-US" altLang="zh-CN" sz="7200" b="1" dirty="0">
                  <a:solidFill>
                    <a:schemeClr val="accent1"/>
                  </a:solidFill>
                  <a:latin typeface="思源黑体 CN Bold" panose="020B0800000000000000" pitchFamily="34" charset="-122"/>
                  <a:ea typeface="思源黑体 CN Bold" panose="020B0800000000000000" pitchFamily="34" charset="-122"/>
                </a:rPr>
                <a:t>THANKS</a:t>
              </a:r>
            </a:p>
          </p:txBody>
        </p:sp>
        <p:grpSp>
          <p:nvGrpSpPr>
            <p:cNvPr id="7" name="组合 6">
              <a:extLst>
                <a:ext uri="{FF2B5EF4-FFF2-40B4-BE49-F238E27FC236}">
                  <a16:creationId xmlns:a16="http://schemas.microsoft.com/office/drawing/2014/main" id="{106FDE65-3714-CBF7-991E-4216DD520B20}"/>
                </a:ext>
              </a:extLst>
            </p:cNvPr>
            <p:cNvGrpSpPr/>
            <p:nvPr/>
          </p:nvGrpSpPr>
          <p:grpSpPr>
            <a:xfrm>
              <a:off x="3209608" y="3052445"/>
              <a:ext cx="5772785" cy="76200"/>
              <a:chOff x="4998" y="4189"/>
              <a:chExt cx="9091" cy="120"/>
            </a:xfrm>
          </p:grpSpPr>
          <p:sp>
            <p:nvSpPr>
              <p:cNvPr id="9" name="矩形 8">
                <a:extLst>
                  <a:ext uri="{FF2B5EF4-FFF2-40B4-BE49-F238E27FC236}">
                    <a16:creationId xmlns:a16="http://schemas.microsoft.com/office/drawing/2014/main" id="{06D6D735-8E90-D822-86A3-2EE27C72D28A}"/>
                  </a:ext>
                </a:extLst>
              </p:cNvPr>
              <p:cNvSpPr/>
              <p:nvPr/>
            </p:nvSpPr>
            <p:spPr>
              <a:xfrm flipV="1">
                <a:off x="8347" y="4189"/>
                <a:ext cx="2394" cy="1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cxnSp>
            <p:nvCxnSpPr>
              <p:cNvPr id="10" name="直接连接符 9">
                <a:extLst>
                  <a:ext uri="{FF2B5EF4-FFF2-40B4-BE49-F238E27FC236}">
                    <a16:creationId xmlns:a16="http://schemas.microsoft.com/office/drawing/2014/main" id="{8DBA0E52-DFA0-4533-77EA-15FBE7EA0DE3}"/>
                  </a:ext>
                </a:extLst>
              </p:cNvPr>
              <p:cNvCxnSpPr/>
              <p:nvPr/>
            </p:nvCxnSpPr>
            <p:spPr>
              <a:xfrm>
                <a:off x="11221" y="4249"/>
                <a:ext cx="286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66E01AE-6858-5D2B-343F-6AA20C289CDF}"/>
                  </a:ext>
                </a:extLst>
              </p:cNvPr>
              <p:cNvCxnSpPr/>
              <p:nvPr/>
            </p:nvCxnSpPr>
            <p:spPr>
              <a:xfrm>
                <a:off x="4998" y="4249"/>
                <a:ext cx="286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1313</Words>
  <Application>Microsoft Office PowerPoint</Application>
  <PresentationFormat>宽屏</PresentationFormat>
  <Paragraphs>90</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Lato Bold</vt:lpstr>
      <vt:lpstr>等线</vt:lpstr>
      <vt:lpstr>等线 Light</vt:lpstr>
      <vt:lpstr>思源黑体 CN Bold</vt:lpstr>
      <vt:lpstr>思源黑体 CN Medium</vt:lpstr>
      <vt:lpstr>微软雅黑</vt:lpstr>
      <vt:lpstr>Arial</vt:lpstr>
      <vt:lpstr>Lato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tsing wei</cp:lastModifiedBy>
  <cp:revision>6</cp:revision>
  <dcterms:created xsi:type="dcterms:W3CDTF">2020-02-28T09:13:00Z</dcterms:created>
  <dcterms:modified xsi:type="dcterms:W3CDTF">2026-04-05T15:49:19Z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KSOTemplateUUID">
    <vt:lpwstr>v1.0_mb_pQzIEODkE5dyNjgFDpJPHw==</vt:lpwstr>
  </property>
  <property fmtid="{D5CDD505-2E9C-101B-9397-08002B2CF9AE}" pid="4" name="ICV">
    <vt:lpwstr>C17405A2337144CE9733CFCA2061B35D_11</vt:lpwstr>
  </property>
</Properties>
</file>