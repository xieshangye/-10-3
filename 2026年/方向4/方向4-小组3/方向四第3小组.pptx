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</p:sldMasterIdLst>
  <p:notesMasterIdLst>
    <p:notesMasterId r:id="rId8"/>
  </p:notesMasterIdLst>
  <p:sldIdLst>
    <p:sldId id="256" r:id="rId7"/>
    <p:sldId id="264" r:id="rId9"/>
    <p:sldId id="257" r:id="rId10"/>
    <p:sldId id="258" r:id="rId11"/>
    <p:sldId id="269" r:id="rId12"/>
    <p:sldId id="271" r:id="rId13"/>
    <p:sldId id="272" r:id="rId14"/>
    <p:sldId id="260" r:id="rId15"/>
    <p:sldId id="259" r:id="rId16"/>
    <p:sldId id="261" r:id="rId17"/>
    <p:sldId id="266" r:id="rId18"/>
    <p:sldId id="26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96" y="76"/>
      </p:cViewPr>
      <p:guideLst>
        <p:guide orient="horz" pos="160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大家好，今天我将向各位汇报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我们组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的开题研究。我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们组汇报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的课题是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辅助程序修复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RepairLLaMA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项目复现与实践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我的汇报到此结束，感谢各位老师的聆听！恳请各位老师批评指正。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jpe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3.jpeg"/><Relationship Id="rId3" Type="http://schemas.openxmlformats.org/officeDocument/2006/relationships/tags" Target="../tags/tag2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9.svg"/><Relationship Id="rId2" Type="http://schemas.openxmlformats.org/officeDocument/2006/relationships/tags" Target="../tags/tag1.xml"/><Relationship Id="rId19" Type="http://schemas.openxmlformats.org/officeDocument/2006/relationships/image" Target="../media/image8.png"/><Relationship Id="rId18" Type="http://schemas.openxmlformats.org/officeDocument/2006/relationships/image" Target="../media/image7.jpeg"/><Relationship Id="rId17" Type="http://schemas.openxmlformats.org/officeDocument/2006/relationships/image" Target="../media/image6.jpeg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image" Target="../media/image5.jpeg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5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Relationship Id="rId3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3.xml"/><Relationship Id="rId4" Type="http://schemas.openxmlformats.org/officeDocument/2006/relationships/hyperlink" Target="https://ieeexplore.ieee.org/document/11039501" TargetMode="External"/><Relationship Id="rId3" Type="http://schemas.openxmlformats.org/officeDocument/2006/relationships/hyperlink" Target="https://arxiv.org/abs/2506.23749" TargetMode="External"/><Relationship Id="rId2" Type="http://schemas.openxmlformats.org/officeDocument/2006/relationships/hyperlink" Target="https://link.springer.com/article/10.1007/s11227-025-07237-3" TargetMode="Externa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4.xml"/><Relationship Id="rId2" Type="http://schemas.openxmlformats.org/officeDocument/2006/relationships/hyperlink" Target="https://ieeexplore.ieee.org/document/11039501" TargetMode="External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16.png"/><Relationship Id="rId2" Type="http://schemas.openxmlformats.org/officeDocument/2006/relationships/hyperlink" Target="https://ieeexplore.ieee.org/document/11039501" TargetMode="External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image" Target="../media/image17.svg"/><Relationship Id="rId4" Type="http://schemas.openxmlformats.org/officeDocument/2006/relationships/image" Target="../media/image8.png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image" Target="../media/image19.svg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image" Target="../media/image18.svg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1.svg"/><Relationship Id="rId3" Type="http://schemas.openxmlformats.org/officeDocument/2006/relationships/image" Target="../media/image20.svg"/><Relationship Id="rId2" Type="http://schemas.openxmlformats.org/officeDocument/2006/relationships/image" Target="../media/image8.png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hyperlink" Target="https://arxiv.org/abs/2405.01466" TargetMode="External"/><Relationship Id="rId2" Type="http://schemas.openxmlformats.org/officeDocument/2006/relationships/hyperlink" Target="https://arxiv.org/abs/2506.23749" TargetMode="Externa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142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35000" y="2286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开题汇报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715000" y="3175000"/>
            <a:ext cx="76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35000" y="3429000"/>
            <a:ext cx="10922000" cy="13290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LLM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辅助程序修复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en-US" altLang="zh-CN" sz="2400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RepairLLaMA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项目复现与实践</a:t>
            </a:r>
            <a:r>
              <a:rPr lang="en-US" sz="22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41137" y="53340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r>
              <a:rPr 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察宇</a:t>
            </a:r>
            <a:endParaRPr lang="en-US" dirty="0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2026年3月22</a:t>
            </a:r>
            <a:r>
              <a:rPr lang="zh-CN" alt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en-US" sz="1100" dirty="0"/>
          </a:p>
        </p:txBody>
      </p:sp>
      <p:sp>
        <p:nvSpPr>
          <p:cNvPr id="8" name="文本框 7"/>
          <p:cNvSpPr txBox="1"/>
          <p:nvPr/>
        </p:nvSpPr>
        <p:spPr>
          <a:xfrm>
            <a:off x="4368800" y="3429000"/>
            <a:ext cx="3453765" cy="517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800" dirty="0" err="1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方向四第三小组</a:t>
            </a:r>
            <a:endParaRPr lang="en-US" sz="1800" b="0" i="0" u="none" strike="noStrike" dirty="0" err="1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ctr"/>
            <a:endParaRPr lang="zh-CN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3022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团队成员介绍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52500" y="1841500"/>
            <a:ext cx="889000" cy="889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968500" y="1778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组长</a:t>
            </a:r>
            <a:r>
              <a:rPr 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察宇</a:t>
            </a:r>
            <a:endParaRPr lang="en-US" sz="1100" dirty="0"/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968500" y="2159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200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相关领域</a:t>
            </a:r>
            <a:r>
              <a:rPr lang="en-US" altLang="zh-CN" sz="1200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文献调研并复现</a:t>
            </a:r>
            <a:endParaRPr lang="en-US" altLang="zh-CN" sz="1200" dirty="0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762000" y="3111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952500" y="3302000"/>
            <a:ext cx="889000" cy="889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1968500" y="3238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组员</a:t>
            </a:r>
            <a:r>
              <a:rPr 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向雯扬</a:t>
            </a:r>
            <a:endParaRPr lang="en-US" sz="1100" dirty="0"/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1968500" y="3619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200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相关领域</a:t>
            </a:r>
            <a:r>
              <a:rPr lang="en-US" altLang="zh-CN" sz="1200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文献调研并复现</a:t>
            </a:r>
            <a:endParaRPr lang="en-US" altLang="zh-CN" sz="1200" dirty="0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762000" y="4572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52500" y="4762500"/>
            <a:ext cx="889000" cy="889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1968500" y="4699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组员</a:t>
            </a:r>
            <a:r>
              <a:rPr 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樊龄聪</a:t>
            </a:r>
            <a:endParaRPr lang="en-US" sz="1100" dirty="0"/>
          </a:p>
        </p:txBody>
      </p:sp>
      <p:sp>
        <p:nvSpPr>
          <p:cNvPr id="17" name="AutoShape 17"/>
          <p:cNvSpPr/>
          <p:nvPr>
            <p:custDataLst>
              <p:tags r:id="rId16"/>
            </p:custDataLst>
          </p:nvPr>
        </p:nvSpPr>
        <p:spPr>
          <a:xfrm>
            <a:off x="1968500" y="5080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200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相关领域</a:t>
            </a:r>
            <a:r>
              <a:rPr lang="en-US" altLang="zh-CN" sz="1200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文献调研并复现</a:t>
            </a:r>
            <a:endParaRPr lang="en-US" altLang="zh-CN" sz="1200" dirty="0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350000" y="165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6540500" y="1841500"/>
            <a:ext cx="889000" cy="889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7556500" y="1778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组员</a:t>
            </a:r>
            <a:r>
              <a:rPr 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杨志成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7556500" y="2159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200" b="0" i="0" u="none" strike="noStrike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</a:t>
            </a:r>
            <a:r>
              <a:rPr lang="en-US" altLang="zh-CN" sz="1200" b="0" i="0" u="none" strike="noStrike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PPT</a:t>
            </a:r>
            <a:r>
              <a:rPr lang="zh-CN" altLang="en-US" sz="1200" b="0" i="0" u="none" strike="noStrike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制作以及后续死锁检测模块部分搭建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6350000" y="3111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6540500" y="3302000"/>
            <a:ext cx="889000" cy="889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7556500" y="3238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组员</a:t>
            </a:r>
            <a:r>
              <a:rPr 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郝敬安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7556500" y="3619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zh-CN" altLang="en-US" sz="1100" dirty="0">
              <a:ea typeface="宋体" panose="02010600030101010101" pitchFamily="2" charset="-122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56000" y="635000"/>
            <a:ext cx="508000" cy="508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239000" y="4826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26" name="文本框 25"/>
          <p:cNvSpPr txBox="1"/>
          <p:nvPr/>
        </p:nvSpPr>
        <p:spPr>
          <a:xfrm>
            <a:off x="7429500" y="3691890"/>
            <a:ext cx="35521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00000"/>
              </a:lnSpc>
              <a:defRPr/>
            </a:pPr>
            <a:r>
              <a:rPr lang="zh-CN" altLang="en-US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相关领域</a:t>
            </a:r>
            <a:r>
              <a:rPr lang="en-US" altLang="zh-CN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文献调研并复现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2540000" y="1524000"/>
            <a:ext cx="7620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4000" y="1727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3302000" y="16891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</a:t>
            </a:r>
            <a:r>
              <a:rPr lang="zh-CN" altLang="en-US" sz="1800" b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背景调研与选题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2540000" y="2362200"/>
            <a:ext cx="7620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4000" y="2565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302000" y="25273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</a:t>
            </a:r>
            <a:r>
              <a:rPr lang="zh-CN" altLang="en-US" sz="18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</a:t>
            </a:r>
            <a:r>
              <a:rPr lang="en-US" altLang="zh-CN" sz="18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RepairLLaMA</a:t>
            </a:r>
            <a:r>
              <a:rPr lang="zh-CN" altLang="en-US" sz="18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2540000" y="3200400"/>
            <a:ext cx="7620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4000" y="3403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302000" y="3365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</a:t>
            </a:r>
            <a:r>
              <a:rPr lang="zh-CN" altLang="en-US" sz="18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改进思路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2540000" y="4038600"/>
            <a:ext cx="7620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4000" y="42418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3302000" y="42037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</a:t>
            </a:r>
            <a:r>
              <a:rPr lang="en-US" sz="18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复现结果与实验分析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2540000" y="4876800"/>
            <a:ext cx="7620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94000" y="5080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3302000" y="50419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未来展望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6096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背景调研与选题</a:t>
            </a:r>
            <a:endParaRPr lang="zh-CN" altLang="en-US" sz="3600" b="1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425575"/>
            <a:ext cx="10982960" cy="4924425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9255"/>
            <a:ext cx="10497820" cy="436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>
            <a:off x="1016000" y="2159000"/>
            <a:ext cx="10497891" cy="1084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233930"/>
            <a:ext cx="10497820" cy="38366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一、软件维护的挑战：</a:t>
            </a:r>
            <a:endParaRPr lang="en-US" altLang="zh-CN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随着现在软件系统的规模和复杂化指数级上升，同时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Bug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的数量和修复难度也急剧上升。在整个软件的生命周期成本中占比很大。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二、传统方法的局限：</a:t>
            </a:r>
            <a:endParaRPr lang="zh-CN" altLang="en-US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传统的程序修复方法多基于规则化匹配或者小样本机器学习。并且依赖大量标注数据、泛化能力弱等问题。难以应对复杂多变的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BUG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。</a:t>
            </a:r>
            <a:endParaRPr lang="zh-CN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传统微调多采用朴素代码文本，忽略了故障定位（FL）信号的重要性 。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全参数微调（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FFT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）资源消耗巨大且在小规模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APR 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数据集上极易过拟合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。</a:t>
            </a:r>
            <a:endParaRPr lang="zh-CN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 b="1" dirty="0">
                <a:solidFill>
                  <a:schemeClr val="accent1"/>
                </a:solidFill>
                <a:latin typeface="Calibri" panose="020F0502020204030204" pitchFamily="34" charset="0"/>
                <a:ea typeface="Noto Sans SC" panose="020B0200000000000000" charset="-122"/>
                <a:cs typeface="Calibri" panose="020F0502020204030204" pitchFamily="34" charset="0"/>
                <a:sym typeface="Noto Sans SC" panose="020B0200000000000000" charset="-122"/>
              </a:rPr>
              <a:t>三</a:t>
            </a:r>
            <a:r>
              <a:rPr lang="zh-CN" altLang="en-US" sz="1400" b="1" i="0" u="none" strike="noStrike" dirty="0">
                <a:solidFill>
                  <a:schemeClr val="accent1"/>
                </a:solidFill>
                <a:latin typeface="Calibri" panose="020F0502020204030204" pitchFamily="34" charset="0"/>
                <a:ea typeface="Noto Sans SC" panose="020B0200000000000000" charset="-122"/>
                <a:cs typeface="Calibri" panose="020F0502020204030204" pitchFamily="34" charset="0"/>
                <a:sym typeface="Noto Sans SC" panose="020B0200000000000000" charset="-122"/>
              </a:rPr>
              <a:t>、</a:t>
            </a:r>
            <a:r>
              <a:rPr lang="en-US" altLang="zh-CN" sz="1400" b="1" i="0" u="none" strike="noStrike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Noto Sans SC" panose="020B0200000000000000" charset="-122"/>
              </a:rPr>
              <a:t>LLM</a:t>
            </a:r>
            <a:r>
              <a:rPr lang="zh-CN" altLang="en-US" sz="1400" b="1" i="0" u="none" strike="noStrike" dirty="0">
                <a:solidFill>
                  <a:schemeClr val="accent1"/>
                </a:solidFill>
                <a:latin typeface="Calibri" panose="020F0502020204030204" pitchFamily="34" charset="0"/>
                <a:ea typeface="Noto Sans SC" panose="020B0200000000000000" charset="-122"/>
                <a:cs typeface="Calibri" panose="020F0502020204030204" pitchFamily="34" charset="0"/>
                <a:sym typeface="Noto Sans SC" panose="020B0200000000000000" charset="-122"/>
              </a:rPr>
              <a:t>的机遇：</a:t>
            </a:r>
            <a:endParaRPr lang="en-US" altLang="zh-CN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zh-CN" dirty="0">
                <a:solidFill>
                  <a:srgbClr val="505050"/>
                </a:solidFill>
                <a:latin typeface="Calibri" panose="020F0502020204030204" pitchFamily="34" charset="0"/>
                <a:ea typeface="Noto Sans SC" panose="020B0200000000000000" charset="-122"/>
                <a:cs typeface="Calibri" panose="020F0502020204030204" pitchFamily="34" charset="0"/>
              </a:rPr>
              <a:t>近年来，以GPT、LLaMA为代表的大语言模型（LLM）展现出强大的代码理解和生成能力，为程序修复领域带来了革命性的机遇。它们能够学习海量代码知识，理解复杂的编程语义，并生成高质量的修复代码。</a:t>
            </a:r>
            <a:endParaRPr lang="zh-CN" altLang="zh-CN" sz="4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604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08800" y="2432050"/>
            <a:ext cx="4191000" cy="1123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600" i="0" u="none" strike="noStrike" dirty="0">
              <a:solidFill>
                <a:srgbClr val="808080"/>
              </a:solidFill>
              <a:latin typeface="+mn-ea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915150" y="4562217"/>
            <a:ext cx="41910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zh-CN" altLang="zh-CN" sz="4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921500" y="514985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300" b="0" i="0" u="none" strike="noStrike" dirty="0">
              <a:solidFill>
                <a:srgbClr val="808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143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背景调研与选题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55395"/>
            <a:ext cx="10773410" cy="5094605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370330"/>
            <a:ext cx="10160000" cy="725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调研文章</a:t>
            </a:r>
            <a:endParaRPr lang="zh-CN" altLang="en-US" sz="2000" b="1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flipV="1">
            <a:off x="1016000" y="2157452"/>
            <a:ext cx="10158765" cy="1548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223135"/>
            <a:ext cx="10248900" cy="38474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en-US" altLang="zh-CN" sz="1400" b="0" i="0" u="none" strike="noStrike" dirty="0">
                <a:latin typeface="Calibri" panose="020F0502020204030204" pitchFamily="34" charset="0"/>
                <a:cs typeface="Calibri" panose="020F0502020204030204" pitchFamily="34" charset="0"/>
                <a:sym typeface="Noto Sans SC" panose="020B0200000000000000" charset="-122"/>
              </a:rPr>
              <a:t>1</a:t>
            </a:r>
            <a:r>
              <a:rPr lang="zh-CN" altLang="en-US" sz="1400" b="0" i="0" u="none" strike="noStrike" dirty="0">
                <a:latin typeface="Calibri" panose="020F0502020204030204" pitchFamily="34" charset="0"/>
                <a:cs typeface="Calibri" panose="020F0502020204030204" pitchFamily="34" charset="0"/>
                <a:sym typeface="Noto Sans SC" panose="020B0200000000000000" charset="-122"/>
              </a:rPr>
              <a:t>.</a:t>
            </a:r>
            <a:r>
              <a:rPr lang="zh-CN" altLang="en-US" sz="1400" b="0" i="0" u="none" strike="noStrike" dirty="0">
                <a:latin typeface="Calibri" panose="020F0502020204030204" pitchFamily="34" charset="0"/>
                <a:cs typeface="Calibri" panose="020F0502020204030204" pitchFamily="34" charset="0"/>
                <a:sym typeface="Noto Sans SC" panose="020B0200000000000000" charset="-122"/>
                <a:hlinkClick r:id="rId2" action="ppaction://hlinkfile"/>
              </a:rPr>
              <a:t>Evaluating ChatGPT’s strengths and limitations for data race detection in parallel programming via prompt engineering</a:t>
            </a:r>
            <a:endParaRPr lang="en-US" altLang="zh-CN" sz="1400" b="0" i="0" u="none" strike="noStrike" dirty="0">
              <a:latin typeface="Calibri" panose="020F0502020204030204" pitchFamily="34" charset="0"/>
              <a:cs typeface="Calibri" panose="020F0502020204030204" pitchFamily="34" charset="0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 sz="1400" b="0" i="0" u="none" strike="noStrike" dirty="0">
                <a:latin typeface="Calibri" panose="020F0502020204030204" pitchFamily="34" charset="0"/>
                <a:cs typeface="Calibri" panose="020F0502020204030204" pitchFamily="34" charset="0"/>
                <a:sym typeface="Noto Sans SC" panose="020B0200000000000000" charset="-122"/>
              </a:rPr>
              <a:t>以Pthreads并行编程为场景，评估ChatGPT检测数据竞争缺陷的能力，探究提示工程对检测性能的提升作用。</a:t>
            </a:r>
            <a:endParaRPr lang="zh-CN" altLang="en-US" sz="1400" b="0" i="0" u="none" strike="noStrike" dirty="0">
              <a:latin typeface="Calibri" panose="020F0502020204030204" pitchFamily="34" charset="0"/>
              <a:cs typeface="Calibri" panose="020F0502020204030204" pitchFamily="34" charset="0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en-US" altLang="zh-CN" sz="1400" b="0" i="0" u="none" strike="noStrike" dirty="0">
                <a:latin typeface="Calibri" panose="020F0502020204030204" pitchFamily="34" charset="0"/>
                <a:cs typeface="Calibri" panose="020F0502020204030204" pitchFamily="34" charset="0"/>
                <a:sym typeface="Noto Sans SC" panose="020B0200000000000000" charset="-122"/>
              </a:rPr>
              <a:t>2</a:t>
            </a:r>
            <a:r>
              <a:rPr lang="zh-CN" altLang="en-US" sz="1400" b="0" i="0" u="none" strike="noStrike" dirty="0">
                <a:latin typeface="Calibri" panose="020F0502020204030204" pitchFamily="34" charset="0"/>
                <a:cs typeface="Calibri" panose="020F0502020204030204" pitchFamily="34" charset="0"/>
                <a:sym typeface="Noto Sans SC" panose="020B0200000000000000" charset="-122"/>
              </a:rPr>
              <a:t>.</a:t>
            </a:r>
            <a:r>
              <a:rPr lang="en-US" altLang="zh-CN" sz="1400" b="0" i="0" u="none" strike="noStrike" dirty="0">
                <a:latin typeface="Calibri" panose="020F0502020204030204" pitchFamily="34" charset="0"/>
                <a:cs typeface="Calibri" panose="020F0502020204030204" pitchFamily="34" charset="0"/>
                <a:sym typeface="Noto Sans SC" panose="020B0200000000000000" charset="-122"/>
                <a:hlinkClick r:id="rId3" action="ppaction://hlinkfile"/>
              </a:rPr>
              <a:t>A Survey of LLM-based Automated Program Repair: Taxonomies, Design Paradigms, and Applications</a:t>
            </a:r>
            <a:endParaRPr lang="en-US" altLang="zh-CN" sz="1400" b="0" i="0" u="none" strike="noStrike" dirty="0">
              <a:latin typeface="Calibri" panose="020F0502020204030204" pitchFamily="34" charset="0"/>
              <a:cs typeface="Calibri" panose="020F0502020204030204" pitchFamily="34" charset="0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 sz="1400" b="0" i="0" u="none" strike="noStrike" dirty="0">
                <a:latin typeface="Calibri" panose="020F0502020204030204" pitchFamily="34" charset="0"/>
                <a:cs typeface="Calibri" panose="020F0502020204030204" pitchFamily="34" charset="0"/>
                <a:sym typeface="Noto Sans SC" panose="020B0200000000000000" charset="-122"/>
              </a:rPr>
              <a:t>整合62个最新修复系统，提出四大核心范式+两大跨层维度的统一分类体系：按参数适配和修复循环控制权限分为微调、提示工程、流程化流水线、智能体框架四类，叠加检索、分析增强维度；梳理了通用基准的评估标准，对比了各范式在任务适配、部署成本、修复多块/跨文件bug等方面的利弊，还指出领域现存挑战并给出研究方向，同时开源相关研究工件，为该领域后续研究和技术选型提供了体系化参考</a:t>
            </a:r>
            <a:r>
              <a:rPr lang="zh-CN" altLang="en-US" sz="1400" b="0" i="0" u="none" strike="noStrike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400" b="0" i="0" u="none" strike="noStrike" dirty="0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3.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  <a:hlinkClick r:id="rId4" action="ppaction://hlinkfile"/>
              </a:rPr>
              <a:t>RepairLLaMA: Efficient Representations and Fine-Tuned Adapters for Program Repair </a:t>
            </a:r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  <a:sym typeface="+mn-ea"/>
              </a:rPr>
              <a:t>（</a:t>
            </a:r>
            <a:r>
              <a:rPr lang="zh-CN" altLang="en-US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  <a:sym typeface="+mn-ea"/>
              </a:rPr>
              <a:t>最终选择</a:t>
            </a:r>
            <a:r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  <a:sym typeface="+mn-ea"/>
              </a:rPr>
              <a:t>）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 sz="1400" b="0" i="0" u="none" strike="noStrike" dirty="0">
                <a:latin typeface="Calibri" panose="020F0502020204030204" pitchFamily="34" charset="0"/>
                <a:cs typeface="Calibri" panose="020F0502020204030204" pitchFamily="34" charset="0"/>
                <a:sym typeface="Noto Sans SC" panose="020B0200000000000000" charset="-122"/>
              </a:rPr>
              <a:t>围绕自动化程序修复（APR） 领域的核心痛点，提出了名为 RepairLLaMA 的高效解决方案，核心是通过「优化代码表示」和「参数高效微调」，让大语言模型（LLM）在资源消耗更低的前提下，实现更优的程序修复效果。</a:t>
            </a:r>
            <a:endParaRPr lang="zh-CN" altLang="en-US" sz="1400" b="0" i="0" u="none" strike="noStrike" dirty="0">
              <a:latin typeface="Calibri" panose="020F0502020204030204" pitchFamily="34" charset="0"/>
              <a:cs typeface="Calibri" panose="020F0502020204030204" pitchFamily="34" charset="0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endParaRPr lang="zh-CN" altLang="en-US" sz="1400" b="0" i="0" u="none" strike="noStrike" dirty="0">
              <a:latin typeface="Calibri" panose="020F0502020204030204" pitchFamily="34" charset="0"/>
              <a:cs typeface="Calibri" panose="020F0502020204030204" pitchFamily="34" charset="0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604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08800" y="2432050"/>
            <a:ext cx="4191000" cy="1123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600" i="0" u="none" strike="noStrike" dirty="0">
              <a:solidFill>
                <a:srgbClr val="808080"/>
              </a:solidFill>
              <a:latin typeface="+mn-ea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915150" y="4562217"/>
            <a:ext cx="41910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zh-CN" altLang="zh-CN" sz="4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921500" y="514985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300" b="0" i="0" u="none" strike="noStrike" dirty="0">
              <a:solidFill>
                <a:srgbClr val="808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背景调研与选题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55395"/>
            <a:ext cx="10773410" cy="5094605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370330"/>
            <a:ext cx="10160000" cy="725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  <a:hlinkClick r:id="rId2" action="ppaction://hlinkfile"/>
              </a:rPr>
              <a:t>RepairLLaMA: Efficient Representations and Fine-Tuned Adapters for Program Repair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  <a:hlinkClick r:id="rId2" action="ppaction://hlinkfile"/>
              </a:rPr>
              <a:t> </a:t>
            </a:r>
            <a:endParaRPr lang="zh-CN" altLang="en-US" sz="2000" b="1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flipV="1">
            <a:off x="1016000" y="2157452"/>
            <a:ext cx="10158765" cy="1548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223135"/>
            <a:ext cx="10248900" cy="38474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 b="1">
                <a:sym typeface="+mn-ea"/>
              </a:rPr>
              <a:t>论文的核心贡献是两大设计，共同构成</a:t>
            </a:r>
            <a:r>
              <a:rPr lang="en-US" altLang="zh-CN" b="1">
                <a:sym typeface="+mn-ea"/>
              </a:rPr>
              <a:t> RepairLLaMA </a:t>
            </a:r>
            <a:r>
              <a:rPr lang="zh-CN" altLang="en-US" b="1">
                <a:sym typeface="+mn-ea"/>
              </a:rPr>
              <a:t>框架：</a:t>
            </a:r>
            <a:endParaRPr lang="zh-CN" altLang="en-US" b="1"/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APR </a:t>
            </a:r>
            <a:r>
              <a:rPr lang="zh-CN" altLang="en-US">
                <a:sym typeface="+mn-ea"/>
              </a:rPr>
              <a:t>专用最优代码表示（</a:t>
            </a:r>
            <a:r>
              <a:rPr lang="en-US" altLang="zh-CN">
                <a:sym typeface="+mn-ea"/>
              </a:rPr>
              <a:t>IR4</a:t>
            </a:r>
            <a:r>
              <a:rPr lang="en-US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OR2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>
                <a:sym typeface="+mn-ea"/>
              </a:rPr>
              <a:t>针对程序修复任务设计了「输入</a:t>
            </a:r>
            <a:r>
              <a:rPr lang="en-US" altLang="zh-CN">
                <a:sym typeface="+mn-ea"/>
              </a:rPr>
              <a:t> - </a:t>
            </a:r>
            <a:r>
              <a:rPr lang="zh-CN" altLang="en-US">
                <a:sym typeface="+mn-ea"/>
              </a:rPr>
              <a:t>输出」配对的代码表示，解决传统表示信息不足、不支持多位置</a:t>
            </a:r>
            <a:r>
              <a:rPr lang="en-US" altLang="zh-CN">
                <a:sym typeface="+mn-ea"/>
              </a:rPr>
              <a:t> bug </a:t>
            </a:r>
            <a:r>
              <a:rPr lang="zh-CN" altLang="en-US">
                <a:sym typeface="+mn-ea"/>
              </a:rPr>
              <a:t>的问题：</a:t>
            </a:r>
            <a:endParaRPr lang="zh-CN" altLang="en-US"/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>
                <a:sym typeface="+mn-ea"/>
              </a:rPr>
              <a:t>输入表示（</a:t>
            </a:r>
            <a:r>
              <a:rPr lang="en-US" altLang="zh-CN">
                <a:sym typeface="+mn-ea"/>
              </a:rPr>
              <a:t>IR4</a:t>
            </a:r>
            <a:r>
              <a:rPr lang="zh-CN" altLang="en-US">
                <a:sym typeface="+mn-ea"/>
              </a:rPr>
              <a:t>）：将</a:t>
            </a:r>
            <a:r>
              <a:rPr lang="en-US" altLang="zh-CN">
                <a:sym typeface="+mn-ea"/>
              </a:rPr>
              <a:t> bug </a:t>
            </a:r>
            <a:r>
              <a:rPr lang="zh-CN" altLang="en-US">
                <a:sym typeface="+mn-ea"/>
              </a:rPr>
              <a:t>代码区域用</a:t>
            </a:r>
            <a:r>
              <a:rPr lang="en-US" altLang="zh-CN">
                <a:sym typeface="+mn-ea"/>
              </a:rPr>
              <a:t>&lt;FILL_ME&gt;</a:t>
            </a:r>
            <a:r>
              <a:rPr lang="zh-CN" altLang="en-US">
                <a:sym typeface="+mn-ea"/>
              </a:rPr>
              <a:t>掩码替换，同时保留原始</a:t>
            </a:r>
            <a:r>
              <a:rPr lang="en-US" altLang="zh-CN">
                <a:sym typeface="+mn-ea"/>
              </a:rPr>
              <a:t> bug </a:t>
            </a:r>
            <a:r>
              <a:rPr lang="zh-CN" altLang="en-US">
                <a:sym typeface="+mn-ea"/>
              </a:rPr>
              <a:t>代码作为注释，融入故障定位（</a:t>
            </a:r>
            <a:r>
              <a:rPr lang="en-US" altLang="zh-CN">
                <a:sym typeface="+mn-ea"/>
              </a:rPr>
              <a:t>FL</a:t>
            </a:r>
            <a:r>
              <a:rPr lang="zh-CN" altLang="en-US">
                <a:sym typeface="+mn-ea"/>
              </a:rPr>
              <a:t>）信号（以代码区域为单位，而非单行列），既适配</a:t>
            </a:r>
            <a:r>
              <a:rPr lang="en-US" altLang="zh-CN">
                <a:sym typeface="+mn-ea"/>
              </a:rPr>
              <a:t> LLM </a:t>
            </a:r>
            <a:r>
              <a:rPr lang="zh-CN" altLang="en-US">
                <a:sym typeface="+mn-ea"/>
              </a:rPr>
              <a:t>预训练的「填充（</a:t>
            </a:r>
            <a:r>
              <a:rPr lang="en-US" altLang="zh-CN">
                <a:sym typeface="+mn-ea"/>
              </a:rPr>
              <a:t>infilling</a:t>
            </a:r>
            <a:r>
              <a:rPr lang="zh-CN" altLang="en-US">
                <a:sym typeface="+mn-ea"/>
              </a:rPr>
              <a:t>）」目标，又提供完整修复线索；</a:t>
            </a:r>
            <a:endParaRPr lang="zh-CN" altLang="en-US"/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>
                <a:sym typeface="+mn-ea"/>
              </a:rPr>
              <a:t>输出表示（</a:t>
            </a:r>
            <a:r>
              <a:rPr lang="en-US" altLang="zh-CN">
                <a:sym typeface="+mn-ea"/>
              </a:rPr>
              <a:t>OR2</a:t>
            </a:r>
            <a:r>
              <a:rPr lang="zh-CN" altLang="en-US">
                <a:sym typeface="+mn-ea"/>
              </a:rPr>
              <a:t>）：仅生成替换</a:t>
            </a:r>
            <a:r>
              <a:rPr lang="en-US" altLang="zh-CN">
                <a:sym typeface="+mn-ea"/>
              </a:rPr>
              <a:t> bug </a:t>
            </a:r>
            <a:r>
              <a:rPr lang="zh-CN" altLang="en-US">
                <a:sym typeface="+mn-ea"/>
              </a:rPr>
              <a:t>区域的修复代码块（而非完整函数或冗长</a:t>
            </a:r>
            <a:r>
              <a:rPr lang="en-US" altLang="zh-CN">
                <a:sym typeface="+mn-ea"/>
              </a:rPr>
              <a:t> diff</a:t>
            </a:r>
            <a:r>
              <a:rPr lang="zh-CN" altLang="en-US">
                <a:sym typeface="+mn-ea"/>
              </a:rPr>
              <a:t>），最小化</a:t>
            </a:r>
            <a:r>
              <a:rPr lang="en-US" altLang="zh-CN">
                <a:sym typeface="+mn-ea"/>
              </a:rPr>
              <a:t> LLM </a:t>
            </a:r>
            <a:r>
              <a:rPr lang="zh-CN" altLang="en-US">
                <a:sym typeface="+mn-ea"/>
              </a:rPr>
              <a:t>生成压力，提升修复准确率。</a:t>
            </a:r>
            <a:endParaRPr lang="zh-CN" altLang="en-US"/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）基于</a:t>
            </a:r>
            <a:r>
              <a:rPr lang="en-US" altLang="zh-CN">
                <a:sym typeface="+mn-ea"/>
              </a:rPr>
              <a:t> LoRA </a:t>
            </a:r>
            <a:r>
              <a:rPr lang="zh-CN" altLang="en-US">
                <a:sym typeface="+mn-ea"/>
              </a:rPr>
              <a:t>的参数高效微调（</a:t>
            </a:r>
            <a:r>
              <a:rPr lang="en-US" altLang="zh-CN">
                <a:sym typeface="+mn-ea"/>
              </a:rPr>
              <a:t>PEFT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>
                <a:sym typeface="+mn-ea"/>
              </a:rPr>
              <a:t>首次将低秩适配（</a:t>
            </a:r>
            <a:r>
              <a:rPr lang="en-US" altLang="zh-CN">
                <a:sym typeface="+mn-ea"/>
              </a:rPr>
              <a:t>LoRA</a:t>
            </a:r>
            <a:r>
              <a:rPr lang="zh-CN" altLang="en-US">
                <a:sym typeface="+mn-ea"/>
              </a:rPr>
              <a:t>）引入</a:t>
            </a:r>
            <a:r>
              <a:rPr lang="en-US" altLang="zh-CN">
                <a:sym typeface="+mn-ea"/>
              </a:rPr>
              <a:t> APR </a:t>
            </a:r>
            <a:r>
              <a:rPr lang="zh-CN" altLang="en-US">
                <a:sym typeface="+mn-ea"/>
              </a:rPr>
              <a:t>领域，替代全量微调：</a:t>
            </a:r>
            <a:endParaRPr lang="zh-CN" altLang="en-US"/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>
                <a:sym typeface="+mn-ea"/>
              </a:rPr>
              <a:t>冻结预训练</a:t>
            </a:r>
            <a:r>
              <a:rPr lang="en-US" altLang="zh-CN">
                <a:sym typeface="+mn-ea"/>
              </a:rPr>
              <a:t> LLM</a:t>
            </a:r>
            <a:r>
              <a:rPr lang="zh-CN" altLang="en-US">
                <a:sym typeface="+mn-ea"/>
              </a:rPr>
              <a:t>（如</a:t>
            </a:r>
            <a:r>
              <a:rPr lang="en-US" altLang="zh-CN">
                <a:sym typeface="+mn-ea"/>
              </a:rPr>
              <a:t> CodeLLaMA-7B</a:t>
            </a:r>
            <a:r>
              <a:rPr lang="zh-CN" altLang="en-US">
                <a:sym typeface="+mn-ea"/>
              </a:rPr>
              <a:t>）的所有权重，仅在注意力层的</a:t>
            </a:r>
            <a:r>
              <a:rPr lang="en-US" altLang="zh-CN">
                <a:sym typeface="+mn-ea"/>
              </a:rPr>
              <a:t> q_proj/v_proj </a:t>
            </a:r>
            <a:r>
              <a:rPr lang="zh-CN" altLang="en-US">
                <a:sym typeface="+mn-ea"/>
              </a:rPr>
              <a:t>矩阵中插入低秩矩阵；</a:t>
            </a:r>
            <a:endParaRPr lang="zh-CN" altLang="en-US"/>
          </a:p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r>
              <a:rPr lang="zh-CN" altLang="en-US">
                <a:sym typeface="+mn-ea"/>
              </a:rPr>
              <a:t>训练仅</a:t>
            </a:r>
            <a:r>
              <a:rPr lang="en-US" altLang="zh-CN">
                <a:sym typeface="+mn-ea"/>
              </a:rPr>
              <a:t> 400 </a:t>
            </a:r>
            <a:r>
              <a:rPr lang="zh-CN" altLang="en-US">
                <a:sym typeface="+mn-ea"/>
              </a:rPr>
              <a:t>万参数的「修复适配器（</a:t>
            </a:r>
            <a:r>
              <a:rPr lang="en-US" altLang="zh-CN">
                <a:sym typeface="+mn-ea"/>
              </a:rPr>
              <a:t>Repair Adapter</a:t>
            </a:r>
            <a:r>
              <a:rPr lang="zh-CN" altLang="en-US">
                <a:sym typeface="+mn-ea"/>
              </a:rPr>
              <a:t>）」，参数量是原</a:t>
            </a:r>
            <a:r>
              <a:rPr lang="en-US" altLang="zh-CN">
                <a:sym typeface="+mn-ea"/>
              </a:rPr>
              <a:t> LLM 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 1/1600</a:t>
            </a:r>
            <a:r>
              <a:rPr lang="zh-CN" altLang="en-US">
                <a:sym typeface="+mn-ea"/>
              </a:rPr>
              <a:t>，大幅降低</a:t>
            </a:r>
            <a:r>
              <a:rPr lang="en-US" altLang="zh-CN">
                <a:sym typeface="+mn-ea"/>
              </a:rPr>
              <a:t> GPU </a:t>
            </a:r>
            <a:r>
              <a:rPr lang="zh-CN" altLang="en-US">
                <a:sym typeface="+mn-ea"/>
              </a:rPr>
              <a:t>资源消耗，同时缓解过拟合。</a:t>
            </a:r>
            <a:endParaRPr lang="zh-CN" altLang="en-US" sz="1400" b="0" i="0" u="none" strike="noStrike" dirty="0">
              <a:latin typeface="Calibri" panose="020F0502020204030204" pitchFamily="34" charset="0"/>
              <a:cs typeface="Calibri" panose="020F0502020204030204" pitchFamily="34" charset="0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604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08800" y="2432050"/>
            <a:ext cx="4191000" cy="1123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600" i="0" u="none" strike="noStrike" dirty="0">
              <a:solidFill>
                <a:srgbClr val="808080"/>
              </a:solidFill>
              <a:latin typeface="+mn-ea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915150" y="4562217"/>
            <a:ext cx="41910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zh-CN" altLang="zh-CN" sz="4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921500" y="514985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300" b="0" i="0" u="none" strike="noStrike" dirty="0">
              <a:solidFill>
                <a:srgbClr val="808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背景调研与选题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55395"/>
            <a:ext cx="10773410" cy="5094605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370330"/>
            <a:ext cx="10160000" cy="725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  <a:hlinkClick r:id="rId2" action="ppaction://hlinkfile"/>
              </a:rPr>
              <a:t>RepairLLaMA: Efficient Representations and Fine-Tuned Adapters for Program Repair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  <a:hlinkClick r:id="rId2" action="ppaction://hlinkfile"/>
              </a:rPr>
              <a:t> </a:t>
            </a:r>
            <a:endParaRPr lang="zh-CN" altLang="en-US" sz="2000" b="1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flipV="1">
            <a:off x="1016000" y="2157452"/>
            <a:ext cx="10158765" cy="1548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223135"/>
            <a:ext cx="10248900" cy="38474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7000"/>
              </a:lnSpc>
              <a:spcAft>
                <a:spcPts val="1000"/>
              </a:spcAft>
              <a:defRPr/>
            </a:pPr>
            <a:endParaRPr lang="zh-CN" altLang="en-US" sz="1400" b="0" i="0" u="none" strike="noStrike" dirty="0">
              <a:latin typeface="Calibri" panose="020F0502020204030204" pitchFamily="34" charset="0"/>
              <a:cs typeface="Calibri" panose="020F0502020204030204" pitchFamily="34" charset="0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604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08800" y="2432050"/>
            <a:ext cx="4191000" cy="1123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600" i="0" u="none" strike="noStrike" dirty="0">
              <a:solidFill>
                <a:srgbClr val="808080"/>
              </a:solidFill>
              <a:latin typeface="+mn-ea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915150" y="4562217"/>
            <a:ext cx="41910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zh-CN" altLang="zh-CN" sz="4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921500" y="514985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300" b="0" i="0" u="none" strike="noStrike" dirty="0">
              <a:solidFill>
                <a:srgbClr val="808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图片 3" descr="768b18450f1c6c828af68ffa55eef3d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159000"/>
            <a:ext cx="5311140" cy="39852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821170" y="3693160"/>
            <a:ext cx="42310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</a:t>
            </a:r>
            <a:r>
              <a:rPr lang="en-US" sz="2000"/>
              <a:t>Defects4J v2</a:t>
            </a:r>
            <a:r>
              <a:rPr lang="zh-CN" altLang="en-US" sz="2000">
                <a:ea typeface="宋体" panose="02010600030101010101" pitchFamily="2" charset="-122"/>
              </a:rPr>
              <a:t>数据集上</a:t>
            </a:r>
            <a:r>
              <a:rPr lang="zh-CN" altLang="en-US" sz="2000"/>
              <a:t>超越</a:t>
            </a:r>
            <a:r>
              <a:rPr lang="en-US" altLang="zh-CN" sz="2000"/>
              <a:t> GPT-3.5/GPT-4 </a:t>
            </a:r>
            <a:r>
              <a:rPr lang="zh-CN" altLang="en-US" sz="2000"/>
              <a:t>等闭源大模型，修复能力更强，支持多位置</a:t>
            </a:r>
            <a:r>
              <a:rPr lang="en-US" altLang="zh-CN" sz="2000"/>
              <a:t> bug </a:t>
            </a:r>
            <a:r>
              <a:rPr lang="zh-CN" altLang="en-US" sz="2000"/>
              <a:t>修复；</a:t>
            </a:r>
            <a:endParaRPr lang="zh-CN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</a:t>
            </a:r>
            <a:r>
              <a:rPr lang="en-US" altLang="zh-CN" sz="36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RepairLLaMA</a:t>
            </a:r>
            <a:r>
              <a:rPr lang="zh-CN" altLang="en-US" sz="36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原因：</a:t>
            </a:r>
            <a:endParaRPr lang="en-US" sz="1100" dirty="0"/>
          </a:p>
        </p:txBody>
      </p:sp>
      <p:sp>
        <p:nvSpPr>
          <p:cNvPr id="15" name="AutoShape 15"/>
          <p:cNvSpPr/>
          <p:nvPr>
            <p:custDataLst>
              <p:tags r:id="rId2"/>
            </p:custDataLst>
          </p:nvPr>
        </p:nvSpPr>
        <p:spPr>
          <a:xfrm>
            <a:off x="952500" y="1498600"/>
            <a:ext cx="8997950" cy="1322388"/>
          </a:xfrm>
          <a:prstGeom prst="roundRect">
            <a:avLst>
              <a:gd name="adj" fmla="val 12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635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050" y="18542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6"/>
            </p:custDataLst>
          </p:nvPr>
        </p:nvSpPr>
        <p:spPr>
          <a:xfrm>
            <a:off x="1625600" y="1524000"/>
            <a:ext cx="70802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</a:t>
            </a:r>
            <a:r>
              <a:rPr lang="en-US" sz="18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一：</a:t>
            </a:r>
            <a:r>
              <a:rPr lang="en-US" altLang="zh-CN" sz="1800" b="1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技术先进性与学术价值</a:t>
            </a:r>
            <a:endParaRPr lang="zh-CN" altLang="en-US" sz="1100" dirty="0"/>
          </a:p>
        </p:txBody>
      </p:sp>
      <p:sp>
        <p:nvSpPr>
          <p:cNvPr id="18" name="AutoShape 18"/>
          <p:cNvSpPr/>
          <p:nvPr>
            <p:custDataLst>
              <p:tags r:id="rId7"/>
            </p:custDataLst>
          </p:nvPr>
        </p:nvSpPr>
        <p:spPr>
          <a:xfrm>
            <a:off x="1625600" y="2017395"/>
            <a:ext cx="79883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dirty="0"/>
              <a:t>      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发表于顶刊 IEEE TSE，核心创新（专用表示 + LoRA 适配器）具有强学术背书，适合作为研究基础；首次系统验证了参数高效微调在程序修复中的有效性，填补了相关领域空白；开源代码、预训练模型（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IR4*OR2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ea typeface="宋体" panose="02010600030101010101" pitchFamily="2" charset="-122"/>
              </a:rPr>
              <a:t>未开源需本地训练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）、数据集全套开放，文档规范，支持快速上手。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AutoShape 19"/>
          <p:cNvSpPr/>
          <p:nvPr>
            <p:custDataLst>
              <p:tags r:id="rId8"/>
            </p:custDataLst>
          </p:nvPr>
        </p:nvSpPr>
        <p:spPr>
          <a:xfrm>
            <a:off x="952500" y="3048395"/>
            <a:ext cx="8997950" cy="1405731"/>
          </a:xfrm>
          <a:prstGeom prst="roundRect">
            <a:avLst>
              <a:gd name="adj" fmla="val 12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635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3347247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11"/>
            </p:custDataLst>
          </p:nvPr>
        </p:nvSpPr>
        <p:spPr>
          <a:xfrm>
            <a:off x="1543050" y="3165474"/>
            <a:ext cx="77914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</a:t>
            </a:r>
            <a:r>
              <a:rPr lang="en-US" sz="18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二：</a:t>
            </a:r>
            <a:r>
              <a:rPr lang="en-US" altLang="zh-CN" sz="18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Repair</a:t>
            </a:r>
            <a:r>
              <a:rPr lang="en-US" altLang="zh-CN" sz="18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8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LLaMA</a:t>
            </a:r>
            <a:r>
              <a:rPr lang="zh-CN" altLang="en-US" sz="18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支持轻量化本地化部署</a:t>
            </a:r>
            <a:endParaRPr lang="en-US" sz="1100" dirty="0"/>
          </a:p>
        </p:txBody>
      </p:sp>
      <p:sp>
        <p:nvSpPr>
          <p:cNvPr id="22" name="AutoShape 22"/>
          <p:cNvSpPr/>
          <p:nvPr>
            <p:custDataLst>
              <p:tags r:id="rId12"/>
            </p:custDataLst>
          </p:nvPr>
        </p:nvSpPr>
        <p:spPr>
          <a:xfrm>
            <a:off x="1422400" y="3510753"/>
            <a:ext cx="8191500" cy="6953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RepairLLaMA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采用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LoRA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轻量化微调架构，仅需单张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GPU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即可完成微调，基于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CodeLlama-7B/13B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的轻量级衍生版本，可完全本地化部署（无需调用外部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API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AutoShape 23"/>
          <p:cNvSpPr/>
          <p:nvPr>
            <p:custDataLst>
              <p:tags r:id="rId13"/>
            </p:custDataLst>
          </p:nvPr>
        </p:nvSpPr>
        <p:spPr>
          <a:xfrm>
            <a:off x="952500" y="4718049"/>
            <a:ext cx="8997950" cy="1405731"/>
          </a:xfrm>
          <a:prstGeom prst="roundRect">
            <a:avLst>
              <a:gd name="adj" fmla="val 12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635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3775" y="5166914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16"/>
            </p:custDataLst>
          </p:nvPr>
        </p:nvSpPr>
        <p:spPr>
          <a:xfrm>
            <a:off x="1543050" y="4806950"/>
            <a:ext cx="80581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</a:t>
            </a:r>
            <a:r>
              <a:rPr lang="en-US" sz="18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三：</a:t>
            </a:r>
            <a:r>
              <a:rPr lang="en-US" altLang="zh-CN" sz="1800" b="1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Repair</a:t>
            </a:r>
            <a:r>
              <a:rPr lang="en-US" altLang="zh-CN" sz="18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800" b="1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LLaMA</a:t>
            </a:r>
            <a:r>
              <a:rPr lang="zh-CN" altLang="en-US" sz="18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具备高扩展性，适配死锁检测</a:t>
            </a:r>
            <a:r>
              <a:rPr lang="en-US" altLang="zh-CN" sz="18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8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修复的一体化的功能扩展</a:t>
            </a:r>
            <a:endParaRPr lang="en-US" sz="1100" dirty="0"/>
          </a:p>
        </p:txBody>
      </p:sp>
      <p:sp>
        <p:nvSpPr>
          <p:cNvPr id="26" name="AutoShape 26"/>
          <p:cNvSpPr/>
          <p:nvPr>
            <p:custDataLst>
              <p:tags r:id="rId17"/>
            </p:custDataLst>
          </p:nvPr>
        </p:nvSpPr>
        <p:spPr>
          <a:xfrm>
            <a:off x="1543050" y="5302250"/>
            <a:ext cx="8147050" cy="6223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dirty="0">
                <a:solidFill>
                  <a:schemeClr val="accent3"/>
                </a:solidFill>
              </a:rPr>
              <a:t>         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RepairLLaMA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的模型架构设计为 “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Bug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检测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修复生成” 的模块化结构，且支持参数高效微调：我们无需对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7B/13B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量级的模型做全量微调，只需针对 “死锁检测规则”“并发语义理解”“锁顺序优化修复” 等核心需求，微调少量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LoRA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参数，即可快速集成死锁检测模块，并将死锁修复逻辑融入现有修复框架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改进思路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203454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1600" cy="1967230"/>
          </a:xfrm>
          <a:prstGeom prst="roundRect">
            <a:avLst>
              <a:gd name="adj" fmla="val 12500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29362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862455" y="209042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思路</a:t>
            </a:r>
            <a:r>
              <a:rPr lang="en-US" sz="20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一：</a:t>
            </a:r>
            <a:r>
              <a:rPr lang="zh-CN" altLang="en-US" sz="20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QLoRA 4-bit 量化训练</a:t>
            </a:r>
            <a:endParaRPr lang="zh-CN" altLang="en-US" sz="2000" b="1" dirty="0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在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原项目使用的是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LLM.int8() 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的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INT8 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量化方案（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Dettmers et al., NeurIPS 2022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），通过混合精度策略将绝对值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&gt;6.0 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的异常值保留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FP16 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精度，其余权重压缩到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INT8 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格式，训练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CodeLlama-7B 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约需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8GB 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显存。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我们使用的方法是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QLoRA 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的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NF4 4-bit 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量化方案（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Dettmers et al., NeurIPS 2023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），基于信息论分位数量化原理，对服从正态分布的神经网络权重采用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0 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附近密集、两端稀疏的非均匀量化点，并启用双重量化和分页优化器。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好处是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在数学上保证了最小的量化误差（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Theorem 1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），将训练显存需求从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8GB 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降至约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5GB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（降低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37%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），使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RTX 3060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（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12GB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）、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RTX 4060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（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8GB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）等消费级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 GPU 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能够参与训练，同时保持修复率无显著下降（实证差距</a:t>
            </a:r>
            <a:r>
              <a:rPr lang="en-US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&lt;1%</a:t>
            </a:r>
            <a:r>
              <a:rPr lang="zh-CN" altLang="en-US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）</a:t>
            </a:r>
            <a:r>
              <a:rPr lang="zh-CN" altLang="zh-CN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</a:rPr>
              <a:t>。</a:t>
            </a:r>
            <a:endParaRPr lang="zh-CN" altLang="zh-CN" sz="3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140200"/>
            <a:ext cx="10668000" cy="2359025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4391660"/>
            <a:ext cx="101600" cy="2016125"/>
          </a:xfrm>
          <a:prstGeom prst="roundRect">
            <a:avLst>
              <a:gd name="adj" fmla="val 12500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6170" y="5094605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62455" y="4770755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思路</a:t>
            </a:r>
            <a:r>
              <a:rPr lang="en-US" sz="20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二：</a:t>
            </a:r>
            <a:r>
              <a:rPr lang="zh-CN" altLang="en-US" sz="20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批量推理加速（Batch Inference）</a:t>
            </a:r>
            <a:endParaRPr lang="zh-CN" altLang="en-US" sz="1100" dirty="0"/>
          </a:p>
          <a:p>
            <a:pPr indent="0" algn="l">
              <a:lnSpc>
                <a:spcPct val="125000"/>
              </a:lnSpc>
            </a:pP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原项目使用的是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逐条推理策略（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batch_size=1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），每次仅向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GPU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提交一条样本进行推理，主要出于显存安全性和代码简洁性的考量，导致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GPU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计算核心利用率不足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20%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，在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Defects4J v2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488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bug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）上耗时约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75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分钟。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我们使用的方法是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GPU SIMD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架构和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Roofline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模型的批量推理策略，通过长度分组（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Bucketing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）减少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padding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浪费，动态选择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batch_size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8GB</a:t>
            </a:r>
            <a:r>
              <a:rPr lang="en-US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16GB</a:t>
            </a:r>
            <a:r>
              <a:rPr lang="en-US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24GB</a:t>
            </a:r>
            <a:r>
              <a:rPr lang="en-US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），并利用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Attention Mask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机制忽略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padding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部分。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好处是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GPU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利用率从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&lt;20%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提升至约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65%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，推理速度提升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3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倍（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75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分钟</a:t>
            </a:r>
            <a:r>
              <a:rPr lang="en-US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分钟），在大规模对比实验场景下可节省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70%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的时间（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55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小时），显著加速研究迭代，同时通过长度分组将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padding 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浪费降低</a:t>
            </a:r>
            <a:r>
              <a:rPr lang="en-US" altLang="zh-CN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60%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r>
              <a:rPr lang="zh-CN" altLang="en-US" sz="1400" b="0" i="0" u="none" strike="noStrike" dirty="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b="0" i="0" u="none" strike="noStrike" dirty="0">
              <a:solidFill>
                <a:srgbClr val="808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905000" y="48260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400" b="0" i="0" u="none" strike="noStrike" dirty="0">
              <a:solidFill>
                <a:srgbClr val="808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复现结果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762000" y="457327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336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4745990"/>
            <a:ext cx="10668000" cy="20497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457200" algn="l">
              <a:lnSpc>
                <a:spcPct val="125000"/>
              </a:lnSpc>
              <a:defRPr/>
            </a:pPr>
            <a:r>
              <a:rPr lang="zh-CN" altLang="en-US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训练数据集为</a:t>
            </a:r>
            <a:r>
              <a:rPr lang="en-US" altLang="zh-CN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small_dataset</a:t>
            </a:r>
            <a:r>
              <a:rPr lang="zh-CN" altLang="en-US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（选择轻量化训练集，适配低配置训练）</a:t>
            </a:r>
            <a:endParaRPr lang="zh-CN" altLang="en-US" sz="1200" i="0" u="none" strike="noStrike" dirty="0" err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457200" algn="l">
              <a:lnSpc>
                <a:spcPct val="125000"/>
              </a:lnSpc>
              <a:defRPr/>
            </a:pPr>
            <a:r>
              <a:rPr lang="zh-CN" altLang="en-US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</a:t>
            </a:r>
            <a:r>
              <a:rPr lang="en-US" altLang="zh-CN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DeepSeek-Coder-1.3b-base</a:t>
            </a:r>
            <a:r>
              <a:rPr lang="zh-CN" altLang="en-US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作为模型底座（</a:t>
            </a:r>
            <a:r>
              <a:rPr lang="en-US" altLang="zh-CN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1.3B</a:t>
            </a:r>
            <a:r>
              <a:rPr lang="zh-CN" altLang="en-US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轻量代码</a:t>
            </a:r>
            <a:r>
              <a:rPr lang="en-US" altLang="zh-CN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</a:t>
            </a:r>
            <a:r>
              <a:rPr lang="zh-CN" altLang="en-US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，基础显存占用仅</a:t>
            </a:r>
            <a:r>
              <a:rPr lang="en-US" altLang="zh-CN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4-5GB</a:t>
            </a:r>
            <a:r>
              <a:rPr lang="zh-CN" altLang="en-US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），搭配显存优化策略后，实</a:t>
            </a:r>
            <a:r>
              <a:rPr lang="en-US" altLang="zh-CN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zh-CN" altLang="en-US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际训练显存占用控制在</a:t>
            </a:r>
            <a:r>
              <a:rPr lang="en-US" altLang="zh-CN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6.5-7.5GB</a:t>
            </a:r>
            <a:r>
              <a:rPr lang="zh-CN" altLang="en-US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，完全适配</a:t>
            </a:r>
            <a:r>
              <a:rPr lang="en-US" altLang="zh-CN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8GB</a:t>
            </a:r>
            <a:r>
              <a:rPr lang="zh-CN" altLang="en-US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显卡。</a:t>
            </a:r>
            <a:endParaRPr lang="zh-CN" altLang="en-US" sz="1200" i="0" u="none" strike="noStrike" dirty="0" err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1.</a:t>
            </a:r>
            <a:r>
              <a:rPr lang="zh-CN" altLang="en-US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当前模型修复精度暂未达最优：由于我们使用了1.3B轻量模型、small_dataset轻量化训练</a:t>
            </a:r>
            <a:endParaRPr lang="zh-CN" altLang="en-US" sz="1200" i="0" u="none" strike="noStrike" dirty="0" err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集，模型的泛化能力和修复能力有限，对复杂代码错误的修复效果有待提升；</a:t>
            </a:r>
            <a:endParaRPr lang="zh-CN" altLang="en-US" sz="1200" i="0" u="none" strike="noStrike" dirty="0" err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zh-CN" altLang="en-US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低配置适配方案的可行性得到验证：本次实验验证了“1.3B模型+FP16+梯度检查点+小批次”的显</a:t>
            </a:r>
            <a:endParaRPr lang="zh-CN" altLang="en-US" sz="1200" i="0" u="none" strike="noStrike" dirty="0" err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200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存优化方案，能在8GB显存下稳定运行LLM微调，为其他低配置入门LLM项目提供了参考。</a:t>
            </a:r>
            <a:endParaRPr lang="zh-CN" altLang="en-US" sz="1200" i="0" u="none" strike="noStrike" dirty="0" err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总结：本次复现实验不仅验证了理论</a:t>
            </a:r>
            <a:r>
              <a:rPr lang="zh-CN" altLang="en-US" sz="12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en-US" sz="12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可行性，更为后续的工程化落地提供了坚实的数据支撑</a:t>
            </a:r>
            <a:r>
              <a:rPr lang="en-US" sz="12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59535"/>
            <a:ext cx="4444365" cy="29438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215" y="1270000"/>
            <a:ext cx="4133215" cy="31553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参考论文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6096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3" name="矩形: 圆角 22"/>
          <p:cNvSpPr/>
          <p:nvPr/>
        </p:nvSpPr>
        <p:spPr>
          <a:xfrm>
            <a:off x="859168" y="1583323"/>
            <a:ext cx="10758008" cy="46396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312106" y="1882583"/>
            <a:ext cx="956778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《</a:t>
            </a:r>
            <a:r>
              <a:rPr lang="en-US" altLang="zh-CN" dirty="0" err="1">
                <a:solidFill>
                  <a:schemeClr val="tx1"/>
                </a:solidFill>
              </a:rPr>
              <a:t>RepairLLaMA：用于程序修复的高效表示和微调适配器</a:t>
            </a:r>
            <a:r>
              <a:rPr lang="en-US" altLang="zh-CN" dirty="0">
                <a:solidFill>
                  <a:schemeClr val="tx1"/>
                </a:solidFill>
              </a:rPr>
              <a:t>》</a:t>
            </a:r>
            <a:endParaRPr lang="zh-CN" altLang="zh-CN" dirty="0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312106" y="2503683"/>
            <a:ext cx="956778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《</a:t>
            </a:r>
            <a:r>
              <a:rPr lang="en-US" altLang="zh-CN" dirty="0" err="1"/>
              <a:t>通过提示工程评估</a:t>
            </a:r>
            <a:r>
              <a:rPr lang="en-US" altLang="zh-CN" dirty="0"/>
              <a:t> ChatGPT </a:t>
            </a:r>
            <a:r>
              <a:rPr lang="en-US" altLang="zh-CN" dirty="0" err="1"/>
              <a:t>在并行编程中数据竞争检测方面的优势和局限性</a:t>
            </a:r>
            <a:r>
              <a:rPr lang="en-US" altLang="zh-CN" dirty="0"/>
              <a:t> 》</a:t>
            </a:r>
            <a:endParaRPr lang="zh-CN" altLang="zh-CN" dirty="0"/>
          </a:p>
        </p:txBody>
      </p:sp>
      <p:sp>
        <p:nvSpPr>
          <p:cNvPr id="32" name="文本框 31"/>
          <p:cNvSpPr txBox="1"/>
          <p:nvPr/>
        </p:nvSpPr>
        <p:spPr>
          <a:xfrm>
            <a:off x="1312106" y="2965554"/>
            <a:ext cx="956778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hlinkClick r:id="rId2"/>
              </a:rPr>
              <a:t>3</a:t>
            </a:r>
            <a:r>
              <a:rPr lang="zh-CN" altLang="en-US" dirty="0">
                <a:solidFill>
                  <a:schemeClr val="tx1"/>
                </a:solidFill>
                <a:hlinkClick r:id="rId2"/>
              </a:rPr>
              <a:t>、</a:t>
            </a:r>
            <a:r>
              <a:rPr lang="en-US" altLang="zh-CN" dirty="0">
                <a:solidFill>
                  <a:schemeClr val="tx1"/>
                </a:solidFill>
                <a:hlinkClick r:id="rId2"/>
              </a:rPr>
              <a:t>[2506.23749]《 </a:t>
            </a:r>
            <a:r>
              <a:rPr lang="en-US" altLang="zh-CN" dirty="0" err="1">
                <a:solidFill>
                  <a:schemeClr val="tx1"/>
                </a:solidFill>
                <a:hlinkClick r:id="rId2"/>
              </a:rPr>
              <a:t>基于LLM的自动程序修复综述：分类、设计范式和应用</a:t>
            </a:r>
            <a:r>
              <a:rPr lang="en-US" altLang="zh-CN" dirty="0">
                <a:solidFill>
                  <a:schemeClr val="tx1"/>
                </a:solidFill>
              </a:rPr>
              <a:t>》</a:t>
            </a:r>
            <a:endParaRPr lang="zh-CN" altLang="zh-CN" dirty="0">
              <a:solidFill>
                <a:schemeClr val="tx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312106" y="3383984"/>
            <a:ext cx="956778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hlinkClick r:id="rId3"/>
              </a:rPr>
              <a:t>4</a:t>
            </a:r>
            <a:r>
              <a:rPr lang="zh-CN" altLang="en-US" dirty="0">
                <a:solidFill>
                  <a:schemeClr val="tx1"/>
                </a:solidFill>
                <a:hlinkClick r:id="rId3"/>
              </a:rPr>
              <a:t>、</a:t>
            </a:r>
            <a:r>
              <a:rPr lang="en-US" altLang="zh-CN" dirty="0">
                <a:solidFill>
                  <a:schemeClr val="tx1"/>
                </a:solidFill>
                <a:hlinkClick r:id="rId3"/>
              </a:rPr>
              <a:t>[2405.01466] 《</a:t>
            </a:r>
            <a:r>
              <a:rPr lang="en-US" altLang="zh-CN" dirty="0" err="1">
                <a:solidFill>
                  <a:schemeClr val="tx1"/>
                </a:solidFill>
                <a:hlinkClick r:id="rId3"/>
              </a:rPr>
              <a:t>用于自动程序修复的大型语言模型的系统文献综述</a:t>
            </a:r>
            <a:r>
              <a:rPr lang="en-US" altLang="zh-CN" dirty="0"/>
              <a:t>》</a:t>
            </a:r>
            <a:endParaRPr lang="zh-CN" altLang="zh-CN" dirty="0"/>
          </a:p>
        </p:txBody>
      </p:sp>
      <p:sp>
        <p:nvSpPr>
          <p:cNvPr id="34" name="文本框 33"/>
          <p:cNvSpPr txBox="1"/>
          <p:nvPr/>
        </p:nvSpPr>
        <p:spPr>
          <a:xfrm>
            <a:off x="1312106" y="3831059"/>
            <a:ext cx="956778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《 Automated Program Repair: A Primer 》-----</a:t>
            </a:r>
            <a:r>
              <a:rPr lang="zh-CN" altLang="en-US" dirty="0"/>
              <a:t>拆解了 </a:t>
            </a:r>
            <a:r>
              <a:rPr lang="en-US" altLang="zh-CN" dirty="0"/>
              <a:t>APR </a:t>
            </a:r>
            <a:r>
              <a:rPr lang="zh-CN" altLang="en-US" dirty="0"/>
              <a:t>的完整流程：故障定位→补丁生成→补丁验证</a:t>
            </a:r>
            <a:endParaRPr lang="en-US" altLang="zh-CN" dirty="0"/>
          </a:p>
          <a:p>
            <a:endParaRPr lang="zh-CN" altLang="zh-CN" dirty="0"/>
          </a:p>
        </p:txBody>
      </p:sp>
      <p:sp>
        <p:nvSpPr>
          <p:cNvPr id="35" name="文本框 34"/>
          <p:cNvSpPr txBox="1"/>
          <p:nvPr/>
        </p:nvSpPr>
        <p:spPr>
          <a:xfrm>
            <a:off x="1312106" y="4281759"/>
            <a:ext cx="956778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《Understanding Concurrency Bugs: A Comprehensive Study on Real-World Concurrency Bug Characteristics 》---      --</a:t>
            </a:r>
            <a:r>
              <a:rPr lang="zh-CN" altLang="en-US" dirty="0"/>
              <a:t>死锁和原子性违反的定义和触发原因，以及传统修复方法</a:t>
            </a:r>
            <a:endParaRPr lang="zh-CN" altLang="zh-CN" dirty="0"/>
          </a:p>
        </p:txBody>
      </p:sp>
      <p:sp>
        <p:nvSpPr>
          <p:cNvPr id="36" name="文本框 35"/>
          <p:cNvSpPr txBox="1"/>
          <p:nvPr/>
        </p:nvSpPr>
        <p:spPr>
          <a:xfrm>
            <a:off x="1312106" y="4968590"/>
            <a:ext cx="956778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/>
              <a:t>《Deadlock Detection and Repair: A Survey》-----</a:t>
            </a:r>
            <a:r>
              <a:rPr lang="zh-CN" altLang="en-US" dirty="0"/>
              <a:t>死锁的检测与修复的完整流程</a:t>
            </a:r>
            <a:endParaRPr lang="zh-CN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2984500"/>
            <a:ext cx="762000" cy="50800"/>
          </a:xfrm>
          <a:prstGeom prst="roundRect">
            <a:avLst>
              <a:gd name="adj" fmla="val 0"/>
            </a:avLst>
          </a:prstGeom>
          <a:solidFill>
            <a:srgbClr val="CCCC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0,&quot;left&quot;:60,&quot;top&quot;:130,&quot;width&quot;:400}"/>
</p:tagLst>
</file>

<file path=ppt/tags/tag2.xml><?xml version="1.0" encoding="utf-8"?>
<p:tagLst xmlns:p="http://schemas.openxmlformats.org/presentationml/2006/main">
  <p:tag name="KSO_WM_DIAGRAM_VIRTUALLY_FRAME" val="{&quot;height&quot;:330,&quot;left&quot;:60,&quot;top&quot;:130,&quot;width&quot;:400}"/>
</p:tagLst>
</file>

<file path=ppt/tags/tag3.xml><?xml version="1.0" encoding="utf-8"?>
<p:tagLst xmlns:p="http://schemas.openxmlformats.org/presentationml/2006/main">
  <p:tag name="KSO_WM_DIAGRAM_VIRTUALLY_FRAME" val="{&quot;height&quot;:330,&quot;left&quot;:60,&quot;top&quot;:130,&quot;width&quot;:400}"/>
</p:tagLst>
</file>

<file path=ppt/tags/tag4.xml><?xml version="1.0" encoding="utf-8"?>
<p:tagLst xmlns:p="http://schemas.openxmlformats.org/presentationml/2006/main">
  <p:tag name="KSO_WM_DIAGRAM_VIRTUALLY_FRAME" val="{&quot;height&quot;:330,&quot;left&quot;:60,&quot;top&quot;:130,&quot;width&quot;:400}"/>
</p:tagLst>
</file>

<file path=ppt/tags/tag5.xml><?xml version="1.0" encoding="utf-8"?>
<p:tagLst xmlns:p="http://schemas.openxmlformats.org/presentationml/2006/main">
  <p:tag name="KSO_WM_DIAGRAM_VIRTUALLY_FRAME" val="{&quot;height&quot;:330,&quot;left&quot;:60,&quot;top&quot;:130,&quot;width&quot;:400}"/>
</p:tagLst>
</file>

<file path=ppt/tags/tag6.xml><?xml version="1.0" encoding="utf-8"?>
<p:tagLst xmlns:p="http://schemas.openxmlformats.org/presentationml/2006/main">
  <p:tag name="KSO_WM_DIAGRAM_VIRTUALLY_FRAME" val="{&quot;height&quot;:330,&quot;left&quot;:60,&quot;top&quot;:130,&quot;width&quot;:400}"/>
</p:tagLst>
</file>

<file path=ppt/tags/tag7.xml><?xml version="1.0" encoding="utf-8"?>
<p:tagLst xmlns:p="http://schemas.openxmlformats.org/presentationml/2006/main">
  <p:tag name="KSO_WM_DIAGRAM_VIRTUALLY_FRAME" val="{&quot;height&quot;:330,&quot;left&quot;:60,&quot;top&quot;:130,&quot;width&quot;:400}"/>
</p:tagLst>
</file>

<file path=ppt/tags/tag8.xml><?xml version="1.0" encoding="utf-8"?>
<p:tagLst xmlns:p="http://schemas.openxmlformats.org/presentationml/2006/main">
  <p:tag name="KSO_WM_DIAGRAM_VIRTUALLY_FRAME" val="{&quot;height&quot;:330,&quot;left&quot;:60,&quot;top&quot;:130,&quot;width&quot;:400}"/>
</p:tagLst>
</file>

<file path=ppt/tags/tag9.xml><?xml version="1.0" encoding="utf-8"?>
<p:tagLst xmlns:p="http://schemas.openxmlformats.org/presentationml/2006/main">
  <p:tag name="KSO_WM_DIAGRAM_VIRTUALLY_FRAME" val="{&quot;height&quot;:330,&quot;left&quot;:60,&quot;top&quot;:130,&quot;width&quot;:400}"/>
</p:tagLst>
</file>

<file path=ppt/tags/tag10.xml><?xml version="1.0" encoding="utf-8"?>
<p:tagLst xmlns:p="http://schemas.openxmlformats.org/presentationml/2006/main">
  <p:tag name="KSO_WM_DIAGRAM_VIRTUALLY_FRAME" val="{&quot;height&quot;:330,&quot;left&quot;:60,&quot;top&quot;:130,&quot;width&quot;:400}"/>
</p:tagLst>
</file>

<file path=ppt/tags/tag11.xml><?xml version="1.0" encoding="utf-8"?>
<p:tagLst xmlns:p="http://schemas.openxmlformats.org/presentationml/2006/main">
  <p:tag name="KSO_WM_DIAGRAM_VIRTUALLY_FRAME" val="{&quot;height&quot;:330,&quot;left&quot;:60,&quot;top&quot;:130,&quot;width&quot;:400}"/>
</p:tagLst>
</file>

<file path=ppt/tags/tag12.xml><?xml version="1.0" encoding="utf-8"?>
<p:tagLst xmlns:p="http://schemas.openxmlformats.org/presentationml/2006/main">
  <p:tag name="KSO_WM_DIAGRAM_VIRTUALLY_FRAME" val="{&quot;height&quot;:330,&quot;left&quot;:60,&quot;top&quot;:130,&quot;width&quot;:400}"/>
</p:tagLst>
</file>

<file path=ppt/tags/tag13.xml><?xml version="1.0" encoding="utf-8"?>
<p:tagLst xmlns:p="http://schemas.openxmlformats.org/presentationml/2006/main">
  <p:tag name="KSO_WM_DIAGRAM_VIRTUALLY_FRAME" val="{&quot;height&quot;:364.1874015748032,&quot;left&quot;:75,&quot;top&quot;:118,&quot;width&quot;:708.5}"/>
</p:tagLst>
</file>

<file path=ppt/tags/tag14.xml><?xml version="1.0" encoding="utf-8"?>
<p:tagLst xmlns:p="http://schemas.openxmlformats.org/presentationml/2006/main">
  <p:tag name="KSO_WM_DIAGRAM_VIRTUALLY_FRAME" val="{&quot;height&quot;:364.1874015748032,&quot;left&quot;:75,&quot;top&quot;:118,&quot;width&quot;:708.5}"/>
</p:tagLst>
</file>

<file path=ppt/tags/tag15.xml><?xml version="1.0" encoding="utf-8"?>
<p:tagLst xmlns:p="http://schemas.openxmlformats.org/presentationml/2006/main">
  <p:tag name="KSO_WM_DIAGRAM_VIRTUALLY_FRAME" val="{&quot;height&quot;:364.1874015748032,&quot;left&quot;:75,&quot;top&quot;:118,&quot;width&quot;:708.5}"/>
</p:tagLst>
</file>

<file path=ppt/tags/tag16.xml><?xml version="1.0" encoding="utf-8"?>
<p:tagLst xmlns:p="http://schemas.openxmlformats.org/presentationml/2006/main">
  <p:tag name="KSO_WM_DIAGRAM_VIRTUALLY_FRAME" val="{&quot;height&quot;:364.1874015748032,&quot;left&quot;:75,&quot;top&quot;:118,&quot;width&quot;:708.5}"/>
</p:tagLst>
</file>

<file path=ppt/tags/tag17.xml><?xml version="1.0" encoding="utf-8"?>
<p:tagLst xmlns:p="http://schemas.openxmlformats.org/presentationml/2006/main">
  <p:tag name="KSO_WM_DIAGRAM_VIRTUALLY_FRAME" val="{&quot;height&quot;:364.1874015748032,&quot;left&quot;:75,&quot;top&quot;:118,&quot;width&quot;:708.5}"/>
</p:tagLst>
</file>

<file path=ppt/tags/tag18.xml><?xml version="1.0" encoding="utf-8"?>
<p:tagLst xmlns:p="http://schemas.openxmlformats.org/presentationml/2006/main">
  <p:tag name="KSO_WM_DIAGRAM_VIRTUALLY_FRAME" val="{&quot;height&quot;:364.1874015748032,&quot;left&quot;:75,&quot;top&quot;:118,&quot;width&quot;:708.5}"/>
</p:tagLst>
</file>

<file path=ppt/tags/tag19.xml><?xml version="1.0" encoding="utf-8"?>
<p:tagLst xmlns:p="http://schemas.openxmlformats.org/presentationml/2006/main">
  <p:tag name="KSO_WM_DIAGRAM_VIRTUALLY_FRAME" val="{&quot;height&quot;:364.1874015748032,&quot;left&quot;:75,&quot;top&quot;:118,&quot;width&quot;:708.5}"/>
</p:tagLst>
</file>

<file path=ppt/tags/tag20.xml><?xml version="1.0" encoding="utf-8"?>
<p:tagLst xmlns:p="http://schemas.openxmlformats.org/presentationml/2006/main">
  <p:tag name="KSO_WM_DIAGRAM_VIRTUALLY_FRAME" val="{&quot;height&quot;:364.1874015748032,&quot;left&quot;:75,&quot;top&quot;:118,&quot;width&quot;:708.5}"/>
</p:tagLst>
</file>

<file path=ppt/tags/tag21.xml><?xml version="1.0" encoding="utf-8"?>
<p:tagLst xmlns:p="http://schemas.openxmlformats.org/presentationml/2006/main">
  <p:tag name="KSO_WM_DIAGRAM_VIRTUALLY_FRAME" val="{&quot;height&quot;:364.1874015748032,&quot;left&quot;:75,&quot;top&quot;:118,&quot;width&quot;:708.5}"/>
</p:tagLst>
</file>

<file path=ppt/tags/tag22.xml><?xml version="1.0" encoding="utf-8"?>
<p:tagLst xmlns:p="http://schemas.openxmlformats.org/presentationml/2006/main">
  <p:tag name="KSO_WM_DIAGRAM_VIRTUALLY_FRAME" val="{&quot;height&quot;:364.1874015748032,&quot;left&quot;:75,&quot;top&quot;:118,&quot;width&quot;:708.5}"/>
</p:tagLst>
</file>

<file path=ppt/tags/tag23.xml><?xml version="1.0" encoding="utf-8"?>
<p:tagLst xmlns:p="http://schemas.openxmlformats.org/presentationml/2006/main">
  <p:tag name="KSO_WM_DIAGRAM_VIRTUALLY_FRAME" val="{&quot;height&quot;:364.1874015748032,&quot;left&quot;:75,&quot;top&quot;:118,&quot;width&quot;:708.5}"/>
</p:tagLst>
</file>

<file path=ppt/tags/tag24.xml><?xml version="1.0" encoding="utf-8"?>
<p:tagLst xmlns:p="http://schemas.openxmlformats.org/presentationml/2006/main">
  <p:tag name="KSO_WM_DIAGRAM_VIRTUALLY_FRAME" val="{&quot;height&quot;:364.1874015748032,&quot;left&quot;:75,&quot;top&quot;:118,&quot;width&quot;:708.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4092</Words>
  <Application>WPS 演示</Application>
  <PresentationFormat>宽屏</PresentationFormat>
  <Paragraphs>143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Calibri</vt:lpstr>
      <vt:lpstr>微软雅黑</vt:lpstr>
      <vt:lpstr>Arial Unicode MS</vt:lpstr>
      <vt:lpstr>Office 主题​​</vt:lpstr>
      <vt:lpstr>默认主题</vt:lpstr>
      <vt:lpstr>2_默认主题</vt:lpstr>
      <vt:lpstr>3_默认主题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龙猫</cp:lastModifiedBy>
  <cp:revision>17</cp:revision>
  <dcterms:created xsi:type="dcterms:W3CDTF">2026-03-19T15:31:00Z</dcterms:created>
  <dcterms:modified xsi:type="dcterms:W3CDTF">2026-04-05T06:17:01Z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3517367465F0442AADCAA4BE6DA9590A_12</vt:lpwstr>
  </property>
  <property fmtid="{D5CDD505-2E9C-101B-9397-08002B2CF9AE}" pid="3" name="KSOProductBuildVer">
    <vt:lpwstr>2052-12.1.0.21915</vt:lpwstr>
  </property>
</Properties>
</file>