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3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8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26" r:id="rId2"/>
    <p:sldId id="338" r:id="rId3"/>
    <p:sldId id="329" r:id="rId4"/>
    <p:sldId id="336" r:id="rId5"/>
    <p:sldId id="330" r:id="rId6"/>
    <p:sldId id="332" r:id="rId7"/>
    <p:sldId id="344" r:id="rId8"/>
    <p:sldId id="345" r:id="rId9"/>
    <p:sldId id="346" r:id="rId10"/>
    <p:sldId id="34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5EF"/>
    <a:srgbClr val="D2A57B"/>
    <a:srgbClr val="2C1C41"/>
    <a:srgbClr val="938B98"/>
    <a:srgbClr val="FDF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EAB4-20A8-4561-A4BD-AF15A572F05E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2783-B739-455C-8B8B-DC26336A09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E2783-B739-455C-8B8B-DC26336A09A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E2783-B739-455C-8B8B-DC26336A09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CFB5D5-B0D9-451E-92D8-A6B2392BFD00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CFB5D5-B0D9-451E-92D8-A6B2392BFD00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BAA80-9F06-37DB-0052-3411A41F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D351AC-7F1F-DE39-33E3-141103C6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667BE1-278F-E767-CA44-5B89CFA41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45B4C-3205-5420-A383-0DF4CA8C3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473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295A0-6C84-9C77-5EF9-D52197E3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BC19E0-6FE4-272B-5FD3-499696A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364B22-697C-A8A0-76E9-DA19EC240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DED1C3-8D2A-DF93-5E2B-E78188781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9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8279-6218-F1C9-29BF-C4015C34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7167D1-EDCD-12A2-EFE6-9123FFAF1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EB4D6D-FEB0-C553-31A3-06FFCAA95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7E31B2-000B-9852-823C-28050D4EF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010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E2783-B739-455C-8B8B-DC26336A09A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5326" y="1457326"/>
            <a:ext cx="3107994" cy="495822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/>
          <p:cNvSpPr>
            <a:spLocks noGrp="1"/>
          </p:cNvSpPr>
          <p:nvPr>
            <p:ph type="pic" sz="quarter" idx="25" hasCustomPrompt="1"/>
          </p:nvPr>
        </p:nvSpPr>
        <p:spPr>
          <a:xfrm>
            <a:off x="4690149" y="2470804"/>
            <a:ext cx="2811703" cy="2811703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/>
              <a:t>Insert Image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D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6" b="19088"/>
          <a:stretch>
            <a:fillRect/>
          </a:stretch>
        </p:blipFill>
        <p:spPr>
          <a:xfrm flipH="1" flipV="1">
            <a:off x="5786235" y="5765372"/>
            <a:ext cx="6405797" cy="1092629"/>
          </a:xfrm>
          <a:custGeom>
            <a:avLst/>
            <a:gdLst>
              <a:gd name="connsiteX0" fmla="*/ 6405797 w 6405797"/>
              <a:gd name="connsiteY0" fmla="*/ 1092629 h 1092629"/>
              <a:gd name="connsiteX1" fmla="*/ 0 w 6405797"/>
              <a:gd name="connsiteY1" fmla="*/ 1092629 h 1092629"/>
              <a:gd name="connsiteX2" fmla="*/ 0 w 6405797"/>
              <a:gd name="connsiteY2" fmla="*/ 0 h 1092629"/>
              <a:gd name="connsiteX3" fmla="*/ 6405797 w 6405797"/>
              <a:gd name="connsiteY3" fmla="*/ 0 h 1092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5797" h="1092629">
                <a:moveTo>
                  <a:pt x="6405797" y="1092629"/>
                </a:moveTo>
                <a:lnTo>
                  <a:pt x="0" y="1092629"/>
                </a:lnTo>
                <a:lnTo>
                  <a:pt x="0" y="0"/>
                </a:lnTo>
                <a:lnTo>
                  <a:pt x="6405797" y="0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6" b="19088"/>
          <a:stretch>
            <a:fillRect/>
          </a:stretch>
        </p:blipFill>
        <p:spPr>
          <a:xfrm>
            <a:off x="0" y="0"/>
            <a:ext cx="4302177" cy="733817"/>
          </a:xfrm>
          <a:custGeom>
            <a:avLst/>
            <a:gdLst>
              <a:gd name="connsiteX0" fmla="*/ 6405797 w 6405797"/>
              <a:gd name="connsiteY0" fmla="*/ 1092629 h 1092629"/>
              <a:gd name="connsiteX1" fmla="*/ 0 w 6405797"/>
              <a:gd name="connsiteY1" fmla="*/ 1092629 h 1092629"/>
              <a:gd name="connsiteX2" fmla="*/ 0 w 6405797"/>
              <a:gd name="connsiteY2" fmla="*/ 0 h 1092629"/>
              <a:gd name="connsiteX3" fmla="*/ 6405797 w 6405797"/>
              <a:gd name="connsiteY3" fmla="*/ 0 h 1092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5797" h="1092629">
                <a:moveTo>
                  <a:pt x="6405797" y="1092629"/>
                </a:moveTo>
                <a:lnTo>
                  <a:pt x="0" y="1092629"/>
                </a:lnTo>
                <a:lnTo>
                  <a:pt x="0" y="0"/>
                </a:lnTo>
                <a:lnTo>
                  <a:pt x="6405797" y="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ransition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anose="020B0502040204020203" pitchFamily="2" charset="-122"/>
          <a:ea typeface="微软雅黑 Light" panose="020B0502040204020203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image" Target="../media/image3.jpe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notesSlide" Target="../notesSlides/notes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4.png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tags" Target="../tags/tag54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tags" Target="../tags/tag71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2" Type="http://schemas.openxmlformats.org/officeDocument/2006/relationships/tags" Target="../tags/tag73.xml"/><Relationship Id="rId16" Type="http://schemas.openxmlformats.org/officeDocument/2006/relationships/image" Target="../media/image7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notesSlide" Target="../notesSlides/notesSlide7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image" Target="../media/image8.jpeg"/><Relationship Id="rId2" Type="http://schemas.openxmlformats.org/officeDocument/2006/relationships/tags" Target="../tags/tag86.xml"/><Relationship Id="rId16" Type="http://schemas.openxmlformats.org/officeDocument/2006/relationships/image" Target="../media/image7.png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image" Target="../media/image9.jpeg"/><Relationship Id="rId2" Type="http://schemas.openxmlformats.org/officeDocument/2006/relationships/tags" Target="../tags/tag99.xml"/><Relationship Id="rId16" Type="http://schemas.openxmlformats.org/officeDocument/2006/relationships/image" Target="../media/image7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notesSlide" Target="../notesSlides/notesSlide9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593705" cy="479685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95911" y="2956365"/>
            <a:ext cx="621118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pPr algn="dist"/>
            <a:r>
              <a:rPr lang="zh-CN" altLang="en-US" sz="7200" b="1" dirty="0">
                <a:solidFill>
                  <a:srgbClr val="2C1C4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选题汇报</a:t>
            </a: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5546725" y="4156710"/>
            <a:ext cx="5685790" cy="745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en-US" altLang="zh-CN" sz="1050" cap="all" spc="300" dirty="0">
                <a:solidFill>
                  <a:srgbClr val="2C1C4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——KNighter: Transforming Static Analysis with LLM-Synthesized Checkers</a:t>
            </a:r>
          </a:p>
          <a:p>
            <a:pPr algn="r">
              <a:buNone/>
            </a:pPr>
            <a:r>
              <a:rPr lang="en-US" altLang="zh-CN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KNighter</a:t>
            </a:r>
            <a:r>
              <a:rPr lang="zh-CN" altLang="en-US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：通过</a:t>
            </a:r>
            <a:r>
              <a:rPr lang="en-US" altLang="zh-CN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LLM</a:t>
            </a:r>
            <a:r>
              <a:rPr lang="zh-CN" altLang="en-US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合成静态分析检查器发现</a:t>
            </a:r>
            <a:r>
              <a:rPr lang="en-US" altLang="zh-CN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Linux</a:t>
            </a:r>
            <a:r>
              <a:rPr lang="zh-CN" altLang="en-US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内核漏洞</a:t>
            </a:r>
          </a:p>
        </p:txBody>
      </p:sp>
      <p:sp>
        <p:nvSpPr>
          <p:cNvPr id="12" name="矩形 11"/>
          <p:cNvSpPr/>
          <p:nvPr/>
        </p:nvSpPr>
        <p:spPr>
          <a:xfrm>
            <a:off x="9279714" y="2382299"/>
            <a:ext cx="19321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50" b="1" dirty="0">
                <a:solidFill>
                  <a:srgbClr val="2C1C41"/>
                </a:solidFill>
                <a:latin typeface="+mj-lt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RESEARCH AND ANALYSIS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123778" y="5076916"/>
            <a:ext cx="1475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2C1C4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Let’s Start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8544843" y="4994592"/>
            <a:ext cx="2667000" cy="45632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520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2C1C4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362451" y="5410518"/>
            <a:ext cx="1031784" cy="45720"/>
          </a:xfrm>
          <a:prstGeom prst="rect">
            <a:avLst/>
          </a:prstGeom>
          <a:solidFill>
            <a:srgbClr val="2520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2C1C4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0350850" y="1594726"/>
            <a:ext cx="800263" cy="0"/>
          </a:xfrm>
          <a:prstGeom prst="line">
            <a:avLst/>
          </a:prstGeom>
          <a:ln w="28575">
            <a:solidFill>
              <a:srgbClr val="131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任意多边形 17"/>
          <p:cNvSpPr/>
          <p:nvPr/>
        </p:nvSpPr>
        <p:spPr bwMode="auto">
          <a:xfrm>
            <a:off x="9455117" y="1879798"/>
            <a:ext cx="1695041" cy="488900"/>
          </a:xfrm>
          <a:custGeom>
            <a:avLst/>
            <a:gdLst/>
            <a:ahLst/>
            <a:cxnLst/>
            <a:rect l="l" t="t" r="r" b="b"/>
            <a:pathLst>
              <a:path w="1695041" h="488900">
                <a:moveTo>
                  <a:pt x="672963" y="73000"/>
                </a:moveTo>
                <a:lnTo>
                  <a:pt x="672963" y="239092"/>
                </a:lnTo>
                <a:cubicBezTo>
                  <a:pt x="696404" y="239092"/>
                  <a:pt x="708124" y="230609"/>
                  <a:pt x="708124" y="213643"/>
                </a:cubicBezTo>
                <a:lnTo>
                  <a:pt x="708124" y="98450"/>
                </a:lnTo>
                <a:cubicBezTo>
                  <a:pt x="708124" y="81483"/>
                  <a:pt x="696404" y="73000"/>
                  <a:pt x="672963" y="73000"/>
                </a:cubicBezTo>
                <a:close/>
                <a:moveTo>
                  <a:pt x="1267532" y="65968"/>
                </a:moveTo>
                <a:lnTo>
                  <a:pt x="1267532" y="195895"/>
                </a:lnTo>
                <a:cubicBezTo>
                  <a:pt x="1289186" y="195895"/>
                  <a:pt x="1300013" y="187389"/>
                  <a:pt x="1300013" y="170377"/>
                </a:cubicBezTo>
                <a:lnTo>
                  <a:pt x="1300013" y="91145"/>
                </a:lnTo>
                <a:cubicBezTo>
                  <a:pt x="1300013" y="74360"/>
                  <a:pt x="1289186" y="65968"/>
                  <a:pt x="1267532" y="65968"/>
                </a:cubicBezTo>
                <a:close/>
                <a:moveTo>
                  <a:pt x="984981" y="65968"/>
                </a:moveTo>
                <a:cubicBezTo>
                  <a:pt x="973150" y="65968"/>
                  <a:pt x="967234" y="70768"/>
                  <a:pt x="967234" y="80367"/>
                </a:cubicBezTo>
                <a:lnTo>
                  <a:pt x="967234" y="407529"/>
                </a:lnTo>
                <a:cubicBezTo>
                  <a:pt x="967234" y="417128"/>
                  <a:pt x="973150" y="421928"/>
                  <a:pt x="984981" y="421928"/>
                </a:cubicBezTo>
                <a:cubicBezTo>
                  <a:pt x="996367" y="421928"/>
                  <a:pt x="1002059" y="417128"/>
                  <a:pt x="1002059" y="407529"/>
                </a:cubicBezTo>
                <a:lnTo>
                  <a:pt x="1002059" y="80367"/>
                </a:lnTo>
                <a:cubicBezTo>
                  <a:pt x="1002059" y="70768"/>
                  <a:pt x="996367" y="65968"/>
                  <a:pt x="984981" y="65968"/>
                </a:cubicBezTo>
                <a:close/>
                <a:moveTo>
                  <a:pt x="105482" y="65968"/>
                </a:moveTo>
                <a:lnTo>
                  <a:pt x="105482" y="195895"/>
                </a:lnTo>
                <a:cubicBezTo>
                  <a:pt x="127136" y="195895"/>
                  <a:pt x="137963" y="187389"/>
                  <a:pt x="137963" y="170377"/>
                </a:cubicBezTo>
                <a:lnTo>
                  <a:pt x="137963" y="91145"/>
                </a:lnTo>
                <a:cubicBezTo>
                  <a:pt x="137963" y="74360"/>
                  <a:pt x="127136" y="65968"/>
                  <a:pt x="105482" y="65968"/>
                </a:cubicBezTo>
                <a:close/>
                <a:moveTo>
                  <a:pt x="1471687" y="4353"/>
                </a:moveTo>
                <a:lnTo>
                  <a:pt x="1695041" y="4353"/>
                </a:lnTo>
                <a:lnTo>
                  <a:pt x="1695041" y="66972"/>
                </a:lnTo>
                <a:lnTo>
                  <a:pt x="1636105" y="66972"/>
                </a:lnTo>
                <a:lnTo>
                  <a:pt x="1636105" y="484547"/>
                </a:lnTo>
                <a:lnTo>
                  <a:pt x="1530623" y="484547"/>
                </a:lnTo>
                <a:lnTo>
                  <a:pt x="1530623" y="66972"/>
                </a:lnTo>
                <a:lnTo>
                  <a:pt x="1471687" y="66972"/>
                </a:lnTo>
                <a:close/>
                <a:moveTo>
                  <a:pt x="1162050" y="4353"/>
                </a:moveTo>
                <a:lnTo>
                  <a:pt x="1292311" y="4353"/>
                </a:lnTo>
                <a:cubicBezTo>
                  <a:pt x="1322003" y="4353"/>
                  <a:pt x="1347843" y="11162"/>
                  <a:pt x="1369833" y="24780"/>
                </a:cubicBezTo>
                <a:cubicBezTo>
                  <a:pt x="1391822" y="38397"/>
                  <a:pt x="1402817" y="59940"/>
                  <a:pt x="1402817" y="89408"/>
                </a:cubicBezTo>
                <a:lnTo>
                  <a:pt x="1402817" y="147005"/>
                </a:lnTo>
                <a:cubicBezTo>
                  <a:pt x="1402817" y="184286"/>
                  <a:pt x="1381050" y="209513"/>
                  <a:pt x="1337518" y="222684"/>
                </a:cubicBezTo>
                <a:cubicBezTo>
                  <a:pt x="1381273" y="232953"/>
                  <a:pt x="1403151" y="259407"/>
                  <a:pt x="1403151" y="302047"/>
                </a:cubicBezTo>
                <a:lnTo>
                  <a:pt x="1401477" y="354620"/>
                </a:lnTo>
                <a:cubicBezTo>
                  <a:pt x="1401477" y="431416"/>
                  <a:pt x="1408063" y="474948"/>
                  <a:pt x="1421234" y="485217"/>
                </a:cubicBezTo>
                <a:lnTo>
                  <a:pt x="1315752" y="485217"/>
                </a:lnTo>
                <a:cubicBezTo>
                  <a:pt x="1304367" y="471599"/>
                  <a:pt x="1298674" y="432978"/>
                  <a:pt x="1298674" y="369354"/>
                </a:cubicBezTo>
                <a:lnTo>
                  <a:pt x="1298674" y="368684"/>
                </a:lnTo>
                <a:lnTo>
                  <a:pt x="1299344" y="339886"/>
                </a:lnTo>
                <a:cubicBezTo>
                  <a:pt x="1300013" y="299926"/>
                  <a:pt x="1300348" y="279499"/>
                  <a:pt x="1300348" y="278606"/>
                </a:cubicBezTo>
                <a:cubicBezTo>
                  <a:pt x="1300348" y="262310"/>
                  <a:pt x="1289409" y="254161"/>
                  <a:pt x="1267532" y="254161"/>
                </a:cubicBezTo>
                <a:lnTo>
                  <a:pt x="1267532" y="484547"/>
                </a:lnTo>
                <a:lnTo>
                  <a:pt x="1162050" y="484547"/>
                </a:lnTo>
                <a:close/>
                <a:moveTo>
                  <a:pt x="570160" y="4353"/>
                </a:moveTo>
                <a:lnTo>
                  <a:pt x="681000" y="4353"/>
                </a:lnTo>
                <a:cubicBezTo>
                  <a:pt x="724979" y="4353"/>
                  <a:pt x="757628" y="9934"/>
                  <a:pt x="778947" y="21096"/>
                </a:cubicBezTo>
                <a:cubicBezTo>
                  <a:pt x="800267" y="32258"/>
                  <a:pt x="810927" y="55029"/>
                  <a:pt x="810927" y="89408"/>
                </a:cubicBezTo>
                <a:lnTo>
                  <a:pt x="810927" y="222684"/>
                </a:lnTo>
                <a:cubicBezTo>
                  <a:pt x="810927" y="254161"/>
                  <a:pt x="802221" y="276430"/>
                  <a:pt x="784808" y="289489"/>
                </a:cubicBezTo>
                <a:cubicBezTo>
                  <a:pt x="767395" y="302549"/>
                  <a:pt x="730113" y="308632"/>
                  <a:pt x="672963" y="307739"/>
                </a:cubicBezTo>
                <a:lnTo>
                  <a:pt x="672963" y="484547"/>
                </a:lnTo>
                <a:lnTo>
                  <a:pt x="570160" y="484547"/>
                </a:lnTo>
                <a:close/>
                <a:moveTo>
                  <a:pt x="312985" y="4353"/>
                </a:moveTo>
                <a:lnTo>
                  <a:pt x="517922" y="4353"/>
                </a:lnTo>
                <a:lnTo>
                  <a:pt x="517922" y="65968"/>
                </a:lnTo>
                <a:lnTo>
                  <a:pt x="418467" y="65968"/>
                </a:lnTo>
                <a:lnTo>
                  <a:pt x="418467" y="195895"/>
                </a:lnTo>
                <a:lnTo>
                  <a:pt x="508211" y="195895"/>
                </a:lnTo>
                <a:lnTo>
                  <a:pt x="508211" y="254161"/>
                </a:lnTo>
                <a:lnTo>
                  <a:pt x="418467" y="254161"/>
                </a:lnTo>
                <a:lnTo>
                  <a:pt x="418467" y="422932"/>
                </a:lnTo>
                <a:lnTo>
                  <a:pt x="519261" y="422932"/>
                </a:lnTo>
                <a:lnTo>
                  <a:pt x="519261" y="484547"/>
                </a:lnTo>
                <a:lnTo>
                  <a:pt x="312985" y="484547"/>
                </a:lnTo>
                <a:close/>
                <a:moveTo>
                  <a:pt x="0" y="4353"/>
                </a:moveTo>
                <a:lnTo>
                  <a:pt x="130261" y="4353"/>
                </a:lnTo>
                <a:cubicBezTo>
                  <a:pt x="159953" y="4353"/>
                  <a:pt x="185793" y="11162"/>
                  <a:pt x="207782" y="24780"/>
                </a:cubicBezTo>
                <a:cubicBezTo>
                  <a:pt x="229772" y="38397"/>
                  <a:pt x="240766" y="59940"/>
                  <a:pt x="240766" y="89408"/>
                </a:cubicBezTo>
                <a:lnTo>
                  <a:pt x="240766" y="147005"/>
                </a:lnTo>
                <a:cubicBezTo>
                  <a:pt x="240766" y="184286"/>
                  <a:pt x="219000" y="209513"/>
                  <a:pt x="175468" y="222684"/>
                </a:cubicBezTo>
                <a:cubicBezTo>
                  <a:pt x="219223" y="232953"/>
                  <a:pt x="241101" y="259407"/>
                  <a:pt x="241101" y="302047"/>
                </a:cubicBezTo>
                <a:lnTo>
                  <a:pt x="239427" y="354620"/>
                </a:lnTo>
                <a:cubicBezTo>
                  <a:pt x="239427" y="431416"/>
                  <a:pt x="246013" y="474948"/>
                  <a:pt x="259184" y="485217"/>
                </a:cubicBezTo>
                <a:lnTo>
                  <a:pt x="153702" y="485217"/>
                </a:lnTo>
                <a:cubicBezTo>
                  <a:pt x="142317" y="471599"/>
                  <a:pt x="136624" y="432978"/>
                  <a:pt x="136624" y="369354"/>
                </a:cubicBezTo>
                <a:lnTo>
                  <a:pt x="136624" y="368684"/>
                </a:lnTo>
                <a:lnTo>
                  <a:pt x="137294" y="339886"/>
                </a:lnTo>
                <a:cubicBezTo>
                  <a:pt x="137963" y="299926"/>
                  <a:pt x="138298" y="279499"/>
                  <a:pt x="138298" y="278606"/>
                </a:cubicBezTo>
                <a:cubicBezTo>
                  <a:pt x="138298" y="262310"/>
                  <a:pt x="127359" y="254161"/>
                  <a:pt x="105482" y="254161"/>
                </a:cubicBezTo>
                <a:lnTo>
                  <a:pt x="105482" y="484547"/>
                </a:lnTo>
                <a:lnTo>
                  <a:pt x="0" y="484547"/>
                </a:lnTo>
                <a:close/>
                <a:moveTo>
                  <a:pt x="985484" y="0"/>
                </a:moveTo>
                <a:cubicBezTo>
                  <a:pt x="1065069" y="0"/>
                  <a:pt x="1104863" y="30919"/>
                  <a:pt x="1104863" y="92757"/>
                </a:cubicBezTo>
                <a:lnTo>
                  <a:pt x="1104863" y="401836"/>
                </a:lnTo>
                <a:cubicBezTo>
                  <a:pt x="1104863" y="429741"/>
                  <a:pt x="1093772" y="451228"/>
                  <a:pt x="1071591" y="466297"/>
                </a:cubicBezTo>
                <a:cubicBezTo>
                  <a:pt x="1049409" y="481366"/>
                  <a:pt x="1020484" y="488900"/>
                  <a:pt x="984814" y="488900"/>
                </a:cubicBezTo>
                <a:cubicBezTo>
                  <a:pt x="904559" y="488900"/>
                  <a:pt x="864431" y="460102"/>
                  <a:pt x="864431" y="402506"/>
                </a:cubicBezTo>
                <a:lnTo>
                  <a:pt x="864431" y="93427"/>
                </a:lnTo>
                <a:cubicBezTo>
                  <a:pt x="864431" y="31142"/>
                  <a:pt x="904782" y="0"/>
                  <a:pt x="985484" y="0"/>
                </a:cubicBezTo>
                <a:close/>
              </a:path>
            </a:pathLst>
          </a:custGeom>
          <a:solidFill>
            <a:srgbClr val="2C1C4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anose="020B0502040204020203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05"/>
          <a:stretch>
            <a:fillRect/>
          </a:stretch>
        </p:blipFill>
        <p:spPr>
          <a:xfrm rot="16200000">
            <a:off x="-1530223" y="1530222"/>
            <a:ext cx="6857998" cy="3797553"/>
          </a:xfrm>
          <a:custGeom>
            <a:avLst/>
            <a:gdLst>
              <a:gd name="connsiteX0" fmla="*/ 6857998 w 6857998"/>
              <a:gd name="connsiteY0" fmla="*/ 0 h 3797553"/>
              <a:gd name="connsiteX1" fmla="*/ 6857998 w 6857998"/>
              <a:gd name="connsiteY1" fmla="*/ 3797553 h 3797553"/>
              <a:gd name="connsiteX2" fmla="*/ 0 w 6857998"/>
              <a:gd name="connsiteY2" fmla="*/ 3797553 h 3797553"/>
              <a:gd name="connsiteX3" fmla="*/ 0 w 6857998"/>
              <a:gd name="connsiteY3" fmla="*/ 0 h 379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8" h="3797553">
                <a:moveTo>
                  <a:pt x="6857998" y="0"/>
                </a:moveTo>
                <a:lnTo>
                  <a:pt x="6857998" y="3797553"/>
                </a:lnTo>
                <a:lnTo>
                  <a:pt x="0" y="379755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3" name="矩形 72"/>
          <p:cNvSpPr/>
          <p:nvPr/>
        </p:nvSpPr>
        <p:spPr>
          <a:xfrm>
            <a:off x="1441968" y="2253226"/>
            <a:ext cx="145368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8565">
              <a:defRPr/>
            </a:pPr>
            <a:r>
              <a: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BUSINESS REPORT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289464" y="1066552"/>
            <a:ext cx="37586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1218565">
              <a:lnSpc>
                <a:spcPct val="100000"/>
              </a:lnSpc>
              <a:defRPr/>
            </a:pPr>
            <a:r>
              <a:rPr lang="zh-CN" alt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目录</a:t>
            </a:r>
          </a:p>
        </p:txBody>
      </p:sp>
      <p:grpSp>
        <p:nvGrpSpPr>
          <p:cNvPr id="91" name="组合 90"/>
          <p:cNvGrpSpPr/>
          <p:nvPr>
            <p:custDataLst>
              <p:tags r:id="rId1"/>
            </p:custDataLst>
          </p:nvPr>
        </p:nvGrpSpPr>
        <p:grpSpPr>
          <a:xfrm>
            <a:off x="4793615" y="1270635"/>
            <a:ext cx="2720340" cy="1070610"/>
            <a:chOff x="7527" y="1609"/>
            <a:chExt cx="4039" cy="1790"/>
          </a:xfrm>
        </p:grpSpPr>
        <p:grpSp>
          <p:nvGrpSpPr>
            <p:cNvPr id="67" name="组合 66"/>
            <p:cNvGrpSpPr/>
            <p:nvPr/>
          </p:nvGrpSpPr>
          <p:grpSpPr>
            <a:xfrm>
              <a:off x="7527" y="1609"/>
              <a:ext cx="3960" cy="1790"/>
              <a:chOff x="7611" y="1669"/>
              <a:chExt cx="3960" cy="1790"/>
            </a:xfrm>
          </p:grpSpPr>
          <p:sp>
            <p:nvSpPr>
              <p:cNvPr id="10" name="椭圆 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1401" y="3284"/>
                <a:ext cx="170" cy="170"/>
              </a:xfrm>
              <a:prstGeom prst="ellipse">
                <a:avLst/>
              </a:prstGeom>
              <a:solidFill>
                <a:srgbClr val="D2A57B"/>
              </a:solidFill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7611" y="1669"/>
                <a:ext cx="3884" cy="1791"/>
                <a:chOff x="7611" y="1669"/>
                <a:chExt cx="3884" cy="1791"/>
              </a:xfrm>
            </p:grpSpPr>
            <p:sp>
              <p:nvSpPr>
                <p:cNvPr id="6" name="文本框 5"/>
                <p:cNvSpPr txBox="1"/>
                <p:nvPr>
                  <p:custDataLst>
                    <p:tags r:id="rId38"/>
                  </p:custDataLst>
                </p:nvPr>
              </p:nvSpPr>
              <p:spPr>
                <a:xfrm>
                  <a:off x="7703" y="1669"/>
                  <a:ext cx="3792" cy="1717"/>
                </a:xfrm>
                <a:custGeom>
                  <a:avLst/>
                  <a:gdLst>
                    <a:gd name="connsiteX0" fmla="*/ 0 w 3792"/>
                    <a:gd name="connsiteY0" fmla="*/ 1717 h 1717"/>
                    <a:gd name="connsiteX1" fmla="*/ 653 w 3792"/>
                    <a:gd name="connsiteY1" fmla="*/ 1717 h 1717"/>
                    <a:gd name="connsiteX2" fmla="*/ 621 w 3792"/>
                    <a:gd name="connsiteY2" fmla="*/ 388 h 1717"/>
                    <a:gd name="connsiteX3" fmla="*/ 351 w 3792"/>
                    <a:gd name="connsiteY3" fmla="*/ 390 h 1717"/>
                    <a:gd name="connsiteX4" fmla="*/ 279 w 3792"/>
                    <a:gd name="connsiteY4" fmla="*/ 390 h 1717"/>
                    <a:gd name="connsiteX5" fmla="*/ 290 w 3792"/>
                    <a:gd name="connsiteY5" fmla="*/ 217 h 1717"/>
                    <a:gd name="connsiteX6" fmla="*/ 573 w 3792"/>
                    <a:gd name="connsiteY6" fmla="*/ 149 h 1717"/>
                    <a:gd name="connsiteX7" fmla="*/ 837 w 3792"/>
                    <a:gd name="connsiteY7" fmla="*/ 0 h 1717"/>
                    <a:gd name="connsiteX8" fmla="*/ 965 w 3792"/>
                    <a:gd name="connsiteY8" fmla="*/ 0 h 1717"/>
                    <a:gd name="connsiteX9" fmla="*/ 974 w 3792"/>
                    <a:gd name="connsiteY9" fmla="*/ 1708 h 1717"/>
                    <a:gd name="connsiteX10" fmla="*/ 3792 w 3792"/>
                    <a:gd name="connsiteY10" fmla="*/ 1705 h 1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92" h="1717">
                      <a:moveTo>
                        <a:pt x="0" y="1717"/>
                      </a:moveTo>
                      <a:lnTo>
                        <a:pt x="653" y="1717"/>
                      </a:lnTo>
                      <a:cubicBezTo>
                        <a:pt x="651" y="1049"/>
                        <a:pt x="710" y="385"/>
                        <a:pt x="621" y="388"/>
                      </a:cubicBezTo>
                      <a:cubicBezTo>
                        <a:pt x="546" y="389"/>
                        <a:pt x="505" y="386"/>
                        <a:pt x="351" y="390"/>
                      </a:cubicBezTo>
                      <a:cubicBezTo>
                        <a:pt x="197" y="394"/>
                        <a:pt x="437" y="390"/>
                        <a:pt x="279" y="390"/>
                      </a:cubicBezTo>
                      <a:lnTo>
                        <a:pt x="290" y="217"/>
                      </a:lnTo>
                      <a:cubicBezTo>
                        <a:pt x="432" y="184"/>
                        <a:pt x="407" y="198"/>
                        <a:pt x="573" y="149"/>
                      </a:cubicBezTo>
                      <a:cubicBezTo>
                        <a:pt x="739" y="101"/>
                        <a:pt x="751" y="67"/>
                        <a:pt x="837" y="0"/>
                      </a:cubicBezTo>
                      <a:lnTo>
                        <a:pt x="965" y="0"/>
                      </a:lnTo>
                      <a:lnTo>
                        <a:pt x="974" y="1708"/>
                      </a:lnTo>
                      <a:lnTo>
                        <a:pt x="3792" y="1705"/>
                      </a:lnTo>
                    </a:path>
                  </a:pathLst>
                </a:custGeom>
                <a:noFill/>
                <a:ln w="38100">
                  <a:solidFill>
                    <a:srgbClr val="D2A57B"/>
                  </a:solidFill>
                  <a:prstDash val="solid"/>
                </a:ln>
                <a:effectLst/>
              </p:spPr>
              <p:txBody>
                <a:bodyPr wrap="square" rtlCol="0">
                  <a:noAutofit/>
                </a:bodyPr>
                <a:lstStyle/>
                <a:p>
                  <a:endParaRPr lang="en-US" altLang="zh-CN" sz="19900">
                    <a:ln w="38100">
                      <a:solidFill>
                        <a:srgbClr val="D2A57B"/>
                      </a:solidFill>
                      <a:prstDash val="solid"/>
                    </a:ln>
                    <a:noFill/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</a:endParaRPr>
                </a:p>
              </p:txBody>
            </p:sp>
            <p:sp>
              <p:nvSpPr>
                <p:cNvPr id="9" name="椭圆 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611" y="3290"/>
                  <a:ext cx="170" cy="170"/>
                </a:xfrm>
                <a:prstGeom prst="ellipse">
                  <a:avLst/>
                </a:prstGeom>
                <a:solidFill>
                  <a:srgbClr val="D2A57B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微软雅黑 Light" panose="020B0502040204020203" pitchFamily="2" charset="-122"/>
                  </a:endParaRPr>
                </a:p>
              </p:txBody>
            </p:sp>
          </p:grpSp>
        </p:grpSp>
        <p:grpSp>
          <p:nvGrpSpPr>
            <p:cNvPr id="90" name="组合 89"/>
            <p:cNvGrpSpPr/>
            <p:nvPr/>
          </p:nvGrpSpPr>
          <p:grpSpPr>
            <a:xfrm>
              <a:off x="8390" y="2067"/>
              <a:ext cx="3176" cy="988"/>
              <a:chOff x="8342" y="2179"/>
              <a:chExt cx="3176" cy="988"/>
            </a:xfrm>
          </p:grpSpPr>
          <p:sp>
            <p:nvSpPr>
              <p:cNvPr id="36" name="Text Placeholder 3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342" y="2179"/>
                <a:ext cx="317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defTabSz="1219200">
                  <a:lnSpc>
                    <a:spcPct val="100000"/>
                  </a:lnSpc>
                  <a:spcBef>
                    <a:spcPct val="20000"/>
                  </a:spcBef>
                  <a:defRPr sz="3000" b="1">
                    <a:solidFill>
                      <a:srgbClr val="54578E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所选论文</a:t>
                </a:r>
              </a:p>
            </p:txBody>
          </p:sp>
          <p:sp>
            <p:nvSpPr>
              <p:cNvPr id="72" name="文本框 71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9152" y="2831"/>
                <a:ext cx="1555" cy="3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ctr"/>
                <a:r>
                  <a:rPr lang="en-US" altLang="zh-CN" sz="800" b="1" i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/>
                    <a:ea typeface="Arial" panose="020B0604020202020204"/>
                  </a:rPr>
                  <a:t>selected paper</a:t>
                </a:r>
              </a:p>
            </p:txBody>
          </p:sp>
        </p:grpSp>
      </p:grpSp>
      <p:grpSp>
        <p:nvGrpSpPr>
          <p:cNvPr id="95" name="组合 94"/>
          <p:cNvGrpSpPr/>
          <p:nvPr>
            <p:custDataLst>
              <p:tags r:id="rId2"/>
            </p:custDataLst>
          </p:nvPr>
        </p:nvGrpSpPr>
        <p:grpSpPr>
          <a:xfrm>
            <a:off x="7595235" y="2352675"/>
            <a:ext cx="2720340" cy="1070610"/>
            <a:chOff x="11181" y="4643"/>
            <a:chExt cx="4329" cy="1878"/>
          </a:xfrm>
        </p:grpSpPr>
        <p:grpSp>
          <p:nvGrpSpPr>
            <p:cNvPr id="26" name="组合 25"/>
            <p:cNvGrpSpPr/>
            <p:nvPr/>
          </p:nvGrpSpPr>
          <p:grpSpPr>
            <a:xfrm>
              <a:off x="11181" y="4643"/>
              <a:ext cx="4074" cy="1879"/>
              <a:chOff x="10997" y="3439"/>
              <a:chExt cx="4074" cy="1879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0997" y="3439"/>
                <a:ext cx="4000" cy="1855"/>
                <a:chOff x="10997" y="3439"/>
                <a:chExt cx="4000" cy="1855"/>
              </a:xfrm>
            </p:grpSpPr>
            <p:sp>
              <p:nvSpPr>
                <p:cNvPr id="13" name="文本框 12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11167" y="3439"/>
                  <a:ext cx="3830" cy="1801"/>
                </a:xfrm>
                <a:custGeom>
                  <a:avLst/>
                  <a:gdLst>
                    <a:gd name="connsiteX0" fmla="*/ 0 w 3830"/>
                    <a:gd name="connsiteY0" fmla="*/ 1792 h 1801"/>
                    <a:gd name="connsiteX1" fmla="*/ 288 w 3830"/>
                    <a:gd name="connsiteY1" fmla="*/ 1787 h 1801"/>
                    <a:gd name="connsiteX2" fmla="*/ 288 w 3830"/>
                    <a:gd name="connsiteY2" fmla="*/ 1745 h 1801"/>
                    <a:gd name="connsiteX3" fmla="*/ 443 w 3830"/>
                    <a:gd name="connsiteY3" fmla="*/ 1467 h 1801"/>
                    <a:gd name="connsiteX4" fmla="*/ 809 w 3830"/>
                    <a:gd name="connsiteY4" fmla="*/ 1080 h 1801"/>
                    <a:gd name="connsiteX5" fmla="*/ 1099 w 3830"/>
                    <a:gd name="connsiteY5" fmla="*/ 674 h 1801"/>
                    <a:gd name="connsiteX6" fmla="*/ 1149 w 3830"/>
                    <a:gd name="connsiteY6" fmla="*/ 427 h 1801"/>
                    <a:gd name="connsiteX7" fmla="*/ 1044 w 3830"/>
                    <a:gd name="connsiteY7" fmla="*/ 257 h 1801"/>
                    <a:gd name="connsiteX8" fmla="*/ 837 w 3830"/>
                    <a:gd name="connsiteY8" fmla="*/ 200 h 1801"/>
                    <a:gd name="connsiteX9" fmla="*/ 615 w 3830"/>
                    <a:gd name="connsiteY9" fmla="*/ 282 h 1801"/>
                    <a:gd name="connsiteX10" fmla="*/ 454 w 3830"/>
                    <a:gd name="connsiteY10" fmla="*/ 499 h 1801"/>
                    <a:gd name="connsiteX11" fmla="*/ 243 w 3830"/>
                    <a:gd name="connsiteY11" fmla="*/ 468 h 1801"/>
                    <a:gd name="connsiteX12" fmla="*/ 471 w 3830"/>
                    <a:gd name="connsiteY12" fmla="*/ 122 h 1801"/>
                    <a:gd name="connsiteX13" fmla="*/ 799 w 3830"/>
                    <a:gd name="connsiteY13" fmla="*/ 4 h 1801"/>
                    <a:gd name="connsiteX14" fmla="*/ 879 w 3830"/>
                    <a:gd name="connsiteY14" fmla="*/ 0 h 1801"/>
                    <a:gd name="connsiteX15" fmla="*/ 998 w 3830"/>
                    <a:gd name="connsiteY15" fmla="*/ 10 h 1801"/>
                    <a:gd name="connsiteX16" fmla="*/ 1181 w 3830"/>
                    <a:gd name="connsiteY16" fmla="*/ 81 h 1801"/>
                    <a:gd name="connsiteX17" fmla="*/ 1337 w 3830"/>
                    <a:gd name="connsiteY17" fmla="*/ 251 h 1801"/>
                    <a:gd name="connsiteX18" fmla="*/ 1381 w 3830"/>
                    <a:gd name="connsiteY18" fmla="*/ 524 h 1801"/>
                    <a:gd name="connsiteX19" fmla="*/ 1209 w 3830"/>
                    <a:gd name="connsiteY19" fmla="*/ 906 h 1801"/>
                    <a:gd name="connsiteX20" fmla="*/ 610 w 3830"/>
                    <a:gd name="connsiteY20" fmla="*/ 1601 h 1801"/>
                    <a:gd name="connsiteX21" fmla="*/ 1410 w 3830"/>
                    <a:gd name="connsiteY21" fmla="*/ 1601 h 1801"/>
                    <a:gd name="connsiteX22" fmla="*/ 1410 w 3830"/>
                    <a:gd name="connsiteY22" fmla="*/ 1787 h 1801"/>
                    <a:gd name="connsiteX23" fmla="*/ 3830 w 3830"/>
                    <a:gd name="connsiteY23" fmla="*/ 1801 h 1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830" h="1801">
                      <a:moveTo>
                        <a:pt x="0" y="1792"/>
                      </a:moveTo>
                      <a:lnTo>
                        <a:pt x="288" y="1787"/>
                      </a:lnTo>
                      <a:lnTo>
                        <a:pt x="288" y="1745"/>
                      </a:lnTo>
                      <a:cubicBezTo>
                        <a:pt x="296" y="1642"/>
                        <a:pt x="347" y="1549"/>
                        <a:pt x="443" y="1467"/>
                      </a:cubicBezTo>
                      <a:cubicBezTo>
                        <a:pt x="539" y="1385"/>
                        <a:pt x="661" y="1256"/>
                        <a:pt x="809" y="1080"/>
                      </a:cubicBezTo>
                      <a:cubicBezTo>
                        <a:pt x="958" y="906"/>
                        <a:pt x="1054" y="770"/>
                        <a:pt x="1099" y="674"/>
                      </a:cubicBezTo>
                      <a:cubicBezTo>
                        <a:pt x="1143" y="578"/>
                        <a:pt x="1159" y="495"/>
                        <a:pt x="1149" y="427"/>
                      </a:cubicBezTo>
                      <a:cubicBezTo>
                        <a:pt x="1137" y="357"/>
                        <a:pt x="1102" y="301"/>
                        <a:pt x="1044" y="257"/>
                      </a:cubicBezTo>
                      <a:cubicBezTo>
                        <a:pt x="984" y="212"/>
                        <a:pt x="915" y="193"/>
                        <a:pt x="837" y="200"/>
                      </a:cubicBezTo>
                      <a:cubicBezTo>
                        <a:pt x="760" y="207"/>
                        <a:pt x="686" y="234"/>
                        <a:pt x="615" y="282"/>
                      </a:cubicBezTo>
                      <a:cubicBezTo>
                        <a:pt x="545" y="330"/>
                        <a:pt x="492" y="403"/>
                        <a:pt x="454" y="499"/>
                      </a:cubicBezTo>
                      <a:lnTo>
                        <a:pt x="243" y="468"/>
                      </a:lnTo>
                      <a:cubicBezTo>
                        <a:pt x="302" y="310"/>
                        <a:pt x="378" y="195"/>
                        <a:pt x="471" y="122"/>
                      </a:cubicBezTo>
                      <a:cubicBezTo>
                        <a:pt x="564" y="51"/>
                        <a:pt x="672" y="11"/>
                        <a:pt x="799" y="4"/>
                      </a:cubicBezTo>
                      <a:cubicBezTo>
                        <a:pt x="827" y="2"/>
                        <a:pt x="853" y="0"/>
                        <a:pt x="879" y="0"/>
                      </a:cubicBezTo>
                      <a:cubicBezTo>
                        <a:pt x="921" y="0"/>
                        <a:pt x="962" y="3"/>
                        <a:pt x="998" y="10"/>
                      </a:cubicBezTo>
                      <a:cubicBezTo>
                        <a:pt x="1058" y="20"/>
                        <a:pt x="1119" y="44"/>
                        <a:pt x="1181" y="81"/>
                      </a:cubicBezTo>
                      <a:cubicBezTo>
                        <a:pt x="1244" y="119"/>
                        <a:pt x="1296" y="176"/>
                        <a:pt x="1337" y="251"/>
                      </a:cubicBezTo>
                      <a:cubicBezTo>
                        <a:pt x="1378" y="327"/>
                        <a:pt x="1393" y="418"/>
                        <a:pt x="1381" y="524"/>
                      </a:cubicBezTo>
                      <a:cubicBezTo>
                        <a:pt x="1370" y="631"/>
                        <a:pt x="1313" y="758"/>
                        <a:pt x="1209" y="906"/>
                      </a:cubicBezTo>
                      <a:cubicBezTo>
                        <a:pt x="1105" y="1053"/>
                        <a:pt x="906" y="1285"/>
                        <a:pt x="610" y="1601"/>
                      </a:cubicBezTo>
                      <a:lnTo>
                        <a:pt x="1410" y="1601"/>
                      </a:lnTo>
                      <a:lnTo>
                        <a:pt x="1410" y="1787"/>
                      </a:lnTo>
                      <a:lnTo>
                        <a:pt x="3830" y="1801"/>
                      </a:lnTo>
                    </a:path>
                  </a:pathLst>
                </a:custGeom>
                <a:noFill/>
                <a:ln w="28575">
                  <a:solidFill>
                    <a:srgbClr val="D2A57B"/>
                  </a:solidFill>
                </a:ln>
                <a:effectLst/>
              </p:spPr>
              <p:txBody>
                <a:bodyPr wrap="square" rtlCol="0">
                  <a:noAutofit/>
                </a:bodyPr>
                <a:lstStyle/>
                <a:p>
                  <a:endParaRPr lang="en-US" altLang="zh-CN" sz="16600">
                    <a:ln w="28575">
                      <a:solidFill>
                        <a:srgbClr val="D2A57B"/>
                      </a:solidFill>
                    </a:ln>
                    <a:noFill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sp>
              <p:nvSpPr>
                <p:cNvPr id="23" name="椭圆 22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0997" y="5124"/>
                  <a:ext cx="170" cy="170"/>
                </a:xfrm>
                <a:prstGeom prst="ellipse">
                  <a:avLst/>
                </a:prstGeom>
                <a:solidFill>
                  <a:srgbClr val="D2A57B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微软雅黑 Light" panose="020B0502040204020203" pitchFamily="2" charset="-122"/>
                  </a:endParaRPr>
                </a:p>
              </p:txBody>
            </p:sp>
          </p:grpSp>
          <p:sp>
            <p:nvSpPr>
              <p:cNvPr id="24" name="椭圆 23"/>
              <p:cNvSpPr/>
              <p:nvPr>
                <p:custDataLst>
                  <p:tags r:id="rId32"/>
                </p:custDataLst>
              </p:nvPr>
            </p:nvSpPr>
            <p:spPr>
              <a:xfrm>
                <a:off x="14901" y="5148"/>
                <a:ext cx="170" cy="170"/>
              </a:xfrm>
              <a:prstGeom prst="ellipse">
                <a:avLst/>
              </a:prstGeom>
              <a:solidFill>
                <a:srgbClr val="D2A57B"/>
              </a:solidFill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2334" y="5199"/>
              <a:ext cx="3176" cy="1000"/>
              <a:chOff x="12286" y="3919"/>
              <a:chExt cx="3176" cy="1000"/>
            </a:xfrm>
          </p:grpSpPr>
          <p:sp>
            <p:nvSpPr>
              <p:cNvPr id="68" name="Text Placeholder 3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286" y="3919"/>
                <a:ext cx="317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defTabSz="1219200">
                  <a:lnSpc>
                    <a:spcPct val="100000"/>
                  </a:lnSpc>
                  <a:spcBef>
                    <a:spcPct val="20000"/>
                  </a:spcBef>
                  <a:defRPr sz="3000" b="1">
                    <a:solidFill>
                      <a:srgbClr val="54578E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工具分析</a:t>
                </a:r>
              </a:p>
            </p:txBody>
          </p:sp>
          <p:sp>
            <p:nvSpPr>
              <p:cNvPr id="92" name="文本框 91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3096" y="4583"/>
                <a:ext cx="1555" cy="3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ctr"/>
                <a:r>
                  <a:rPr lang="en-US" altLang="zh-CN" sz="800" b="1" i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/>
                    <a:ea typeface="Arial" panose="020B0604020202020204"/>
                  </a:rPr>
                  <a:t>Tool Analysis</a:t>
                </a:r>
              </a:p>
            </p:txBody>
          </p:sp>
        </p:grpSp>
      </p:grpSp>
      <p:grpSp>
        <p:nvGrpSpPr>
          <p:cNvPr id="99" name="组合 98"/>
          <p:cNvGrpSpPr/>
          <p:nvPr>
            <p:custDataLst>
              <p:tags r:id="rId3"/>
            </p:custDataLst>
          </p:nvPr>
        </p:nvGrpSpPr>
        <p:grpSpPr>
          <a:xfrm>
            <a:off x="4793615" y="3434715"/>
            <a:ext cx="2720340" cy="1070610"/>
            <a:chOff x="7825" y="7447"/>
            <a:chExt cx="4284" cy="1686"/>
          </a:xfrm>
        </p:grpSpPr>
        <p:grpSp>
          <p:nvGrpSpPr>
            <p:cNvPr id="29" name="组合 28"/>
            <p:cNvGrpSpPr/>
            <p:nvPr/>
          </p:nvGrpSpPr>
          <p:grpSpPr>
            <a:xfrm>
              <a:off x="7825" y="7447"/>
              <a:ext cx="4090" cy="1687"/>
              <a:chOff x="6045" y="2831"/>
              <a:chExt cx="4090" cy="1687"/>
            </a:xfrm>
          </p:grpSpPr>
          <p:sp>
            <p:nvSpPr>
              <p:cNvPr id="14" name="文本框 1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6162" y="2831"/>
                <a:ext cx="3848" cy="1609"/>
              </a:xfrm>
              <a:custGeom>
                <a:avLst/>
                <a:gdLst>
                  <a:gd name="connsiteX0" fmla="*/ 0 w 3848"/>
                  <a:gd name="connsiteY0" fmla="*/ 1603 h 1609"/>
                  <a:gd name="connsiteX1" fmla="*/ 459 w 3848"/>
                  <a:gd name="connsiteY1" fmla="*/ 1602 h 1609"/>
                  <a:gd name="connsiteX2" fmla="*/ 284 w 3848"/>
                  <a:gd name="connsiteY2" fmla="*/ 1273 h 1609"/>
                  <a:gd name="connsiteX3" fmla="*/ 459 w 3848"/>
                  <a:gd name="connsiteY3" fmla="*/ 1244 h 1609"/>
                  <a:gd name="connsiteX4" fmla="*/ 587 w 3848"/>
                  <a:gd name="connsiteY4" fmla="*/ 1455 h 1609"/>
                  <a:gd name="connsiteX5" fmla="*/ 807 w 3848"/>
                  <a:gd name="connsiteY5" fmla="*/ 1534 h 1609"/>
                  <a:gd name="connsiteX6" fmla="*/ 1017 w 3848"/>
                  <a:gd name="connsiteY6" fmla="*/ 1426 h 1609"/>
                  <a:gd name="connsiteX7" fmla="*/ 1084 w 3848"/>
                  <a:gd name="connsiteY7" fmla="*/ 1190 h 1609"/>
                  <a:gd name="connsiteX8" fmla="*/ 982 w 3848"/>
                  <a:gd name="connsiteY8" fmla="*/ 983 h 1609"/>
                  <a:gd name="connsiteX9" fmla="*/ 685 w 3848"/>
                  <a:gd name="connsiteY9" fmla="*/ 880 h 1609"/>
                  <a:gd name="connsiteX10" fmla="*/ 685 w 3848"/>
                  <a:gd name="connsiteY10" fmla="*/ 752 h 1609"/>
                  <a:gd name="connsiteX11" fmla="*/ 982 w 3848"/>
                  <a:gd name="connsiteY11" fmla="*/ 644 h 1609"/>
                  <a:gd name="connsiteX12" fmla="*/ 1066 w 3848"/>
                  <a:gd name="connsiteY12" fmla="*/ 413 h 1609"/>
                  <a:gd name="connsiteX13" fmla="*/ 938 w 3848"/>
                  <a:gd name="connsiteY13" fmla="*/ 206 h 1609"/>
                  <a:gd name="connsiteX14" fmla="*/ 689 w 3848"/>
                  <a:gd name="connsiteY14" fmla="*/ 192 h 1609"/>
                  <a:gd name="connsiteX15" fmla="*/ 479 w 3848"/>
                  <a:gd name="connsiteY15" fmla="*/ 467 h 1609"/>
                  <a:gd name="connsiteX16" fmla="*/ 304 w 3848"/>
                  <a:gd name="connsiteY16" fmla="*/ 438 h 1609"/>
                  <a:gd name="connsiteX17" fmla="*/ 465 w 3848"/>
                  <a:gd name="connsiteY17" fmla="*/ 143 h 1609"/>
                  <a:gd name="connsiteX18" fmla="*/ 743 w 3848"/>
                  <a:gd name="connsiteY18" fmla="*/ 5 h 1609"/>
                  <a:gd name="connsiteX19" fmla="*/ 828 w 3848"/>
                  <a:gd name="connsiteY19" fmla="*/ 0 h 1609"/>
                  <a:gd name="connsiteX20" fmla="*/ 1051 w 3848"/>
                  <a:gd name="connsiteY20" fmla="*/ 49 h 1609"/>
                  <a:gd name="connsiteX21" fmla="*/ 1236 w 3848"/>
                  <a:gd name="connsiteY21" fmla="*/ 246 h 1609"/>
                  <a:gd name="connsiteX22" fmla="*/ 1251 w 3848"/>
                  <a:gd name="connsiteY22" fmla="*/ 535 h 1609"/>
                  <a:gd name="connsiteX23" fmla="*/ 1026 w 3848"/>
                  <a:gd name="connsiteY23" fmla="*/ 811 h 1609"/>
                  <a:gd name="connsiteX24" fmla="*/ 1236 w 3848"/>
                  <a:gd name="connsiteY24" fmla="*/ 988 h 1609"/>
                  <a:gd name="connsiteX25" fmla="*/ 1285 w 3848"/>
                  <a:gd name="connsiteY25" fmla="*/ 1298 h 1609"/>
                  <a:gd name="connsiteX26" fmla="*/ 1114 w 3848"/>
                  <a:gd name="connsiteY26" fmla="*/ 1608 h 1609"/>
                  <a:gd name="connsiteX27" fmla="*/ 3828 w 3848"/>
                  <a:gd name="connsiteY27" fmla="*/ 1609 h 1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48" h="1609">
                    <a:moveTo>
                      <a:pt x="0" y="1603"/>
                    </a:moveTo>
                    <a:lnTo>
                      <a:pt x="459" y="1602"/>
                    </a:lnTo>
                    <a:cubicBezTo>
                      <a:pt x="368" y="1526"/>
                      <a:pt x="310" y="1417"/>
                      <a:pt x="284" y="1273"/>
                    </a:cubicBezTo>
                    <a:lnTo>
                      <a:pt x="459" y="1244"/>
                    </a:lnTo>
                    <a:cubicBezTo>
                      <a:pt x="486" y="1329"/>
                      <a:pt x="528" y="1400"/>
                      <a:pt x="587" y="1455"/>
                    </a:cubicBezTo>
                    <a:cubicBezTo>
                      <a:pt x="645" y="1511"/>
                      <a:pt x="718" y="1537"/>
                      <a:pt x="807" y="1534"/>
                    </a:cubicBezTo>
                    <a:cubicBezTo>
                      <a:pt x="895" y="1530"/>
                      <a:pt x="964" y="1495"/>
                      <a:pt x="1017" y="1426"/>
                    </a:cubicBezTo>
                    <a:cubicBezTo>
                      <a:pt x="1069" y="1357"/>
                      <a:pt x="1091" y="1279"/>
                      <a:pt x="1084" y="1190"/>
                    </a:cubicBezTo>
                    <a:cubicBezTo>
                      <a:pt x="1078" y="1101"/>
                      <a:pt x="1044" y="1032"/>
                      <a:pt x="982" y="983"/>
                    </a:cubicBezTo>
                    <a:cubicBezTo>
                      <a:pt x="920" y="934"/>
                      <a:pt x="821" y="899"/>
                      <a:pt x="685" y="880"/>
                    </a:cubicBezTo>
                    <a:lnTo>
                      <a:pt x="685" y="752"/>
                    </a:lnTo>
                    <a:cubicBezTo>
                      <a:pt x="821" y="739"/>
                      <a:pt x="920" y="703"/>
                      <a:pt x="982" y="644"/>
                    </a:cubicBezTo>
                    <a:cubicBezTo>
                      <a:pt x="1044" y="585"/>
                      <a:pt x="1072" y="508"/>
                      <a:pt x="1066" y="413"/>
                    </a:cubicBezTo>
                    <a:cubicBezTo>
                      <a:pt x="1059" y="318"/>
                      <a:pt x="1017" y="249"/>
                      <a:pt x="938" y="206"/>
                    </a:cubicBezTo>
                    <a:cubicBezTo>
                      <a:pt x="860" y="164"/>
                      <a:pt x="777" y="158"/>
                      <a:pt x="689" y="192"/>
                    </a:cubicBezTo>
                    <a:cubicBezTo>
                      <a:pt x="601" y="224"/>
                      <a:pt x="532" y="316"/>
                      <a:pt x="479" y="467"/>
                    </a:cubicBezTo>
                    <a:lnTo>
                      <a:pt x="304" y="438"/>
                    </a:lnTo>
                    <a:cubicBezTo>
                      <a:pt x="343" y="319"/>
                      <a:pt x="396" y="221"/>
                      <a:pt x="465" y="143"/>
                    </a:cubicBezTo>
                    <a:cubicBezTo>
                      <a:pt x="533" y="64"/>
                      <a:pt x="626" y="17"/>
                      <a:pt x="743" y="5"/>
                    </a:cubicBezTo>
                    <a:cubicBezTo>
                      <a:pt x="772" y="2"/>
                      <a:pt x="801" y="0"/>
                      <a:pt x="828" y="0"/>
                    </a:cubicBezTo>
                    <a:cubicBezTo>
                      <a:pt x="910" y="1"/>
                      <a:pt x="985" y="17"/>
                      <a:pt x="1051" y="49"/>
                    </a:cubicBezTo>
                    <a:cubicBezTo>
                      <a:pt x="1139" y="92"/>
                      <a:pt x="1200" y="157"/>
                      <a:pt x="1236" y="246"/>
                    </a:cubicBezTo>
                    <a:cubicBezTo>
                      <a:pt x="1272" y="334"/>
                      <a:pt x="1276" y="431"/>
                      <a:pt x="1251" y="535"/>
                    </a:cubicBezTo>
                    <a:cubicBezTo>
                      <a:pt x="1224" y="641"/>
                      <a:pt x="1150" y="733"/>
                      <a:pt x="1026" y="811"/>
                    </a:cubicBezTo>
                    <a:cubicBezTo>
                      <a:pt x="1118" y="850"/>
                      <a:pt x="1188" y="909"/>
                      <a:pt x="1236" y="988"/>
                    </a:cubicBezTo>
                    <a:cubicBezTo>
                      <a:pt x="1285" y="1067"/>
                      <a:pt x="1301" y="1170"/>
                      <a:pt x="1285" y="1298"/>
                    </a:cubicBezTo>
                    <a:cubicBezTo>
                      <a:pt x="1269" y="1426"/>
                      <a:pt x="1212" y="1529"/>
                      <a:pt x="1114" y="1608"/>
                    </a:cubicBezTo>
                    <a:cubicBezTo>
                      <a:pt x="1371" y="1602"/>
                      <a:pt x="4108" y="1609"/>
                      <a:pt x="3828" y="1609"/>
                    </a:cubicBezTo>
                  </a:path>
                </a:pathLst>
              </a:custGeom>
              <a:noFill/>
              <a:ln w="28575">
                <a:solidFill>
                  <a:srgbClr val="D2A57B"/>
                </a:solidFill>
              </a:ln>
              <a:effectLst/>
            </p:spPr>
            <p:txBody>
              <a:bodyPr wrap="square" rtlCol="0" anchor="t">
                <a:noAutofit/>
              </a:bodyPr>
              <a:lstStyle/>
              <a:p>
                <a:endParaRPr lang="en-US" altLang="zh-CN" sz="16600">
                  <a:ln w="38100">
                    <a:solidFill>
                      <a:srgbClr val="D2A57B"/>
                    </a:solidFill>
                  </a:ln>
                  <a:noFill/>
                  <a:latin typeface="楷体" panose="02010609060101010101" charset="-122"/>
                  <a:ea typeface="楷体" panose="02010609060101010101" charset="-122"/>
                  <a:sym typeface="+mn-ea"/>
                </a:endParaRPr>
              </a:p>
            </p:txBody>
          </p:sp>
          <p:sp>
            <p:nvSpPr>
              <p:cNvPr id="19" name="椭圆 18"/>
              <p:cNvSpPr/>
              <p:nvPr>
                <p:custDataLst>
                  <p:tags r:id="rId28"/>
                </p:custDataLst>
              </p:nvPr>
            </p:nvSpPr>
            <p:spPr>
              <a:xfrm>
                <a:off x="9965" y="4348"/>
                <a:ext cx="170" cy="170"/>
              </a:xfrm>
              <a:prstGeom prst="ellipse">
                <a:avLst/>
              </a:prstGeom>
              <a:solidFill>
                <a:srgbClr val="D2A57B"/>
              </a:solidFill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0" name="椭圆 19"/>
              <p:cNvSpPr/>
              <p:nvPr>
                <p:custDataLst>
                  <p:tags r:id="rId29"/>
                </p:custDataLst>
              </p:nvPr>
            </p:nvSpPr>
            <p:spPr>
              <a:xfrm>
                <a:off x="6045" y="4348"/>
                <a:ext cx="170" cy="170"/>
              </a:xfrm>
              <a:prstGeom prst="ellipse">
                <a:avLst/>
              </a:prstGeom>
              <a:solidFill>
                <a:srgbClr val="D2A57B"/>
              </a:solidFill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grpSp>
          <p:nvGrpSpPr>
            <p:cNvPr id="98" name="组合 97"/>
            <p:cNvGrpSpPr/>
            <p:nvPr>
              <p:custDataLst>
                <p:tags r:id="rId24"/>
              </p:custDataLst>
            </p:nvPr>
          </p:nvGrpSpPr>
          <p:grpSpPr>
            <a:xfrm>
              <a:off x="8933" y="7838"/>
              <a:ext cx="3176" cy="953"/>
              <a:chOff x="11429" y="5162"/>
              <a:chExt cx="3176" cy="953"/>
            </a:xfrm>
          </p:grpSpPr>
          <p:sp>
            <p:nvSpPr>
              <p:cNvPr id="46" name="Text Placeholder 3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1429" y="5162"/>
                <a:ext cx="317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defTabSz="1219200">
                  <a:lnSpc>
                    <a:spcPct val="100000"/>
                  </a:lnSpc>
                  <a:spcBef>
                    <a:spcPct val="20000"/>
                  </a:spcBef>
                  <a:defRPr sz="3000" b="1">
                    <a:solidFill>
                      <a:srgbClr val="54578E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pPr algn="ctr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选择理由</a:t>
                </a:r>
              </a:p>
            </p:txBody>
          </p:sp>
          <p:sp>
            <p:nvSpPr>
              <p:cNvPr id="96" name="文本框 95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2080" y="5763"/>
                <a:ext cx="1873" cy="35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0" indent="0" algn="ctr"/>
                <a:r>
                  <a:rPr lang="en-US" altLang="zh-CN" sz="800" b="1" i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/>
                    <a:ea typeface="Arial" panose="020B0604020202020204"/>
                  </a:rPr>
                  <a:t>reason for choosing</a:t>
                </a:r>
              </a:p>
            </p:txBody>
          </p:sp>
        </p:grpSp>
      </p:grpSp>
      <p:grpSp>
        <p:nvGrpSpPr>
          <p:cNvPr id="101" name="组合 100"/>
          <p:cNvGrpSpPr/>
          <p:nvPr>
            <p:custDataLst>
              <p:tags r:id="rId4"/>
            </p:custDataLst>
          </p:nvPr>
        </p:nvGrpSpPr>
        <p:grpSpPr>
          <a:xfrm>
            <a:off x="7595235" y="4516755"/>
            <a:ext cx="2720340" cy="1070610"/>
            <a:chOff x="6921" y="4689"/>
            <a:chExt cx="4075" cy="1748"/>
          </a:xfrm>
        </p:grpSpPr>
        <p:grpSp>
          <p:nvGrpSpPr>
            <p:cNvPr id="64" name="组合 63"/>
            <p:cNvGrpSpPr/>
            <p:nvPr>
              <p:custDataLst>
                <p:tags r:id="rId5"/>
              </p:custDataLst>
            </p:nvPr>
          </p:nvGrpSpPr>
          <p:grpSpPr>
            <a:xfrm>
              <a:off x="6921" y="4689"/>
              <a:ext cx="3894" cy="1748"/>
              <a:chOff x="6225" y="4653"/>
              <a:chExt cx="3894" cy="1748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6225" y="4653"/>
                <a:ext cx="3894" cy="1749"/>
                <a:chOff x="6225" y="4653"/>
                <a:chExt cx="3894" cy="1749"/>
              </a:xfrm>
            </p:grpSpPr>
            <p:sp>
              <p:nvSpPr>
                <p:cNvPr id="21" name="椭圆 20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949" y="6224"/>
                  <a:ext cx="170" cy="170"/>
                </a:xfrm>
                <a:prstGeom prst="ellipse">
                  <a:avLst/>
                </a:prstGeom>
                <a:solidFill>
                  <a:srgbClr val="D2A57B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微软雅黑 Light" panose="020B0502040204020203" pitchFamily="2" charset="-122"/>
                  </a:endParaRPr>
                </a:p>
              </p:txBody>
            </p:sp>
            <p:sp>
              <p:nvSpPr>
                <p:cNvPr id="22" name="椭圆 21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225" y="6232"/>
                  <a:ext cx="170" cy="170"/>
                </a:xfrm>
                <a:prstGeom prst="ellipse">
                  <a:avLst/>
                </a:prstGeom>
                <a:solidFill>
                  <a:srgbClr val="D2A57B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endPara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微软雅黑 Light" panose="020B0502040204020203" pitchFamily="2" charset="-122"/>
                  </a:endParaRPr>
                </a:p>
              </p:txBody>
            </p:sp>
            <p:grpSp>
              <p:nvGrpSpPr>
                <p:cNvPr id="57" name="组合 56"/>
                <p:cNvGrpSpPr/>
                <p:nvPr/>
              </p:nvGrpSpPr>
              <p:grpSpPr>
                <a:xfrm>
                  <a:off x="6267" y="4653"/>
                  <a:ext cx="1278" cy="1694"/>
                  <a:chOff x="8963" y="7117"/>
                  <a:chExt cx="1278" cy="1694"/>
                </a:xfrm>
              </p:grpSpPr>
              <p:cxnSp>
                <p:nvCxnSpPr>
                  <p:cNvPr id="37" name="直接连接符 36"/>
                  <p:cNvCxnSpPr/>
                  <p:nvPr>
                    <p:custDataLst>
                      <p:tags r:id="rId13"/>
                    </p:custDataLst>
                  </p:nvPr>
                </p:nvCxnSpPr>
                <p:spPr>
                  <a:xfrm flipH="1">
                    <a:off x="8981" y="7117"/>
                    <a:ext cx="839" cy="117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" name="直接连接符 43"/>
                  <p:cNvCxnSpPr/>
                  <p:nvPr>
                    <p:custDataLst>
                      <p:tags r:id="rId14"/>
                    </p:custDataLst>
                  </p:nvPr>
                </p:nvCxnSpPr>
                <p:spPr>
                  <a:xfrm>
                    <a:off x="9800" y="7120"/>
                    <a:ext cx="207" cy="3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5" name="直接连接符 44"/>
                  <p:cNvCxnSpPr/>
                  <p:nvPr>
                    <p:custDataLst>
                      <p:tags r:id="rId15"/>
                    </p:custDataLst>
                  </p:nvPr>
                </p:nvCxnSpPr>
                <p:spPr>
                  <a:xfrm>
                    <a:off x="9983" y="7118"/>
                    <a:ext cx="0" cy="116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" name="直接连接符 46"/>
                  <p:cNvCxnSpPr/>
                  <p:nvPr>
                    <p:custDataLst>
                      <p:tags r:id="rId16"/>
                    </p:custDataLst>
                  </p:nvPr>
                </p:nvCxnSpPr>
                <p:spPr>
                  <a:xfrm>
                    <a:off x="9959" y="8274"/>
                    <a:ext cx="28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8" name="直接连接符 47"/>
                  <p:cNvCxnSpPr/>
                  <p:nvPr>
                    <p:custDataLst>
                      <p:tags r:id="rId17"/>
                    </p:custDataLst>
                  </p:nvPr>
                </p:nvCxnSpPr>
                <p:spPr>
                  <a:xfrm>
                    <a:off x="10220" y="8265"/>
                    <a:ext cx="0" cy="20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9" name="直接连接符 48"/>
                  <p:cNvCxnSpPr/>
                  <p:nvPr>
                    <p:custDataLst>
                      <p:tags r:id="rId18"/>
                    </p:custDataLst>
                  </p:nvPr>
                </p:nvCxnSpPr>
                <p:spPr>
                  <a:xfrm flipH="1">
                    <a:off x="9953" y="8448"/>
                    <a:ext cx="28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1" name="直接连接符 50"/>
                  <p:cNvCxnSpPr/>
                  <p:nvPr>
                    <p:custDataLst>
                      <p:tags r:id="rId19"/>
                    </p:custDataLst>
                  </p:nvPr>
                </p:nvCxnSpPr>
                <p:spPr>
                  <a:xfrm>
                    <a:off x="9974" y="8445"/>
                    <a:ext cx="0" cy="363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2" name="直接连接符 51"/>
                  <p:cNvCxnSpPr/>
                  <p:nvPr>
                    <p:custDataLst>
                      <p:tags r:id="rId20"/>
                    </p:custDataLst>
                  </p:nvPr>
                </p:nvCxnSpPr>
                <p:spPr>
                  <a:xfrm>
                    <a:off x="8984" y="8277"/>
                    <a:ext cx="3" cy="17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3" name="直接连接符 52"/>
                  <p:cNvCxnSpPr/>
                  <p:nvPr>
                    <p:custDataLst>
                      <p:tags r:id="rId21"/>
                    </p:custDataLst>
                  </p:nvPr>
                </p:nvCxnSpPr>
                <p:spPr>
                  <a:xfrm>
                    <a:off x="8963" y="8442"/>
                    <a:ext cx="83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" name="直接连接符 54"/>
                  <p:cNvCxnSpPr/>
                  <p:nvPr>
                    <p:custDataLst>
                      <p:tags r:id="rId22"/>
                    </p:custDataLst>
                  </p:nvPr>
                </p:nvCxnSpPr>
                <p:spPr>
                  <a:xfrm flipH="1">
                    <a:off x="9764" y="8439"/>
                    <a:ext cx="6" cy="372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56" name="任意多边形 55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 flipH="1">
                    <a:off x="9210" y="7501"/>
                    <a:ext cx="576" cy="780"/>
                  </a:xfrm>
                  <a:custGeom>
                    <a:avLst/>
                    <a:gdLst>
                      <a:gd name="connsiteX0" fmla="*/ 0 w 576"/>
                      <a:gd name="connsiteY0" fmla="*/ 771 h 780"/>
                      <a:gd name="connsiteX1" fmla="*/ 0 w 576"/>
                      <a:gd name="connsiteY1" fmla="*/ 0 h 780"/>
                      <a:gd name="connsiteX2" fmla="*/ 576 w 576"/>
                      <a:gd name="connsiteY2" fmla="*/ 780 h 780"/>
                      <a:gd name="connsiteX3" fmla="*/ 0 w 576"/>
                      <a:gd name="connsiteY3" fmla="*/ 771 h 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6" h="780">
                        <a:moveTo>
                          <a:pt x="0" y="771"/>
                        </a:moveTo>
                        <a:lnTo>
                          <a:pt x="0" y="0"/>
                        </a:lnTo>
                        <a:lnTo>
                          <a:pt x="576" y="780"/>
                        </a:lnTo>
                        <a:lnTo>
                          <a:pt x="0" y="771"/>
                        </a:lnTo>
                        <a:close/>
                      </a:path>
                    </a:pathLst>
                  </a:custGeom>
                  <a:noFill/>
                  <a:ln w="28575" cap="flat" cmpd="sng" algn="ctr">
                    <a:solidFill>
                      <a:srgbClr val="D2A57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微软雅黑 Light" panose="020B0502040204020203" pitchFamily="2" charset="-122"/>
                    </a:endParaRPr>
                  </a:p>
                </p:txBody>
              </p:sp>
            </p:grpSp>
            <p:cxnSp>
              <p:nvCxnSpPr>
                <p:cNvPr id="59" name="直接连接符 58"/>
                <p:cNvCxnSpPr/>
                <p:nvPr>
                  <p:custDataLst>
                    <p:tags r:id="rId12"/>
                  </p:custDataLst>
                </p:nvPr>
              </p:nvCxnSpPr>
              <p:spPr>
                <a:xfrm flipV="1">
                  <a:off x="7249" y="6321"/>
                  <a:ext cx="2754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D2A57B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0" name="直接连接符 59"/>
              <p:cNvCxnSpPr/>
              <p:nvPr>
                <p:custDataLst>
                  <p:tags r:id="rId9"/>
                </p:custDataLst>
              </p:nvPr>
            </p:nvCxnSpPr>
            <p:spPr>
              <a:xfrm flipH="1" flipV="1">
                <a:off x="6359" y="6326"/>
                <a:ext cx="72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0" name="组合 99"/>
            <p:cNvGrpSpPr/>
            <p:nvPr>
              <p:custDataLst>
                <p:tags r:id="rId6"/>
              </p:custDataLst>
            </p:nvPr>
          </p:nvGrpSpPr>
          <p:grpSpPr>
            <a:xfrm>
              <a:off x="7820" y="5123"/>
              <a:ext cx="3176" cy="1008"/>
              <a:chOff x="12668" y="6863"/>
              <a:chExt cx="3176" cy="1008"/>
            </a:xfrm>
          </p:grpSpPr>
          <p:sp>
            <p:nvSpPr>
              <p:cNvPr id="80" name="Text Placeholder 3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2668" y="6863"/>
                <a:ext cx="317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defTabSz="1219200">
                  <a:lnSpc>
                    <a:spcPct val="100000"/>
                  </a:lnSpc>
                  <a:spcBef>
                    <a:spcPct val="20000"/>
                  </a:spcBef>
                  <a:defRPr sz="3000" b="1">
                    <a:solidFill>
                      <a:srgbClr val="54578E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pPr algn="ctr"/>
                <a:r>
                  <a:rPr lang="zh-CN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改进思路</a:t>
                </a:r>
              </a:p>
            </p:txBody>
          </p:sp>
          <p:sp>
            <p:nvSpPr>
              <p:cNvPr id="97" name="文本框 9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3320" y="7519"/>
                <a:ext cx="1873" cy="35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0" indent="0" algn="ctr"/>
                <a:r>
                  <a:rPr lang="en-US" altLang="zh-CN" sz="800" b="1" i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/>
                    <a:ea typeface="Arial" panose="020B0604020202020204"/>
                  </a:rPr>
                  <a:t>Improvement ideas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45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5725525" y="1501553"/>
            <a:ext cx="360053" cy="36005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2C1C41"/>
          </a:solidFill>
          <a:ln w="9525">
            <a:noFill/>
            <a:round/>
          </a:ln>
        </p:spPr>
        <p:txBody>
          <a:bodyPr vert="horz" wrap="square" lIns="105875" tIns="52937" rIns="105875" bIns="52937" numCol="1" anchor="t" anchorCtr="0" compatLnSpc="1"/>
          <a:lstStyle/>
          <a:p>
            <a:pPr>
              <a:lnSpc>
                <a:spcPct val="120000"/>
              </a:lnSpc>
            </a:pPr>
            <a:endParaRPr lang="en-US" sz="76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8" name="Freeform 45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5725525" y="2683307"/>
            <a:ext cx="360053" cy="36005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D2A57B"/>
          </a:solidFill>
          <a:ln w="9525">
            <a:noFill/>
            <a:round/>
          </a:ln>
        </p:spPr>
        <p:txBody>
          <a:bodyPr vert="horz" wrap="square" lIns="105875" tIns="52937" rIns="105875" bIns="52937" numCol="1" anchor="t" anchorCtr="0" compatLnSpc="1"/>
          <a:lstStyle/>
          <a:p>
            <a:pPr>
              <a:lnSpc>
                <a:spcPct val="120000"/>
              </a:lnSpc>
            </a:pPr>
            <a:endParaRPr lang="en-US" sz="76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0" name="Freeform 45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5725525" y="3865061"/>
            <a:ext cx="360053" cy="36005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38B98"/>
          </a:solidFill>
          <a:ln w="9525">
            <a:noFill/>
            <a:round/>
          </a:ln>
        </p:spPr>
        <p:txBody>
          <a:bodyPr vert="horz" wrap="square" lIns="105875" tIns="52937" rIns="105875" bIns="52937" numCol="1" anchor="t" anchorCtr="0" compatLnSpc="1"/>
          <a:lstStyle/>
          <a:p>
            <a:pPr>
              <a:lnSpc>
                <a:spcPct val="120000"/>
              </a:lnSpc>
            </a:pPr>
            <a:endParaRPr lang="en-US" sz="76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1" name="Freeform 45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725525" y="5046816"/>
            <a:ext cx="360053" cy="360053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105875" tIns="52937" rIns="105875" bIns="52937" numCol="1" anchor="t" anchorCtr="0" compatLnSpc="1"/>
          <a:lstStyle/>
          <a:p>
            <a:pPr>
              <a:lnSpc>
                <a:spcPct val="120000"/>
              </a:lnSpc>
            </a:pPr>
            <a:endParaRPr lang="en-US" sz="76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6306813" y="1755642"/>
            <a:ext cx="2718237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KNighter: Transforming Static Analysis with LLM-Synthesized Checkers</a:t>
            </a: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prstClr val="white">
                  <a:lumMod val="5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6"/>
            </p:custDataLst>
          </p:nvPr>
        </p:nvSpPr>
        <p:spPr>
          <a:xfrm>
            <a:off x="6306815" y="1436407"/>
            <a:ext cx="2471252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35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论文标题：</a:t>
            </a:r>
            <a:endParaRPr lang="en-US" altLang="zh-CN" sz="1335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5" name="矩形 54"/>
          <p:cNvSpPr/>
          <p:nvPr>
            <p:custDataLst>
              <p:tags r:id="rId7"/>
            </p:custDataLst>
          </p:nvPr>
        </p:nvSpPr>
        <p:spPr>
          <a:xfrm>
            <a:off x="6306813" y="2922596"/>
            <a:ext cx="2720156" cy="333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SOSP 2025</a:t>
            </a:r>
            <a:r>
              <a:rPr lang="zh-CN" altLang="en-US" sz="105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（操作系统领域顶级会议）</a:t>
            </a:r>
          </a:p>
        </p:txBody>
      </p:sp>
      <p:sp>
        <p:nvSpPr>
          <p:cNvPr id="58" name="文本框 57"/>
          <p:cNvSpPr txBox="1"/>
          <p:nvPr>
            <p:custDataLst>
              <p:tags r:id="rId8"/>
            </p:custDataLst>
          </p:nvPr>
        </p:nvSpPr>
        <p:spPr>
          <a:xfrm>
            <a:off x="6306813" y="2603358"/>
            <a:ext cx="2189628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100" b="1">
                <a:solidFill>
                  <a:srgbClr val="C7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335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发表会议</a:t>
            </a:r>
          </a:p>
        </p:txBody>
      </p:sp>
      <p:sp>
        <p:nvSpPr>
          <p:cNvPr id="62" name="矩形 61"/>
          <p:cNvSpPr/>
          <p:nvPr>
            <p:custDataLst>
              <p:tags r:id="rId9"/>
            </p:custDataLst>
          </p:nvPr>
        </p:nvSpPr>
        <p:spPr>
          <a:xfrm>
            <a:off x="6306813" y="4114236"/>
            <a:ext cx="2718237" cy="333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https://arxiv.org/pdf/2503.09002</a:t>
            </a:r>
          </a:p>
        </p:txBody>
      </p:sp>
      <p:sp>
        <p:nvSpPr>
          <p:cNvPr id="67" name="文本框 66"/>
          <p:cNvSpPr txBox="1"/>
          <p:nvPr>
            <p:custDataLst>
              <p:tags r:id="rId10"/>
            </p:custDataLst>
          </p:nvPr>
        </p:nvSpPr>
        <p:spPr>
          <a:xfrm>
            <a:off x="6306815" y="3795000"/>
            <a:ext cx="2471252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100" b="1">
                <a:solidFill>
                  <a:srgbClr val="C7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335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论文地址：</a:t>
            </a:r>
          </a:p>
        </p:txBody>
      </p:sp>
      <p:sp>
        <p:nvSpPr>
          <p:cNvPr id="69" name="矩形 68"/>
          <p:cNvSpPr/>
          <p:nvPr>
            <p:custDataLst>
              <p:tags r:id="rId11"/>
            </p:custDataLst>
          </p:nvPr>
        </p:nvSpPr>
        <p:spPr>
          <a:xfrm>
            <a:off x="6306813" y="5277485"/>
            <a:ext cx="2720156" cy="575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伊利诺伊大学香槟分校（</a:t>
            </a:r>
            <a:r>
              <a:rPr lang="en-US" altLang="zh-CN" sz="105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UIUC</a:t>
            </a:r>
            <a:r>
              <a:rPr lang="zh-CN" altLang="en-US" sz="105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）张令明老师团队，包括杨晨源、赵子杰等</a:t>
            </a:r>
          </a:p>
        </p:txBody>
      </p:sp>
      <p:sp>
        <p:nvSpPr>
          <p:cNvPr id="72" name="文本框 71"/>
          <p:cNvSpPr txBox="1"/>
          <p:nvPr>
            <p:custDataLst>
              <p:tags r:id="rId12"/>
            </p:custDataLst>
          </p:nvPr>
        </p:nvSpPr>
        <p:spPr>
          <a:xfrm>
            <a:off x="6306813" y="4958248"/>
            <a:ext cx="2189628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100" b="1">
                <a:solidFill>
                  <a:srgbClr val="C7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335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作者团队：</a:t>
            </a:r>
          </a:p>
        </p:txBody>
      </p:sp>
      <p:sp>
        <p:nvSpPr>
          <p:cNvPr id="20" name="矩形 19"/>
          <p:cNvSpPr/>
          <p:nvPr/>
        </p:nvSpPr>
        <p:spPr>
          <a:xfrm>
            <a:off x="5042255" y="806307"/>
            <a:ext cx="21074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SELECT PAPER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729444" y="279400"/>
            <a:ext cx="27331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所选论文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28" name="直接连接符 27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616585" y="737870"/>
            <a:ext cx="4171950" cy="5957570"/>
            <a:chOff x="1479" y="1160"/>
            <a:chExt cx="6570" cy="938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79" y="1160"/>
              <a:ext cx="6570" cy="888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564" y="10108"/>
              <a:ext cx="64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rPr>
                <a:t>（摘要部分展示）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042255" y="806307"/>
            <a:ext cx="21074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PAPER INTRODUCTION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4729444" y="279400"/>
            <a:ext cx="27331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论文介绍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45" name="直接连接符 44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1224915" y="1087120"/>
            <a:ext cx="4258310" cy="2560955"/>
            <a:chOff x="1929" y="1712"/>
            <a:chExt cx="6706" cy="4033"/>
          </a:xfrm>
        </p:grpSpPr>
        <p:grpSp>
          <p:nvGrpSpPr>
            <p:cNvPr id="10" name="组合 9"/>
            <p:cNvGrpSpPr/>
            <p:nvPr/>
          </p:nvGrpSpPr>
          <p:grpSpPr>
            <a:xfrm>
              <a:off x="1929" y="1712"/>
              <a:ext cx="6706" cy="3969"/>
              <a:chOff x="1235" y="1759"/>
              <a:chExt cx="6706" cy="3969"/>
            </a:xfrm>
          </p:grpSpPr>
          <p:sp>
            <p:nvSpPr>
              <p:cNvPr id="2" name="双括号 1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1235" y="1759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59" name="双括号 58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433" y="1759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57" name="TextBox 5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2027" y="2041"/>
                <a:ext cx="5764" cy="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defTabSz="914400" fontAlgn="base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r>
                  <a:rPr lang="zh-CN" altLang="en-US" dirty="0">
                    <a:sym typeface="Arial" panose="020B0604020202020204" pitchFamily="34" charset="0"/>
                  </a:rPr>
                  <a:t>背景与痛点：传统方法的局限</a:t>
                </a:r>
              </a:p>
            </p:txBody>
          </p:sp>
        </p:grpSp>
        <p:sp>
          <p:nvSpPr>
            <p:cNvPr id="56" name="TextBox 58"/>
            <p:cNvSpPr txBox="1"/>
            <p:nvPr>
              <p:custDataLst>
                <p:tags r:id="rId17"/>
              </p:custDataLst>
            </p:nvPr>
          </p:nvSpPr>
          <p:spPr>
            <a:xfrm>
              <a:off x="2758" y="2549"/>
              <a:ext cx="5591" cy="319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1.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传统静态分析的局限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专家手工编写规则，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开发周期长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（数周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个）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规则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固化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，难以覆盖新型漏洞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维护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成本高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，需随代码库持续更新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2.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直接使用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LLM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扫描的不可行性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上下文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窗口限制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，无法处理完整函数或文件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计算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成本高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，单次扫描可达数百美元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存在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幻觉风险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，可能误判或漏报</a:t>
              </a:r>
            </a:p>
          </p:txBody>
        </p:sp>
      </p:grpSp>
      <p:grpSp>
        <p:nvGrpSpPr>
          <p:cNvPr id="17" name="组合 16"/>
          <p:cNvGrpSpPr/>
          <p:nvPr>
            <p:custDataLst>
              <p:tags r:id="rId2"/>
            </p:custDataLst>
          </p:nvPr>
        </p:nvGrpSpPr>
        <p:grpSpPr>
          <a:xfrm>
            <a:off x="6708140" y="1087120"/>
            <a:ext cx="4258310" cy="2519680"/>
            <a:chOff x="1929" y="6144"/>
            <a:chExt cx="6706" cy="3968"/>
          </a:xfrm>
        </p:grpSpPr>
        <p:grpSp>
          <p:nvGrpSpPr>
            <p:cNvPr id="11" name="组合 10"/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70" name="双括号 69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71" name="双括号 70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15" name="TextBox 58"/>
            <p:cNvSpPr txBox="1"/>
            <p:nvPr>
              <p:custDataLst>
                <p:tags r:id="rId13"/>
              </p:custDataLst>
            </p:nvPr>
          </p:nvSpPr>
          <p:spPr>
            <a:xfrm>
              <a:off x="2775" y="6995"/>
              <a:ext cx="5848" cy="281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合成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LLM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从补丁学习模式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生成检测计划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自动生成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C++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检查器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验证通过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精炼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：报告精简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分类误报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修正检查器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en-US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→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筛选部署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核心约束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：补丁前后报告数下降；总报告数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&lt;20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或误报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≤1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；最多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3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轮迭代</a:t>
              </a:r>
            </a:p>
          </p:txBody>
        </p:sp>
        <p:sp>
          <p:nvSpPr>
            <p:cNvPr id="16" name="TextBox 56"/>
            <p:cNvSpPr txBox="1"/>
            <p:nvPr>
              <p:custDataLst>
                <p:tags r:id="rId14"/>
              </p:custDataLst>
            </p:nvPr>
          </p:nvSpPr>
          <p:spPr>
            <a:xfrm>
              <a:off x="2683" y="6302"/>
              <a:ext cx="5764" cy="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技术实现：多阶段合成流水线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3"/>
            </p:custDataLst>
          </p:nvPr>
        </p:nvGrpSpPr>
        <p:grpSpPr>
          <a:xfrm>
            <a:off x="1351915" y="4028440"/>
            <a:ext cx="4258310" cy="2519680"/>
            <a:chOff x="1929" y="6144"/>
            <a:chExt cx="6706" cy="3968"/>
          </a:xfrm>
        </p:grpSpPr>
        <p:grpSp>
          <p:nvGrpSpPr>
            <p:cNvPr id="19" name="组合 18"/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20" name="双括号 1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1" name="双括号 20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2" name="TextBox 58"/>
            <p:cNvSpPr txBox="1"/>
            <p:nvPr>
              <p:custDataLst>
                <p:tags r:id="rId9"/>
              </p:custDataLst>
            </p:nvPr>
          </p:nvSpPr>
          <p:spPr>
            <a:xfrm>
              <a:off x="2758" y="6738"/>
              <a:ext cx="5848" cy="319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KNighter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的关键转变：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"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不让大模型直接下结论，而是让它生成能够自动判定缺陷的检查器。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"</a:t>
              </a:r>
            </a:p>
            <a:p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研究团队提出一个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全新的范式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：从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"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让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LLM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扫描代码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"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转变为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"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让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LLM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从历史补丁中学习模式，自动合成静态分析检查器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"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。</a:t>
              </a:r>
            </a:p>
            <a:p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这一范式创新的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核心优势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可扩展性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：合成的检查器可像传统工具一样高效运行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可靠性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：每个告警附带可解释的状态机与触发点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可复用性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：一次合成，长期服役，成本接近传统静态分析</a:t>
              </a:r>
            </a:p>
          </p:txBody>
        </p:sp>
        <p:sp>
          <p:nvSpPr>
            <p:cNvPr id="23" name="TextBox 56"/>
            <p:cNvSpPr txBox="1"/>
            <p:nvPr>
              <p:custDataLst>
                <p:tags r:id="rId10"/>
              </p:custDataLst>
            </p:nvPr>
          </p:nvSpPr>
          <p:spPr>
            <a:xfrm>
              <a:off x="2683" y="6302"/>
              <a:ext cx="5764" cy="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核心洞察：范式转变</a:t>
              </a:r>
            </a:p>
          </p:txBody>
        </p:sp>
      </p:grpSp>
      <p:grpSp>
        <p:nvGrpSpPr>
          <p:cNvPr id="25" name="组合 24"/>
          <p:cNvGrpSpPr/>
          <p:nvPr>
            <p:custDataLst>
              <p:tags r:id="rId4"/>
            </p:custDataLst>
          </p:nvPr>
        </p:nvGrpSpPr>
        <p:grpSpPr>
          <a:xfrm>
            <a:off x="6708140" y="4028440"/>
            <a:ext cx="4258310" cy="2649855"/>
            <a:chOff x="1929" y="6144"/>
            <a:chExt cx="6706" cy="4173"/>
          </a:xfrm>
        </p:grpSpPr>
        <p:grpSp>
          <p:nvGrpSpPr>
            <p:cNvPr id="26" name="组合 25"/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27" name="双括号 2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8" name="双括号 27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9" name="TextBox 58"/>
            <p:cNvSpPr txBox="1"/>
            <p:nvPr>
              <p:custDataLst>
                <p:tags r:id="rId5"/>
              </p:custDataLst>
            </p:nvPr>
          </p:nvSpPr>
          <p:spPr>
            <a:xfrm>
              <a:off x="2758" y="6738"/>
              <a:ext cx="5848" cy="357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惊人的发现成果：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92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个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 Linux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内核中长期潜伏的新漏洞被成功发现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77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个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已被内核维护者确认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57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个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已完成修复</a:t>
              </a:r>
            </a:p>
            <a:p>
              <a:pPr marL="171450" indent="-171450">
                <a:buFont typeface="Wingdings" panose="05000000000000000000" charset="0"/>
                <a:buChar char="l"/>
              </a:pP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30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个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 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获得</a:t>
              </a:r>
              <a:r>
                <a:rPr lang="en-US" altLang="zh-C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CVE</a:t>
              </a:r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编号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（公开安全漏洞标识）</a:t>
              </a:r>
            </a:p>
            <a:p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漏洞的隐蔽性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：平均潜伏超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4.3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年，最长多年未被发现，暴露传统工具检测盲区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  <a:p>
              <a:r>
                <a:rPr lang="zh-CN" alt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rPr>
                <a:t>与现有工具对比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：能检测专家编写分析器遗漏的多种漏洞模式，性能全面超越</a:t>
              </a: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Arial" panose="020B0604020202020204" pitchFamily="34" charset="0"/>
                </a:rPr>
                <a:t>Smatch</a:t>
              </a:r>
            </a:p>
          </p:txBody>
        </p:sp>
        <p:sp>
          <p:nvSpPr>
            <p:cNvPr id="30" name="TextBox 56"/>
            <p:cNvSpPr txBox="1"/>
            <p:nvPr>
              <p:custDataLst>
                <p:tags r:id="rId6"/>
              </p:custDataLst>
            </p:nvPr>
          </p:nvSpPr>
          <p:spPr>
            <a:xfrm>
              <a:off x="2683" y="6302"/>
              <a:ext cx="5764" cy="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en-US" dirty="0">
                  <a:sym typeface="Arial" panose="020B0604020202020204" pitchFamily="34" charset="0"/>
                </a:rPr>
                <a:t>研究成果与影响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4274850" y="2969781"/>
            <a:ext cx="27260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swald" charset="0"/>
              </a:defRPr>
            </a:lvl1pPr>
          </a:lstStyle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没有调查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就没有发言权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" name="TextBox 21"/>
          <p:cNvSpPr txBox="1"/>
          <p:nvPr/>
        </p:nvSpPr>
        <p:spPr>
          <a:xfrm>
            <a:off x="4274849" y="4232631"/>
            <a:ext cx="2265945" cy="5482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调研分析报告 </a:t>
            </a:r>
            <a:r>
              <a:rPr lang="en-US" altLang="zh-CN" dirty="0">
                <a:sym typeface="Arial" panose="020B0604020202020204" pitchFamily="34" charset="0"/>
              </a:rPr>
              <a:t>| </a:t>
            </a:r>
            <a:r>
              <a:rPr lang="zh-CN" altLang="en-US" dirty="0">
                <a:sym typeface="Arial" panose="020B0604020202020204" pitchFamily="34" charset="0"/>
              </a:rPr>
              <a:t>市场调研 </a:t>
            </a:r>
            <a:r>
              <a:rPr lang="en-US" altLang="zh-CN" dirty="0">
                <a:sym typeface="Arial" panose="020B0604020202020204" pitchFamily="34" charset="0"/>
              </a:rPr>
              <a:t>| </a:t>
            </a:r>
            <a:r>
              <a:rPr lang="zh-CN" altLang="en-US" dirty="0">
                <a:sym typeface="Arial" panose="020B0604020202020204" pitchFamily="34" charset="0"/>
              </a:rPr>
              <a:t>基层调研 </a:t>
            </a:r>
            <a:r>
              <a:rPr lang="en-US" altLang="zh-CN" dirty="0">
                <a:sym typeface="Arial" panose="020B0604020202020204" pitchFamily="34" charset="0"/>
              </a:rPr>
              <a:t>| </a:t>
            </a:r>
            <a:r>
              <a:rPr lang="zh-CN" altLang="en-US" dirty="0">
                <a:sym typeface="Arial" panose="020B0604020202020204" pitchFamily="34" charset="0"/>
              </a:rPr>
              <a:t>专题调研 </a:t>
            </a:r>
            <a:r>
              <a:rPr lang="en-US" altLang="zh-CN" dirty="0">
                <a:sym typeface="Arial" panose="020B0604020202020204" pitchFamily="34" charset="0"/>
              </a:rPr>
              <a:t>| </a:t>
            </a:r>
            <a:r>
              <a:rPr lang="zh-CN" altLang="en-US" dirty="0">
                <a:sym typeface="Arial" panose="020B0604020202020204" pitchFamily="34" charset="0"/>
              </a:rPr>
              <a:t>调研数据分析报告</a:t>
            </a:r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042255" y="806307"/>
            <a:ext cx="21074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TOOL ANALYSIS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025479" y="279400"/>
            <a:ext cx="414104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工具分析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7840345" y="1291590"/>
            <a:ext cx="3813175" cy="4857750"/>
            <a:chOff x="12347" y="1554"/>
            <a:chExt cx="6005" cy="7650"/>
          </a:xfrm>
        </p:grpSpPr>
        <p:grpSp>
          <p:nvGrpSpPr>
            <p:cNvPr id="26" name="组合 25"/>
            <p:cNvGrpSpPr/>
            <p:nvPr/>
          </p:nvGrpSpPr>
          <p:grpSpPr>
            <a:xfrm>
              <a:off x="12347" y="1554"/>
              <a:ext cx="6004" cy="3364"/>
              <a:chOff x="12347" y="2136"/>
              <a:chExt cx="6004" cy="3364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2347" y="2136"/>
                <a:ext cx="1874" cy="2398"/>
                <a:chOff x="12347" y="2136"/>
                <a:chExt cx="1874" cy="2398"/>
              </a:xfrm>
            </p:grpSpPr>
            <p:sp>
              <p:nvSpPr>
                <p:cNvPr id="23" name="TextBox 30"/>
                <p:cNvSpPr txBox="1"/>
                <p:nvPr/>
              </p:nvSpPr>
              <p:spPr>
                <a:xfrm>
                  <a:off x="12495" y="2136"/>
                  <a:ext cx="1727" cy="2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6600" spc="600" dirty="0">
                      <a:solidFill>
                        <a:srgbClr val="D2A57B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Open Sans bold" panose="020B0806030504020204" pitchFamily="34" charset="0"/>
                      <a:sym typeface="Arial" panose="020B0604020202020204" pitchFamily="34" charset="0"/>
                    </a:rPr>
                    <a:t>01</a:t>
                  </a:r>
                </a:p>
              </p:txBody>
            </p:sp>
            <p:sp>
              <p:nvSpPr>
                <p:cNvPr id="24" name="Rectangle 31"/>
                <p:cNvSpPr/>
                <p:nvPr/>
              </p:nvSpPr>
              <p:spPr>
                <a:xfrm>
                  <a:off x="12347" y="3508"/>
                  <a:ext cx="1029" cy="520"/>
                </a:xfrm>
                <a:prstGeom prst="rect">
                  <a:avLst/>
                </a:prstGeom>
                <a:solidFill>
                  <a:srgbClr val="FDF5E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25" name="TextBox 32"/>
              <p:cNvSpPr txBox="1"/>
              <p:nvPr/>
            </p:nvSpPr>
            <p:spPr>
              <a:xfrm>
                <a:off x="14257" y="3446"/>
                <a:ext cx="3180" cy="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defTabSz="914400" fontAlgn="base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r>
                  <a:rPr lang="zh-CN" altLang="en-US" dirty="0">
                    <a:sym typeface="Arial" panose="020B0604020202020204" pitchFamily="34" charset="0"/>
                  </a:rPr>
                  <a:t>核心功能：</a:t>
                </a:r>
              </a:p>
            </p:txBody>
          </p:sp>
          <p:sp>
            <p:nvSpPr>
              <p:cNvPr id="27" name="TextBox 34"/>
              <p:cNvSpPr txBox="1"/>
              <p:nvPr/>
            </p:nvSpPr>
            <p:spPr>
              <a:xfrm flipH="1">
                <a:off x="12495" y="4048"/>
                <a:ext cx="5857" cy="1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>
                    <a:solidFill>
                      <a:prstClr val="white">
                        <a:lumMod val="50000"/>
                      </a:prst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pPr marL="171450" indent="-171450">
                  <a:buFont typeface="Wingdings" panose="05000000000000000000" charset="0"/>
                  <a:buChar char="l"/>
                </a:pPr>
                <a:r>
                  <a:rPr lang="zh-CN" altLang="en-US" sz="1200" dirty="0">
                    <a:sym typeface="Arial" panose="020B0604020202020204" pitchFamily="34" charset="0"/>
                  </a:rPr>
                  <a:t>从历史补丁中</a:t>
                </a:r>
                <a:r>
                  <a:rPr lang="zh-CN" altLang="en-US" sz="1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sym typeface="Arial" panose="020B0604020202020204" pitchFamily="34" charset="0"/>
                  </a:rPr>
                  <a:t>学习漏洞模式</a:t>
                </a:r>
                <a:endParaRPr lang="en-US" altLang="zh-CN" sz="1200" dirty="0">
                  <a:solidFill>
                    <a:schemeClr val="accent2">
                      <a:lumMod val="60000"/>
                      <a:lumOff val="40000"/>
                    </a:schemeClr>
                  </a:solidFill>
                  <a:sym typeface="Arial" panose="020B0604020202020204" pitchFamily="34" charset="0"/>
                </a:endParaRPr>
              </a:p>
              <a:p>
                <a:pPr marL="171450" indent="-171450">
                  <a:buFont typeface="Wingdings" panose="05000000000000000000" charset="0"/>
                  <a:buChar char="l"/>
                </a:pPr>
                <a:r>
                  <a:rPr lang="zh-CN" altLang="en-US" sz="1200" dirty="0">
                    <a:sym typeface="Arial" panose="020B0604020202020204" pitchFamily="34" charset="0"/>
                  </a:rPr>
                  <a:t>合成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C++</a:t>
                </a:r>
                <a:r>
                  <a:rPr lang="zh-CN" altLang="en-US" sz="1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sym typeface="Arial" panose="020B0604020202020204" pitchFamily="34" charset="0"/>
                  </a:rPr>
                  <a:t>静态分析</a:t>
                </a:r>
                <a:r>
                  <a:rPr lang="zh-CN" altLang="en-US" sz="1200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检查器</a:t>
                </a:r>
                <a:endParaRPr lang="en-US" altLang="zh-CN" sz="1200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  <a:p>
                <a:pPr marL="171450" indent="-171450">
                  <a:buFont typeface="Wingdings" panose="05000000000000000000" charset="0"/>
                  <a:buChar char="l"/>
                </a:pPr>
                <a:r>
                  <a:rPr lang="zh-CN" altLang="en-US" sz="1200" dirty="0">
                    <a:sym typeface="Arial" panose="020B0604020202020204" pitchFamily="34" charset="0"/>
                  </a:rPr>
                  <a:t>自动</a:t>
                </a:r>
                <a:r>
                  <a:rPr lang="zh-CN" altLang="en-US" sz="1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sym typeface="Arial" panose="020B0604020202020204" pitchFamily="34" charset="0"/>
                  </a:rPr>
                  <a:t>验证与精炼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2347" y="5514"/>
              <a:ext cx="6005" cy="3690"/>
              <a:chOff x="12347" y="6324"/>
              <a:chExt cx="6005" cy="369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2347" y="6324"/>
                <a:ext cx="1874" cy="2398"/>
                <a:chOff x="12347" y="6324"/>
                <a:chExt cx="1874" cy="2398"/>
              </a:xfrm>
            </p:grpSpPr>
            <p:sp>
              <p:nvSpPr>
                <p:cNvPr id="33" name="TextBox 40"/>
                <p:cNvSpPr txBox="1"/>
                <p:nvPr/>
              </p:nvSpPr>
              <p:spPr>
                <a:xfrm>
                  <a:off x="12495" y="6324"/>
                  <a:ext cx="1727" cy="2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6600" spc="600">
                      <a:solidFill>
                        <a:srgbClr val="D2A57B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Open Sans bold" panose="020B0806030504020204" pitchFamily="34" charset="0"/>
                      <a:sym typeface="Arial" panose="020B0604020202020204" pitchFamily="34" charset="0"/>
                    </a:rPr>
                    <a:t>02</a:t>
                  </a:r>
                </a:p>
              </p:txBody>
            </p:sp>
            <p:sp>
              <p:nvSpPr>
                <p:cNvPr id="34" name="Rectangle 41"/>
                <p:cNvSpPr/>
                <p:nvPr/>
              </p:nvSpPr>
              <p:spPr>
                <a:xfrm>
                  <a:off x="12347" y="7695"/>
                  <a:ext cx="1029" cy="520"/>
                </a:xfrm>
                <a:prstGeom prst="rect">
                  <a:avLst/>
                </a:prstGeom>
                <a:solidFill>
                  <a:srgbClr val="FDF5E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35" name="TextBox 42"/>
              <p:cNvSpPr txBox="1"/>
              <p:nvPr/>
            </p:nvSpPr>
            <p:spPr>
              <a:xfrm>
                <a:off x="14257" y="7633"/>
                <a:ext cx="3180" cy="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defTabSz="914400" fontAlgn="base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r>
                  <a:rPr lang="zh-CN" altLang="en-US" dirty="0">
                    <a:sym typeface="Arial" panose="020B0604020202020204" pitchFamily="34" charset="0"/>
                  </a:rPr>
                  <a:t>技术流程：</a:t>
                </a:r>
              </a:p>
            </p:txBody>
          </p:sp>
          <p:sp>
            <p:nvSpPr>
              <p:cNvPr id="37" name="TextBox 44"/>
              <p:cNvSpPr txBox="1"/>
              <p:nvPr/>
            </p:nvSpPr>
            <p:spPr>
              <a:xfrm flipH="1">
                <a:off x="12495" y="8235"/>
                <a:ext cx="5857" cy="17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>
                    <a:solidFill>
                      <a:prstClr val="white">
                        <a:lumMod val="50000"/>
                      </a:prst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</a:lstStyle>
              <a:p>
                <a:r>
                  <a:rPr lang="zh-CN" altLang="en-US" sz="1200" dirty="0">
                    <a:sym typeface="Arial" panose="020B0604020202020204" pitchFamily="34" charset="0"/>
                  </a:rPr>
                  <a:t>漏洞模式分析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en-US" altLang="en-US" sz="1200" dirty="0">
                    <a:sym typeface="Arial" panose="020B0604020202020204" pitchFamily="34" charset="0"/>
                  </a:rPr>
                  <a:t>→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ym typeface="Arial" panose="020B0604020202020204" pitchFamily="34" charset="0"/>
                  </a:rPr>
                  <a:t>检测计划生成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en-US" altLang="en-US" sz="1200" dirty="0">
                    <a:sym typeface="Arial" panose="020B0604020202020204" pitchFamily="34" charset="0"/>
                  </a:rPr>
                  <a:t>→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ym typeface="Arial" panose="020B0604020202020204" pitchFamily="34" charset="0"/>
                  </a:rPr>
                  <a:t>代码实现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en-US" altLang="en-US" sz="1200" dirty="0">
                    <a:sym typeface="Arial" panose="020B0604020202020204" pitchFamily="34" charset="0"/>
                  </a:rPr>
                  <a:t>→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ym typeface="Arial" panose="020B0604020202020204" pitchFamily="34" charset="0"/>
                  </a:rPr>
                  <a:t>验证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en-US" altLang="en-US" sz="1200" dirty="0">
                    <a:sym typeface="Arial" panose="020B0604020202020204" pitchFamily="34" charset="0"/>
                  </a:rPr>
                  <a:t>→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ym typeface="Arial" panose="020B0604020202020204" pitchFamily="34" charset="0"/>
                  </a:rPr>
                  <a:t>报告精炼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en-US" altLang="en-US" sz="1200" dirty="0">
                    <a:sym typeface="Arial" panose="020B0604020202020204" pitchFamily="34" charset="0"/>
                  </a:rPr>
                  <a:t>→</a:t>
                </a:r>
                <a:r>
                  <a:rPr lang="en-US" altLang="zh-CN" sz="1200" dirty="0">
                    <a:sym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ym typeface="Arial" panose="020B0604020202020204" pitchFamily="34" charset="0"/>
                  </a:rPr>
                  <a:t>分类与修正</a:t>
                </a:r>
              </a:p>
              <a:p>
                <a:endParaRPr lang="en-US" altLang="zh-CN" dirty="0">
                  <a:sym typeface="Arial" panose="020B0604020202020204" pitchFamily="34" charset="0"/>
                </a:endParaRPr>
              </a:p>
              <a:p>
                <a:endParaRPr lang="en-US" altLang="zh-CN" dirty="0"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7" name="图片占位符 6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542925" y="1315085"/>
            <a:ext cx="6519545" cy="37915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70698" y="5210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sym typeface="+mn-ea"/>
              </a:rPr>
              <a:t>（项目介绍）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99490" y="5808345"/>
            <a:ext cx="560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开源代码链接：</a:t>
            </a:r>
            <a:r>
              <a:rPr lang="en-US" altLang="zh-CN">
                <a:solidFill>
                  <a:schemeClr val="accent2">
                    <a:lumMod val="60000"/>
                    <a:lumOff val="40000"/>
                  </a:schemeClr>
                </a:solidFill>
              </a:rPr>
              <a:t>https://github.com/ise-uiuc/KNighter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7AFCFE-28D2-6D8A-3D93-9F658F310972}"/>
              </a:ext>
            </a:extLst>
          </p:cNvPr>
          <p:cNvSpPr/>
          <p:nvPr/>
        </p:nvSpPr>
        <p:spPr bwMode="auto">
          <a:xfrm>
            <a:off x="8374040" y="4711008"/>
            <a:ext cx="3817960" cy="2146992"/>
          </a:xfrm>
          <a:prstGeom prst="rect">
            <a:avLst/>
          </a:prstGeom>
          <a:solidFill>
            <a:srgbClr val="FDF5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anose="020B0502040204020203" pitchFamily="2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607023" y="2133685"/>
            <a:ext cx="2886366" cy="326347"/>
            <a:chOff x="1848067" y="2697524"/>
            <a:chExt cx="2311184" cy="316190"/>
          </a:xfrm>
        </p:grpSpPr>
        <p:cxnSp>
          <p:nvCxnSpPr>
            <p:cNvPr id="57" name="Straight Connector 56"/>
            <p:cNvCxnSpPr/>
            <p:nvPr/>
          </p:nvCxnSpPr>
          <p:spPr>
            <a:xfrm flipH="1" flipV="1">
              <a:off x="3661285" y="2697524"/>
              <a:ext cx="497966" cy="316190"/>
            </a:xfrm>
            <a:prstGeom prst="line">
              <a:avLst/>
            </a:prstGeom>
            <a:ln>
              <a:solidFill>
                <a:srgbClr val="D2A5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1848067" y="2697524"/>
              <a:ext cx="1813219" cy="0"/>
            </a:xfrm>
            <a:prstGeom prst="line">
              <a:avLst/>
            </a:prstGeom>
            <a:ln>
              <a:solidFill>
                <a:srgbClr val="D2A57B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7627094" y="2133685"/>
            <a:ext cx="2673026" cy="254514"/>
            <a:chOff x="7528087" y="2680840"/>
            <a:chExt cx="2061939" cy="316190"/>
          </a:xfrm>
        </p:grpSpPr>
        <p:cxnSp>
          <p:nvCxnSpPr>
            <p:cNvPr id="62" name="Straight Connector 61"/>
            <p:cNvCxnSpPr/>
            <p:nvPr/>
          </p:nvCxnSpPr>
          <p:spPr>
            <a:xfrm flipV="1">
              <a:off x="7528087" y="2680840"/>
              <a:ext cx="497966" cy="316190"/>
            </a:xfrm>
            <a:prstGeom prst="line">
              <a:avLst/>
            </a:prstGeom>
            <a:ln>
              <a:solidFill>
                <a:srgbClr val="D2A5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8026053" y="2680840"/>
              <a:ext cx="1563973" cy="0"/>
            </a:xfrm>
            <a:prstGeom prst="line">
              <a:avLst/>
            </a:prstGeom>
            <a:ln>
              <a:solidFill>
                <a:srgbClr val="D2A57B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 flipV="1">
            <a:off x="7781957" y="4283519"/>
            <a:ext cx="2673026" cy="433111"/>
            <a:chOff x="7528087" y="2680840"/>
            <a:chExt cx="2061939" cy="316190"/>
          </a:xfrm>
        </p:grpSpPr>
        <p:cxnSp>
          <p:nvCxnSpPr>
            <p:cNvPr id="72" name="Straight Connector 71"/>
            <p:cNvCxnSpPr/>
            <p:nvPr/>
          </p:nvCxnSpPr>
          <p:spPr>
            <a:xfrm flipV="1">
              <a:off x="7528087" y="2680840"/>
              <a:ext cx="497966" cy="316190"/>
            </a:xfrm>
            <a:prstGeom prst="line">
              <a:avLst/>
            </a:prstGeom>
            <a:ln>
              <a:solidFill>
                <a:srgbClr val="D2A5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8026053" y="2680840"/>
              <a:ext cx="1563973" cy="0"/>
            </a:xfrm>
            <a:prstGeom prst="line">
              <a:avLst/>
            </a:prstGeom>
            <a:ln>
              <a:solidFill>
                <a:srgbClr val="D2A57B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 flipV="1">
            <a:off x="1482708" y="4338198"/>
            <a:ext cx="2886366" cy="428033"/>
            <a:chOff x="1848067" y="2697524"/>
            <a:chExt cx="2311184" cy="316190"/>
          </a:xfrm>
        </p:grpSpPr>
        <p:cxnSp>
          <p:nvCxnSpPr>
            <p:cNvPr id="78" name="Straight Connector 77"/>
            <p:cNvCxnSpPr/>
            <p:nvPr/>
          </p:nvCxnSpPr>
          <p:spPr>
            <a:xfrm flipH="1" flipV="1">
              <a:off x="3661285" y="2697524"/>
              <a:ext cx="497966" cy="316190"/>
            </a:xfrm>
            <a:prstGeom prst="line">
              <a:avLst/>
            </a:prstGeom>
            <a:ln>
              <a:solidFill>
                <a:srgbClr val="D2A5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H="1">
              <a:off x="1848067" y="2697524"/>
              <a:ext cx="1813219" cy="0"/>
            </a:xfrm>
            <a:prstGeom prst="line">
              <a:avLst/>
            </a:prstGeom>
            <a:ln>
              <a:solidFill>
                <a:srgbClr val="D2A57B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/>
          <p:cNvSpPr/>
          <p:nvPr/>
        </p:nvSpPr>
        <p:spPr>
          <a:xfrm>
            <a:off x="1614725" y="1432064"/>
            <a:ext cx="2159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b="1" dirty="0"/>
              <a:t>无与伦比的</a:t>
            </a:r>
            <a:endParaRPr lang="en-US" altLang="zh-CN" b="1" dirty="0"/>
          </a:p>
          <a:p>
            <a:pPr lvl="0"/>
            <a:r>
              <a:rPr lang="zh-CN" altLang="zh-CN" b="1" dirty="0"/>
              <a:t>复杂性与重要性</a:t>
            </a:r>
            <a:endParaRPr lang="zh-CN" altLang="zh-CN" dirty="0"/>
          </a:p>
        </p:txBody>
      </p:sp>
      <p:sp>
        <p:nvSpPr>
          <p:cNvPr id="39" name="TextBox 38"/>
          <p:cNvSpPr txBox="1"/>
          <p:nvPr/>
        </p:nvSpPr>
        <p:spPr>
          <a:xfrm>
            <a:off x="1614725" y="2278825"/>
            <a:ext cx="2628746" cy="151804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algn="l"/>
            <a:r>
              <a:rPr lang="zh-CN" altLang="zh-CN" b="1" dirty="0">
                <a:latin typeface="+mn-ea"/>
                <a:ea typeface="+mn-ea"/>
              </a:rPr>
              <a:t>作为支撑全球数字基础设施的操作系统内核，它拥有超过</a:t>
            </a:r>
            <a:r>
              <a:rPr lang="en-US" altLang="zh-CN" b="1" dirty="0">
                <a:latin typeface="+mn-ea"/>
                <a:ea typeface="+mn-ea"/>
              </a:rPr>
              <a:t>3000</a:t>
            </a:r>
            <a:r>
              <a:rPr lang="zh-CN" altLang="zh-CN" b="1" dirty="0">
                <a:latin typeface="+mn-ea"/>
                <a:ea typeface="+mn-ea"/>
              </a:rPr>
              <a:t>万行代码，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其漏洞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（如内存安全、竞态条件）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可能导致严重的安全事故</a:t>
            </a:r>
            <a:r>
              <a:rPr lang="zh-CN" altLang="zh-CN" b="1" dirty="0">
                <a:latin typeface="+mn-ea"/>
                <a:ea typeface="+mn-ea"/>
              </a:rPr>
              <a:t>。这种高价值、高复杂性的目标，最迫切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需要自动化漏洞检测技术的突破</a:t>
            </a:r>
            <a:r>
              <a:rPr lang="zh-CN" altLang="zh-CN" b="1" dirty="0">
                <a:latin typeface="+mn-ea"/>
                <a:ea typeface="+mn-ea"/>
              </a:rPr>
              <a:t>，也最能验证新方法的有效性。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8702" y="4119900"/>
            <a:ext cx="266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丰富的“学习素材”</a:t>
            </a:r>
            <a:endParaRPr lang="en-US" altLang="zh-CN" b="1" dirty="0"/>
          </a:p>
          <a:p>
            <a:r>
              <a:rPr lang="zh-CN" altLang="zh-CN" b="1" dirty="0"/>
              <a:t>——历史补丁</a:t>
            </a:r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swald" charset="0"/>
              <a:sym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578703" y="4711008"/>
            <a:ext cx="2615155" cy="176016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en-US" altLang="zh-CN" b="1" dirty="0"/>
              <a:t>Linux</a:t>
            </a:r>
            <a:r>
              <a:rPr lang="zh-CN" altLang="zh-CN" b="1" dirty="0"/>
              <a:t>内核拥有长达数十年的开发历史和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极其规范的补丁管理流程</a:t>
            </a:r>
            <a:r>
              <a:rPr lang="zh-CN" altLang="zh-CN" b="1" dirty="0"/>
              <a:t>。每个修复补丁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（包含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diff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、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Commit Message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和上下文）</a:t>
            </a:r>
            <a:r>
              <a:rPr lang="zh-CN" altLang="zh-CN" b="1" dirty="0"/>
              <a:t>都相当于一个标注好的“缺陷模式”训练样本。这为</a:t>
            </a:r>
            <a:r>
              <a:rPr lang="en-US" altLang="zh-CN" b="1" dirty="0"/>
              <a:t>KNighter</a:t>
            </a:r>
            <a:r>
              <a:rPr lang="zh-CN" altLang="zh-CN" b="1" dirty="0"/>
              <a:t>这类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从历史补丁中学习模式</a:t>
            </a:r>
            <a:r>
              <a:rPr lang="zh-CN" altLang="zh-CN" b="1" dirty="0"/>
              <a:t>的方法，提供了独一无二的“金矿”。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7439" y="1541462"/>
            <a:ext cx="2349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b="1" dirty="0"/>
              <a:t>成熟的静态分析生态</a:t>
            </a:r>
            <a:endParaRPr lang="zh-CN" altLang="zh-CN" dirty="0"/>
          </a:p>
        </p:txBody>
      </p:sp>
      <p:sp>
        <p:nvSpPr>
          <p:cNvPr id="64" name="TextBox 63"/>
          <p:cNvSpPr txBox="1"/>
          <p:nvPr/>
        </p:nvSpPr>
        <p:spPr>
          <a:xfrm>
            <a:off x="8339349" y="2307258"/>
            <a:ext cx="2368649" cy="176016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zh-CN" b="1" dirty="0"/>
              <a:t>内核社区长期使用并维护着多种静态分析工具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（如</a:t>
            </a:r>
            <a:r>
              <a:rPr lang="en-US" altLang="zh-CN" b="1" dirty="0" err="1">
                <a:solidFill>
                  <a:schemeClr val="bg1">
                    <a:lumMod val="75000"/>
                  </a:schemeClr>
                </a:solidFill>
              </a:rPr>
              <a:t>Smatch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、</a:t>
            </a:r>
            <a:r>
              <a:rPr lang="en-US" altLang="zh-CN" b="1" dirty="0" err="1">
                <a:solidFill>
                  <a:schemeClr val="bg1">
                    <a:lumMod val="75000"/>
                  </a:schemeClr>
                </a:solidFill>
              </a:rPr>
              <a:t>Coccinelle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）</a:t>
            </a:r>
            <a:r>
              <a:rPr lang="zh-CN" altLang="zh-CN" b="1" dirty="0"/>
              <a:t>和框架。</a:t>
            </a:r>
            <a:r>
              <a:rPr lang="en-US" altLang="zh-CN" b="1" dirty="0"/>
              <a:t>KNighter</a:t>
            </a:r>
            <a:r>
              <a:rPr lang="zh-CN" altLang="zh-CN" b="1" dirty="0"/>
              <a:t>选择基于</a:t>
            </a:r>
            <a:r>
              <a:rPr lang="en-US" altLang="zh-CN" b="1" dirty="0"/>
              <a:t>Clang Static Analyzer (CSA) </a:t>
            </a:r>
            <a:r>
              <a:rPr lang="zh-CN" altLang="zh-CN" b="1" dirty="0"/>
              <a:t>合成检查器，意味着其成果可以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无缝集成到内核现有的开发</a:t>
            </a:r>
            <a:r>
              <a:rPr lang="zh-CN" altLang="zh-CN" b="1" dirty="0"/>
              <a:t>、测试和</a:t>
            </a:r>
            <a:r>
              <a:rPr lang="en-US" altLang="zh-CN" b="1" dirty="0"/>
              <a:t>CI/CD</a:t>
            </a:r>
            <a:r>
              <a:rPr lang="zh-CN" altLang="zh-CN" b="1" dirty="0"/>
              <a:t>流程中，具备极高的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工程可落地性</a:t>
            </a:r>
            <a:r>
              <a:rPr lang="zh-CN" altLang="zh-CN" b="1" dirty="0"/>
              <a:t>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1809" y="4172396"/>
            <a:ext cx="225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b="1" dirty="0"/>
              <a:t>严格的漏洞管理机制</a:t>
            </a:r>
            <a:endParaRPr lang="zh-CN" altLang="zh-CN" dirty="0"/>
          </a:p>
        </p:txBody>
      </p:sp>
      <p:sp>
        <p:nvSpPr>
          <p:cNvPr id="66" name="TextBox 65"/>
          <p:cNvSpPr txBox="1"/>
          <p:nvPr/>
        </p:nvSpPr>
        <p:spPr>
          <a:xfrm>
            <a:off x="8452522" y="4711008"/>
            <a:ext cx="2558606" cy="1517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en-US" altLang="zh-CN" b="1" dirty="0"/>
              <a:t>Linux</a:t>
            </a:r>
            <a:r>
              <a:rPr lang="zh-CN" altLang="zh-CN" b="1" dirty="0"/>
              <a:t>内核拥有</a:t>
            </a:r>
            <a:r>
              <a:rPr lang="en-US" altLang="zh-CN" b="1" dirty="0"/>
              <a:t>CVE</a:t>
            </a:r>
            <a:r>
              <a:rPr lang="zh-CN" altLang="zh-CN" b="1" dirty="0"/>
              <a:t>（公共漏洞披露）编号体系，这为</a:t>
            </a:r>
            <a:r>
              <a:rPr lang="zh-CN" altLang="zh-C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量化研究成果的实际安全影响力</a:t>
            </a:r>
            <a:r>
              <a:rPr lang="zh-CN" altLang="zh-CN" b="1" dirty="0"/>
              <a:t>提供了权威的衡量标准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（如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KNighter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发现的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92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个新漏洞中，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30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个已获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</a:rPr>
              <a:t>CVE</a:t>
            </a:r>
            <a:r>
              <a:rPr lang="zh-CN" altLang="zh-CN" b="1" dirty="0">
                <a:solidFill>
                  <a:schemeClr val="bg1">
                    <a:lumMod val="75000"/>
                  </a:schemeClr>
                </a:solidFill>
              </a:rPr>
              <a:t>编号）</a:t>
            </a:r>
            <a:r>
              <a:rPr lang="zh-CN" altLang="en-US" b="1" dirty="0">
                <a:solidFill>
                  <a:schemeClr val="tx1"/>
                </a:solidFill>
              </a:rPr>
              <a:t>，</a:t>
            </a:r>
            <a:r>
              <a:rPr lang="zh-CN" altLang="zh-CN" b="1" dirty="0"/>
              <a:t>使研究</a:t>
            </a:r>
            <a:r>
              <a:rPr lang="zh-CN" altLang="zh-CN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产出可被客观评估。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042255" y="806307"/>
            <a:ext cx="210749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REASONS FOR CHOICE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729444" y="279400"/>
            <a:ext cx="2733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选择理由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34" name="直接连接符 33"/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占位符 4"/>
          <p:cNvPicPr>
            <a:picLocks noGrp="1" noChangeAspect="1"/>
          </p:cNvPicPr>
          <p:nvPr>
            <p:ph type="pic" sz="quarter" idx="2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8" r="16748"/>
          <a:stretch>
            <a:fillRect/>
          </a:stretch>
        </p:blipFill>
        <p:spPr>
          <a:xfrm>
            <a:off x="4690148" y="2191404"/>
            <a:ext cx="2811703" cy="2811703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9BC6D4F-9C60-FDEA-4F5D-39D8BD232D44}"/>
              </a:ext>
            </a:extLst>
          </p:cNvPr>
          <p:cNvSpPr txBox="1"/>
          <p:nvPr/>
        </p:nvSpPr>
        <p:spPr>
          <a:xfrm>
            <a:off x="4663708" y="1178148"/>
            <a:ext cx="291462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Linux</a:t>
            </a:r>
            <a:r>
              <a:rPr lang="zh-CN" altLang="zh-CN" sz="1050" dirty="0">
                <a:solidFill>
                  <a:schemeClr val="bg1">
                    <a:lumMod val="65000"/>
                  </a:schemeClr>
                </a:solidFill>
              </a:rPr>
              <a:t>内核是进行此类研究的理想甚至必然选择，其核心特质与</a:t>
            </a:r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KNighter</a:t>
            </a:r>
            <a:r>
              <a:rPr lang="zh-CN" altLang="zh-CN" sz="1050" dirty="0">
                <a:solidFill>
                  <a:schemeClr val="bg1">
                    <a:lumMod val="65000"/>
                  </a:schemeClr>
                </a:solidFill>
              </a:rPr>
              <a:t>的技术范式高度契合：</a:t>
            </a:r>
            <a:endParaRPr lang="zh-CN" altLang="zh-CN" sz="1050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zh-CN" alt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gallery dir="l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F494-E10F-0CCD-6DFF-8CE4F4BA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06C55CC5-8186-5290-EC02-04E6F28C15B0}"/>
              </a:ext>
            </a:extLst>
          </p:cNvPr>
          <p:cNvSpPr/>
          <p:nvPr/>
        </p:nvSpPr>
        <p:spPr>
          <a:xfrm>
            <a:off x="5042255" y="806307"/>
            <a:ext cx="21074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IDEAS FOR IMPROVEMENT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3F7EE05-5DB8-8F9C-4D25-E3A3AEBF4C21}"/>
              </a:ext>
            </a:extLst>
          </p:cNvPr>
          <p:cNvSpPr txBox="1"/>
          <p:nvPr/>
        </p:nvSpPr>
        <p:spPr>
          <a:xfrm>
            <a:off x="4729444" y="279400"/>
            <a:ext cx="27331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改进思路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5D95DB4-98EB-A6F7-9EAC-DFD1598A93A4}"/>
              </a:ext>
            </a:extLst>
          </p:cNvPr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5919B49-DB75-8E05-3808-6DFB81738828}"/>
                </a:ext>
              </a:extLst>
            </p:cNvPr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9F8AD11-3133-3948-37C4-4453BCF1BFDA}"/>
                </a:ext>
              </a:extLst>
            </p:cNvPr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CC3DEBD-58DA-7AF6-A621-131888504B28}"/>
                </a:ext>
              </a:extLst>
            </p:cNvPr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481DD79-2F2D-007B-F8C9-AA03CF000127}"/>
                </a:ext>
              </a:extLst>
            </p:cNvPr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00DD244-AE8F-8A50-5697-F20DD14EA75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344727" y="1259205"/>
            <a:ext cx="4707890" cy="721360"/>
            <a:chOff x="2137" y="6260"/>
            <a:chExt cx="7414" cy="1136"/>
          </a:xfrm>
        </p:grpSpPr>
        <p:sp>
          <p:nvSpPr>
            <p:cNvPr id="15" name="TextBox 58">
              <a:extLst>
                <a:ext uri="{FF2B5EF4-FFF2-40B4-BE49-F238E27FC236}">
                  <a16:creationId xmlns:a16="http://schemas.microsoft.com/office/drawing/2014/main" id="{B14F959B-2847-1C63-6FB5-C0DFE961DD89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709" y="6866"/>
              <a:ext cx="6842" cy="5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sz="1200" b="1" dirty="0"/>
                <a:t>让</a:t>
              </a:r>
              <a:r>
                <a:rPr lang="en-US" altLang="zh-CN" sz="1200" b="1" dirty="0"/>
                <a:t>LLM</a:t>
              </a:r>
              <a:r>
                <a:rPr lang="zh-CN" altLang="zh-CN" sz="1200" b="1" dirty="0"/>
                <a:t>先学习一批内核典型的安全检查写法，再执行分类任务。</a:t>
              </a:r>
            </a:p>
          </p:txBody>
        </p: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67824833-D27E-9E1C-DB85-C65049F7BFE0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137" y="6260"/>
              <a:ext cx="5764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改进思路：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DEADFE-5FCF-C145-68D3-A8DB0B4E4DB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43764" y="4028440"/>
            <a:ext cx="3377529" cy="2199892"/>
            <a:chOff x="1929" y="6144"/>
            <a:chExt cx="6706" cy="396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66F33C0-1A99-7A04-6056-B4E0968295CC}"/>
                </a:ext>
              </a:extLst>
            </p:cNvPr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20" name="双括号 19">
                <a:extLst>
                  <a:ext uri="{FF2B5EF4-FFF2-40B4-BE49-F238E27FC236}">
                    <a16:creationId xmlns:a16="http://schemas.microsoft.com/office/drawing/2014/main" id="{50BEF0DA-C64B-51B9-DF74-5866710C7E21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1" name="双括号 20">
                <a:extLst>
                  <a:ext uri="{FF2B5EF4-FFF2-40B4-BE49-F238E27FC236}">
                    <a16:creationId xmlns:a16="http://schemas.microsoft.com/office/drawing/2014/main" id="{E0899DBC-243B-9C6E-CA7F-AB259D407015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87ECD5CA-15F1-0498-39FF-04769E98AD5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719" y="6943"/>
              <a:ext cx="5491" cy="260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en-US" altLang="zh-CN" sz="1200" b="1" dirty="0"/>
                <a:t>KNighter</a:t>
              </a:r>
              <a:r>
                <a:rPr lang="zh-CN" altLang="zh-CN" sz="1200" b="1" dirty="0"/>
                <a:t>用</a:t>
              </a:r>
              <a:r>
                <a:rPr lang="en-US" altLang="zh-CN" sz="1200" b="1" dirty="0"/>
                <a:t>LLM</a:t>
              </a:r>
              <a:r>
                <a:rPr lang="zh-CN" altLang="zh-CN" sz="1200" b="1" dirty="0"/>
                <a:t>判断每个报告是真实漏洞（</a:t>
              </a:r>
              <a:r>
                <a:rPr lang="en-US" altLang="zh-CN" sz="1200" b="1" dirty="0"/>
                <a:t>TP</a:t>
              </a:r>
              <a:r>
                <a:rPr lang="zh-CN" altLang="zh-CN" sz="1200" b="1" dirty="0"/>
                <a:t>）还是误报（</a:t>
              </a:r>
              <a:r>
                <a:rPr lang="en-US" altLang="zh-CN" sz="1200" b="1" dirty="0"/>
                <a:t>FP</a:t>
              </a:r>
              <a:r>
                <a:rPr lang="zh-CN" altLang="zh-CN" sz="1200" b="1" dirty="0"/>
                <a:t>）。论文指出，</a:t>
              </a:r>
              <a:r>
                <a:rPr lang="en-US" altLang="zh-CN" sz="1200" b="1" dirty="0"/>
                <a:t>29</a:t>
              </a:r>
              <a:r>
                <a:rPr lang="zh-CN" altLang="zh-CN" sz="1200" b="1" dirty="0"/>
                <a:t>个误报中有</a:t>
              </a:r>
              <a:r>
                <a:rPr lang="en-US" altLang="zh-CN" sz="1200" b="1" dirty="0"/>
                <a:t>18</a:t>
              </a:r>
              <a:r>
                <a:rPr lang="zh-CN" altLang="zh-CN" sz="1200" b="1" dirty="0"/>
                <a:t>个（</a:t>
              </a:r>
              <a:r>
                <a:rPr lang="en-US" altLang="zh-CN" sz="1200" b="1" dirty="0"/>
                <a:t>62%</a:t>
              </a:r>
              <a:r>
                <a:rPr lang="zh-CN" altLang="zh-CN" sz="1200" b="1" dirty="0"/>
                <a:t>）是因为检查器没识别出内核代码中的安全检查模式。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7E065D91-C105-C4CF-FFDE-99529FC8EBA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683" y="6302"/>
              <a:ext cx="5764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现状与问题：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FAD2C75-1FEB-10DF-E93E-37EB37072EC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485992" y="2332356"/>
            <a:ext cx="4236909" cy="4026941"/>
            <a:chOff x="1929" y="6144"/>
            <a:chExt cx="6706" cy="396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11F9E7F-72EA-33D1-1802-2B8358D3FF4B}"/>
                </a:ext>
              </a:extLst>
            </p:cNvPr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27" name="双括号 26">
                <a:extLst>
                  <a:ext uri="{FF2B5EF4-FFF2-40B4-BE49-F238E27FC236}">
                    <a16:creationId xmlns:a16="http://schemas.microsoft.com/office/drawing/2014/main" id="{8835BD4E-D851-EEF2-DA42-2B577F1F2F76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8" name="双括号 27">
                <a:extLst>
                  <a:ext uri="{FF2B5EF4-FFF2-40B4-BE49-F238E27FC236}">
                    <a16:creationId xmlns:a16="http://schemas.microsoft.com/office/drawing/2014/main" id="{70BAC2CE-19D8-44D5-3B98-FFF88F8A7742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9" name="TextBox 58">
              <a:extLst>
                <a:ext uri="{FF2B5EF4-FFF2-40B4-BE49-F238E27FC236}">
                  <a16:creationId xmlns:a16="http://schemas.microsoft.com/office/drawing/2014/main" id="{5028562E-A2D2-0331-B402-1A81DF7B45B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17" y="6721"/>
              <a:ext cx="5920" cy="306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收集示例：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/>
                <a:t>从</a:t>
              </a:r>
              <a:r>
                <a:rPr lang="en-US" altLang="zh-CN" sz="1200" b="1" dirty="0"/>
                <a:t>Linux</a:t>
              </a:r>
              <a:r>
                <a:rPr lang="zh-CN" altLang="zh-CN" sz="1200" b="1" dirty="0"/>
                <a:t>内核代码中搜集</a:t>
              </a:r>
              <a:r>
                <a:rPr lang="en-US" altLang="zh-CN" sz="1200" b="1" dirty="0"/>
                <a:t>15</a:t>
              </a:r>
              <a:r>
                <a:rPr lang="zh-CN" altLang="zh-CN" sz="1200" b="1" dirty="0"/>
                <a:t>种常见的空指针检查写法。</a:t>
              </a:r>
            </a:p>
            <a:p>
              <a:r>
                <a:rPr lang="zh-CN" altLang="zh-CN" sz="1200" b="1" dirty="0"/>
                <a:t>修改提示词：</a:t>
              </a:r>
              <a:endParaRPr lang="en-US" altLang="zh-CN" sz="1200" b="1" dirty="0"/>
            </a:p>
            <a:p>
              <a:r>
                <a:rPr lang="zh-CN" altLang="zh-CN" sz="1200" b="1" dirty="0"/>
                <a:t>在论文图</a:t>
              </a:r>
              <a:r>
                <a:rPr lang="en-US" altLang="zh-CN" sz="1200" b="1" dirty="0"/>
                <a:t>5c</a:t>
              </a:r>
              <a:r>
                <a:rPr lang="zh-CN" altLang="zh-CN" sz="1200" b="1" dirty="0"/>
                <a:t>的</a:t>
              </a:r>
              <a:r>
                <a:rPr lang="en-US" altLang="zh-CN" sz="1200" b="1" dirty="0"/>
                <a:t>prompt</a:t>
              </a:r>
              <a:r>
                <a:rPr lang="zh-CN" altLang="zh-CN" sz="1200" b="1" dirty="0"/>
                <a:t>模板开头插入这些示例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对比实验：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/>
                <a:t>选取</a:t>
              </a:r>
              <a:r>
                <a:rPr lang="en-US" altLang="zh-CN" sz="1200" b="1" dirty="0"/>
                <a:t>KNighter</a:t>
              </a:r>
              <a:r>
                <a:rPr lang="zh-CN" altLang="zh-CN" sz="1200" b="1" dirty="0"/>
                <a:t>论文中导致误报的</a:t>
              </a:r>
              <a:r>
                <a:rPr lang="en-US" altLang="zh-CN" sz="1200" b="1" dirty="0"/>
                <a:t>10-15</a:t>
              </a:r>
              <a:r>
                <a:rPr lang="zh-CN" altLang="zh-CN" sz="1200" b="1" dirty="0"/>
                <a:t>个报告，分别用原版提示词和改进版提示词让</a:t>
              </a:r>
              <a:r>
                <a:rPr lang="en-US" altLang="zh-CN" sz="1200" b="1" dirty="0"/>
                <a:t>LLM</a:t>
              </a:r>
              <a:r>
                <a:rPr lang="zh-CN" altLang="zh-CN" sz="1200" b="1" dirty="0"/>
                <a:t>分类，统计误报率变化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预期结果：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/>
                <a:t>改进后的误报率应降低</a:t>
              </a:r>
              <a:r>
                <a:rPr lang="en-US" altLang="zh-CN" sz="1200" b="1" dirty="0"/>
                <a:t>15%</a:t>
              </a:r>
              <a:r>
                <a:rPr lang="zh-CN" altLang="zh-CN" sz="1200" b="1" dirty="0"/>
                <a:t>以上，且能观察到</a:t>
              </a:r>
              <a:r>
                <a:rPr lang="en-US" altLang="zh-CN" sz="1200" b="1" dirty="0"/>
                <a:t>LLM</a:t>
              </a:r>
              <a:r>
                <a:rPr lang="zh-CN" altLang="zh-CN" sz="1200" b="1" dirty="0"/>
                <a:t>对内核特有写法的理解明显提升</a:t>
              </a:r>
            </a:p>
          </p:txBody>
        </p:sp>
        <p:sp>
          <p:nvSpPr>
            <p:cNvPr id="30" name="TextBox 56">
              <a:extLst>
                <a:ext uri="{FF2B5EF4-FFF2-40B4-BE49-F238E27FC236}">
                  <a16:creationId xmlns:a16="http://schemas.microsoft.com/office/drawing/2014/main" id="{0A1B04A1-8F35-C487-15A0-8024689A7BE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683" y="6302"/>
              <a:ext cx="57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实验设计：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CC736C5-D9BE-4614-4CBB-E74DDD99B3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8797" y="1332920"/>
            <a:ext cx="1652159" cy="16521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AA94E70-2BE8-ED07-F4D7-08DEA95CCCB3}"/>
              </a:ext>
            </a:extLst>
          </p:cNvPr>
          <p:cNvSpPr txBox="1"/>
          <p:nvPr/>
        </p:nvSpPr>
        <p:spPr>
          <a:xfrm>
            <a:off x="2004727" y="3261939"/>
            <a:ext cx="273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b="1" dirty="0"/>
              <a:t>优化误报分类的提示词</a:t>
            </a:r>
          </a:p>
        </p:txBody>
      </p:sp>
    </p:spTree>
    <p:extLst>
      <p:ext uri="{BB962C8B-B14F-4D97-AF65-F5344CB8AC3E}">
        <p14:creationId xmlns:p14="http://schemas.microsoft.com/office/powerpoint/2010/main" val="154966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8934-C3A2-C925-9F17-A1F75EFD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554789-FAFE-1C08-6A57-05F6AF18C7B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8797" y="1332920"/>
            <a:ext cx="1652159" cy="1652159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BC63A5F3-BDB5-E8E1-2AED-D98890159AD8}"/>
              </a:ext>
            </a:extLst>
          </p:cNvPr>
          <p:cNvSpPr/>
          <p:nvPr/>
        </p:nvSpPr>
        <p:spPr>
          <a:xfrm>
            <a:off x="5042255" y="806307"/>
            <a:ext cx="21074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IDEAS FOR IMPROVEMENT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16BD136-A505-347B-0B48-AB03CAF5F909}"/>
              </a:ext>
            </a:extLst>
          </p:cNvPr>
          <p:cNvSpPr txBox="1"/>
          <p:nvPr/>
        </p:nvSpPr>
        <p:spPr>
          <a:xfrm>
            <a:off x="4729444" y="279400"/>
            <a:ext cx="27331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改进思路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FCCEBAB-DB34-3353-181C-09A2F1AC30D2}"/>
              </a:ext>
            </a:extLst>
          </p:cNvPr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1D47D4-9FD5-5285-22BD-092A49722D7D}"/>
                </a:ext>
              </a:extLst>
            </p:cNvPr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608464B-0824-9762-9F8E-4617FB881B30}"/>
                </a:ext>
              </a:extLst>
            </p:cNvPr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527D6D4-D1AB-8334-1EB5-6E7AB4860146}"/>
                </a:ext>
              </a:extLst>
            </p:cNvPr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E0BCA9C-B266-8593-0CCF-E8DA84B350CA}"/>
                </a:ext>
              </a:extLst>
            </p:cNvPr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2A0ADFC-55DF-8B44-EA2A-3D27B6DFAE2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344727" y="1259205"/>
            <a:ext cx="4423410" cy="721360"/>
            <a:chOff x="2137" y="6260"/>
            <a:chExt cx="6966" cy="1136"/>
          </a:xfrm>
        </p:grpSpPr>
        <p:sp>
          <p:nvSpPr>
            <p:cNvPr id="15" name="TextBox 58">
              <a:extLst>
                <a:ext uri="{FF2B5EF4-FFF2-40B4-BE49-F238E27FC236}">
                  <a16:creationId xmlns:a16="http://schemas.microsoft.com/office/drawing/2014/main" id="{1A78BCAE-3807-3184-F196-F867A8005EB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709" y="6866"/>
              <a:ext cx="6394" cy="5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sz="1200" b="1" dirty="0"/>
                <a:t>对补丁质量进行量化评分，分析其与合成成功率的相关性。</a:t>
              </a:r>
            </a:p>
          </p:txBody>
        </p: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9437C28D-6139-0C23-7E26-C41B1382F5BE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137" y="6260"/>
              <a:ext cx="5764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改进思路：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3EF9F4B-CE2D-9AF6-AEAF-9112705B704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43764" y="4028440"/>
            <a:ext cx="3377529" cy="2199892"/>
            <a:chOff x="1929" y="6144"/>
            <a:chExt cx="6706" cy="396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8112DA6-5EE4-FCB3-AE9D-72A902EF38A5}"/>
                </a:ext>
              </a:extLst>
            </p:cNvPr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20" name="双括号 19">
                <a:extLst>
                  <a:ext uri="{FF2B5EF4-FFF2-40B4-BE49-F238E27FC236}">
                    <a16:creationId xmlns:a16="http://schemas.microsoft.com/office/drawing/2014/main" id="{F8CB8B78-3894-2AAA-033B-EDF1F28657D4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1" name="双括号 20">
                <a:extLst>
                  <a:ext uri="{FF2B5EF4-FFF2-40B4-BE49-F238E27FC236}">
                    <a16:creationId xmlns:a16="http://schemas.microsoft.com/office/drawing/2014/main" id="{E42D0EB6-04CF-ECA3-7962-92FA51CB9AF9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9891C30E-B383-4FC7-4797-E6EE64FBD1A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36" y="6867"/>
              <a:ext cx="5581" cy="310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en-US" altLang="zh-CN" sz="1200" b="1" dirty="0"/>
                <a:t>KNighter</a:t>
              </a:r>
              <a:r>
                <a:rPr lang="zh-CN" altLang="zh-CN" sz="1200" b="1" dirty="0"/>
                <a:t>用</a:t>
              </a:r>
              <a:r>
                <a:rPr lang="en-US" altLang="zh-CN" sz="1200" b="1" dirty="0"/>
                <a:t>61</a:t>
              </a:r>
              <a:r>
                <a:rPr lang="zh-CN" altLang="zh-CN" sz="1200" b="1" dirty="0"/>
                <a:t>个补丁进行测试，但未考虑补丁本身的质量差异。有的补丁</a:t>
              </a:r>
              <a:r>
                <a:rPr lang="en-US" altLang="zh-CN" sz="1200" b="1" dirty="0"/>
                <a:t>commit message</a:t>
              </a:r>
              <a:r>
                <a:rPr lang="zh-CN" altLang="zh-CN" sz="1200" b="1" dirty="0"/>
                <a:t>详细、</a:t>
              </a:r>
              <a:r>
                <a:rPr lang="en-US" altLang="zh-CN" sz="1200" b="1" dirty="0"/>
                <a:t>diff</a:t>
              </a:r>
              <a:r>
                <a:rPr lang="zh-CN" altLang="zh-CN" sz="1200" b="1" dirty="0"/>
                <a:t>清晰，有的则很简略。</a:t>
              </a:r>
              <a:endParaRPr lang="en-US" altLang="zh-CN" sz="1200" b="1" dirty="0"/>
            </a:p>
            <a:p>
              <a:r>
                <a:rPr lang="zh-CN" altLang="zh-CN" sz="1200" b="1" dirty="0"/>
                <a:t>补丁质量是否影响</a:t>
              </a:r>
              <a:r>
                <a:rPr lang="en-US" altLang="zh-CN" sz="1200" b="1" dirty="0"/>
                <a:t>LLM</a:t>
              </a:r>
              <a:r>
                <a:rPr lang="zh-CN" altLang="zh-CN" sz="1200" b="1" dirty="0"/>
                <a:t>的理解和检查器合成成功率这个问题</a:t>
              </a:r>
              <a:r>
                <a:rPr lang="zh-CN" altLang="en-US" sz="1200" b="1" dirty="0"/>
                <a:t>则</a:t>
              </a:r>
              <a:r>
                <a:rPr lang="zh-CN" altLang="zh-CN" sz="1200" b="1" dirty="0"/>
                <a:t>没有答案</a:t>
              </a:r>
              <a:r>
                <a:rPr lang="zh-CN" altLang="en-US" sz="1200" b="1" dirty="0"/>
                <a:t>。</a:t>
              </a:r>
              <a:endParaRPr lang="zh-CN" altLang="zh-CN" sz="1200" b="1" dirty="0"/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A215312A-C5EF-E716-6573-818175081F8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683" y="6302"/>
              <a:ext cx="5764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现状与问题：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CBBF4BB-C7C8-F45A-9421-6A09CF194BA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485992" y="2332356"/>
            <a:ext cx="4236909" cy="4026941"/>
            <a:chOff x="1929" y="6144"/>
            <a:chExt cx="6706" cy="396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38C583F-A70B-1433-554E-39E310DDC9A7}"/>
                </a:ext>
              </a:extLst>
            </p:cNvPr>
            <p:cNvGrpSpPr/>
            <p:nvPr/>
          </p:nvGrpSpPr>
          <p:grpSpPr>
            <a:xfrm>
              <a:off x="1929" y="6144"/>
              <a:ext cx="6706" cy="3968"/>
              <a:chOff x="1235" y="5784"/>
              <a:chExt cx="6706" cy="3968"/>
            </a:xfrm>
          </p:grpSpPr>
          <p:sp>
            <p:nvSpPr>
              <p:cNvPr id="27" name="双括号 26">
                <a:extLst>
                  <a:ext uri="{FF2B5EF4-FFF2-40B4-BE49-F238E27FC236}">
                    <a16:creationId xmlns:a16="http://schemas.microsoft.com/office/drawing/2014/main" id="{0B04CEC9-7B80-9ACB-B0B6-AB077E50EEE7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8" name="双括号 27">
                <a:extLst>
                  <a:ext uri="{FF2B5EF4-FFF2-40B4-BE49-F238E27FC236}">
                    <a16:creationId xmlns:a16="http://schemas.microsoft.com/office/drawing/2014/main" id="{FFABE838-0BEC-0468-8DC0-1B72754B04C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9" name="TextBox 58">
              <a:extLst>
                <a:ext uri="{FF2B5EF4-FFF2-40B4-BE49-F238E27FC236}">
                  <a16:creationId xmlns:a16="http://schemas.microsoft.com/office/drawing/2014/main" id="{A5545539-E019-FB47-75BF-E6AA637C16C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17" y="6721"/>
              <a:ext cx="5920" cy="306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定义补丁质量评分标准：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数据收集：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对论文表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中的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61</a:t>
              </a:r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个补丁逐一评分，记录每个补丁是否成功合成检查器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统计分析：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计算每档的检查器合成成功率，分析补丁质量与成功率的相关性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预期结果：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验证“补丁质量越高，合成成功率越高”的假设，若成立可建议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KNighter</a:t>
              </a:r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优先处理高质</a:t>
              </a:r>
              <a:endParaRPr lang="en-US" altLang="zh-CN" sz="1200" b="1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量补丁</a:t>
              </a:r>
            </a:p>
          </p:txBody>
        </p:sp>
        <p:sp>
          <p:nvSpPr>
            <p:cNvPr id="30" name="TextBox 56">
              <a:extLst>
                <a:ext uri="{FF2B5EF4-FFF2-40B4-BE49-F238E27FC236}">
                  <a16:creationId xmlns:a16="http://schemas.microsoft.com/office/drawing/2014/main" id="{5768E8AC-C7BD-7F36-6538-42D35801ED0D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683" y="6302"/>
              <a:ext cx="57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实验设计：</a:t>
              </a:r>
            </a:p>
          </p:txBody>
        </p:sp>
      </p:grpSp>
      <p:pic>
        <p:nvPicPr>
          <p:cNvPr id="3" name="图片 2" descr="科学家在实验室的计算机屏幕上查看 DNA 测试结果">
            <a:extLst>
              <a:ext uri="{FF2B5EF4-FFF2-40B4-BE49-F238E27FC236}">
                <a16:creationId xmlns:a16="http://schemas.microsoft.com/office/drawing/2014/main" id="{B860EE01-F780-8ED4-DA75-B5F5824525F1}"/>
              </a:ext>
            </a:extLst>
          </p:cNvPr>
          <p:cNvPicPr>
            <a:picLocks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8" t="5947" r="9157" b="11851"/>
          <a:stretch>
            <a:fillRect/>
          </a:stretch>
        </p:blipFill>
        <p:spPr>
          <a:xfrm>
            <a:off x="2428797" y="1332920"/>
            <a:ext cx="1691812" cy="1661029"/>
          </a:xfrm>
          <a:prstGeom prst="ellipse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963128-C85A-4578-BD9D-B97D4BD17682}"/>
              </a:ext>
            </a:extLst>
          </p:cNvPr>
          <p:cNvSpPr txBox="1"/>
          <p:nvPr/>
        </p:nvSpPr>
        <p:spPr>
          <a:xfrm>
            <a:off x="2004727" y="3261940"/>
            <a:ext cx="2724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zh-CN" altLang="zh-CN" b="1" dirty="0"/>
              <a:t>补丁质量对合成成功率的影响分析</a:t>
            </a:r>
          </a:p>
        </p:txBody>
      </p:sp>
    </p:spTree>
    <p:extLst>
      <p:ext uri="{BB962C8B-B14F-4D97-AF65-F5344CB8AC3E}">
        <p14:creationId xmlns:p14="http://schemas.microsoft.com/office/powerpoint/2010/main" val="272180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0167-384B-AE72-3CFA-C702B1DB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351B9AF-CE6B-5824-9321-9626998E284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8797" y="1332920"/>
            <a:ext cx="1652159" cy="1652159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C02F6DB6-ADD7-FD21-50A5-BCBC46C23E2F}"/>
              </a:ext>
            </a:extLst>
          </p:cNvPr>
          <p:cNvSpPr/>
          <p:nvPr/>
        </p:nvSpPr>
        <p:spPr>
          <a:xfrm>
            <a:off x="5042255" y="806307"/>
            <a:ext cx="2107490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IDEAS FOR IMPROVEMENT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389A37C-044A-9CD7-86F0-A559B6AE9A2B}"/>
              </a:ext>
            </a:extLst>
          </p:cNvPr>
          <p:cNvSpPr txBox="1"/>
          <p:nvPr/>
        </p:nvSpPr>
        <p:spPr>
          <a:xfrm>
            <a:off x="4729444" y="279400"/>
            <a:ext cx="27331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改进思路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B41EF278-50CC-8CDD-AF07-A6923392CE86}"/>
              </a:ext>
            </a:extLst>
          </p:cNvPr>
          <p:cNvGrpSpPr/>
          <p:nvPr/>
        </p:nvGrpSpPr>
        <p:grpSpPr>
          <a:xfrm>
            <a:off x="2141839" y="556335"/>
            <a:ext cx="7908323" cy="108542"/>
            <a:chOff x="1837039" y="691984"/>
            <a:chExt cx="7908323" cy="108542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AE6C19F-CA74-FBED-2B31-3E278C83C6CD}"/>
                </a:ext>
              </a:extLst>
            </p:cNvPr>
            <p:cNvCxnSpPr/>
            <p:nvPr/>
          </p:nvCxnSpPr>
          <p:spPr>
            <a:xfrm flipH="1">
              <a:off x="3256384" y="691984"/>
              <a:ext cx="1039545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0739B1D-3CF2-346B-6144-ED47BA942498}"/>
                </a:ext>
              </a:extLst>
            </p:cNvPr>
            <p:cNvCxnSpPr/>
            <p:nvPr/>
          </p:nvCxnSpPr>
          <p:spPr>
            <a:xfrm flipH="1">
              <a:off x="1837039" y="800526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C1E61E86-FB4B-9285-5B0E-E0010A89A000}"/>
                </a:ext>
              </a:extLst>
            </p:cNvPr>
            <p:cNvCxnSpPr/>
            <p:nvPr/>
          </p:nvCxnSpPr>
          <p:spPr>
            <a:xfrm flipH="1">
              <a:off x="7286472" y="691984"/>
              <a:ext cx="245889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7080F67-DFA2-2777-B4AA-CD9C11A9AD69}"/>
                </a:ext>
              </a:extLst>
            </p:cNvPr>
            <p:cNvCxnSpPr/>
            <p:nvPr/>
          </p:nvCxnSpPr>
          <p:spPr>
            <a:xfrm flipH="1">
              <a:off x="7286472" y="800526"/>
              <a:ext cx="137233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2186547-39F4-9632-EFF3-7F11FAF5C86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344727" y="1259205"/>
            <a:ext cx="4330065" cy="901700"/>
            <a:chOff x="2137" y="6260"/>
            <a:chExt cx="6819" cy="1420"/>
          </a:xfrm>
        </p:grpSpPr>
        <p:sp>
          <p:nvSpPr>
            <p:cNvPr id="15" name="TextBox 58">
              <a:extLst>
                <a:ext uri="{FF2B5EF4-FFF2-40B4-BE49-F238E27FC236}">
                  <a16:creationId xmlns:a16="http://schemas.microsoft.com/office/drawing/2014/main" id="{05A59270-8C0E-0789-3AA6-D2E061394D0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633" y="6714"/>
              <a:ext cx="6323" cy="9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sz="1200" b="1" dirty="0"/>
                <a:t>选取几个成功合成的检查器，在多个内核版本上运行，观察其报告数量的变化规律。</a:t>
              </a:r>
            </a:p>
          </p:txBody>
        </p: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E8DC95AE-853A-D0C7-4486-0FD6D9C43F83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137" y="6260"/>
              <a:ext cx="5764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改进思路：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9E90B7-7DEA-8186-D308-1FBA6E5CF59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43764" y="4028439"/>
            <a:ext cx="3377529" cy="2200446"/>
            <a:chOff x="1929" y="6144"/>
            <a:chExt cx="6706" cy="396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43E7C79-87EE-9158-2F6C-D8CD0F94E75F}"/>
                </a:ext>
              </a:extLst>
            </p:cNvPr>
            <p:cNvGrpSpPr/>
            <p:nvPr/>
          </p:nvGrpSpPr>
          <p:grpSpPr>
            <a:xfrm>
              <a:off x="1929" y="6144"/>
              <a:ext cx="6706" cy="3969"/>
              <a:chOff x="1235" y="5784"/>
              <a:chExt cx="6706" cy="3969"/>
            </a:xfrm>
          </p:grpSpPr>
          <p:sp>
            <p:nvSpPr>
              <p:cNvPr id="20" name="双括号 19">
                <a:extLst>
                  <a:ext uri="{FF2B5EF4-FFF2-40B4-BE49-F238E27FC236}">
                    <a16:creationId xmlns:a16="http://schemas.microsoft.com/office/drawing/2014/main" id="{0FA4373B-2C52-2CB2-ED89-BB24DBB15380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1" name="双括号 20">
                <a:extLst>
                  <a:ext uri="{FF2B5EF4-FFF2-40B4-BE49-F238E27FC236}">
                    <a16:creationId xmlns:a16="http://schemas.microsoft.com/office/drawing/2014/main" id="{81C8518E-4BF2-5B1C-72A9-F5989C6826B2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433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48616447-4579-25DD-4D3A-46B7E06C4CB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658" y="7575"/>
              <a:ext cx="5446" cy="110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en-US" altLang="zh-CN" sz="1200" b="1" dirty="0"/>
                <a:t>KNighter</a:t>
              </a:r>
              <a:r>
                <a:rPr lang="zh-CN" altLang="zh-CN" sz="1200" b="1" dirty="0"/>
                <a:t>只验证检查器在当前内核版本有效，但</a:t>
              </a:r>
              <a:r>
                <a:rPr lang="en-US" altLang="zh-CN" sz="1200" b="1" dirty="0"/>
                <a:t>Linux</a:t>
              </a:r>
              <a:r>
                <a:rPr lang="zh-CN" altLang="zh-CN" sz="1200" b="1" dirty="0"/>
                <a:t>内核更新快。</a:t>
              </a: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C25EF995-C5A1-D3E0-64FB-41162800CAF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683" y="6302"/>
              <a:ext cx="5764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现状与问题：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08D3428-F80D-17FE-0AD5-4B833391482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485992" y="2332356"/>
            <a:ext cx="4285558" cy="4027956"/>
            <a:chOff x="1929" y="6144"/>
            <a:chExt cx="6783" cy="3969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F1A1A09-EA53-9E34-B148-527D76CA816A}"/>
                </a:ext>
              </a:extLst>
            </p:cNvPr>
            <p:cNvGrpSpPr/>
            <p:nvPr/>
          </p:nvGrpSpPr>
          <p:grpSpPr>
            <a:xfrm>
              <a:off x="1929" y="6144"/>
              <a:ext cx="6783" cy="3969"/>
              <a:chOff x="1235" y="5784"/>
              <a:chExt cx="6783" cy="3969"/>
            </a:xfrm>
          </p:grpSpPr>
          <p:sp>
            <p:nvSpPr>
              <p:cNvPr id="27" name="双括号 26">
                <a:extLst>
                  <a:ext uri="{FF2B5EF4-FFF2-40B4-BE49-F238E27FC236}">
                    <a16:creationId xmlns:a16="http://schemas.microsoft.com/office/drawing/2014/main" id="{821AF002-458D-3E33-1511-073BF5C7DBDF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235" y="5784"/>
                <a:ext cx="6508" cy="3969"/>
              </a:xfrm>
              <a:prstGeom prst="bracketPair">
                <a:avLst/>
              </a:prstGeom>
              <a:solidFill>
                <a:srgbClr val="D2A57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  <p:sp>
            <p:nvSpPr>
              <p:cNvPr id="28" name="双括号 27">
                <a:extLst>
                  <a:ext uri="{FF2B5EF4-FFF2-40B4-BE49-F238E27FC236}">
                    <a16:creationId xmlns:a16="http://schemas.microsoft.com/office/drawing/2014/main" id="{F46C7B1E-D71E-D7D6-E5DA-E3A80A39082F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510" y="5784"/>
                <a:ext cx="6508" cy="3969"/>
              </a:xfrm>
              <a:prstGeom prst="bracketPair">
                <a:avLst/>
              </a:prstGeom>
              <a:solidFill>
                <a:srgbClr val="FDF5EF"/>
              </a:solidFill>
              <a:ln w="9525" cap="flat" cmpd="sng" algn="ctr">
                <a:solidFill>
                  <a:srgbClr val="D2A57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微软雅黑 Light" panose="020B0502040204020203" pitchFamily="2" charset="-122"/>
                </a:endParaRPr>
              </a:p>
            </p:txBody>
          </p:sp>
        </p:grpSp>
        <p:sp>
          <p:nvSpPr>
            <p:cNvPr id="29" name="TextBox 58">
              <a:extLst>
                <a:ext uri="{FF2B5EF4-FFF2-40B4-BE49-F238E27FC236}">
                  <a16:creationId xmlns:a16="http://schemas.microsoft.com/office/drawing/2014/main" id="{FD26F2C7-96EB-7F83-AB7C-F68D0A3EAD1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17" y="6721"/>
              <a:ext cx="5920" cy="196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选取检查器：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从</a:t>
              </a: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KNighter</a:t>
              </a:r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发现的漏洞中，挑选几个不同漏洞类型的检查器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运行测试：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在每个版本上运行选定的检查器，记录报告数量</a:t>
              </a:r>
            </a:p>
            <a:p>
              <a:r>
                <a:rPr lang="zh-CN" altLang="zh-CN" sz="12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分析结果：</a:t>
              </a:r>
              <a:endPara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  <a:p>
              <a:r>
                <a:rPr lang="zh-CN" altLang="zh-CN" sz="1200" b="1" dirty="0">
                  <a:solidFill>
                    <a:schemeClr val="bg1">
                      <a:lumMod val="50000"/>
                    </a:schemeClr>
                  </a:solidFill>
                </a:rPr>
                <a:t>找出报告数突变的关键版本，分析突变原因</a:t>
              </a:r>
            </a:p>
          </p:txBody>
        </p:sp>
        <p:sp>
          <p:nvSpPr>
            <p:cNvPr id="30" name="TextBox 56">
              <a:extLst>
                <a:ext uri="{FF2B5EF4-FFF2-40B4-BE49-F238E27FC236}">
                  <a16:creationId xmlns:a16="http://schemas.microsoft.com/office/drawing/2014/main" id="{CACA445C-D7CE-C782-67BA-AD27B6EA20D4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683" y="6302"/>
              <a:ext cx="57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4400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r>
                <a:rPr lang="zh-CN" altLang="zh-CN" dirty="0">
                  <a:solidFill>
                    <a:schemeClr val="tx1"/>
                  </a:solidFill>
                </a:rPr>
                <a:t>实验设计：</a:t>
              </a:r>
            </a:p>
          </p:txBody>
        </p:sp>
      </p:grpSp>
      <p:pic>
        <p:nvPicPr>
          <p:cNvPr id="3" name="图片 2" descr="商务人士在会议中使用数字平板电脑">
            <a:extLst>
              <a:ext uri="{FF2B5EF4-FFF2-40B4-BE49-F238E27FC236}">
                <a16:creationId xmlns:a16="http://schemas.microsoft.com/office/drawing/2014/main" id="{7BCCC92E-ECFC-59BC-D490-6A25561F3953}"/>
              </a:ext>
            </a:extLst>
          </p:cNvPr>
          <p:cNvPicPr>
            <a:picLocks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2"/>
          <a:stretch>
            <a:fillRect/>
          </a:stretch>
        </p:blipFill>
        <p:spPr>
          <a:xfrm>
            <a:off x="2428797" y="1332920"/>
            <a:ext cx="1652159" cy="1652159"/>
          </a:xfrm>
          <a:prstGeom prst="ellipse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2A6607-7F9F-397D-5F07-EBAE9451BDAF}"/>
              </a:ext>
            </a:extLst>
          </p:cNvPr>
          <p:cNvSpPr txBox="1"/>
          <p:nvPr/>
        </p:nvSpPr>
        <p:spPr>
          <a:xfrm>
            <a:off x="2004727" y="3261939"/>
            <a:ext cx="273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b="1" dirty="0"/>
              <a:t>优化误报分类的提示词</a:t>
            </a:r>
          </a:p>
        </p:txBody>
      </p:sp>
    </p:spTree>
    <p:extLst>
      <p:ext uri="{BB962C8B-B14F-4D97-AF65-F5344CB8AC3E}">
        <p14:creationId xmlns:p14="http://schemas.microsoft.com/office/powerpoint/2010/main" val="37255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593705" cy="479685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95911" y="2956365"/>
            <a:ext cx="6211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pPr algn="dist"/>
            <a:r>
              <a:rPr lang="en-US" altLang="zh-CN" sz="7200" b="1" dirty="0">
                <a:solidFill>
                  <a:srgbClr val="2C1C4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THANKS</a:t>
            </a:r>
            <a:endParaRPr lang="zh-CN" altLang="en-US" sz="7200" b="1" dirty="0">
              <a:solidFill>
                <a:srgbClr val="2C1C4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5222441" y="4156694"/>
            <a:ext cx="5989402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en-US" altLang="zh-CN" sz="1050" cap="all" spc="300" dirty="0">
                <a:solidFill>
                  <a:srgbClr val="2C1C4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——KNighter: Transforming Static Analysis with LLM-Synthesized Checkers</a:t>
            </a:r>
          </a:p>
          <a:p>
            <a:pPr algn="r">
              <a:buNone/>
            </a:pPr>
            <a:r>
              <a:rPr lang="en-US" altLang="zh-CN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KNighter</a:t>
            </a:r>
            <a:r>
              <a:rPr lang="zh-CN" altLang="en-US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：通过</a:t>
            </a:r>
            <a:r>
              <a:rPr lang="en-US" altLang="zh-CN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LLM</a:t>
            </a:r>
            <a:r>
              <a:rPr lang="zh-CN" altLang="en-US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合成静态分析检查器发现</a:t>
            </a:r>
            <a:r>
              <a:rPr lang="en-US" altLang="zh-CN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Linux</a:t>
            </a:r>
            <a:r>
              <a:rPr lang="zh-CN" altLang="en-US" sz="1000" cap="all" spc="300" dirty="0">
                <a:solidFill>
                  <a:schemeClr val="accent6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内核漏洞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10350850" y="1594726"/>
            <a:ext cx="800263" cy="0"/>
          </a:xfrm>
          <a:prstGeom prst="line">
            <a:avLst/>
          </a:prstGeom>
          <a:ln w="28575">
            <a:solidFill>
              <a:srgbClr val="1317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8,&quot;left&quot;:311.25,&quot;top&quot;:62.85,&quot;width&quot;:583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8,&quot;left&quot;:311.25,&quot;top&quot;:62.85,&quot;width&quot;:583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21858267716533,&quot;left&quot;:311.25,&quot;top&quot;:62.85,&quot;width&quot;:583.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377.45,&quot;top&quot;:100.05,&quot;width&quot;:434.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06968503937014,&quot;left&quot;:450.8287401574803,&quot;top&quot;:113.10291338582677,&quot;width&quot;:393.456220472441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9.45,&quot;left&quot;:96.45,&quot;top&quot;:85.6,&quot;width&quot;:787.3}"/>
</p:tagLst>
</file>

<file path=ppt/theme/theme1.xml><?xml version="1.0" encoding="utf-8"?>
<a:theme xmlns:a="http://schemas.openxmlformats.org/drawingml/2006/main" name="黑">
  <a:themeElements>
    <a:clrScheme name="1_微软雅黑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3E55"/>
      </a:accent1>
      <a:accent2>
        <a:srgbClr val="34457A"/>
      </a:accent2>
      <a:accent3>
        <a:srgbClr val="FFFFFF"/>
      </a:accent3>
      <a:accent4>
        <a:srgbClr val="000000"/>
      </a:accent4>
      <a:accent5>
        <a:srgbClr val="DFAFB4"/>
      </a:accent5>
      <a:accent6>
        <a:srgbClr val="2E3E6E"/>
      </a:accent6>
      <a:hlink>
        <a:srgbClr val="0563C1"/>
      </a:hlink>
      <a:folHlink>
        <a:srgbClr val="954F72"/>
      </a:folHlink>
    </a:clrScheme>
    <a:fontScheme name="w02yq0on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anose="020B0502040204020203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anose="020B0502040204020203" pitchFamily="2" charset="-122"/>
          </a:defRPr>
        </a:defPPr>
      </a:lstStyle>
    </a:lnDef>
  </a:objectDefaults>
  <a:extraClrSchemeLst>
    <a:extraClrScheme>
      <a:clrScheme name="1_微软雅黑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C63E55"/>
        </a:accent1>
        <a:accent2>
          <a:srgbClr val="34457A"/>
        </a:accent2>
        <a:accent3>
          <a:srgbClr val="FFFFFF"/>
        </a:accent3>
        <a:accent4>
          <a:srgbClr val="000000"/>
        </a:accent4>
        <a:accent5>
          <a:srgbClr val="DFAFB4"/>
        </a:accent5>
        <a:accent6>
          <a:srgbClr val="2E3E6E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1319</Words>
  <Application>Microsoft Office PowerPoint</Application>
  <PresentationFormat>宽屏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楷体</vt:lpstr>
      <vt:lpstr>微软雅黑</vt:lpstr>
      <vt:lpstr>微软雅黑 Light</vt:lpstr>
      <vt:lpstr>Arial</vt:lpstr>
      <vt:lpstr>Calibri</vt:lpstr>
      <vt:lpstr>Wingdings</vt:lpstr>
      <vt:lpstr>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悦然 王</cp:lastModifiedBy>
  <cp:revision>65</cp:revision>
  <dcterms:created xsi:type="dcterms:W3CDTF">2021-01-30T03:57:00Z</dcterms:created>
  <dcterms:modified xsi:type="dcterms:W3CDTF">2026-03-14T03:19:39Z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KSOTemplateUUID">
    <vt:lpwstr>v1.0_mb_MORC0B3bXAwSLW7X5amgtQ==</vt:lpwstr>
  </property>
  <property fmtid="{D5CDD505-2E9C-101B-9397-08002B2CF9AE}" pid="4" name="ICV">
    <vt:lpwstr>B20781D6589447DF93DD47CC84F3228A_11</vt:lpwstr>
  </property>
</Properties>
</file>