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C"/>
    <a:srgbClr val="143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58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0F43-3364-CF79-C1EE-6243F0CF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DF70A-EE80-212A-F44C-8772BBE05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C6C3C-CF49-130F-5107-618E4765D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5120A-7F1D-0621-63F1-FEB153C78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556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0201E-24C6-C9DC-07A2-32D6167FB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8D7CD-2A53-7B0C-E202-01DA20C11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FCEB7-59A2-6848-857F-AF5665ED0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用户上传文档：基于 LSTM 的多元时间序列对抗攻击与鲁棒性探究(1)(1).docx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0584-0F90-5B71-943E-BDF1B5040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4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24B"/>
          </a:solidFill>
          <a:ln w="12700">
            <a:solidFill>
              <a:srgbClr val="143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528816"/>
            <a:ext cx="1152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10293D">
              <a:alpha val="90000"/>
            </a:srgbClr>
          </a:solidFill>
          <a:ln w="12700">
            <a:solidFill>
              <a:srgbClr val="1029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0" y="804672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73954">
              <a:alpha val="78000"/>
            </a:srgbClr>
          </a:solidFill>
          <a:ln w="12700">
            <a:solidFill>
              <a:srgbClr val="2A4B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1078992"/>
            <a:ext cx="61048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基于</a:t>
            </a:r>
            <a:r>
              <a:rPr lang="en-US" sz="3600" b="1" dirty="0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LSTM </a:t>
            </a:r>
            <a:r>
              <a:rPr lang="en-US" sz="3600" b="1" dirty="0" err="1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的多元时间序列</a:t>
            </a:r>
            <a:endParaRPr lang="en-US" sz="3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对抗攻击与鲁棒性探究</a:t>
            </a:r>
            <a:endParaRPr lang="en-US" sz="3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—— 以回归预测模型为例的安全性评估与改进尝试</a:t>
            </a:r>
            <a:endParaRPr lang="en-US" sz="1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397" y="3110433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课程汇报</a:t>
            </a:r>
            <a:endParaRPr lang="en-US" sz="1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67712" y="306324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589" y="3110433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开源复现 + 改进</a:t>
            </a:r>
            <a:endParaRPr lang="en-US" sz="1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24528" y="30632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405" y="3110433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 安全</a:t>
            </a:r>
            <a:endParaRPr lang="en-US" sz="1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" y="371246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汇报内容：背景调研｜开源项目选择｜复现路线｜改进思路｜评价指标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9808" y="5440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C3D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10.1 组 </a:t>
            </a:r>
            <a:r>
              <a:rPr lang="zh-CN" altLang="en-US" sz="1600" dirty="0">
                <a:solidFill>
                  <a:srgbClr val="A7C3D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开题报告</a:t>
            </a:r>
            <a:endParaRPr lang="en-US" altLang="zh-CN" sz="1600" dirty="0">
              <a:solidFill>
                <a:srgbClr val="A7C3DC"/>
              </a:solidFill>
              <a:latin typeface=".苹方-简" panose="020B0400000000000000" pitchFamily="34" charset="-122"/>
              <a:ea typeface=".苹方-简" panose="020B0400000000000000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A7C3DC"/>
              </a:solidFill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A7C3DC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2026.3.2</a:t>
            </a:r>
            <a:endParaRPr lang="en-US" sz="1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35440" y="1837944"/>
            <a:ext cx="274320" cy="164592"/>
          </a:xfrm>
          <a:prstGeom prst="chevron">
            <a:avLst/>
          </a:prstGeom>
          <a:solidFill>
            <a:srgbClr val="88A2BC"/>
          </a:solidFill>
          <a:ln w="12700">
            <a:solidFill>
              <a:srgbClr val="88A2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1417320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EDF4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60793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多元时序输入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5440" y="2569464"/>
            <a:ext cx="274320" cy="164592"/>
          </a:xfrm>
          <a:prstGeom prst="chevron">
            <a:avLst/>
          </a:prstGeom>
          <a:solidFill>
            <a:srgbClr val="88A2BC"/>
          </a:solidFill>
          <a:ln w="12700">
            <a:solidFill>
              <a:srgbClr val="88A2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2148840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E9FBF8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33945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 </a:t>
            </a:r>
            <a:r>
              <a:rPr lang="en-US" sz="1500" b="1" dirty="0" err="1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基线预测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35440" y="3483864"/>
            <a:ext cx="274320" cy="164592"/>
          </a:xfrm>
          <a:prstGeom prst="chevron">
            <a:avLst/>
          </a:prstGeom>
          <a:solidFill>
            <a:srgbClr val="88A2BC"/>
          </a:solidFill>
          <a:ln w="12700">
            <a:solidFill>
              <a:srgbClr val="88A2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3063240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FFF6E7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25385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6A0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FGSM / BIM 攻击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5440" y="4398264"/>
            <a:ext cx="274320" cy="164592"/>
          </a:xfrm>
          <a:prstGeom prst="chevron">
            <a:avLst/>
          </a:prstGeom>
          <a:solidFill>
            <a:srgbClr val="88A2BC"/>
          </a:solidFill>
          <a:ln w="12700">
            <a:solidFill>
              <a:srgbClr val="88A2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3977640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EFF3F7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16825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B7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鲁棒性分析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26680" y="4892040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FFF0E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508265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改进策略验证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1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>
            <a:extLst>
              <a:ext uri="{FF2B5EF4-FFF2-40B4-BE49-F238E27FC236}">
                <a16:creationId xmlns:a16="http://schemas.microsoft.com/office/drawing/2014/main" id="{9D35E704-FB8B-D434-41DB-11462A96FF49}"/>
              </a:ext>
            </a:extLst>
          </p:cNvPr>
          <p:cNvSpPr/>
          <p:nvPr/>
        </p:nvSpPr>
        <p:spPr>
          <a:xfrm>
            <a:off x="-1835217" y="5557144"/>
            <a:ext cx="15862433" cy="3857765"/>
          </a:xfrm>
          <a:prstGeom prst="ellipse">
            <a:avLst/>
          </a:prstGeom>
          <a:solidFill>
            <a:srgbClr val="1432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课题背景与研究动机</a:t>
            </a:r>
            <a:endParaRPr lang="en-US" sz="2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为什么要研究“时序模型 + 对抗攻击”</a:t>
            </a:r>
            <a:endParaRPr lang="en-US" sz="10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17797" y="4853098"/>
            <a:ext cx="6017366" cy="1249475"/>
          </a:xfrm>
          <a:prstGeom prst="roundRect">
            <a:avLst>
              <a:gd name="adj" fmla="val 4615"/>
            </a:avLst>
          </a:prstGeom>
          <a:solidFill>
            <a:srgbClr val="FFF0EF"/>
          </a:solidFill>
          <a:ln w="12700">
            <a:solidFill>
              <a:srgbClr val="F2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3841" y="5151608"/>
            <a:ext cx="446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核心问题</a:t>
            </a:r>
            <a:r>
              <a:rPr lang="en-US" sz="15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：</a:t>
            </a:r>
          </a:p>
          <a:p>
            <a:pPr marL="0" indent="0">
              <a:buNone/>
            </a:pP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时序模型是否对时间维度上的微小扰动同样脆弱？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如果脆弱，如何更系统地评估并提升其鲁棒性？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746504"/>
            <a:ext cx="2560320" cy="2249423"/>
          </a:xfrm>
          <a:prstGeom prst="roundRect">
            <a:avLst>
              <a:gd name="adj" fmla="val 4138"/>
            </a:avLst>
          </a:prstGeom>
          <a:solidFill>
            <a:srgbClr val="EDF4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220853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金融预测</a:t>
            </a:r>
            <a:endParaRPr lang="en-US" sz="2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7784" y="2862071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价格 / 成交量等多特征输入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扰动可能放大预测偏差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65576" y="1743465"/>
            <a:ext cx="2560320" cy="2249423"/>
          </a:xfrm>
          <a:prstGeom prst="roundRect">
            <a:avLst>
              <a:gd name="adj" fmla="val 4138"/>
            </a:avLst>
          </a:prstGeom>
          <a:solidFill>
            <a:srgbClr val="E9FBF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20942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智能电网</a:t>
            </a:r>
            <a:endParaRPr lang="en-US" sz="2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91072" y="1746503"/>
            <a:ext cx="2560320" cy="2246383"/>
          </a:xfrm>
          <a:prstGeom prst="roundRect">
            <a:avLst>
              <a:gd name="adj" fmla="val 4138"/>
            </a:avLst>
          </a:prstGeom>
          <a:solidFill>
            <a:srgbClr val="FFF6E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2043" y="21929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6A0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工业监测</a:t>
            </a:r>
            <a:endParaRPr lang="en-US" sz="2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21140" y="1746503"/>
            <a:ext cx="2560320" cy="2249423"/>
          </a:xfrm>
          <a:prstGeom prst="roundRect">
            <a:avLst>
              <a:gd name="adj" fmla="val 4138"/>
            </a:avLst>
          </a:prstGeom>
          <a:solidFill>
            <a:srgbClr val="FFF0E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93280" y="220853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研究空白</a:t>
            </a:r>
            <a:endParaRPr lang="en-US" sz="20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38844" y="2845685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时序回归攻击较少</a:t>
            </a:r>
            <a:endParaRPr lang="en-US" sz="1400" dirty="0">
              <a:solidFill>
                <a:srgbClr val="203040"/>
              </a:solidFill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algn="ctr"/>
            <a:r>
              <a:rPr lang="en-US" sz="14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防御策略体系仍在探索中</a:t>
            </a:r>
            <a:endParaRPr lang="en-US" sz="1400" dirty="0">
              <a:solidFill>
                <a:srgbClr val="203040"/>
              </a:solidFill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2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C9B025-0873-CD9C-429B-F03A681DD65F}"/>
              </a:ext>
            </a:extLst>
          </p:cNvPr>
          <p:cNvSpPr txBox="1"/>
          <p:nvPr/>
        </p:nvSpPr>
        <p:spPr>
          <a:xfrm>
            <a:off x="3087059" y="2942877"/>
            <a:ext cx="3312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负荷预测对调度敏感</a:t>
            </a:r>
          </a:p>
          <a:p>
            <a:pPr algn="ctr"/>
            <a:r>
              <a:rPr lang="zh-CN" alt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错判可能引发资源浪费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F4EF4-FE94-D6A6-2645-D967F847AE2A}"/>
              </a:ext>
            </a:extLst>
          </p:cNvPr>
          <p:cNvSpPr txBox="1"/>
          <p:nvPr/>
        </p:nvSpPr>
        <p:spPr>
          <a:xfrm>
            <a:off x="6245352" y="2941057"/>
            <a:ext cx="2724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传感器异常会影响寿命预估</a:t>
            </a:r>
          </a:p>
          <a:p>
            <a:pPr algn="ctr"/>
            <a:r>
              <a:rPr lang="zh-CN" altLang="en-US" sz="14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隐蔽扰动更难被发现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8048-1F0A-313A-E043-6A32711F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60BF33-1F8B-E102-4C0F-F1411E8DCE45}"/>
              </a:ext>
            </a:extLst>
          </p:cNvPr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相关技术基础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173B80-43C2-157B-7932-01812B62F2AB}"/>
              </a:ext>
            </a:extLst>
          </p:cNvPr>
          <p:cNvSpPr/>
          <p:nvPr/>
        </p:nvSpPr>
        <p:spPr>
          <a:xfrm>
            <a:off x="658368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数据是什么、模型做什么、攻击改什么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9A6D59-4D68-A27A-95B8-834AC68F1CD0}"/>
              </a:ext>
            </a:extLst>
          </p:cNvPr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7BE21C-939D-901E-E03F-7A064AA4EE5F}"/>
              </a:ext>
            </a:extLst>
          </p:cNvPr>
          <p:cNvSpPr/>
          <p:nvPr/>
        </p:nvSpPr>
        <p:spPr>
          <a:xfrm>
            <a:off x="685799" y="3547566"/>
            <a:ext cx="112014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多元时间序列：每个时间步包含多个特征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                 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LSTM：按时间顺序学习长期依赖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           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对抗攻击：在输入上施加细微扰动以放大预测误差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43AB976-B7C0-46F7-28C9-7144AFF04F6F}"/>
              </a:ext>
            </a:extLst>
          </p:cNvPr>
          <p:cNvSpPr/>
          <p:nvPr/>
        </p:nvSpPr>
        <p:spPr>
          <a:xfrm>
            <a:off x="6849285" y="1833372"/>
            <a:ext cx="3154680" cy="868680"/>
          </a:xfrm>
          <a:prstGeom prst="roundRect">
            <a:avLst>
              <a:gd name="adj" fmla="val 5263"/>
            </a:avLst>
          </a:prstGeom>
          <a:solidFill>
            <a:srgbClr val="EDF4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AAAEE83-D581-B443-72DC-95B8B6CBB05C}"/>
              </a:ext>
            </a:extLst>
          </p:cNvPr>
          <p:cNvSpPr/>
          <p:nvPr/>
        </p:nvSpPr>
        <p:spPr>
          <a:xfrm>
            <a:off x="7059597" y="21442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输出：下一时刻预测值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9985A42-9F14-C575-7455-77FB8F47D5A8}"/>
              </a:ext>
            </a:extLst>
          </p:cNvPr>
          <p:cNvSpPr/>
          <p:nvPr/>
        </p:nvSpPr>
        <p:spPr>
          <a:xfrm>
            <a:off x="731519" y="4023361"/>
            <a:ext cx="2999723" cy="2194560"/>
          </a:xfrm>
          <a:prstGeom prst="roundRect">
            <a:avLst>
              <a:gd name="adj" fmla="val 2500"/>
            </a:avLst>
          </a:prstGeom>
          <a:solidFill>
            <a:srgbClr val="EDF4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ABBDDF6-2F16-E452-09C7-26EFEC64EBB9}"/>
              </a:ext>
            </a:extLst>
          </p:cNvPr>
          <p:cNvSpPr/>
          <p:nvPr/>
        </p:nvSpPr>
        <p:spPr>
          <a:xfrm>
            <a:off x="896112" y="418795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A. </a:t>
            </a: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多元时间序列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视角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F5F59AD-C7E3-9A85-ECC9-E6843774DCA8}"/>
              </a:ext>
            </a:extLst>
          </p:cNvPr>
          <p:cNvSpPr/>
          <p:nvPr/>
        </p:nvSpPr>
        <p:spPr>
          <a:xfrm>
            <a:off x="914400" y="4636009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A437C6C-1C97-9E77-A04F-25220A2359C4}"/>
              </a:ext>
            </a:extLst>
          </p:cNvPr>
          <p:cNvSpPr/>
          <p:nvPr/>
        </p:nvSpPr>
        <p:spPr>
          <a:xfrm>
            <a:off x="1043588" y="4503421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每个时间步不止一个变量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538F830-BFA4-97C8-0435-BEE2C5AD5195}"/>
              </a:ext>
            </a:extLst>
          </p:cNvPr>
          <p:cNvSpPr/>
          <p:nvPr/>
        </p:nvSpPr>
        <p:spPr>
          <a:xfrm>
            <a:off x="914400" y="5138929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6C5BF01-7B1F-3AAA-B81E-E719F07286D3}"/>
              </a:ext>
            </a:extLst>
          </p:cNvPr>
          <p:cNvSpPr/>
          <p:nvPr/>
        </p:nvSpPr>
        <p:spPr>
          <a:xfrm>
            <a:off x="1043588" y="5015454"/>
            <a:ext cx="2523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典型形状：(样本数, 时间步, 特征数)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BA71B39-132D-6A4B-C3B0-A98DEC26CAB7}"/>
              </a:ext>
            </a:extLst>
          </p:cNvPr>
          <p:cNvSpPr/>
          <p:nvPr/>
        </p:nvSpPr>
        <p:spPr>
          <a:xfrm>
            <a:off x="914400" y="5641849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1F7819E-0673-D9D3-918D-3B741163595B}"/>
              </a:ext>
            </a:extLst>
          </p:cNvPr>
          <p:cNvSpPr/>
          <p:nvPr/>
        </p:nvSpPr>
        <p:spPr>
          <a:xfrm>
            <a:off x="1042416" y="5503003"/>
            <a:ext cx="2431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示例：价格、成交量、传感器读数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35F3BE2-499F-CF53-91E6-709D8991F417}"/>
              </a:ext>
            </a:extLst>
          </p:cNvPr>
          <p:cNvSpPr/>
          <p:nvPr/>
        </p:nvSpPr>
        <p:spPr>
          <a:xfrm>
            <a:off x="4581144" y="4023361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E9FBF8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6FF6702-45B6-1F39-A777-45DBAE80F030}"/>
              </a:ext>
            </a:extLst>
          </p:cNvPr>
          <p:cNvSpPr/>
          <p:nvPr/>
        </p:nvSpPr>
        <p:spPr>
          <a:xfrm>
            <a:off x="4736592" y="418795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5B8A6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B. </a:t>
            </a:r>
            <a:r>
              <a:rPr kumimoji="0" lang="en-US" altLang="zh-CN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5B8A6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5B8A6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模型视角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BE176C87-C387-AD22-89C1-F5A714A82AA9}"/>
              </a:ext>
            </a:extLst>
          </p:cNvPr>
          <p:cNvSpPr/>
          <p:nvPr/>
        </p:nvSpPr>
        <p:spPr>
          <a:xfrm>
            <a:off x="4754880" y="4636009"/>
            <a:ext cx="73152" cy="7315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A49B5C0-0532-EF05-734A-9D9FA7F0C413}"/>
              </a:ext>
            </a:extLst>
          </p:cNvPr>
          <p:cNvSpPr/>
          <p:nvPr/>
        </p:nvSpPr>
        <p:spPr>
          <a:xfrm>
            <a:off x="4882896" y="458114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 通过门控机制保留关键历史信息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C9B0E50-D15A-F6E6-0F4D-C373AAB5AFA6}"/>
              </a:ext>
            </a:extLst>
          </p:cNvPr>
          <p:cNvSpPr/>
          <p:nvPr/>
        </p:nvSpPr>
        <p:spPr>
          <a:xfrm>
            <a:off x="4754880" y="5138929"/>
            <a:ext cx="73152" cy="7315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B6353D3-05C9-72F0-EBB5-A613F50536E1}"/>
              </a:ext>
            </a:extLst>
          </p:cNvPr>
          <p:cNvSpPr/>
          <p:nvPr/>
        </p:nvSpPr>
        <p:spPr>
          <a:xfrm>
            <a:off x="4882896" y="508406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 err="1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适合</a:t>
            </a:r>
            <a:r>
              <a:rPr kumimoji="0" lang="zh-CN" alt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处理具有长期依赖关系的多元时间序列回归预测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B79A7A2-0DA3-D3BE-4FFE-6BE372C9F85D}"/>
              </a:ext>
            </a:extLst>
          </p:cNvPr>
          <p:cNvSpPr/>
          <p:nvPr/>
        </p:nvSpPr>
        <p:spPr>
          <a:xfrm>
            <a:off x="4754880" y="5641849"/>
            <a:ext cx="73152" cy="7315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CC1F36C-0C1A-499F-821F-0555B098E1E1}"/>
              </a:ext>
            </a:extLst>
          </p:cNvPr>
          <p:cNvSpPr/>
          <p:nvPr/>
        </p:nvSpPr>
        <p:spPr>
          <a:xfrm>
            <a:off x="4882896" y="558698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本项目输出为连续值 → 属于回归预测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BE4A1CF-0A37-35EB-D8A8-449C098BC0E1}"/>
              </a:ext>
            </a:extLst>
          </p:cNvPr>
          <p:cNvSpPr/>
          <p:nvPr/>
        </p:nvSpPr>
        <p:spPr>
          <a:xfrm>
            <a:off x="8265686" y="4023361"/>
            <a:ext cx="2935714" cy="2194560"/>
          </a:xfrm>
          <a:prstGeom prst="roundRect">
            <a:avLst>
              <a:gd name="adj" fmla="val 2500"/>
            </a:avLst>
          </a:prstGeom>
          <a:solidFill>
            <a:srgbClr val="FFF0E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BD7D33C0-82D3-AC26-0F5A-0F01D6B9BDD4}"/>
              </a:ext>
            </a:extLst>
          </p:cNvPr>
          <p:cNvSpPr/>
          <p:nvPr/>
        </p:nvSpPr>
        <p:spPr>
          <a:xfrm>
            <a:off x="8531352" y="418795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E95F5C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C. </a:t>
            </a: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E95F5C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对抗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E95F5C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攻击视角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0A4A6BA-960B-F071-51FB-7AE9A779825B}"/>
              </a:ext>
            </a:extLst>
          </p:cNvPr>
          <p:cNvSpPr/>
          <p:nvPr/>
        </p:nvSpPr>
        <p:spPr>
          <a:xfrm>
            <a:off x="8549640" y="4636009"/>
            <a:ext cx="73152" cy="73152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65BC7F0C-C49B-FFB7-29DD-A89D009EF0D2}"/>
              </a:ext>
            </a:extLst>
          </p:cNvPr>
          <p:cNvSpPr/>
          <p:nvPr/>
        </p:nvSpPr>
        <p:spPr>
          <a:xfrm>
            <a:off x="8677656" y="458114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0" i="0" u="none" strike="noStrike" kern="1200" cap="none" spc="0" normalizeH="0" baseline="0" noProof="0" dirty="0" err="1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目标不是</a:t>
            </a: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“ </a:t>
            </a:r>
            <a:r>
              <a:rPr kumimoji="0" lang="en-US" sz="1220" b="0" i="0" u="none" strike="noStrike" kern="1200" cap="none" spc="0" normalizeH="0" baseline="0" noProof="0" dirty="0" err="1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改分类标签”而是“放大预测误差</a:t>
            </a:r>
            <a:r>
              <a:rPr kumimoji="0" 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”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C111F21-C287-8B66-AE31-0F8F325FD6FC}"/>
              </a:ext>
            </a:extLst>
          </p:cNvPr>
          <p:cNvSpPr/>
          <p:nvPr/>
        </p:nvSpPr>
        <p:spPr>
          <a:xfrm>
            <a:off x="8549640" y="5138929"/>
            <a:ext cx="73152" cy="73152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9E10544-E6AD-C1DD-BD47-9BF1561AB577}"/>
              </a:ext>
            </a:extLst>
          </p:cNvPr>
          <p:cNvSpPr/>
          <p:nvPr/>
        </p:nvSpPr>
        <p:spPr>
          <a:xfrm>
            <a:off x="8677656" y="508406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</a:rPr>
              <a:t>对抗攻击直接作用于连续的数据流或传感器采样点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3D35A5D-F8F7-1DDB-0719-1FB5F209CD20}"/>
              </a:ext>
            </a:extLst>
          </p:cNvPr>
          <p:cNvSpPr/>
          <p:nvPr/>
        </p:nvSpPr>
        <p:spPr>
          <a:xfrm>
            <a:off x="8549640" y="5641849"/>
            <a:ext cx="73152" cy="73152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46A4F4C-59EA-FF23-AA84-18CBF7058AD7}"/>
              </a:ext>
            </a:extLst>
          </p:cNvPr>
          <p:cNvSpPr/>
          <p:nvPr/>
        </p:nvSpPr>
        <p:spPr>
          <a:xfrm>
            <a:off x="8677656" y="5586985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20" b="0" i="0" u="none" strike="noStrike" kern="1200" cap="none" spc="0" normalizeH="0" baseline="0" noProof="0" dirty="0">
                <a:ln>
                  <a:noFill/>
                </a:ln>
                <a:solidFill>
                  <a:srgbClr val="203040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其难点在于需要保证扰动在时间维度上的隐蔽性与物理连续性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67" name="Slide Number Placeholder 0">
            <a:extLst>
              <a:ext uri="{FF2B5EF4-FFF2-40B4-BE49-F238E27FC236}">
                <a16:creationId xmlns:a16="http://schemas.microsoft.com/office/drawing/2014/main" id="{85A25951-F9BB-CE01-ADAF-D36D6E17FD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8A2B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98A2B3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6ABCCE29-5641-0220-BF7B-F6237E765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" t="1620" r="4687" b="3564"/>
          <a:stretch>
            <a:fillRect/>
          </a:stretch>
        </p:blipFill>
        <p:spPr bwMode="auto">
          <a:xfrm>
            <a:off x="2383699" y="1424646"/>
            <a:ext cx="4273259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E2F3CB71-DE1C-18CB-EC77-949524A885BB}"/>
              </a:ext>
            </a:extLst>
          </p:cNvPr>
          <p:cNvSpPr/>
          <p:nvPr/>
        </p:nvSpPr>
        <p:spPr>
          <a:xfrm>
            <a:off x="5621412" y="2792295"/>
            <a:ext cx="1227873" cy="32003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4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核心论文与开源项目选择</a:t>
            </a:r>
            <a:endParaRPr lang="en-US" sz="2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从“可复现”走向“可扩展”的第一步</a:t>
            </a:r>
            <a:endParaRPr lang="en-US" sz="10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931920" cy="448056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核心论文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19" y="3160490"/>
            <a:ext cx="3330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论文核心</a:t>
            </a:r>
            <a:r>
              <a:rPr lang="zh-CN" alt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技术点</a:t>
            </a: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：</a:t>
            </a:r>
          </a:p>
          <a:p>
            <a:pPr marL="0" indent="0">
              <a:buNone/>
            </a:pPr>
            <a:endParaRPr lang="en-US" sz="1200" dirty="0">
              <a:solidFill>
                <a:srgbClr val="203040"/>
              </a:solidFill>
              <a:latin typeface=".苹方-简" panose="020B0400000000000000" pitchFamily="34" charset="-122"/>
              <a:ea typeface=".苹方-简" panose="020B0400000000000000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首次系统性将</a:t>
            </a: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</a:t>
            </a:r>
            <a:r>
              <a:rPr lang="en-US" sz="1200" b="1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FGSM / BIM </a:t>
            </a:r>
            <a:r>
              <a:rPr lang="en-US" sz="12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引入多元时间序列回归任务，并验证</a:t>
            </a:r>
            <a:r>
              <a:rPr lang="zh-CN" alt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其在</a:t>
            </a: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</a:t>
            </a:r>
            <a:r>
              <a:rPr lang="en-US" sz="1200" b="1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LSTM、GRU </a:t>
            </a:r>
            <a:r>
              <a:rPr lang="zh-CN" alt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架构上的高破坏性</a:t>
            </a: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。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10412" y="4226915"/>
            <a:ext cx="3174962" cy="1417320"/>
          </a:xfrm>
          <a:prstGeom prst="roundRect">
            <a:avLst>
              <a:gd name="adj" fmla="val 3226"/>
            </a:avLst>
          </a:prstGeom>
          <a:solidFill>
            <a:srgbClr val="FFF6E7"/>
          </a:solidFill>
          <a:ln w="12700">
            <a:solidFill>
              <a:srgbClr val="F1D7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5004" y="4428083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B620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启发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5004" y="4711547"/>
            <a:ext cx="28446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• 时序回归同样会受到小扰动影响</a:t>
            </a:r>
            <a:endParaRPr lang="en-US" sz="122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• BIM 往往比单步 FGSM 更强</a:t>
            </a:r>
            <a:endParaRPr lang="en-US" sz="122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• 后续可自然扩展到攻击-防御闭环</a:t>
            </a:r>
            <a:endParaRPr lang="en-US" sz="122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83480" y="1463040"/>
            <a:ext cx="6355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85232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选定开源项目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03520" y="2542032"/>
            <a:ext cx="5816566" cy="65836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1" y="2754737"/>
            <a:ext cx="1549037" cy="11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高度契合题目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90584" y="2688459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原生包含 LSTM / GRU </a:t>
            </a:r>
            <a:r>
              <a:rPr lang="en-US" sz="118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与时序回归场景，直接对应“围绕循环神经网络复现典型时序对抗攻击</a:t>
            </a:r>
            <a:r>
              <a:rPr 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”</a:t>
            </a:r>
            <a:r>
              <a:rPr lang="zh-CN" alt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的作业指标</a:t>
            </a:r>
            <a:r>
              <a:rPr 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。</a:t>
            </a:r>
            <a:endParaRPr lang="en-US" sz="118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03520" y="3364992"/>
            <a:ext cx="5816566" cy="658368"/>
          </a:xfrm>
          <a:prstGeom prst="roundRect">
            <a:avLst>
              <a:gd name="adj" fmla="val 5556"/>
            </a:avLst>
          </a:prstGeom>
          <a:solidFill>
            <a:srgbClr val="F9FB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577697"/>
            <a:ext cx="1129068" cy="13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基线清晰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90584" y="3511419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具有完整的</a:t>
            </a:r>
            <a:r>
              <a:rPr lang="en-US" sz="118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数据预处理</a:t>
            </a:r>
            <a:r>
              <a:rPr lang="zh-CN" alt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脚本</a:t>
            </a:r>
            <a:r>
              <a:rPr 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、模型结构和 FGSM / BIM </a:t>
            </a:r>
            <a:r>
              <a:rPr lang="en-US" sz="118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攻击框架</a:t>
            </a:r>
            <a:r>
              <a:rPr lang="zh-CN" alt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，工程结构清晰。</a:t>
            </a:r>
            <a:endParaRPr lang="en-US" sz="118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03520" y="4187952"/>
            <a:ext cx="5816566" cy="65836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4400657"/>
            <a:ext cx="1129068" cy="13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数据场景成熟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90584" y="4334379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股票与家用电力数据均为多元特征输入，便于展示受攻击前后的预测偏差。</a:t>
            </a:r>
            <a:endParaRPr lang="en-US" sz="118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03520" y="4992624"/>
            <a:ext cx="5816566" cy="658368"/>
          </a:xfrm>
          <a:prstGeom prst="roundRect">
            <a:avLst>
              <a:gd name="adj" fmla="val 5556"/>
            </a:avLst>
          </a:prstGeom>
          <a:solidFill>
            <a:srgbClr val="F9FB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5223617"/>
            <a:ext cx="1129068" cy="13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便于扩展改进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90584" y="5157339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180" dirty="0">
                <a:latin typeface=".苹方-简" panose="020B0400000000000000" pitchFamily="34" charset="-122"/>
                <a:ea typeface=".苹方-简" panose="020B0400000000000000" pitchFamily="34" charset="-122"/>
              </a:rPr>
              <a:t>代码逻辑解耦良好，为我们后续进行</a:t>
            </a:r>
            <a:r>
              <a:rPr lang="en-US" altLang="zh-CN" sz="1180" dirty="0">
                <a:latin typeface=".苹方-简" panose="020B0400000000000000" pitchFamily="34" charset="-122"/>
                <a:ea typeface=".苹方-简" panose="020B0400000000000000" pitchFamily="34" charset="-122"/>
              </a:rPr>
              <a:t>“</a:t>
            </a:r>
            <a:r>
              <a:rPr lang="zh-CN" altLang="zh-CN" sz="1180" dirty="0">
                <a:latin typeface=".苹方-简" panose="020B0400000000000000" pitchFamily="34" charset="-122"/>
                <a:ea typeface=".苹方-简" panose="020B0400000000000000" pitchFamily="34" charset="-122"/>
              </a:rPr>
              <a:t>定制化改进</a:t>
            </a:r>
            <a:r>
              <a:rPr lang="en-US" altLang="zh-CN" sz="1180" dirty="0">
                <a:latin typeface=".苹方-简" panose="020B0400000000000000" pitchFamily="34" charset="-122"/>
                <a:ea typeface=".苹方-简" panose="020B0400000000000000" pitchFamily="34" charset="-122"/>
              </a:rPr>
              <a:t>”</a:t>
            </a:r>
            <a:r>
              <a:rPr lang="zh-CN" altLang="zh-CN" sz="1180" dirty="0">
                <a:latin typeface=".苹方-简" panose="020B0400000000000000" pitchFamily="34" charset="-122"/>
                <a:ea typeface=".苹方-简" panose="020B0400000000000000" pitchFamily="34" charset="-122"/>
              </a:rPr>
              <a:t>（如修改梯度传递逻辑、筛选关键时间步）预留了非常清晰的操作接口。</a:t>
            </a:r>
            <a:endParaRPr lang="en-US" sz="118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4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A2F238C-2C39-B9E9-959B-49814747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971681"/>
            <a:ext cx="3279932" cy="104250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B9DDE1F-C18D-B63A-5755-B384C9F95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873" y="1966302"/>
            <a:ext cx="6169687" cy="54259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A30DE07-0CFC-9703-0BEF-80C2B6780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47" y="2642062"/>
            <a:ext cx="122754" cy="178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进阶探索：两条改进路线</a:t>
            </a:r>
            <a:endParaRPr lang="en-US" sz="2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从“能攻击”走向“更贴合时序特点”的攻击 / 防御</a:t>
            </a:r>
            <a:endParaRPr lang="en-US" sz="10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EDF4FF"/>
          </a:solidFill>
          <a:ln w="12700">
            <a:solidFill>
              <a:srgbClr val="D9E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19" y="1719072"/>
            <a:ext cx="4906769" cy="274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方案 </a:t>
            </a:r>
            <a:r>
              <a:rPr lang="en-US" b="1" dirty="0" err="1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A：关键时间步微扰攻击</a:t>
            </a:r>
            <a:r>
              <a:rPr lang="en-US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(</a:t>
            </a:r>
            <a:r>
              <a:rPr lang="zh-CN" altLang="en-US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攻击端优化</a:t>
            </a:r>
            <a:r>
              <a:rPr lang="en-US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)</a:t>
            </a:r>
            <a:endParaRPr lang="en-US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2097475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从“全局均匀扰动”转向“只攻击最重要的时间步</a:t>
            </a:r>
            <a:r>
              <a:rPr lang="en-US" sz="12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”</a:t>
            </a:r>
            <a:endParaRPr lang="en-US" sz="12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87552" y="2757073"/>
            <a:ext cx="82296" cy="8229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25653"/>
            <a:ext cx="4533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根据梯度显著性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图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或注意力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机制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权重</a:t>
            </a: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，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计算输入序列中各个时间步对最终预测结果的贡献度，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筛选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权重最高的</a:t>
            </a: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前 10% 的关键时间步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87552" y="3547580"/>
            <a:ext cx="82296" cy="8229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7725" y="3431083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仅对关键位置施加微小扰动，减少整体改动量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7552" y="4091359"/>
            <a:ext cx="82296" cy="8229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987399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预期效果：更隐蔽、更贴近真实攻击场景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87552" y="4731264"/>
            <a:ext cx="477316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914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预期价值</a:t>
            </a:r>
            <a:endParaRPr lang="en-US" sz="13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1288" y="5179320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在更小扰动预算下仍能显著拉高预测误差，体现“时序感知攻击”的特点。</a:t>
            </a:r>
            <a:endParaRPr lang="en-US" sz="122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9632" y="14630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0EF"/>
          </a:solidFill>
          <a:ln w="12700">
            <a:solidFill>
              <a:srgbClr val="F0D6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6867" y="1719072"/>
            <a:ext cx="492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方案 </a:t>
            </a:r>
            <a:r>
              <a:rPr lang="en-US" b="1" dirty="0" err="1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B：对抗训练增强鲁棒性</a:t>
            </a:r>
            <a:r>
              <a:rPr lang="en-US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(</a:t>
            </a:r>
            <a:r>
              <a:rPr lang="zh-CN" altLang="en-US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防御端构建</a:t>
            </a:r>
            <a:r>
              <a:rPr lang="en-US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)</a:t>
            </a:r>
            <a:endParaRPr lang="en-US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76867" y="2097475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从“证明脆弱性”进一步走向“缓解脆弱性</a:t>
            </a:r>
            <a:r>
              <a:rPr lang="en-US" sz="12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”</a:t>
            </a:r>
            <a:endParaRPr lang="en-US" sz="12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95155" y="2726388"/>
            <a:ext cx="82296" cy="82296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3171" y="2723341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加入对抗训练模块，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在训练阶段动态生成</a:t>
            </a: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BIM 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扰动样本，与干净样本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按特定比例混合进行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联合训练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95155" y="3495834"/>
            <a:ext cx="82296" cy="82296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1459" y="338645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对比普通模型与</a:t>
            </a:r>
            <a:r>
              <a:rPr lang="zh-CN" alt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改进后</a:t>
            </a:r>
            <a:r>
              <a:rPr lang="en-US" sz="13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模型在相同攻击强度下的误差差异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95155" y="4062762"/>
            <a:ext cx="82296" cy="82296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1459" y="3944945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预期效果：攻击下 RMSE / MAE 增幅显著减小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59163" y="4731264"/>
            <a:ext cx="44988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3755" y="4914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预期价值</a:t>
            </a:r>
            <a:endParaRPr lang="en-US" sz="13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3755" y="5179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形成“训练基线—攻击评估—</a:t>
            </a:r>
            <a:r>
              <a:rPr lang="en-US" sz="122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防御验证”的完整闭环</a:t>
            </a:r>
            <a:r>
              <a:rPr lang="en-US" sz="122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。</a:t>
            </a:r>
            <a:endParaRPr lang="en-US" sz="122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5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评估指标与实验设计</a:t>
            </a:r>
            <a:endParaRPr lang="en-US" sz="2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从“能跑”到“能比较、能解释”</a:t>
            </a:r>
            <a:endParaRPr lang="en-US" sz="10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47091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9914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指标体系</a:t>
            </a:r>
            <a:endParaRPr lang="en-US" sz="1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32688" y="2139696"/>
            <a:ext cx="4315968" cy="658368"/>
          </a:xfrm>
          <a:prstGeom prst="roundRect">
            <a:avLst>
              <a:gd name="adj" fmla="val 4167"/>
            </a:avLst>
          </a:prstGeom>
          <a:solidFill>
            <a:srgbClr val="F2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0428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RMSE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04288" y="22494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衡量整体误差，便于体现攻击后退化程度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32688" y="2907792"/>
            <a:ext cx="4315968" cy="65836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0723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MAE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04288" y="30175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对绝对误差更直观，解释更友好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32688" y="3675888"/>
            <a:ext cx="4315968" cy="658368"/>
          </a:xfrm>
          <a:prstGeom prst="roundRect">
            <a:avLst>
              <a:gd name="adj" fmla="val 4167"/>
            </a:avLst>
          </a:prstGeom>
          <a:solidFill>
            <a:srgbClr val="F2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1" y="3840480"/>
            <a:ext cx="1167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RMSE 增长率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04288" y="3785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量化攻击前后性能下降幅度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2688" y="4443984"/>
            <a:ext cx="4315968" cy="65836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1" y="4608576"/>
            <a:ext cx="1225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鲁棒恢复比例</a:t>
            </a:r>
            <a:endParaRPr lang="en-US" sz="14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04288" y="4621219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评价加入防御后</a:t>
            </a:r>
            <a:r>
              <a:rPr lang="zh-CN" altLang="en-US" sz="120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在相同扰动强度下的预测误差恢复比例</a:t>
            </a:r>
            <a:endParaRPr lang="en-US" sz="12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6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85C67BEC-26F3-CAA8-C2E5-0ACB65020CC7}"/>
              </a:ext>
            </a:extLst>
          </p:cNvPr>
          <p:cNvSpPr/>
          <p:nvPr/>
        </p:nvSpPr>
        <p:spPr>
          <a:xfrm>
            <a:off x="5669280" y="1508760"/>
            <a:ext cx="5849705" cy="4251958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3" name="Image 0" descr="/mnt/data/f6b29752-1999-48f7-ac96-f647579aed95.png">
            <a:extLst>
              <a:ext uri="{FF2B5EF4-FFF2-40B4-BE49-F238E27FC236}">
                <a16:creationId xmlns:a16="http://schemas.microsoft.com/office/drawing/2014/main" id="{E3F67216-92B5-0E2F-7956-137BDCEC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32"/>
          <a:stretch>
            <a:fillRect/>
          </a:stretch>
        </p:blipFill>
        <p:spPr>
          <a:xfrm>
            <a:off x="5986180" y="1673351"/>
            <a:ext cx="5215904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项目规划与预期成果</a:t>
            </a:r>
            <a:endParaRPr lang="en-US" sz="26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7512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围绕“先复现、再攻击、后改进”的节奏推进</a:t>
            </a:r>
            <a:endParaRPr lang="en-US" sz="105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377440" cy="2194560"/>
          </a:xfrm>
          <a:prstGeom prst="roundRect">
            <a:avLst>
              <a:gd name="adj" fmla="val 2500"/>
            </a:avLst>
          </a:prstGeom>
          <a:solidFill>
            <a:srgbClr val="EDF4FF"/>
          </a:solidFill>
          <a:ln w="12700">
            <a:solidFill>
              <a:srgbClr val="D9E2EB"/>
            </a:solidFill>
            <a:prstDash val="solid"/>
          </a:ln>
          <a:effectLst>
            <a:outerShdw blurRad="127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5716" y="2011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BFF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阶段 1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5716" y="2233528"/>
            <a:ext cx="20502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环境配置与基线打通</a:t>
            </a:r>
            <a:endParaRPr lang="en-US" sz="17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5716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配置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</a:t>
            </a:r>
            <a:r>
              <a:rPr lang="en-US" altLang="zh-CN" sz="1210" dirty="0" err="1">
                <a:latin typeface=".苹方-简" panose="020B0400000000000000" pitchFamily="34" charset="-122"/>
                <a:ea typeface=".苹方-简" panose="020B0400000000000000" pitchFamily="34" charset="-122"/>
              </a:rPr>
              <a:t>PyTorch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环境，跑通原项目在开源数据集上的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LSTM 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回归基线与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FGSM 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基础攻击。</a:t>
            </a:r>
            <a:endParaRPr lang="en-US" sz="121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7275" y="2743200"/>
            <a:ext cx="256032" cy="201168"/>
          </a:xfrm>
          <a:prstGeom prst="chevron">
            <a:avLst/>
          </a:prstGeom>
          <a:solidFill>
            <a:srgbClr val="95A8BA"/>
          </a:solidFill>
          <a:ln w="12700">
            <a:solidFill>
              <a:srgbClr val="95A8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288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E9FBF8"/>
          </a:solidFill>
          <a:ln w="12700">
            <a:solidFill>
              <a:srgbClr val="D9E2EB"/>
            </a:solidFill>
            <a:prstDash val="solid"/>
          </a:ln>
          <a:effectLst>
            <a:outerShdw blurRad="127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2011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阶段 2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08476" y="2231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指标</a:t>
            </a:r>
            <a:r>
              <a:rPr lang="en-US" sz="1700" b="1" dirty="0" err="1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量化分析</a:t>
            </a:r>
            <a:endParaRPr lang="en-US" sz="17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31336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构建测试流程，记录并在图表中展示不同扰动强度下，模型预测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RMSE 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和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 MAE 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的变化曲线。</a:t>
            </a:r>
            <a:endParaRPr lang="en-US" sz="121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96195" y="2743200"/>
            <a:ext cx="256032" cy="201168"/>
          </a:xfrm>
          <a:prstGeom prst="chevron">
            <a:avLst/>
          </a:prstGeom>
          <a:solidFill>
            <a:srgbClr val="95A8BA"/>
          </a:solidFill>
          <a:ln w="12700">
            <a:solidFill>
              <a:srgbClr val="95A8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6E7"/>
          </a:solidFill>
          <a:ln w="12700">
            <a:solidFill>
              <a:srgbClr val="D9E2EB"/>
            </a:solidFill>
            <a:prstDash val="solid"/>
          </a:ln>
          <a:effectLst>
            <a:outerShdw blurRad="127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2011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6A0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阶段 3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65392" y="22448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实施</a:t>
            </a:r>
            <a:r>
              <a:rPr lang="en-US" sz="1700" b="1" dirty="0" err="1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改进方案</a:t>
            </a:r>
            <a:endParaRPr lang="en-US" sz="17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65392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编写并测试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“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关键时间步攻击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”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或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“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对抗训练</a:t>
            </a:r>
            <a:r>
              <a:rPr lang="en-US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”</a:t>
            </a:r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的改进代码分支。</a:t>
            </a:r>
            <a:endParaRPr lang="en-US" sz="121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85115" y="2743200"/>
            <a:ext cx="256032" cy="201168"/>
          </a:xfrm>
          <a:prstGeom prst="chevron">
            <a:avLst/>
          </a:prstGeom>
          <a:solidFill>
            <a:srgbClr val="95A8BA"/>
          </a:solidFill>
          <a:ln w="12700">
            <a:solidFill>
              <a:srgbClr val="95A8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8288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0EF"/>
          </a:solidFill>
          <a:ln w="12700">
            <a:solidFill>
              <a:srgbClr val="D9E2EB"/>
            </a:solidFill>
            <a:prstDash val="solid"/>
          </a:ln>
          <a:effectLst>
            <a:outerShdw blurRad="127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54312" y="2011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F5C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阶段 4</a:t>
            </a:r>
            <a:endParaRPr lang="en-US" sz="13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1487" y="22312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总结与</a:t>
            </a:r>
            <a:r>
              <a:rPr lang="zh-CN" altLang="en-US" sz="1700" b="1" dirty="0">
                <a:solidFill>
                  <a:srgbClr val="102A4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对比</a:t>
            </a:r>
            <a:endParaRPr lang="en-US" sz="17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54312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10" dirty="0">
                <a:latin typeface=".苹方-简" panose="020B0400000000000000" pitchFamily="34" charset="-122"/>
                <a:ea typeface=".苹方-简" panose="020B0400000000000000" pitchFamily="34" charset="-122"/>
              </a:rPr>
              <a:t>整理干净环境、基础攻击环境与改进环境下的对比实验数据，完成最终的结题演示与分析报告。</a:t>
            </a:r>
            <a:endParaRPr lang="en-US" sz="121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22247" y="4743834"/>
            <a:ext cx="5487811" cy="150967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9031" y="511247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预期成果</a:t>
            </a:r>
            <a:endParaRPr lang="en-US" sz="150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94860" y="5367713"/>
            <a:ext cx="918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3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① 完成 LSTM </a:t>
            </a:r>
            <a:r>
              <a:rPr lang="en-US" sz="133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基线模型与基础攻击复现</a:t>
            </a:r>
            <a:r>
              <a:rPr lang="en-US" sz="133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3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②</a:t>
            </a:r>
            <a:r>
              <a:rPr lang="en-US" sz="1330" dirty="0" err="1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得到攻击前后预测曲线与误差对比结果</a:t>
            </a:r>
            <a:r>
              <a:rPr lang="en-US" sz="133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30" dirty="0">
                <a:solidFill>
                  <a:srgbClr val="203040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③ 在课程汇报中展示至少一个可解释的改进方案</a:t>
            </a:r>
            <a:endParaRPr lang="en-US" sz="1330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.苹方-简" panose="020B0400000000000000" pitchFamily="34" charset="-122"/>
                <a:ea typeface=".苹方-简" panose="020B0400000000000000" pitchFamily="34" charset="-122"/>
              </a:rPr>
              <a:t>7</a:t>
            </a:fld>
            <a:endParaRPr lang="en-US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2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35D9B-505C-F453-7652-95DB7CC5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AF821671-AA63-CCF9-0D3E-ED3B8B70D268}"/>
              </a:ext>
            </a:extLst>
          </p:cNvPr>
          <p:cNvSpPr/>
          <p:nvPr/>
        </p:nvSpPr>
        <p:spPr>
          <a:xfrm>
            <a:off x="2449293" y="868680"/>
            <a:ext cx="7293414" cy="5120640"/>
          </a:xfrm>
          <a:prstGeom prst="roundRect">
            <a:avLst>
              <a:gd name="adj" fmla="val 1739"/>
            </a:avLst>
          </a:prstGeom>
          <a:solidFill>
            <a:srgbClr val="173954">
              <a:alpha val="78000"/>
            </a:srgbClr>
          </a:solidFill>
          <a:ln w="12700">
            <a:solidFill>
              <a:srgbClr val="2A4B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187727-BAD8-AE2D-1981-0531D69118AE}"/>
              </a:ext>
            </a:extLst>
          </p:cNvPr>
          <p:cNvSpPr/>
          <p:nvPr/>
        </p:nvSpPr>
        <p:spPr>
          <a:xfrm>
            <a:off x="3307080" y="2306375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dirty="0">
                <a:solidFill>
                  <a:srgbClr val="FFFFFF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敬请批评指正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BA761C-05C4-0790-92C6-CCB2D4373926}"/>
              </a:ext>
            </a:extLst>
          </p:cNvPr>
          <p:cNvSpPr/>
          <p:nvPr/>
        </p:nvSpPr>
        <p:spPr>
          <a:xfrm>
            <a:off x="4998720" y="490676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7C3DC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10.1 组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A7C3DC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Noto Sans CJK SC" pitchFamily="34" charset="-120"/>
              </a:rPr>
              <a:t>开题报告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A7C3DC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  <a:cs typeface="Noto Sans CJK S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A7C3DC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  <a:cs typeface="Noto Sans CJK S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7C3DC"/>
                </a:solidFill>
                <a:latin typeface=".苹方-简" panose="020B0400000000000000" pitchFamily="34" charset="-122"/>
                <a:ea typeface=".苹方-简" panose="020B0400000000000000" pitchFamily="34" charset="-122"/>
              </a:rPr>
              <a:t>2026.3.22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.苹方-简" panose="020B0400000000000000" pitchFamily="34" charset="-122"/>
              <a:ea typeface=".苹方-简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793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4942</TotalTime>
  <Words>743</Words>
  <Application>Microsoft Office PowerPoint</Application>
  <PresentationFormat>宽屏</PresentationFormat>
  <Paragraphs>140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.苹方-简</vt:lpstr>
      <vt:lpstr>Noto Sans CJK SC</vt:lpstr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LSTM 的多元时间序列对抗攻击与鲁棒性探究</dc:title>
  <dc:subject>小组汇报</dc:subject>
  <dc:creator>OpenAI</dc:creator>
  <cp:lastModifiedBy>Spectre_ Ⅶ</cp:lastModifiedBy>
  <cp:revision>15</cp:revision>
  <dcterms:created xsi:type="dcterms:W3CDTF">2026-03-16T12:18:56Z</dcterms:created>
  <dcterms:modified xsi:type="dcterms:W3CDTF">2026-03-24T03:45:32Z</dcterms:modified>
</cp:coreProperties>
</file>