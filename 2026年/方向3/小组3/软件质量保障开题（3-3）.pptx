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0" r:id="rId5"/>
    <p:sldId id="264" r:id="rId6"/>
    <p:sldId id="258" r:id="rId7"/>
    <p:sldId id="259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30"/>
  </p:normalViewPr>
  <p:slideViewPr>
    <p:cSldViewPr snapToGrid="0">
      <p:cViewPr varScale="1">
        <p:scale>
          <a:sx n="113" d="100"/>
          <a:sy n="11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17EC-93AA-964F-9553-4484A3AFDBB0}" type="datetimeFigureOut">
              <a:rPr kumimoji="1" lang="zh-CN" altLang="en-US" smtClean="0"/>
              <a:t>2026/4/4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55763-D4B5-2246-B1A4-E08CF859CD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732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55763-D4B5-2246-B1A4-E08CF859CDD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100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F2FA2-B66A-FE42-9BEA-D2CE7D59D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877" y="802298"/>
            <a:ext cx="9694975" cy="2541431"/>
          </a:xfrm>
        </p:spPr>
        <p:txBody>
          <a:bodyPr>
            <a:normAutofit/>
          </a:bodyPr>
          <a:lstStyle/>
          <a:p>
            <a:r>
              <a:rPr kumimoji="1" lang="en-US" altLang="zh-CN" sz="4000" cap="none" dirty="0">
                <a:latin typeface="+mj-ea"/>
              </a:rPr>
              <a:t>Hap Repair</a:t>
            </a:r>
            <a:r>
              <a:rPr kumimoji="1" lang="zh-CN" altLang="en-US" sz="4000" cap="none" dirty="0">
                <a:latin typeface="+mj-ea"/>
              </a:rPr>
              <a:t>：基于</a:t>
            </a:r>
            <a:r>
              <a:rPr kumimoji="1" lang="en-US" altLang="zh-CN" sz="4000" cap="none" dirty="0">
                <a:latin typeface="+mj-ea"/>
              </a:rPr>
              <a:t>LLM</a:t>
            </a:r>
            <a:r>
              <a:rPr kumimoji="1" lang="zh-CN" altLang="en-US" sz="4000" cap="none" dirty="0">
                <a:latin typeface="+mj-ea"/>
              </a:rPr>
              <a:t>和</a:t>
            </a:r>
            <a:r>
              <a:rPr kumimoji="1" lang="en-US" altLang="zh-CN" sz="4000" cap="none" dirty="0" err="1">
                <a:latin typeface="+mj-ea"/>
              </a:rPr>
              <a:t>CodeLinter</a:t>
            </a:r>
            <a:r>
              <a:rPr kumimoji="1" lang="zh-CN" altLang="en-US" sz="4000" cap="none" dirty="0">
                <a:latin typeface="+mj-ea"/>
              </a:rPr>
              <a:t>的</a:t>
            </a:r>
            <a:r>
              <a:rPr kumimoji="1" lang="en-US" altLang="zh-CN" sz="4000" cap="none" dirty="0" err="1">
                <a:latin typeface="+mj-ea"/>
              </a:rPr>
              <a:t>OpenHarmony</a:t>
            </a:r>
            <a:r>
              <a:rPr kumimoji="1" lang="zh-CN" altLang="en-US" sz="4000" cap="none" dirty="0">
                <a:latin typeface="+mj-ea"/>
              </a:rPr>
              <a:t>代码修复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5937D7-2659-F052-5C60-9FE6FCB20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877" y="3531204"/>
            <a:ext cx="9694975" cy="977621"/>
          </a:xfrm>
        </p:spPr>
        <p:txBody>
          <a:bodyPr/>
          <a:lstStyle/>
          <a:p>
            <a:pPr algn="r"/>
            <a:r>
              <a:rPr kumimoji="1" lang="zh-CN" altLang="en-US" dirty="0"/>
              <a:t>组长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汇报人：高敏耀</a:t>
            </a:r>
            <a:endParaRPr kumimoji="1" lang="en-US" altLang="zh-CN" dirty="0"/>
          </a:p>
          <a:p>
            <a:pPr algn="r"/>
            <a:r>
              <a:rPr kumimoji="1" lang="zh-CN" altLang="en-US" dirty="0"/>
              <a:t>组员：</a:t>
            </a:r>
            <a:r>
              <a:rPr lang="zh-CN" altLang="en-US" dirty="0"/>
              <a:t>胡锦阳</a:t>
            </a:r>
            <a:r>
              <a:rPr kumimoji="1" lang="zh-CN" altLang="en-US" dirty="0"/>
              <a:t>  </a:t>
            </a:r>
            <a:r>
              <a:rPr lang="zh-CN" altLang="en-US" dirty="0"/>
              <a:t>刘峻希  李许涵  方明远</a:t>
            </a:r>
          </a:p>
        </p:txBody>
      </p:sp>
    </p:spTree>
    <p:extLst>
      <p:ext uri="{BB962C8B-B14F-4D97-AF65-F5344CB8AC3E}">
        <p14:creationId xmlns:p14="http://schemas.microsoft.com/office/powerpoint/2010/main" val="382261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F9B03-6167-2890-BE90-8417163B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cap="none" dirty="0"/>
              <a:t>目录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A062E9C-E5C2-38BE-FB1E-0C3FE6E23BF4}"/>
              </a:ext>
            </a:extLst>
          </p:cNvPr>
          <p:cNvSpPr/>
          <p:nvPr/>
        </p:nvSpPr>
        <p:spPr>
          <a:xfrm>
            <a:off x="4454769" y="2368061"/>
            <a:ext cx="691661" cy="691662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1</a:t>
            </a:r>
            <a:endParaRPr kumimoji="1" lang="zh-CN" altLang="en-US" sz="28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C3C5CDB-1269-6E60-0983-1A8A38CDE3BC}"/>
              </a:ext>
            </a:extLst>
          </p:cNvPr>
          <p:cNvSpPr/>
          <p:nvPr/>
        </p:nvSpPr>
        <p:spPr>
          <a:xfrm>
            <a:off x="4454768" y="4431323"/>
            <a:ext cx="691661" cy="691662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/>
              <a:t>3</a:t>
            </a:r>
            <a:endParaRPr kumimoji="1" lang="zh-CN" altLang="en-US" sz="28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8E98760-42AC-74ED-AFC3-4685BEB46F80}"/>
              </a:ext>
            </a:extLst>
          </p:cNvPr>
          <p:cNvSpPr/>
          <p:nvPr/>
        </p:nvSpPr>
        <p:spPr>
          <a:xfrm>
            <a:off x="4454768" y="3399692"/>
            <a:ext cx="691661" cy="691662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2</a:t>
            </a:r>
            <a:endParaRPr kumimoji="1"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B4FD0D-D677-8468-CE8C-C19A39A27DAA}"/>
              </a:ext>
            </a:extLst>
          </p:cNvPr>
          <p:cNvSpPr txBox="1"/>
          <p:nvPr/>
        </p:nvSpPr>
        <p:spPr>
          <a:xfrm>
            <a:off x="5849814" y="2479320"/>
            <a:ext cx="2203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选题简介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背景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D50674-FAAA-AA53-D86B-BC4C7D3261C7}"/>
              </a:ext>
            </a:extLst>
          </p:cNvPr>
          <p:cNvSpPr txBox="1"/>
          <p:nvPr/>
        </p:nvSpPr>
        <p:spPr>
          <a:xfrm>
            <a:off x="5849815" y="3510951"/>
            <a:ext cx="2203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项目介绍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结构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168303-CC0F-1B2C-12D1-EE0246D54C2F}"/>
              </a:ext>
            </a:extLst>
          </p:cNvPr>
          <p:cNvSpPr txBox="1"/>
          <p:nvPr/>
        </p:nvSpPr>
        <p:spPr>
          <a:xfrm>
            <a:off x="5849815" y="4542582"/>
            <a:ext cx="234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组织与改进计划</a:t>
            </a:r>
          </a:p>
        </p:txBody>
      </p:sp>
    </p:spTree>
    <p:extLst>
      <p:ext uri="{BB962C8B-B14F-4D97-AF65-F5344CB8AC3E}">
        <p14:creationId xmlns:p14="http://schemas.microsoft.com/office/powerpoint/2010/main" val="263785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42886-1C27-7D7E-52C3-66250B5F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34EB9-19C0-B9EB-EB98-1ADFD519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cap="none" dirty="0"/>
              <a:t>选题简介</a:t>
            </a:r>
            <a:r>
              <a:rPr kumimoji="1" lang="en-US" altLang="zh-CN" cap="none" dirty="0"/>
              <a:t>/</a:t>
            </a:r>
            <a:r>
              <a:rPr kumimoji="1" lang="zh-CN" altLang="en-US" cap="none" dirty="0"/>
              <a:t>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40974-AF6D-A278-528A-754B13CF9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altLang="zh-CN" sz="1800" dirty="0" err="1"/>
              <a:t>ArkTS</a:t>
            </a:r>
            <a:r>
              <a:rPr lang="zh-CN" altLang="zh-CN" sz="1800" dirty="0"/>
              <a:t>是</a:t>
            </a:r>
            <a:r>
              <a:rPr lang="en-US" altLang="zh-CN" sz="1800" dirty="0" err="1"/>
              <a:t>OpenHarmony</a:t>
            </a:r>
            <a:r>
              <a:rPr lang="zh-CN" altLang="zh-CN" sz="1800" dirty="0"/>
              <a:t>应用的官方编程语言，扩展了</a:t>
            </a:r>
            <a:r>
              <a:rPr lang="en-US" altLang="zh-CN" sz="1800" dirty="0"/>
              <a:t>TypeScript</a:t>
            </a:r>
            <a:r>
              <a:rPr lang="zh-CN" altLang="zh-CN" sz="1800" dirty="0"/>
              <a:t>，增加了专为多平台环境中开发应用设计的功能。它不仅保留了</a:t>
            </a:r>
            <a:r>
              <a:rPr lang="en-US" altLang="zh-CN" sz="1800" dirty="0"/>
              <a:t> TypeScript </a:t>
            </a:r>
            <a:r>
              <a:rPr lang="zh-CN" altLang="zh-CN" sz="1800" dirty="0"/>
              <a:t>的优势，还增加了一些新功能，以优化移动应用的性能和可用性。</a:t>
            </a:r>
            <a:endParaRPr lang="en-US" altLang="zh-CN" sz="1800" dirty="0"/>
          </a:p>
          <a:p>
            <a:r>
              <a:rPr lang="zh-CN" altLang="zh-CN" sz="1800" dirty="0"/>
              <a:t>然而，</a:t>
            </a:r>
            <a:r>
              <a:rPr lang="en-US" altLang="zh-CN" sz="1800" dirty="0" err="1"/>
              <a:t>ArkTS</a:t>
            </a:r>
            <a:r>
              <a:rPr lang="en-US" altLang="zh-CN" sz="1800" dirty="0"/>
              <a:t> </a:t>
            </a:r>
            <a:r>
              <a:rPr lang="zh-CN" altLang="zh-CN" sz="1800" dirty="0"/>
              <a:t>与</a:t>
            </a:r>
            <a:r>
              <a:rPr lang="en-US" altLang="zh-CN" sz="1800" dirty="0"/>
              <a:t> TS </a:t>
            </a:r>
            <a:r>
              <a:rPr lang="zh-CN" altLang="zh-CN" sz="1800" dirty="0"/>
              <a:t>之间的根本差异，如 </a:t>
            </a:r>
            <a:r>
              <a:rPr lang="en-US" altLang="zh-CN" sz="1800" dirty="0" err="1"/>
              <a:t>ArkTS</a:t>
            </a:r>
            <a:r>
              <a:rPr lang="en-US" altLang="zh-CN" sz="1800" dirty="0"/>
              <a:t> </a:t>
            </a:r>
            <a:r>
              <a:rPr lang="zh-CN" altLang="zh-CN" sz="1800" dirty="0"/>
              <a:t>特有的语法、语义和独特特性，使得现有的</a:t>
            </a:r>
            <a:r>
              <a:rPr lang="en-US" altLang="zh-CN" sz="1800" dirty="0"/>
              <a:t> TS </a:t>
            </a:r>
            <a:r>
              <a:rPr lang="zh-CN" altLang="zh-CN" sz="1800" dirty="0"/>
              <a:t>缺陷检测和修复工具无法应用于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ArkTS</a:t>
            </a:r>
            <a:r>
              <a:rPr lang="zh-CN" altLang="zh-CN" sz="1800" dirty="0"/>
              <a:t>。因此需要为</a:t>
            </a:r>
            <a:r>
              <a:rPr lang="en-US" altLang="zh-CN" sz="1800" dirty="0" err="1"/>
              <a:t>ArkTS</a:t>
            </a:r>
            <a:r>
              <a:rPr lang="zh-CN" altLang="zh-CN" sz="1800" dirty="0"/>
              <a:t>开发一个新的缺陷检测和修复工具。</a:t>
            </a:r>
            <a:endParaRPr lang="en-US" altLang="zh-CN" sz="1800" dirty="0"/>
          </a:p>
          <a:p>
            <a:r>
              <a:rPr lang="zh-CN" altLang="zh-CN" sz="1800" dirty="0"/>
              <a:t>随着大型语言模型的出现，它们在理解代码语法和语义方面的强大能力</a:t>
            </a:r>
            <a:r>
              <a:rPr lang="zh-CN" altLang="en-US" sz="1800" dirty="0"/>
              <a:t>逐渐凸显。</a:t>
            </a:r>
            <a:r>
              <a:rPr lang="zh-CN" altLang="zh-CN" sz="1800" dirty="0"/>
              <a:t>基于学习的方法的表现依赖于高质量且多样化的训练数据</a:t>
            </a:r>
            <a:r>
              <a:rPr lang="zh-CN" altLang="en-US" sz="1800" dirty="0"/>
              <a:t>，</a:t>
            </a:r>
            <a:r>
              <a:rPr lang="zh-CN" altLang="zh-CN" sz="1800" dirty="0"/>
              <a:t>然而</a:t>
            </a:r>
            <a:r>
              <a:rPr lang="en-US" altLang="zh-CN" sz="1800" dirty="0" err="1"/>
              <a:t>ArkTS</a:t>
            </a:r>
            <a:r>
              <a:rPr lang="zh-CN" altLang="en-US" sz="1800" dirty="0"/>
              <a:t>作为一门新兴的、</a:t>
            </a:r>
            <a:r>
              <a:rPr lang="zh-CN" altLang="zh-CN" sz="1800" dirty="0"/>
              <a:t>缺乏公开数据</a:t>
            </a:r>
            <a:r>
              <a:rPr lang="zh-CN" altLang="en-US" sz="1800" dirty="0"/>
              <a:t>的编程语言，这是</a:t>
            </a:r>
            <a:r>
              <a:rPr lang="zh-CN" altLang="zh-CN" sz="1800" dirty="0"/>
              <a:t>一个重大问题，这将直接影响</a:t>
            </a:r>
            <a:r>
              <a:rPr lang="en-US" altLang="zh-CN" sz="1800" dirty="0"/>
              <a:t>LLM</a:t>
            </a:r>
            <a:r>
              <a:rPr lang="zh-CN" altLang="zh-CN" sz="1800" dirty="0"/>
              <a:t>在有效缺陷检测和修复方面的表现。此外，</a:t>
            </a:r>
            <a:r>
              <a:rPr lang="en-US" altLang="zh-CN" sz="1800" dirty="0"/>
              <a:t>LLM</a:t>
            </a:r>
            <a:r>
              <a:rPr lang="zh-CN" altLang="zh-CN" sz="1800" dirty="0"/>
              <a:t>通常受限于上下文窗口的最大长度，这在大型代码文件中进行多缺陷修复时是个限制。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851035-5ADA-18E3-F56A-27FF998DF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554" y="438638"/>
            <a:ext cx="67183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6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2868-6F1A-A329-43E7-ABA3E9D1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42658-F9D8-84A5-5E7B-67454EDC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7600"/>
          </a:xfrm>
        </p:spPr>
        <p:txBody>
          <a:bodyPr>
            <a:normAutofit/>
          </a:bodyPr>
          <a:lstStyle/>
          <a:p>
            <a:r>
              <a:rPr kumimoji="1" lang="zh-CN" altLang="en-US" cap="none" dirty="0"/>
              <a:t>项目介绍</a:t>
            </a:r>
            <a:r>
              <a:rPr kumimoji="1" lang="en-US" altLang="zh-CN" cap="none" dirty="0"/>
              <a:t>                        </a:t>
            </a:r>
            <a:r>
              <a:rPr kumimoji="1" lang="zh-CN" altLang="en-US" sz="1800" cap="none" dirty="0"/>
              <a:t>项目地址：</a:t>
            </a:r>
            <a:r>
              <a:rPr kumimoji="1" lang="en-US" altLang="zh-CN" sz="1800" cap="none" dirty="0"/>
              <a:t>https://</a:t>
            </a:r>
            <a:r>
              <a:rPr kumimoji="1" lang="en-US" altLang="zh-CN" sz="1800" cap="none" dirty="0" err="1"/>
              <a:t>github.com</a:t>
            </a:r>
            <a:r>
              <a:rPr kumimoji="1" lang="en-US" altLang="zh-CN" sz="1800" cap="none" dirty="0"/>
              <a:t>/SMAT-Lab/</a:t>
            </a:r>
            <a:r>
              <a:rPr kumimoji="1" lang="en-US" altLang="zh-CN" sz="1800" cap="none" dirty="0" err="1"/>
              <a:t>HapRepair</a:t>
            </a:r>
            <a:endParaRPr kumimoji="1" lang="zh-CN" altLang="en-US" cap="small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0C53D-D1A8-2329-7638-73F795C7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7160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Hap</a:t>
            </a:r>
            <a:r>
              <a:rPr lang="zh-CN" altLang="en-US" sz="1800" dirty="0"/>
              <a:t> </a:t>
            </a:r>
            <a:r>
              <a:rPr lang="en-US" altLang="zh-CN" sz="1800" dirty="0"/>
              <a:t>Repair</a:t>
            </a:r>
            <a:r>
              <a:rPr lang="zh-CN" altLang="en-US" sz="1800" dirty="0"/>
              <a:t>是一个基于大型语言模型（</a:t>
            </a:r>
            <a:r>
              <a:rPr lang="en-US" altLang="zh-CN" sz="1800" dirty="0"/>
              <a:t>LLM</a:t>
            </a:r>
            <a:r>
              <a:rPr lang="zh-CN" altLang="en-US" sz="1800" dirty="0"/>
              <a:t>）的自动化 </a:t>
            </a:r>
            <a:r>
              <a:rPr lang="en-US" altLang="zh-CN" sz="1800" dirty="0" err="1"/>
              <a:t>ArkTS</a:t>
            </a:r>
            <a:r>
              <a:rPr lang="en-US" altLang="zh-CN" sz="1800" dirty="0"/>
              <a:t> </a:t>
            </a:r>
            <a:r>
              <a:rPr lang="zh-CN" altLang="en-US" sz="1800" dirty="0"/>
              <a:t>代码缺陷修复系统。该系统结合检索增强生成（</a:t>
            </a:r>
            <a:r>
              <a:rPr lang="en-US" altLang="zh-CN" sz="1800" dirty="0"/>
              <a:t>RAG</a:t>
            </a:r>
            <a:r>
              <a:rPr lang="zh-CN" altLang="en-US" sz="1800" dirty="0"/>
              <a:t>）技术和多个大型语言模型，用于检测和修复 </a:t>
            </a:r>
            <a:r>
              <a:rPr lang="en-US" altLang="zh-CN" sz="1800" dirty="0" err="1"/>
              <a:t>ArkTS</a:t>
            </a:r>
            <a:r>
              <a:rPr lang="en-US" altLang="zh-CN" sz="1800" dirty="0"/>
              <a:t> </a:t>
            </a:r>
            <a:r>
              <a:rPr lang="zh-CN" altLang="en-US" sz="1800" dirty="0"/>
              <a:t>代码中的性能缺陷。</a:t>
            </a:r>
          </a:p>
          <a:p>
            <a:r>
              <a:rPr lang="en-US" altLang="zh-CN" sz="1800" dirty="0"/>
              <a:t>Hap</a:t>
            </a:r>
            <a:r>
              <a:rPr lang="zh-CN" altLang="en-US" sz="1800" dirty="0"/>
              <a:t> </a:t>
            </a:r>
            <a:r>
              <a:rPr lang="en-US" altLang="zh-CN" sz="1800" dirty="0"/>
              <a:t>Repair</a:t>
            </a:r>
            <a:r>
              <a:rPr lang="zh-CN" altLang="en-US" sz="1800" dirty="0"/>
              <a:t>和传统的代码审查相比有以下的创新点：</a:t>
            </a:r>
            <a:r>
              <a:rPr lang="zh-CN" altLang="zh-CN" sz="1800" dirty="0"/>
              <a:t> </a:t>
            </a:r>
            <a:endParaRPr lang="en-US" altLang="zh-CN" sz="1800" dirty="0"/>
          </a:p>
          <a:p>
            <a:r>
              <a:rPr lang="zh-CN" altLang="zh-CN" sz="1800" dirty="0"/>
              <a:t>为了克服训练数据不足的挑战，充分利用静态分析的优势。</a:t>
            </a:r>
            <a:r>
              <a:rPr lang="zh-CN" altLang="en-US" sz="1800" dirty="0"/>
              <a:t>该工具</a:t>
            </a:r>
            <a:r>
              <a:rPr lang="zh-CN" altLang="zh-CN" sz="1800" dirty="0"/>
              <a:t>利用并集成了静态分析工具</a:t>
            </a:r>
            <a:r>
              <a:rPr lang="en-US" altLang="zh-CN" sz="1800" i="1" dirty="0" err="1"/>
              <a:t>CodeLinter</a:t>
            </a:r>
            <a:r>
              <a:rPr lang="zh-CN" altLang="zh-CN" sz="1800" dirty="0"/>
              <a:t>进行缺陷检测，该工具不仅有效检测缺陷，还能与大型语言模型交互以评估缺陷修复质量。此外，</a:t>
            </a:r>
            <a:r>
              <a:rPr lang="zh-CN" altLang="en-US" sz="1800" dirty="0"/>
              <a:t>该系统</a:t>
            </a:r>
            <a:r>
              <a:rPr lang="zh-CN" altLang="zh-CN" sz="1800" dirty="0"/>
              <a:t>利用</a:t>
            </a:r>
            <a:r>
              <a:rPr lang="en-US" altLang="zh-CN" sz="1800" dirty="0"/>
              <a:t>RAG</a:t>
            </a:r>
            <a:r>
              <a:rPr lang="zh-CN" altLang="zh-CN" sz="1800" dirty="0"/>
              <a:t>通过上下文学习检索特定知识，以缓解训练数据不足的问题。 </a:t>
            </a:r>
            <a:endParaRPr lang="en-US" altLang="zh-CN" sz="1800" dirty="0"/>
          </a:p>
          <a:p>
            <a:r>
              <a:rPr lang="zh-CN" altLang="zh-CN" sz="1800" dirty="0"/>
              <a:t>为克服多缺陷修复中上下文窗口的限制，提出了两种分析工具：</a:t>
            </a:r>
            <a:r>
              <a:rPr lang="zh-CN" altLang="zh-CN" sz="1800" b="1" dirty="0"/>
              <a:t>环绕上下文提取器</a:t>
            </a:r>
            <a:r>
              <a:rPr lang="zh-CN" altLang="zh-CN" sz="1800" dirty="0"/>
              <a:t>和</a:t>
            </a:r>
            <a:r>
              <a:rPr lang="zh-CN" altLang="zh-CN" sz="1800" b="1" dirty="0"/>
              <a:t>上下文组合工具</a:t>
            </a:r>
            <a:r>
              <a:rPr lang="zh-CN" altLang="zh-CN" sz="1800" dirty="0"/>
              <a:t>。 </a:t>
            </a:r>
            <a:r>
              <a:rPr lang="zh-CN" altLang="en-US" sz="1800" dirty="0"/>
              <a:t>前者</a:t>
            </a:r>
            <a:r>
              <a:rPr lang="zh-CN" altLang="zh-CN" sz="1800" dirty="0"/>
              <a:t>专注于从源代码中提取相关上下文片段，去除冗余或不必要的部分，并保留修复任务的关键信息</a:t>
            </a:r>
            <a:r>
              <a:rPr lang="zh-CN" altLang="en-US" sz="1800" dirty="0"/>
              <a:t>；后者</a:t>
            </a:r>
            <a:r>
              <a:rPr lang="zh-CN" altLang="zh-CN" sz="1800" dirty="0"/>
              <a:t>进一步结合了重叠的上下文。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18802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BE01-9BD0-FF36-0157-91DEC9E2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50646-ED94-BD36-F91F-A9A32F73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7600"/>
          </a:xfrm>
        </p:spPr>
        <p:txBody>
          <a:bodyPr>
            <a:normAutofit/>
          </a:bodyPr>
          <a:lstStyle/>
          <a:p>
            <a:r>
              <a:rPr kumimoji="1" lang="zh-CN" altLang="en-US" cap="none" dirty="0"/>
              <a:t>项目介绍</a:t>
            </a:r>
            <a:r>
              <a:rPr kumimoji="1" lang="en-US" altLang="zh-CN" cap="none" dirty="0"/>
              <a:t>                        </a:t>
            </a:r>
            <a:r>
              <a:rPr kumimoji="1" lang="zh-CN" altLang="en-US" sz="1800" cap="none" dirty="0"/>
              <a:t>项目地址：</a:t>
            </a:r>
            <a:r>
              <a:rPr kumimoji="1" lang="en-US" altLang="zh-CN" sz="1800" cap="none" dirty="0"/>
              <a:t>https://</a:t>
            </a:r>
            <a:r>
              <a:rPr kumimoji="1" lang="en-US" altLang="zh-CN" sz="1800" cap="none" dirty="0" err="1"/>
              <a:t>github.com</a:t>
            </a:r>
            <a:r>
              <a:rPr kumimoji="1" lang="en-US" altLang="zh-CN" sz="1800" cap="none" dirty="0"/>
              <a:t>/SMAT-Lab/</a:t>
            </a:r>
            <a:r>
              <a:rPr kumimoji="1" lang="en-US" altLang="zh-CN" sz="1800" cap="none" dirty="0" err="1"/>
              <a:t>HapRepair</a:t>
            </a:r>
            <a:endParaRPr kumimoji="1" lang="zh-CN" altLang="en-US" cap="small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E41B0-A939-7873-E586-F9E65F8CE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7160"/>
          </a:xfrm>
        </p:spPr>
        <p:txBody>
          <a:bodyPr>
            <a:normAutofit/>
          </a:bodyPr>
          <a:lstStyle/>
          <a:p>
            <a:r>
              <a:rPr lang="zh-CN" altLang="zh-CN" sz="1800" dirty="0"/>
              <a:t>实验结果显示，</a:t>
            </a:r>
            <a:r>
              <a:rPr lang="en-US" altLang="zh-CN" sz="1800" i="1" dirty="0" err="1"/>
              <a:t>HapRepair</a:t>
            </a:r>
            <a:r>
              <a:rPr lang="en-US" altLang="zh-CN" sz="1800" i="1" dirty="0"/>
              <a:t> </a:t>
            </a:r>
            <a:r>
              <a:rPr lang="zh-CN" altLang="zh-CN" sz="1800" dirty="0"/>
              <a:t>在测试集中的缺陷修复率约为</a:t>
            </a:r>
            <a:r>
              <a:rPr lang="en-US" altLang="zh-CN" sz="1800" dirty="0"/>
              <a:t> 99%</a:t>
            </a:r>
            <a:r>
              <a:rPr lang="zh-CN" altLang="zh-CN" sz="1800" dirty="0"/>
              <a:t>，而直接基于缺陷信息进行缺陷修复时仅约为</a:t>
            </a:r>
            <a:r>
              <a:rPr lang="en-US" altLang="zh-CN" sz="1800" dirty="0"/>
              <a:t> 37%</a:t>
            </a:r>
            <a:r>
              <a:rPr lang="zh-CN" altLang="zh-CN" sz="1800" dirty="0"/>
              <a:t>。 通过将静态分析工具与大型语言模型（</a:t>
            </a:r>
            <a:r>
              <a:rPr lang="en-US" altLang="zh-CN" sz="1800" dirty="0"/>
              <a:t>LLM</a:t>
            </a:r>
            <a:r>
              <a:rPr lang="zh-CN" altLang="zh-CN" sz="1800" dirty="0"/>
              <a:t>）和</a:t>
            </a:r>
            <a:r>
              <a:rPr lang="en-US" altLang="zh-CN" sz="1800" dirty="0"/>
              <a:t>RAG</a:t>
            </a:r>
            <a:r>
              <a:rPr lang="zh-CN" altLang="zh-CN" sz="1800" dirty="0"/>
              <a:t>集成，</a:t>
            </a:r>
            <a:r>
              <a:rPr lang="en-US" altLang="zh-CN" sz="1800" dirty="0"/>
              <a:t>Hap</a:t>
            </a:r>
            <a:r>
              <a:rPr lang="zh-CN" altLang="en-US" sz="1800" dirty="0"/>
              <a:t> </a:t>
            </a:r>
            <a:r>
              <a:rPr lang="en-US" altLang="zh-CN" sz="1800" dirty="0"/>
              <a:t>Repair</a:t>
            </a:r>
            <a:r>
              <a:rPr lang="zh-CN" altLang="zh-CN" sz="1800" dirty="0"/>
              <a:t>结合了静态分析的精确检测能力与</a:t>
            </a:r>
            <a:r>
              <a:rPr lang="en-US" altLang="zh-CN" sz="1800" dirty="0"/>
              <a:t>LLMs</a:t>
            </a:r>
            <a:r>
              <a:rPr lang="zh-CN" altLang="zh-CN" sz="1800" dirty="0"/>
              <a:t>的生成修复优势。</a:t>
            </a:r>
            <a:endParaRPr kumimoji="1"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42B0F2-F06B-7D1A-92F7-383BAE20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95981"/>
            <a:ext cx="5892800" cy="2857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CB3261-470E-004F-EC44-B373AC74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9" y="3195981"/>
            <a:ext cx="5068712" cy="286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2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1E1C-1534-F142-5C3A-A016B9DE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865BA-E6CD-D07D-8DF7-841299FD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cap="none" dirty="0"/>
              <a:t>项目结构</a:t>
            </a:r>
            <a:r>
              <a:rPr kumimoji="1" lang="en-US" altLang="zh-CN" cap="none" dirty="0"/>
              <a:t>/</a:t>
            </a:r>
            <a:r>
              <a:rPr kumimoji="1" lang="zh-CN" altLang="en-US" cap="none" dirty="0"/>
              <a:t>工具使用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64F95F-D39A-4281-EB82-1F8A5F083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37" y="1946029"/>
            <a:ext cx="9146083" cy="417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40AF-7006-0DD2-6F75-63C29771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BFF50-5D4D-6303-87BD-B01043B0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cap="none" dirty="0"/>
              <a:t>计划</a:t>
            </a:r>
            <a:r>
              <a:rPr kumimoji="1" lang="en-US" altLang="zh-CN" cap="none" dirty="0"/>
              <a:t>/</a:t>
            </a:r>
            <a:r>
              <a:rPr kumimoji="1" lang="zh-CN" altLang="en-US" cap="none" dirty="0"/>
              <a:t>改进目标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C751ED-3831-2A16-B758-436460DC6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644421" cy="345061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目前小组已经将该项目拉取到本地以进行初步调试</a:t>
            </a:r>
          </a:p>
          <a:p>
            <a:r>
              <a:rPr lang="zh-CN" altLang="en-US" dirty="0"/>
              <a:t>目前发现该项目混杂使用了</a:t>
            </a:r>
            <a:r>
              <a:rPr lang="en-US" altLang="zh-CN" dirty="0"/>
              <a:t>OpenAI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和</a:t>
            </a:r>
            <a:r>
              <a:rPr lang="en-US" altLang="zh-CN" dirty="0" err="1"/>
              <a:t>Ollama</a:t>
            </a:r>
            <a:r>
              <a:rPr lang="zh-CN" altLang="en-US" dirty="0"/>
              <a:t>进行</a:t>
            </a:r>
            <a:r>
              <a:rPr lang="en-US" altLang="zh-CN" dirty="0"/>
              <a:t>LLM</a:t>
            </a:r>
            <a:r>
              <a:rPr lang="zh-CN" altLang="en-US" dirty="0"/>
              <a:t>的调用（大小两个模型），计划将程序修改为使用</a:t>
            </a:r>
            <a:r>
              <a:rPr lang="en-US" altLang="zh-CN" dirty="0" err="1"/>
              <a:t>Ollama</a:t>
            </a:r>
            <a:r>
              <a:rPr lang="zh-CN" altLang="en-US" dirty="0"/>
              <a:t>调用本地小模型，</a:t>
            </a:r>
            <a:r>
              <a:rPr lang="en-US" altLang="zh-CN" dirty="0"/>
              <a:t>LM</a:t>
            </a:r>
            <a:r>
              <a:rPr lang="zh-CN" altLang="en-US" dirty="0"/>
              <a:t> </a:t>
            </a:r>
            <a:r>
              <a:rPr lang="en-US" altLang="zh-CN" dirty="0"/>
              <a:t>Studio</a:t>
            </a:r>
            <a:r>
              <a:rPr lang="zh-CN" altLang="en-US" dirty="0"/>
              <a:t>的</a:t>
            </a:r>
            <a:r>
              <a:rPr lang="en-US" altLang="zh-CN" dirty="0"/>
              <a:t>OpenAI</a:t>
            </a:r>
            <a:r>
              <a:rPr lang="zh-CN" altLang="en-US" dirty="0"/>
              <a:t> </a:t>
            </a:r>
            <a:r>
              <a:rPr lang="en-US" altLang="zh-CN" dirty="0"/>
              <a:t>Compatible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替换联网的</a:t>
            </a:r>
            <a:r>
              <a:rPr lang="en-US" altLang="zh-CN" dirty="0"/>
              <a:t>OpenAI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（本地大模型），方便调试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C21EE7-AC0D-58F7-35D9-1B98BA0D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15731"/>
            <a:ext cx="5266725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9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1CB6-0138-6343-48A4-8C602028A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E8EAD-D756-215F-109D-17190F8E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cap="none" dirty="0"/>
              <a:t>计划</a:t>
            </a:r>
            <a:r>
              <a:rPr kumimoji="1" lang="en-US" altLang="zh-CN" cap="none" dirty="0"/>
              <a:t>/</a:t>
            </a:r>
            <a:r>
              <a:rPr kumimoji="1" lang="zh-CN" altLang="en-US" cap="none" dirty="0"/>
              <a:t>改进目标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B67CEE-7FBF-F4F5-9A63-A427C80DB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原项目使用高算力服务器（</a:t>
            </a:r>
            <a:r>
              <a:rPr lang="en-US" altLang="zh-CN" dirty="0"/>
              <a:t>4</a:t>
            </a:r>
            <a:r>
              <a:rPr lang="zh-CN" altLang="en-US" dirty="0"/>
              <a:t> * </a:t>
            </a:r>
            <a:r>
              <a:rPr lang="en-US" altLang="zh-CN" dirty="0"/>
              <a:t>NVIDIA</a:t>
            </a:r>
            <a:r>
              <a:rPr lang="zh-CN" altLang="en-US" dirty="0"/>
              <a:t> </a:t>
            </a:r>
            <a:r>
              <a:rPr lang="en-US" altLang="zh-CN" dirty="0"/>
              <a:t>A100</a:t>
            </a:r>
            <a:r>
              <a:rPr lang="zh-CN" altLang="en-US" dirty="0"/>
              <a:t> </a:t>
            </a:r>
            <a:r>
              <a:rPr lang="en-US" altLang="zh-CN" dirty="0"/>
              <a:t>80G</a:t>
            </a:r>
            <a:r>
              <a:rPr lang="zh-CN" altLang="en-US" dirty="0"/>
              <a:t>，</a:t>
            </a:r>
            <a:r>
              <a:rPr lang="en-US" altLang="zh-CN" dirty="0"/>
              <a:t>256G</a:t>
            </a:r>
            <a:r>
              <a:rPr lang="zh-CN" altLang="en-US" dirty="0"/>
              <a:t> </a:t>
            </a:r>
            <a:r>
              <a:rPr lang="en-US" altLang="zh-CN" dirty="0"/>
              <a:t>RAM</a:t>
            </a:r>
            <a:r>
              <a:rPr lang="zh-CN" altLang="en-US" dirty="0"/>
              <a:t>）进行计算，出于调试实际条件考虑，将本地模型更换为小参量模型，大部分设备可运行</a:t>
            </a:r>
            <a:endParaRPr lang="en-US" altLang="zh-CN" dirty="0"/>
          </a:p>
          <a:p>
            <a:r>
              <a:rPr lang="zh-CN" altLang="en-US" b="1" dirty="0"/>
              <a:t>改进的主要目标是通过更换较小参数量的模型，减小运行开销，同时通过数据集测试验证性能损失，理想状态是性能损失较小的同时极大降低运行所需硬件要求</a:t>
            </a:r>
            <a:endParaRPr lang="en-US" altLang="zh-CN" b="1" dirty="0"/>
          </a:p>
          <a:p>
            <a:r>
              <a:rPr kumimoji="1" lang="zh-CN" altLang="en-US" dirty="0"/>
              <a:t>额外优化：该项目运行流程缺少实时输出（但使用了</a:t>
            </a:r>
            <a:r>
              <a:rPr kumimoji="1" lang="en-US" altLang="zh-CN" dirty="0"/>
              <a:t>logger</a:t>
            </a:r>
            <a:r>
              <a:rPr kumimoji="1" lang="zh-CN" altLang="en-US" dirty="0"/>
              <a:t>进行日志文件记录），不利于在程序卡住时进行排错（此时没有日志文件输出），预计将在交互性方面同时进行部分优化</a:t>
            </a:r>
          </a:p>
        </p:txBody>
      </p:sp>
    </p:spTree>
    <p:extLst>
      <p:ext uri="{BB962C8B-B14F-4D97-AF65-F5344CB8AC3E}">
        <p14:creationId xmlns:p14="http://schemas.microsoft.com/office/powerpoint/2010/main" val="353041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E03D-39A5-036C-D6DE-EE35ED70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BD85C-E32A-E8B0-BFCB-7840F1555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877" y="802298"/>
            <a:ext cx="9694975" cy="2541431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4000" cap="none" dirty="0">
                <a:latin typeface="+mj-ea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17756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画廊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画廊</Template>
  <TotalTime>3229</TotalTime>
  <Words>757</Words>
  <Application>Microsoft Macintosh PowerPoint</Application>
  <PresentationFormat>宽屏</PresentationFormat>
  <Paragraphs>31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Gill Sans MT</vt:lpstr>
      <vt:lpstr>画廊</vt:lpstr>
      <vt:lpstr>Hap Repair：基于LLM和CodeLinter的OpenHarmony代码修复</vt:lpstr>
      <vt:lpstr>目录</vt:lpstr>
      <vt:lpstr>选题简介/背景</vt:lpstr>
      <vt:lpstr>项目介绍                        项目地址：https://github.com/SMAT-Lab/HapRepair</vt:lpstr>
      <vt:lpstr>项目介绍                        项目地址：https://github.com/SMAT-Lab/HapRepair</vt:lpstr>
      <vt:lpstr>项目结构/工具使用</vt:lpstr>
      <vt:lpstr>计划/改进目标</vt:lpstr>
      <vt:lpstr>计划/改进目标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敏耀 高</dc:creator>
  <cp:lastModifiedBy>敏耀 高</cp:lastModifiedBy>
  <cp:revision>7</cp:revision>
  <dcterms:created xsi:type="dcterms:W3CDTF">2026-03-21T05:55:14Z</dcterms:created>
  <dcterms:modified xsi:type="dcterms:W3CDTF">2026-04-04T13:26:57Z</dcterms:modified>
</cp:coreProperties>
</file>