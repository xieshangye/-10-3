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Roboto" panose="02000000000000000000" pitchFamily="2" charset="0"/>
      <p:regular r:id="rId14"/>
      <p:bold r:id="rId15"/>
      <p:italic r:id="rId16"/>
    </p:embeddedFont>
    <p:embeddedFont>
      <p:font typeface="Saira Medium" panose="02010600030101010101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030303"/>
    <a:srgbClr val="02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25.png"/><Relationship Id="rId3" Type="http://schemas.openxmlformats.org/officeDocument/2006/relationships/tags" Target="../tags/tag3.xml"/><Relationship Id="rId21" Type="http://schemas.openxmlformats.org/officeDocument/2006/relationships/image" Target="../media/image28.sv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notesSlide" Target="../notesSlides/notesSlide9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0.xml"/><Relationship Id="rId20" Type="http://schemas.openxmlformats.org/officeDocument/2006/relationships/image" Target="../media/image27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31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30.svg"/><Relationship Id="rId10" Type="http://schemas.openxmlformats.org/officeDocument/2006/relationships/tags" Target="../tags/tag10.xml"/><Relationship Id="rId19" Type="http://schemas.openxmlformats.org/officeDocument/2006/relationships/image" Target="../media/image26.sv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990963"/>
            <a:ext cx="13042821" cy="977979"/>
          </a:xfrm>
          <a:prstGeom prst="roundRect">
            <a:avLst>
              <a:gd name="adj" fmla="val 20874"/>
            </a:avLst>
          </a:prstGeom>
          <a:solidFill>
            <a:srgbClr val="4B1E01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2300645"/>
            <a:ext cx="354330" cy="283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88154" y="227445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开源项目选题汇报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93790" y="3337474"/>
            <a:ext cx="13042821" cy="35957"/>
          </a:xfrm>
          <a:prstGeom prst="rect">
            <a:avLst/>
          </a:prstGeom>
          <a:solidFill>
            <a:srgbClr val="E5E0DF">
              <a:alpha val="5000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793790" y="3713559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基于ART与MMDetection3D的3D点云对抗鲁棒性研究平台</a:t>
            </a:r>
            <a:endParaRPr lang="en-US" sz="4450" dirty="0"/>
          </a:p>
        </p:txBody>
      </p:sp>
      <p:sp>
        <p:nvSpPr>
          <p:cNvPr id="7" name="Shape 4"/>
          <p:cNvSpPr/>
          <p:nvPr/>
        </p:nvSpPr>
        <p:spPr>
          <a:xfrm>
            <a:off x="793790" y="5584660"/>
            <a:ext cx="13042821" cy="35957"/>
          </a:xfrm>
          <a:prstGeom prst="rect">
            <a:avLst/>
          </a:prstGeom>
          <a:solidFill>
            <a:srgbClr val="E5E0DF">
              <a:alpha val="50000"/>
            </a:srgbClr>
          </a:solidFill>
        </p:spPr>
      </p:sp>
      <p:sp>
        <p:nvSpPr>
          <p:cNvPr id="8" name="Text 5"/>
          <p:cNvSpPr/>
          <p:nvPr/>
        </p:nvSpPr>
        <p:spPr>
          <a:xfrm>
            <a:off x="793790" y="5875734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666666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探索点云安全性与模型鲁棒性的前沿研究</a:t>
            </a:r>
            <a:endParaRPr lang="en-US" sz="1750" dirty="0"/>
          </a:p>
        </p:txBody>
      </p:sp>
      <p:sp>
        <p:nvSpPr>
          <p:cNvPr id="9" name="矩形 8"/>
          <p:cNvSpPr/>
          <p:nvPr/>
        </p:nvSpPr>
        <p:spPr>
          <a:xfrm>
            <a:off x="12846050" y="7769225"/>
            <a:ext cx="1704340" cy="361950"/>
          </a:xfrm>
          <a:prstGeom prst="rect">
            <a:avLst/>
          </a:prstGeom>
          <a:solidFill>
            <a:srgbClr val="020202"/>
          </a:solidFill>
          <a:ln>
            <a:solidFill>
              <a:srgbClr val="02020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0264"/>
            <a:ext cx="810208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3D点云对抗攻击与防御研究现状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22671"/>
            <a:ext cx="6407944" cy="2259925"/>
          </a:xfrm>
          <a:prstGeom prst="roundRect">
            <a:avLst>
              <a:gd name="adj" fmla="val 903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464" y="25723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0630" y="275939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3464" y="347960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技术背景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43464" y="3970020"/>
            <a:ext cx="590859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3D传感普及使深度学习模型面临对抗攻击的安全隐患。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322671"/>
            <a:ext cx="6408063" cy="2259925"/>
          </a:xfrm>
          <a:prstGeom prst="roundRect">
            <a:avLst>
              <a:gd name="adj" fmla="val 903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78222" y="25723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65388" y="2759393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78222" y="347960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攻击方法演进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78222" y="3970020"/>
            <a:ext cx="59087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攻击手段已从基础梯度法演进为复杂的几何感知攻击。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259925"/>
          </a:xfrm>
          <a:prstGeom prst="roundRect">
            <a:avLst>
              <a:gd name="adj" fmla="val 903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43464" y="505908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0630" y="524613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3464" y="596634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防御策略分类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43464" y="6456759"/>
            <a:ext cx="590859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主要涵盖数据增强对抗训练与模型层面的鲁棒性优化。</a:t>
            </a:r>
            <a:endParaRPr lang="en-US" sz="17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65388" y="5246132"/>
            <a:ext cx="306110" cy="30611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>
            <a:off x="12882245" y="7724140"/>
            <a:ext cx="1650365" cy="418465"/>
          </a:xfrm>
          <a:prstGeom prst="rect">
            <a:avLst/>
          </a:prstGeom>
          <a:solidFill>
            <a:srgbClr val="020202"/>
          </a:solidFill>
          <a:ln>
            <a:solidFill>
              <a:srgbClr val="02020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8916C5AC-3246-9368-F2B9-BB5D3E21F27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43720" y="2590623"/>
            <a:ext cx="5258070" cy="76838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6CDA6D6-EDBE-A70C-CCF3-509EAE0DC94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2481" y="2558753"/>
            <a:ext cx="5174456" cy="80744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8726802C-7C7D-AD8C-28BA-C2BAD9F095D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43720" y="5213049"/>
            <a:ext cx="5130436" cy="42003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BA59DD0-1EF8-DA0B-43DD-999FB45F47C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54654" y="4769644"/>
            <a:ext cx="5607338" cy="25083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30" y="1895110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关键技术挑战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29902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384947"/>
            <a:ext cx="6407944" cy="30480"/>
          </a:xfrm>
          <a:prstGeom prst="rect">
            <a:avLst/>
          </a:prstGeom>
          <a:solidFill>
            <a:srgbClr val="FC8337"/>
          </a:solidFill>
        </p:spPr>
      </p:sp>
      <p:sp>
        <p:nvSpPr>
          <p:cNvPr id="5" name="Text 3"/>
          <p:cNvSpPr/>
          <p:nvPr/>
        </p:nvSpPr>
        <p:spPr>
          <a:xfrm>
            <a:off x="793790" y="349992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感知性与攻击性平衡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30" y="3817717"/>
            <a:ext cx="6407944" cy="87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保持攻击有效性同时确保扰动对人眼不可感知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,</a:t>
            </a:r>
            <a:r>
              <a:rPr lang="zh-CN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比如一张熊猫图片，</a:t>
            </a:r>
            <a:endParaRPr lang="en-US" altLang="zh-CN" sz="1750" dirty="0">
              <a:solidFill>
                <a:srgbClr val="E5E0D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在经过人类肉眼无法察觉的微小修改后，会被深度学习模型错误分</a:t>
            </a:r>
            <a:endParaRPr lang="en-US" altLang="zh-CN" sz="1750" dirty="0">
              <a:solidFill>
                <a:srgbClr val="E5E0D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类为长臂猿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3029902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3384947"/>
            <a:ext cx="6408063" cy="30480"/>
          </a:xfrm>
          <a:prstGeom prst="rect">
            <a:avLst/>
          </a:prstGeom>
          <a:solidFill>
            <a:srgbClr val="FC8337"/>
          </a:solidFill>
        </p:spPr>
      </p:sp>
      <p:sp>
        <p:nvSpPr>
          <p:cNvPr id="9" name="Text 7"/>
          <p:cNvSpPr/>
          <p:nvPr/>
        </p:nvSpPr>
        <p:spPr>
          <a:xfrm>
            <a:off x="7428548" y="355925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物理可实现性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4049673"/>
            <a:ext cx="640806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数字攻击向物理世界迁移面临传感器噪声、视角变化等挑战。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FC8337"/>
          </a:solidFill>
        </p:spPr>
      </p:sp>
      <p:sp>
        <p:nvSpPr>
          <p:cNvPr id="13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计算效率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11147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复杂对抗训练和防御机制带来高昂计算成本</a:t>
            </a:r>
            <a:r>
              <a:rPr lang="zh-CN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，比如使用更加复杂的</a:t>
            </a:r>
            <a:endParaRPr lang="en-US" altLang="zh-CN" sz="1750" dirty="0">
              <a:solidFill>
                <a:srgbClr val="E5E0D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模型，通过额外的正则化与更精细的学习策略来增强模型的鲁棒</a:t>
            </a:r>
            <a:endParaRPr lang="en-US" altLang="zh-CN" sz="1750" dirty="0">
              <a:solidFill>
                <a:srgbClr val="E5E0D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zh-CN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性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。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Light" pitchFamily="34" charset="0"/>
                <a:ea typeface="Saira Light" pitchFamily="34" charset="-122"/>
                <a:cs typeface="Saira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87435"/>
            <a:ext cx="6408063" cy="30480"/>
          </a:xfrm>
          <a:prstGeom prst="rect">
            <a:avLst/>
          </a:prstGeom>
          <a:solidFill>
            <a:srgbClr val="FC8337"/>
          </a:solidFill>
        </p:spPr>
      </p:sp>
      <p:sp>
        <p:nvSpPr>
          <p:cNvPr id="17" name="Text 15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多模态融合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有效利用2D图像、文本等多模态信息增强3D模型鲁棒性。</a:t>
            </a:r>
            <a:endParaRPr lang="en-US" sz="1750" dirty="0"/>
          </a:p>
        </p:txBody>
      </p:sp>
      <p:sp>
        <p:nvSpPr>
          <p:cNvPr id="19" name="矩形 18"/>
          <p:cNvSpPr/>
          <p:nvPr/>
        </p:nvSpPr>
        <p:spPr>
          <a:xfrm>
            <a:off x="12899390" y="7743190"/>
            <a:ext cx="1615440" cy="423545"/>
          </a:xfrm>
          <a:prstGeom prst="rect">
            <a:avLst/>
          </a:prstGeom>
          <a:solidFill>
            <a:srgbClr val="020202"/>
          </a:solidFill>
          <a:ln>
            <a:solidFill>
              <a:srgbClr val="02020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8249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相关工具生态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90656"/>
            <a:ext cx="13042821" cy="3992642"/>
          </a:xfrm>
          <a:prstGeom prst="roundRect">
            <a:avLst>
              <a:gd name="adj" fmla="val 511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39827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1028462" y="2541984"/>
            <a:ext cx="27993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工具类别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289108" y="2541984"/>
            <a:ext cx="27955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代表项目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45943" y="2541984"/>
            <a:ext cx="27955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主要特点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802779" y="2541984"/>
            <a:ext cx="27993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与选题相关性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048595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1028462" y="3192304"/>
            <a:ext cx="27993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对抗攻击库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9108" y="3192304"/>
            <a:ext cx="27955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ART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943" y="3192304"/>
            <a:ext cx="279558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支持多框架、多数据类型、多任务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802779" y="3192304"/>
            <a:ext cx="2799397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核心工具：标准化攻击与防御实现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061817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028462" y="4205526"/>
            <a:ext cx="27993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3D检测框架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289108" y="4205526"/>
            <a:ext cx="27955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MMDetection3D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5943" y="4205526"/>
            <a:ext cx="2795588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基于PyTorch，支持多模态检测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802779" y="4205526"/>
            <a:ext cx="2799397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核心工具：丰富模型和数据集支持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5075039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1028462" y="5218748"/>
            <a:ext cx="27993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点云处理库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289108" y="5218748"/>
            <a:ext cx="27955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Open3D, PCL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943" y="5218748"/>
            <a:ext cx="27955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基础点云处理与可视化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802779" y="5218748"/>
            <a:ext cx="27993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辅助工具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72535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1028462" y="5869067"/>
            <a:ext cx="27993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深度学习框架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4289108" y="5869067"/>
            <a:ext cx="27955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PyTorch, TensorFlow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545943" y="5869067"/>
            <a:ext cx="2795588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主流深度学习框架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802779" y="5869067"/>
            <a:ext cx="2799397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基础依赖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793790" y="6638449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ART与MMDetection3D组合形成从攻击生成到模型训练与评估的完整研究闭环，填补3D点云安全研究工具链关键空白。</a:t>
            </a:r>
            <a:endParaRPr lang="en-US" sz="1750" dirty="0"/>
          </a:p>
        </p:txBody>
      </p:sp>
      <p:sp>
        <p:nvSpPr>
          <p:cNvPr id="30" name="矩形 29"/>
          <p:cNvSpPr/>
          <p:nvPr/>
        </p:nvSpPr>
        <p:spPr>
          <a:xfrm>
            <a:off x="12881610" y="7751445"/>
            <a:ext cx="1633220" cy="371475"/>
          </a:xfrm>
          <a:prstGeom prst="rect">
            <a:avLst/>
          </a:prstGeom>
          <a:solidFill>
            <a:srgbClr val="020202"/>
          </a:solidFill>
          <a:ln>
            <a:solidFill>
              <a:srgbClr val="02020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103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开源项目选择理由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36790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ART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588895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仓库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: </a:t>
            </a:r>
            <a:r>
              <a:rPr lang="en-US" sz="1750" u="sng" dirty="0">
                <a:solidFill>
                  <a:srgbClr val="FC8337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https://github.com/Trusted-AI/adversarial-robustness-toolbox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518773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维护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: Linux Foundation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085749"/>
            <a:ext cx="62447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功能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: 机器学习安全工具库（规避、投毒、提取、推理攻击与防御）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15627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技术栈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: Python，支持TensorFlow、PyTorch、scikit-learn等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1936790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MMDetection3D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2588895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仓库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: </a:t>
            </a:r>
            <a:r>
              <a:rPr lang="en-US" sz="1750" u="sng" dirty="0">
                <a:solidFill>
                  <a:srgbClr val="FC8337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github.com/open-mmlab/MMDetection3D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3155871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维护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: OpenMMLab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3722846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功能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: 3D目标检测工具箱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289822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技术栈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: PyTorch，基于MMCV与MMDetection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837753"/>
            <a:ext cx="4196358" cy="1730812"/>
          </a:xfrm>
          <a:prstGeom prst="roundRect">
            <a:avLst>
              <a:gd name="adj" fmla="val 11795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084" y="609504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技术价值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084" y="6585466"/>
            <a:ext cx="368177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全面性、标准化API、研究友好评估指标与可视化工具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216962" y="5837753"/>
            <a:ext cx="4196358" cy="1730812"/>
          </a:xfrm>
          <a:prstGeom prst="roundRect">
            <a:avLst>
              <a:gd name="adj" fmla="val 11795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74256" y="609504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社区健康度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74256" y="6585466"/>
            <a:ext cx="368177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5.9K-6.3K Stars，持续更新，活跃Issue讨论，完整文档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9640133" y="5837753"/>
            <a:ext cx="4196358" cy="1730812"/>
          </a:xfrm>
          <a:prstGeom prst="roundRect">
            <a:avLst>
              <a:gd name="adj" fmla="val 11795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97427" y="609504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应用前景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97427" y="6585466"/>
            <a:ext cx="368177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学术研究标准化平台、工业安全评估、机器学习安全教育</a:t>
            </a:r>
            <a:endParaRPr lang="en-US" sz="1750" dirty="0"/>
          </a:p>
        </p:txBody>
      </p:sp>
      <p:sp>
        <p:nvSpPr>
          <p:cNvPr id="22" name="矩形 21"/>
          <p:cNvSpPr/>
          <p:nvPr/>
        </p:nvSpPr>
        <p:spPr>
          <a:xfrm>
            <a:off x="12881610" y="7796530"/>
            <a:ext cx="1633220" cy="361315"/>
          </a:xfrm>
          <a:prstGeom prst="rect">
            <a:avLst/>
          </a:prstGeom>
          <a:solidFill>
            <a:srgbClr val="020202"/>
          </a:solidFill>
          <a:ln>
            <a:solidFill>
              <a:srgbClr val="02020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44033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技术优势分析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90644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90644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ART全面性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4396859"/>
            <a:ext cx="3308152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支持所有主流深度学习框架和数据类型，包括3D点云，提供统一API接口便于对比实验。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90644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390644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MMD3D模型丰富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4396859"/>
            <a:ext cx="3308152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支持40+篇论文的300+模型，涵盖室内外3D检测任务，训练速度优于同类框架。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90644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390644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组合价值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4396859"/>
            <a:ext cx="3308152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形成攻击生成(ART) → 模型训练(MMD3D) → 鲁棒性评估(ART)的完整研究流水线。</a:t>
            </a:r>
            <a:endParaRPr lang="en-US" sz="1750" dirty="0"/>
          </a:p>
        </p:txBody>
      </p:sp>
      <p:sp>
        <p:nvSpPr>
          <p:cNvPr id="12" name="矩形 11"/>
          <p:cNvSpPr/>
          <p:nvPr/>
        </p:nvSpPr>
        <p:spPr>
          <a:xfrm>
            <a:off x="12890500" y="7752715"/>
            <a:ext cx="1651000" cy="414020"/>
          </a:xfrm>
          <a:prstGeom prst="rect">
            <a:avLst/>
          </a:prstGeom>
          <a:solidFill>
            <a:srgbClr val="020202"/>
          </a:solidFill>
          <a:ln>
            <a:solidFill>
              <a:srgbClr val="02020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116" y="61270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社区健康度与应用前景</a:t>
            </a: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 	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13566"/>
            <a:ext cx="4158615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5.9K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84536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ART Stars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335780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活跃社区基础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813566"/>
            <a:ext cx="4158615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6.3K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84536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MMD3D Stars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4335780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持续更新维护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813566"/>
            <a:ext cx="4158615" cy="7484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339626" y="384536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开放Issue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4335780"/>
            <a:ext cx="4158615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社区响应及时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18064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学术研究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3790" y="5761792"/>
            <a:ext cx="393334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为3D点云安全领域提供标准化实验平台，可复现最新攻击防御方法。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288161" y="518064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工业应用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88161" y="5761792"/>
            <a:ext cx="393334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在自动驾驶、安防监控等安全关键场景中评估模型鲁棒性。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9782532" y="518064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教育价值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782532" y="5761792"/>
            <a:ext cx="406919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作为机器学习安全课程实践平台，涵盖从理论到实现完整流程。</a:t>
            </a:r>
            <a:endParaRPr lang="en-US" sz="1750" dirty="0"/>
          </a:p>
        </p:txBody>
      </p:sp>
      <p:sp>
        <p:nvSpPr>
          <p:cNvPr id="18" name="矩形 17"/>
          <p:cNvSpPr/>
          <p:nvPr/>
        </p:nvSpPr>
        <p:spPr>
          <a:xfrm>
            <a:off x="12890500" y="7778115"/>
            <a:ext cx="1659890" cy="361950"/>
          </a:xfrm>
          <a:prstGeom prst="rect">
            <a:avLst/>
          </a:prstGeom>
          <a:solidFill>
            <a:srgbClr val="020202"/>
          </a:solidFill>
          <a:ln>
            <a:solidFill>
              <a:srgbClr val="02020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2210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问题识别与改进方向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54617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88143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集成度不足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3371850"/>
            <a:ext cx="1168193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ART与MMDetection3D独立运行，缺乏针对3D点云任务的深度集成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015502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424231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评估指标单一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732734"/>
            <a:ext cx="1168193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现有评估主要关注分类准确率，缺乏3D检测特有指标（如mAP under attack）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376386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560320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物理攻击支持有限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6093619"/>
            <a:ext cx="1168193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现有方法多针对数字域，缺乏对物理世界约束的建模</a:t>
            </a:r>
            <a:endParaRPr lang="en-US" sz="1750" dirty="0"/>
          </a:p>
        </p:txBody>
      </p:sp>
      <p:sp>
        <p:nvSpPr>
          <p:cNvPr id="12" name="矩形 11"/>
          <p:cNvSpPr/>
          <p:nvPr/>
        </p:nvSpPr>
        <p:spPr>
          <a:xfrm>
            <a:off x="12872720" y="7760335"/>
            <a:ext cx="1642110" cy="397510"/>
          </a:xfrm>
          <a:prstGeom prst="rect">
            <a:avLst/>
          </a:prstGeom>
          <a:solidFill>
            <a:srgbClr val="020202"/>
          </a:solidFill>
          <a:ln>
            <a:solidFill>
              <a:srgbClr val="02020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7296"/>
            <a:ext cx="6236732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改进方案：统一评估框架</a:t>
            </a:r>
            <a:endParaRPr lang="en-US" sz="445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1133951" y="3296960"/>
            <a:ext cx="3856077" cy="226814"/>
          </a:xfrm>
          <a:prstGeom prst="roundRect">
            <a:avLst>
              <a:gd name="adj" fmla="val 90006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793790" y="3070086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63930" y="3240226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>
            <p:custDataLst>
              <p:tags r:id="rId4"/>
            </p:custDataLst>
          </p:nvPr>
        </p:nvSpPr>
        <p:spPr>
          <a:xfrm>
            <a:off x="1020604" y="3977402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开发适配器模块</a:t>
            </a:r>
            <a:endParaRPr lang="en-US" sz="2200" dirty="0"/>
          </a:p>
        </p:txBody>
      </p:sp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1020604" y="4467820"/>
            <a:ext cx="374273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创建ART-MMDetection3D Bridge，将MMDetection3D模型无缝接入ART攻击防御框架。</a:t>
            </a:r>
            <a:endParaRPr lang="en-US" sz="1750" dirty="0"/>
          </a:p>
        </p:txBody>
      </p:sp>
      <p:sp>
        <p:nvSpPr>
          <p:cNvPr id="8" name="Shape 5"/>
          <p:cNvSpPr/>
          <p:nvPr>
            <p:custDataLst>
              <p:tags r:id="rId6"/>
            </p:custDataLst>
          </p:nvPr>
        </p:nvSpPr>
        <p:spPr>
          <a:xfrm>
            <a:off x="5557123" y="2956679"/>
            <a:ext cx="3856077" cy="226814"/>
          </a:xfrm>
          <a:prstGeom prst="roundRect">
            <a:avLst>
              <a:gd name="adj" fmla="val 90006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5216962" y="2729805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87102" y="2899946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5443776" y="363712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扩展评估指标</a:t>
            </a:r>
            <a:endParaRPr lang="en-US" sz="2200" dirty="0"/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5443776" y="4127540"/>
            <a:ext cx="374273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设计攻击成功率(ASR)、定位偏移度、多目标攻击效果等3D检测特有指标。</a:t>
            </a:r>
            <a:endParaRPr lang="en-US" sz="1750" dirty="0"/>
          </a:p>
        </p:txBody>
      </p:sp>
      <p:sp>
        <p:nvSpPr>
          <p:cNvPr id="13" name="Shape 9"/>
          <p:cNvSpPr/>
          <p:nvPr>
            <p:custDataLst>
              <p:tags r:id="rId11"/>
            </p:custDataLst>
          </p:nvPr>
        </p:nvSpPr>
        <p:spPr>
          <a:xfrm>
            <a:off x="9980295" y="2616518"/>
            <a:ext cx="3856077" cy="226814"/>
          </a:xfrm>
          <a:prstGeom prst="roundRect">
            <a:avLst>
              <a:gd name="adj" fmla="val 90006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4" name="Shape 10"/>
          <p:cNvSpPr/>
          <p:nvPr>
            <p:custDataLst>
              <p:tags r:id="rId12"/>
            </p:custDataLst>
          </p:nvPr>
        </p:nvSpPr>
        <p:spPr>
          <a:xfrm>
            <a:off x="9640133" y="2389644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810274" y="2559784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>
            <p:custDataLst>
              <p:tags r:id="rId14"/>
            </p:custDataLst>
          </p:nvPr>
        </p:nvSpPr>
        <p:spPr>
          <a:xfrm>
            <a:off x="9866948" y="329696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标准化数据集接口</a:t>
            </a:r>
            <a:endParaRPr lang="en-US" sz="2200" dirty="0"/>
          </a:p>
        </p:txBody>
      </p:sp>
      <p:sp>
        <p:nvSpPr>
          <p:cNvPr id="17" name="Text 12"/>
          <p:cNvSpPr/>
          <p:nvPr>
            <p:custDataLst>
              <p:tags r:id="rId15"/>
            </p:custDataLst>
          </p:nvPr>
        </p:nvSpPr>
        <p:spPr>
          <a:xfrm>
            <a:off x="9866948" y="3787378"/>
            <a:ext cx="3742730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为ModelNet40、ScanObjectNN、KITTI、nuScenes等主流3D数据集提供统一对抗样本加载接口。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6038493"/>
            <a:ext cx="13042821" cy="963811"/>
          </a:xfrm>
          <a:prstGeom prst="roundRect">
            <a:avLst>
              <a:gd name="adj" fmla="val 21181"/>
            </a:avLst>
          </a:prstGeom>
          <a:solidFill>
            <a:srgbClr val="4B1E01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0604" y="6382583"/>
            <a:ext cx="283488" cy="22681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30906" y="6321981"/>
            <a:ext cx="1207889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预期价值</a:t>
            </a:r>
            <a:r>
              <a:rPr lang="en-US" sz="175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: 为3D检测模型鲁棒性研究提供标准化评估平台，促进不同方法公平比较，降低研究门槛加速领域进展。</a:t>
            </a:r>
            <a:endParaRPr lang="en-US" sz="1750" dirty="0"/>
          </a:p>
        </p:txBody>
      </p:sp>
      <p:sp>
        <p:nvSpPr>
          <p:cNvPr id="21" name="矩形 20"/>
          <p:cNvSpPr/>
          <p:nvPr/>
        </p:nvSpPr>
        <p:spPr>
          <a:xfrm>
            <a:off x="12854940" y="7789545"/>
            <a:ext cx="1659890" cy="368300"/>
          </a:xfrm>
          <a:prstGeom prst="rect">
            <a:avLst/>
          </a:prstGeom>
          <a:solidFill>
            <a:srgbClr val="020202"/>
          </a:solidFill>
          <a:ln>
            <a:solidFill>
              <a:srgbClr val="02020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55" y="638770"/>
            <a:ext cx="5592961" cy="6991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可行性分析与总结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82955" y="1779151"/>
            <a:ext cx="4207669" cy="2195513"/>
          </a:xfrm>
          <a:prstGeom prst="roundRect">
            <a:avLst>
              <a:gd name="adj" fmla="val 9171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9533" y="2025729"/>
            <a:ext cx="2796421" cy="349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技术可行性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9533" y="2507575"/>
            <a:ext cx="3714512" cy="1220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ART支持PyTorch模型接口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MMDetection3D模块化设计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良好文档和社区支持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185290" y="1771144"/>
            <a:ext cx="4207788" cy="2195513"/>
          </a:xfrm>
          <a:prstGeom prst="roundRect">
            <a:avLst>
              <a:gd name="adj" fmla="val 9171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7825" y="2025729"/>
            <a:ext cx="2796421" cy="349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资源需求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7825" y="2507575"/>
            <a:ext cx="3714631" cy="1220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 err="1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硬件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：</a:t>
            </a:r>
            <a:r>
              <a:rPr lang="zh-CN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标准</a:t>
            </a:r>
            <a:r>
              <a:rPr lang="en-US" altLang="zh-CN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GPU</a:t>
            </a:r>
            <a:r>
              <a:rPr lang="zh-CN" alt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开发环境</a:t>
            </a:r>
            <a:endParaRPr lang="en-US" altLang="zh-CN" sz="1750" dirty="0">
              <a:solidFill>
                <a:srgbClr val="E5E0D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团队：5人小组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39657" y="1779151"/>
            <a:ext cx="4207669" cy="2195513"/>
          </a:xfrm>
          <a:prstGeom prst="roundRect">
            <a:avLst>
              <a:gd name="adj" fmla="val 9171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86236" y="2025729"/>
            <a:ext cx="2796421" cy="349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风险应对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86236" y="2507575"/>
            <a:ext cx="3714512" cy="12205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API变更：设计抽象层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性能瓶颈：优化流水线</a:t>
            </a:r>
            <a:endParaRPr lang="en-US" sz="1750" dirty="0"/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兼容性：多版本支持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82955" y="4334560"/>
            <a:ext cx="13064490" cy="35481"/>
          </a:xfrm>
          <a:prstGeom prst="rect">
            <a:avLst/>
          </a:prstGeom>
          <a:solidFill>
            <a:srgbClr val="E5E0DF">
              <a:alpha val="5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1118473" y="4866203"/>
            <a:ext cx="12728972" cy="7108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本选题结合对抗机器学习安全(ART)与3D计算机视觉(MMDetection3D)两个前沿领域，针对3D点云模型对抗鲁棒性重要问题，提出构建统一研究平台的解决方案。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82955" y="4618077"/>
            <a:ext cx="30480" cy="1207056"/>
          </a:xfrm>
          <a:prstGeom prst="rect">
            <a:avLst/>
          </a:prstGeom>
          <a:solidFill>
            <a:srgbClr val="FC8337"/>
          </a:solidFill>
        </p:spPr>
      </p:sp>
      <p:sp>
        <p:nvSpPr>
          <p:cNvPr id="15" name="Shape 13"/>
          <p:cNvSpPr/>
          <p:nvPr/>
        </p:nvSpPr>
        <p:spPr>
          <a:xfrm>
            <a:off x="782955" y="6073259"/>
            <a:ext cx="503277" cy="503277"/>
          </a:xfrm>
          <a:prstGeom prst="roundRect">
            <a:avLst>
              <a:gd name="adj" fmla="val 40008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6775" y="6115110"/>
            <a:ext cx="335518" cy="4194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6855" y="6150054"/>
            <a:ext cx="2796421" cy="349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推动标准化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6855" y="6631900"/>
            <a:ext cx="3447098" cy="3554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建立3D点云对抗评估的基准测试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29701" y="6073259"/>
            <a:ext cx="503277" cy="503277"/>
          </a:xfrm>
          <a:prstGeom prst="roundRect">
            <a:avLst>
              <a:gd name="adj" fmla="val 40008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13521" y="6115110"/>
            <a:ext cx="335518" cy="4194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953601" y="6150054"/>
            <a:ext cx="2796421" cy="349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降低门槛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53601" y="6631900"/>
            <a:ext cx="3447098" cy="3554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为研究人员提供一站式解决方案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9676448" y="6073259"/>
            <a:ext cx="503277" cy="503277"/>
          </a:xfrm>
          <a:prstGeom prst="roundRect">
            <a:avLst>
              <a:gd name="adj" fmla="val 40008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60268" y="6115110"/>
            <a:ext cx="335518" cy="4194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0400348" y="6150054"/>
            <a:ext cx="2796421" cy="3495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促进创新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400348" y="6631900"/>
            <a:ext cx="3447098" cy="3554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基于稳定平台快速验证新想法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82955" y="7235428"/>
            <a:ext cx="13064490" cy="3554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该选题具有明确技术价值、活跃社区基础和可行实施路径，适合作为小组作业深入探索，并有望产生具有实际影响力的开源贡献。</a:t>
            </a:r>
            <a:endParaRPr lang="en-US" sz="1750" dirty="0"/>
          </a:p>
        </p:txBody>
      </p:sp>
      <p:sp>
        <p:nvSpPr>
          <p:cNvPr id="28" name="矩形 27"/>
          <p:cNvSpPr/>
          <p:nvPr/>
        </p:nvSpPr>
        <p:spPr>
          <a:xfrm>
            <a:off x="12863830" y="7766685"/>
            <a:ext cx="1659890" cy="365125"/>
          </a:xfrm>
          <a:prstGeom prst="rect">
            <a:avLst/>
          </a:prstGeom>
          <a:solidFill>
            <a:srgbClr val="020202"/>
          </a:solidFill>
          <a:ln>
            <a:solidFill>
              <a:srgbClr val="02020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0499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参考文献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52907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本研究平台主要参考了以下前沿文献与官方文档：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63310" y="3840480"/>
            <a:ext cx="60960" cy="1149667"/>
          </a:xfrm>
          <a:prstGeom prst="rect">
            <a:avLst/>
          </a:prstGeom>
          <a:solidFill>
            <a:srgbClr val="FC8337"/>
          </a:solidFill>
        </p:spPr>
      </p:sp>
      <p:sp>
        <p:nvSpPr>
          <p:cNvPr id="5" name="Text 3"/>
          <p:cNvSpPr/>
          <p:nvPr/>
        </p:nvSpPr>
        <p:spPr>
          <a:xfrm>
            <a:off x="1081564" y="3870960"/>
            <a:ext cx="6091833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1. Naderi, H., &amp; Bajic, I. V. (2023).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Adversarial Attacks and Defenses on 3D Point Cloud Classification: A Survey. </a:t>
            </a:r>
            <a:r>
              <a:rPr lang="en-US" sz="1750" i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IEEE Access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r>
              <a:rPr lang="en-US" altLang="zh-CN" sz="1600" dirty="0"/>
              <a:t> </a:t>
            </a:r>
            <a:r>
              <a:rPr lang="en-US" altLang="zh-CN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https://arxiv.org/pdf/2307.00309</a:t>
            </a:r>
            <a:endParaRPr lang="en-US" sz="175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26404" y="3840480"/>
            <a:ext cx="60960" cy="1149667"/>
          </a:xfrm>
          <a:prstGeom prst="rect">
            <a:avLst/>
          </a:prstGeom>
          <a:solidFill>
            <a:srgbClr val="FC8337"/>
          </a:solidFill>
        </p:spPr>
      </p:sp>
      <p:sp>
        <p:nvSpPr>
          <p:cNvPr id="7" name="Text 5"/>
          <p:cNvSpPr/>
          <p:nvPr/>
        </p:nvSpPr>
        <p:spPr>
          <a:xfrm>
            <a:off x="7744658" y="3870960"/>
            <a:ext cx="6091952" cy="12789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2. Qi, C. R., et al. (2017).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PointNet++: Deep Hierarchical Feature Learning on Point Sets in a Metric Space. </a:t>
            </a:r>
            <a:r>
              <a:rPr lang="en-US" sz="1750" i="1" dirty="0" err="1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NeurIPS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</a:p>
          <a:p>
            <a:pPr>
              <a:lnSpc>
                <a:spcPts val="2850"/>
              </a:lnSpc>
            </a:pPr>
            <a:r>
              <a:rPr lang="en-US" altLang="zh-CN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https://arxiv.org/pdf/1706.02413</a:t>
            </a:r>
            <a:endParaRPr lang="en-US" sz="175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7798" y="5530339"/>
            <a:ext cx="60960" cy="786765"/>
          </a:xfrm>
          <a:prstGeom prst="rect">
            <a:avLst/>
          </a:prstGeom>
          <a:solidFill>
            <a:srgbClr val="FC8337"/>
          </a:solidFill>
        </p:spPr>
      </p:sp>
      <p:sp>
        <p:nvSpPr>
          <p:cNvPr id="9" name="Text 7"/>
          <p:cNvSpPr/>
          <p:nvPr/>
        </p:nvSpPr>
        <p:spPr>
          <a:xfrm>
            <a:off x="1081564" y="5413296"/>
            <a:ext cx="6091833" cy="114112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3. Gu, X., et al. (2025).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Multimodal Robust Prompt Distillation for 3D Point Cloud Models. </a:t>
            </a:r>
            <a:r>
              <a:rPr lang="en-US" sz="1750" i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arXiv:2511.21574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</a:p>
          <a:p>
            <a:pPr>
              <a:lnSpc>
                <a:spcPts val="2850"/>
              </a:lnSpc>
            </a:pPr>
            <a:r>
              <a:rPr lang="en-US" altLang="zh-CN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https://arxiv.org/pdf/2511.21574</a:t>
            </a:r>
            <a:br>
              <a:rPr lang="en-US" altLang="zh-CN" sz="1600" dirty="0"/>
            </a:br>
            <a:endParaRPr lang="en-US" sz="1750" dirty="0">
              <a:solidFill>
                <a:srgbClr val="E5E0D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426404" y="5382816"/>
            <a:ext cx="60960" cy="786765"/>
          </a:xfrm>
          <a:prstGeom prst="rect">
            <a:avLst/>
          </a:prstGeom>
          <a:solidFill>
            <a:srgbClr val="FC8337"/>
          </a:solidFill>
        </p:spPr>
      </p:sp>
      <p:sp>
        <p:nvSpPr>
          <p:cNvPr id="11" name="Text 9"/>
          <p:cNvSpPr/>
          <p:nvPr/>
        </p:nvSpPr>
        <p:spPr>
          <a:xfrm>
            <a:off x="7744658" y="5413296"/>
            <a:ext cx="6091952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4.</a:t>
            </a:r>
            <a:r>
              <a:rPr lang="en-US" sz="1750" dirty="0">
                <a:solidFill>
                  <a:srgbClr val="E5E0D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ART官方文档与MMDetection3D官方文档。</a:t>
            </a:r>
            <a:endParaRPr lang="en-US" sz="1750" dirty="0"/>
          </a:p>
        </p:txBody>
      </p:sp>
      <p:sp>
        <p:nvSpPr>
          <p:cNvPr id="12" name="矩形 11"/>
          <p:cNvSpPr/>
          <p:nvPr/>
        </p:nvSpPr>
        <p:spPr>
          <a:xfrm>
            <a:off x="12863830" y="7796530"/>
            <a:ext cx="1686560" cy="343535"/>
          </a:xfrm>
          <a:prstGeom prst="rect">
            <a:avLst/>
          </a:prstGeom>
          <a:solidFill>
            <a:srgbClr val="020202"/>
          </a:solidFill>
          <a:ln>
            <a:solidFill>
              <a:srgbClr val="02020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9.36094488188982,&quot;left&quot;:62.50314960629921,&quot;top&quot;:188.16094488188975,&quot;width&quot;:1026.974960629921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590</Words>
  <Application>Microsoft Office PowerPoint</Application>
  <PresentationFormat>自定义</PresentationFormat>
  <Paragraphs>146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Saira Medium</vt:lpstr>
      <vt:lpstr>Roboto</vt:lpstr>
      <vt:lpstr>Calibri</vt:lpstr>
      <vt:lpstr>Arial</vt:lpstr>
      <vt:lpstr>Saira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Mako Inked</dc:creator>
  <cp:lastModifiedBy>Mako Inked</cp:lastModifiedBy>
  <cp:revision>8</cp:revision>
  <dcterms:created xsi:type="dcterms:W3CDTF">2026-03-19T13:14:00Z</dcterms:created>
  <dcterms:modified xsi:type="dcterms:W3CDTF">2026-03-22T09:51:04Z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F7E65FEFF5CC41D1A9B482F6618F4C0D_12</vt:lpwstr>
  </property>
</Properties>
</file>