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0" r:id="rId15"/>
  </p:sldIdLst>
  <p:sldSz cx="12192000" cy="6858000"/>
  <p:notesSz cx="6858000" cy="12192000"/>
  <p:embeddedFontLst>
    <p:embeddedFont>
      <p:font typeface="等线" panose="02010600030101010101" pitchFamily="2" charset="-122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iSans" panose="02010600030101010101" charset="-122"/>
      <p:regular r:id="rId23"/>
    </p:embeddedFont>
  </p:embeddedFontLst>
  <p:custDataLst>
    <p:tags r:id="rId2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95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03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07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46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76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6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59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32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96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22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79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08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42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10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notesSlide" Target="../notesSlides/notesSlide10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image" Target="../media/image10.png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5" name="Shape 3"/>
          <p:cNvSpPr/>
          <p:nvPr/>
        </p:nvSpPr>
        <p:spPr>
          <a:xfrm flipV="1">
            <a:off x="-5080" y="116840"/>
            <a:ext cx="12273280" cy="5316855"/>
          </a:xfrm>
          <a:prstGeom prst="round1Rect">
            <a:avLst>
              <a:gd name="adj" fmla="val 16667"/>
            </a:avLst>
          </a:prstGeom>
          <a:solidFill>
            <a:srgbClr val="1D3EBF">
              <a:alpha val="32941"/>
            </a:srgbClr>
          </a:solidFill>
        </p:spPr>
      </p:sp>
      <p:sp>
        <p:nvSpPr>
          <p:cNvPr id="6" name="Shape 4"/>
          <p:cNvSpPr/>
          <p:nvPr/>
        </p:nvSpPr>
        <p:spPr>
          <a:xfrm flipV="1">
            <a:off x="-55880" y="-8890"/>
            <a:ext cx="12247880" cy="5316855"/>
          </a:xfrm>
          <a:prstGeom prst="round1Rect">
            <a:avLst>
              <a:gd name="adj" fmla="val 16667"/>
            </a:avLst>
          </a:prstGeom>
          <a:gradFill flip="none" rotWithShape="1">
            <a:gsLst>
              <a:gs pos="0">
                <a:srgbClr val="00B0F0"/>
              </a:gs>
              <a:gs pos="57000">
                <a:srgbClr val="004CC0"/>
              </a:gs>
              <a:gs pos="100000">
                <a:srgbClr val="1D3EBF"/>
              </a:gs>
            </a:gsLst>
            <a:lin ang="18900000" scaled="1"/>
          </a:gradFill>
        </p:spPr>
      </p:sp>
      <p:pic>
        <p:nvPicPr>
          <p:cNvPr id="7" name="Image 0" descr="https://kimi-img.moonshot.cn/pub/slides/slides_tmpl/image/25-09-04-15:50:49-d2sk9me1bb2p4onbqe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485" y="804545"/>
            <a:ext cx="5809615" cy="4663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3530" y="1398406"/>
            <a:ext cx="6386195" cy="30822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ReLU神经网络鲁棒性验证：</a:t>
            </a:r>
            <a:r>
              <a:rPr lang="zh-CN" alt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论文、</a:t>
            </a: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工具调研与</a:t>
            </a:r>
            <a:r>
              <a:rPr lang="zh-CN" alt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改进思路</a:t>
            </a:r>
          </a:p>
        </p:txBody>
      </p:sp>
      <p:sp>
        <p:nvSpPr>
          <p:cNvPr id="9" name="Shape 6"/>
          <p:cNvSpPr/>
          <p:nvPr/>
        </p:nvSpPr>
        <p:spPr>
          <a:xfrm>
            <a:off x="426986" y="4452257"/>
            <a:ext cx="774258" cy="76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Shape 7"/>
          <p:cNvSpPr/>
          <p:nvPr/>
        </p:nvSpPr>
        <p:spPr>
          <a:xfrm>
            <a:off x="426992" y="4674870"/>
            <a:ext cx="60757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37324" y="6006465"/>
            <a:ext cx="2088177" cy="46736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209414" y="5499055"/>
            <a:ext cx="11717383" cy="6369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关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丽娜</a:t>
            </a:r>
          </a:p>
          <a:p>
            <a:pPr algn="ctr"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小组成员：尹子羽（组长）、王茁、程佳丽、王怡芯</a:t>
            </a:r>
            <a:endParaRPr lang="en-US"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355939" y="6006465"/>
            <a:ext cx="2168313" cy="46736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4945970" y="6358210"/>
            <a:ext cx="237109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6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/0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</a:t>
            </a: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2</a:t>
            </a:r>
            <a:endParaRPr lang="en-US"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19290" y="1320165"/>
            <a:ext cx="5172710" cy="3987800"/>
          </a:xfrm>
          <a:custGeom>
            <a:avLst/>
            <a:gdLst/>
            <a:ahLst/>
            <a:cxnLst/>
            <a:rect l="l" t="t" r="r" b="b"/>
            <a:pathLst>
              <a:path w="5172710" h="3987800">
                <a:moveTo>
                  <a:pt x="3362960" y="0"/>
                </a:moveTo>
                <a:cubicBezTo>
                  <a:pt x="4033520" y="8255"/>
                  <a:pt x="4612640" y="172720"/>
                  <a:pt x="5172710" y="528955"/>
                </a:cubicBezTo>
                <a:lnTo>
                  <a:pt x="5172710" y="3101340"/>
                </a:lnTo>
                <a:cubicBezTo>
                  <a:pt x="5187950" y="3599180"/>
                  <a:pt x="4732655" y="3999865"/>
                  <a:pt x="4286250" y="3987800"/>
                </a:cubicBezTo>
                <a:lnTo>
                  <a:pt x="57785" y="3987800"/>
                </a:lnTo>
                <a:cubicBezTo>
                  <a:pt x="19685" y="3790315"/>
                  <a:pt x="-635" y="3554730"/>
                  <a:pt x="0" y="3362960"/>
                </a:cubicBezTo>
                <a:cubicBezTo>
                  <a:pt x="-57785" y="1475740"/>
                  <a:pt x="1670685" y="-46355"/>
                  <a:pt x="336296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CC0"/>
              </a:gs>
              <a:gs pos="30000">
                <a:srgbClr val="004CC0"/>
              </a:gs>
              <a:gs pos="79000">
                <a:srgbClr val="0084B4"/>
              </a:gs>
              <a:gs pos="100000">
                <a:srgbClr val="0084B4"/>
              </a:gs>
            </a:gsLst>
            <a:lin ang="4800000" scaled="1"/>
          </a:gradFill>
        </p:spPr>
      </p:sp>
      <p:sp>
        <p:nvSpPr>
          <p:cNvPr id="16" name="Shape 13"/>
          <p:cNvSpPr/>
          <p:nvPr/>
        </p:nvSpPr>
        <p:spPr>
          <a:xfrm>
            <a:off x="10793095" y="294005"/>
            <a:ext cx="112395" cy="112395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02645" y="294005"/>
            <a:ext cx="112395" cy="112395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12830" y="294005"/>
            <a:ext cx="112395" cy="112395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22380" y="294005"/>
            <a:ext cx="112395" cy="112395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B0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rot="5400000">
            <a:off x="11352530" y="4684395"/>
            <a:ext cx="140335" cy="121285"/>
          </a:xfrm>
          <a:prstGeom prst="triangle">
            <a:avLst>
              <a:gd name="adj" fmla="val 50000"/>
            </a:avLst>
          </a:prstGeom>
          <a:solidFill>
            <a:srgbClr val="00B0F0"/>
          </a:solidFill>
        </p:spPr>
      </p:sp>
      <p:sp>
        <p:nvSpPr>
          <p:cNvPr id="21" name="Shape 18"/>
          <p:cNvSpPr/>
          <p:nvPr/>
        </p:nvSpPr>
        <p:spPr>
          <a:xfrm rot="5400000" flipV="1">
            <a:off x="11140440" y="4684395"/>
            <a:ext cx="140335" cy="121285"/>
          </a:xfrm>
          <a:prstGeom prst="triangle">
            <a:avLst>
              <a:gd name="adj" fmla="val 50000"/>
            </a:avLst>
          </a:prstGeom>
          <a:solidFill>
            <a:srgbClr val="00B0F0"/>
          </a:solidFill>
        </p:spPr>
      </p:sp>
      <p:sp>
        <p:nvSpPr>
          <p:cNvPr id="22" name="Shape 19"/>
          <p:cNvSpPr/>
          <p:nvPr/>
        </p:nvSpPr>
        <p:spPr>
          <a:xfrm rot="15060000" flipV="1">
            <a:off x="5186045" y="3797935"/>
            <a:ext cx="1242695" cy="1242695"/>
          </a:xfrm>
          <a:custGeom>
            <a:avLst/>
            <a:gdLst/>
            <a:ahLst/>
            <a:cxnLst/>
            <a:rect l="l" t="t" r="r" b="b"/>
            <a:pathLst>
              <a:path w="1242695" h="1242695">
                <a:moveTo>
                  <a:pt x="455293" y="1221014"/>
                </a:moveTo>
                <a:cubicBezTo>
                  <a:pt x="455293" y="1221014"/>
                  <a:pt x="455293" y="1221014"/>
                  <a:pt x="787401" y="1221014"/>
                </a:cubicBezTo>
                <a:cubicBezTo>
                  <a:pt x="735091" y="1235469"/>
                  <a:pt x="679131" y="1242695"/>
                  <a:pt x="620739" y="1242695"/>
                </a:cubicBezTo>
                <a:cubicBezTo>
                  <a:pt x="563563" y="1242695"/>
                  <a:pt x="507603" y="1235469"/>
                  <a:pt x="455293" y="1221014"/>
                </a:cubicBezTo>
                <a:close/>
                <a:moveTo>
                  <a:pt x="309441" y="1158929"/>
                </a:moveTo>
                <a:lnTo>
                  <a:pt x="932267" y="1158929"/>
                </a:lnTo>
                <a:cubicBezTo>
                  <a:pt x="906771" y="1173342"/>
                  <a:pt x="881275" y="1186554"/>
                  <a:pt x="853352" y="1197363"/>
                </a:cubicBezTo>
                <a:cubicBezTo>
                  <a:pt x="853352" y="1197363"/>
                  <a:pt x="853352" y="1197363"/>
                  <a:pt x="387143" y="1197363"/>
                </a:cubicBezTo>
                <a:cubicBezTo>
                  <a:pt x="360433" y="1186554"/>
                  <a:pt x="333723" y="1173342"/>
                  <a:pt x="309441" y="1158929"/>
                </a:cubicBezTo>
                <a:close/>
                <a:moveTo>
                  <a:pt x="221734" y="1097829"/>
                </a:moveTo>
                <a:lnTo>
                  <a:pt x="1019976" y="1097829"/>
                </a:lnTo>
                <a:cubicBezTo>
                  <a:pt x="1002966" y="1111118"/>
                  <a:pt x="985956" y="1123198"/>
                  <a:pt x="968946" y="1135278"/>
                </a:cubicBezTo>
                <a:cubicBezTo>
                  <a:pt x="968946" y="1135278"/>
                  <a:pt x="968946" y="1135278"/>
                  <a:pt x="272763" y="1135278"/>
                </a:cubicBezTo>
                <a:cubicBezTo>
                  <a:pt x="254538" y="1123198"/>
                  <a:pt x="237528" y="1111118"/>
                  <a:pt x="221734" y="1097829"/>
                </a:cubicBezTo>
                <a:close/>
                <a:moveTo>
                  <a:pt x="158663" y="1035743"/>
                </a:moveTo>
                <a:lnTo>
                  <a:pt x="1083047" y="1035743"/>
                </a:lnTo>
                <a:cubicBezTo>
                  <a:pt x="1070900" y="1049294"/>
                  <a:pt x="1058752" y="1062844"/>
                  <a:pt x="1045391" y="1075163"/>
                </a:cubicBezTo>
                <a:cubicBezTo>
                  <a:pt x="1045391" y="1075163"/>
                  <a:pt x="1045391" y="1075163"/>
                  <a:pt x="196318" y="1075163"/>
                </a:cubicBezTo>
                <a:cubicBezTo>
                  <a:pt x="182957" y="1062844"/>
                  <a:pt x="169595" y="1049294"/>
                  <a:pt x="158663" y="1035743"/>
                </a:cubicBezTo>
                <a:close/>
                <a:moveTo>
                  <a:pt x="110374" y="975629"/>
                </a:moveTo>
                <a:lnTo>
                  <a:pt x="1132320" y="975629"/>
                </a:lnTo>
                <a:cubicBezTo>
                  <a:pt x="1122599" y="988917"/>
                  <a:pt x="1114093" y="1000997"/>
                  <a:pt x="1103157" y="1013078"/>
                </a:cubicBezTo>
                <a:cubicBezTo>
                  <a:pt x="1103157" y="1013078"/>
                  <a:pt x="1103157" y="1013078"/>
                  <a:pt x="138322" y="1013078"/>
                </a:cubicBezTo>
                <a:cubicBezTo>
                  <a:pt x="128601" y="1000997"/>
                  <a:pt x="118879" y="988917"/>
                  <a:pt x="110374" y="975629"/>
                </a:cubicBezTo>
                <a:close/>
                <a:moveTo>
                  <a:pt x="72925" y="913544"/>
                </a:moveTo>
                <a:lnTo>
                  <a:pt x="1169769" y="913544"/>
                </a:lnTo>
                <a:cubicBezTo>
                  <a:pt x="1162481" y="926755"/>
                  <a:pt x="1155193" y="939967"/>
                  <a:pt x="1146690" y="951978"/>
                </a:cubicBezTo>
                <a:cubicBezTo>
                  <a:pt x="1146690" y="951978"/>
                  <a:pt x="1146690" y="951978"/>
                  <a:pt x="94789" y="951978"/>
                </a:cubicBezTo>
                <a:cubicBezTo>
                  <a:pt x="87501" y="939967"/>
                  <a:pt x="80213" y="926755"/>
                  <a:pt x="72925" y="913544"/>
                </a:cubicBezTo>
                <a:close/>
                <a:moveTo>
                  <a:pt x="43361" y="852444"/>
                </a:moveTo>
                <a:lnTo>
                  <a:pt x="1197362" y="852444"/>
                </a:lnTo>
                <a:cubicBezTo>
                  <a:pt x="1192503" y="864523"/>
                  <a:pt x="1186430" y="877812"/>
                  <a:pt x="1180356" y="889892"/>
                </a:cubicBezTo>
                <a:cubicBezTo>
                  <a:pt x="1180356" y="889892"/>
                  <a:pt x="1180356" y="889892"/>
                  <a:pt x="60367" y="889892"/>
                </a:cubicBezTo>
                <a:cubicBezTo>
                  <a:pt x="54293" y="877812"/>
                  <a:pt x="49434" y="864523"/>
                  <a:pt x="43361" y="852444"/>
                </a:cubicBezTo>
                <a:close/>
                <a:moveTo>
                  <a:pt x="22666" y="790358"/>
                </a:moveTo>
                <a:lnTo>
                  <a:pt x="1219043" y="790358"/>
                </a:lnTo>
                <a:cubicBezTo>
                  <a:pt x="1215399" y="803909"/>
                  <a:pt x="1210541" y="817459"/>
                  <a:pt x="1205683" y="829778"/>
                </a:cubicBezTo>
                <a:cubicBezTo>
                  <a:pt x="1205683" y="829778"/>
                  <a:pt x="1205683" y="829778"/>
                  <a:pt x="34812" y="829778"/>
                </a:cubicBezTo>
                <a:cubicBezTo>
                  <a:pt x="29953" y="817459"/>
                  <a:pt x="26310" y="803909"/>
                  <a:pt x="22666" y="790358"/>
                </a:cubicBezTo>
                <a:close/>
                <a:moveTo>
                  <a:pt x="7883" y="730244"/>
                </a:moveTo>
                <a:lnTo>
                  <a:pt x="1232840" y="730244"/>
                </a:lnTo>
                <a:cubicBezTo>
                  <a:pt x="1230409" y="742323"/>
                  <a:pt x="1227979" y="755612"/>
                  <a:pt x="1225548" y="767692"/>
                </a:cubicBezTo>
                <a:cubicBezTo>
                  <a:pt x="1225548" y="767692"/>
                  <a:pt x="1225548" y="767692"/>
                  <a:pt x="16390" y="767692"/>
                </a:cubicBezTo>
                <a:cubicBezTo>
                  <a:pt x="13959" y="755612"/>
                  <a:pt x="10314" y="742323"/>
                  <a:pt x="7883" y="730244"/>
                </a:cubicBezTo>
                <a:close/>
                <a:moveTo>
                  <a:pt x="985" y="668158"/>
                </a:moveTo>
                <a:lnTo>
                  <a:pt x="1241709" y="668158"/>
                </a:lnTo>
                <a:cubicBezTo>
                  <a:pt x="1240494" y="681370"/>
                  <a:pt x="1239279" y="694582"/>
                  <a:pt x="1236849" y="706593"/>
                </a:cubicBezTo>
                <a:cubicBezTo>
                  <a:pt x="1236849" y="706593"/>
                  <a:pt x="1236849" y="706593"/>
                  <a:pt x="5846" y="706593"/>
                </a:cubicBezTo>
                <a:cubicBezTo>
                  <a:pt x="3416" y="694582"/>
                  <a:pt x="2201" y="681370"/>
                  <a:pt x="985" y="668158"/>
                </a:cubicBezTo>
                <a:close/>
                <a:moveTo>
                  <a:pt x="0" y="607058"/>
                </a:moveTo>
                <a:cubicBezTo>
                  <a:pt x="0" y="607058"/>
                  <a:pt x="0" y="607058"/>
                  <a:pt x="1242695" y="607058"/>
                </a:cubicBezTo>
                <a:cubicBezTo>
                  <a:pt x="1242695" y="611986"/>
                  <a:pt x="1242695" y="615681"/>
                  <a:pt x="1242695" y="620609"/>
                </a:cubicBezTo>
                <a:cubicBezTo>
                  <a:pt x="1242695" y="629232"/>
                  <a:pt x="1242695" y="637855"/>
                  <a:pt x="1242695" y="646478"/>
                </a:cubicBezTo>
                <a:cubicBezTo>
                  <a:pt x="1242695" y="646478"/>
                  <a:pt x="1242695" y="646478"/>
                  <a:pt x="0" y="646478"/>
                </a:cubicBezTo>
                <a:cubicBezTo>
                  <a:pt x="0" y="637855"/>
                  <a:pt x="0" y="629232"/>
                  <a:pt x="0" y="620609"/>
                </a:cubicBezTo>
                <a:cubicBezTo>
                  <a:pt x="0" y="615681"/>
                  <a:pt x="0" y="611986"/>
                  <a:pt x="0" y="607058"/>
                </a:cubicBezTo>
                <a:close/>
                <a:moveTo>
                  <a:pt x="3416" y="544973"/>
                </a:moveTo>
                <a:lnTo>
                  <a:pt x="1238063" y="544973"/>
                </a:lnTo>
                <a:cubicBezTo>
                  <a:pt x="1240494" y="558523"/>
                  <a:pt x="1240494" y="570842"/>
                  <a:pt x="1241709" y="584392"/>
                </a:cubicBezTo>
                <a:cubicBezTo>
                  <a:pt x="1241709" y="584392"/>
                  <a:pt x="1241709" y="584392"/>
                  <a:pt x="985" y="584392"/>
                </a:cubicBezTo>
                <a:cubicBezTo>
                  <a:pt x="985" y="570842"/>
                  <a:pt x="2201" y="558523"/>
                  <a:pt x="3416" y="544973"/>
                </a:cubicBezTo>
                <a:close/>
                <a:moveTo>
                  <a:pt x="14185" y="484859"/>
                </a:moveTo>
                <a:lnTo>
                  <a:pt x="1227524" y="484859"/>
                </a:lnTo>
                <a:cubicBezTo>
                  <a:pt x="1229953" y="496869"/>
                  <a:pt x="1232382" y="510081"/>
                  <a:pt x="1234811" y="523293"/>
                </a:cubicBezTo>
                <a:cubicBezTo>
                  <a:pt x="1234811" y="523293"/>
                  <a:pt x="1234811" y="523293"/>
                  <a:pt x="6898" y="523293"/>
                </a:cubicBezTo>
                <a:cubicBezTo>
                  <a:pt x="9327" y="510081"/>
                  <a:pt x="11756" y="496869"/>
                  <a:pt x="14185" y="484859"/>
                </a:cubicBezTo>
                <a:close/>
                <a:moveTo>
                  <a:pt x="31627" y="422773"/>
                </a:moveTo>
                <a:lnTo>
                  <a:pt x="1211068" y="422773"/>
                </a:lnTo>
                <a:cubicBezTo>
                  <a:pt x="1214712" y="435984"/>
                  <a:pt x="1218356" y="447995"/>
                  <a:pt x="1222000" y="461207"/>
                </a:cubicBezTo>
                <a:cubicBezTo>
                  <a:pt x="1222000" y="461207"/>
                  <a:pt x="1222000" y="461207"/>
                  <a:pt x="20695" y="461207"/>
                </a:cubicBezTo>
                <a:cubicBezTo>
                  <a:pt x="23124" y="447995"/>
                  <a:pt x="27983" y="435984"/>
                  <a:pt x="31627" y="422773"/>
                </a:cubicBezTo>
                <a:close/>
                <a:moveTo>
                  <a:pt x="55215" y="361673"/>
                </a:moveTo>
                <a:lnTo>
                  <a:pt x="1185278" y="361673"/>
                </a:lnTo>
                <a:cubicBezTo>
                  <a:pt x="1191354" y="373991"/>
                  <a:pt x="1197429" y="387542"/>
                  <a:pt x="1202290" y="401092"/>
                </a:cubicBezTo>
                <a:cubicBezTo>
                  <a:pt x="1202290" y="401092"/>
                  <a:pt x="1202290" y="401092"/>
                  <a:pt x="39419" y="401092"/>
                </a:cubicBezTo>
                <a:cubicBezTo>
                  <a:pt x="44279" y="387542"/>
                  <a:pt x="49139" y="373991"/>
                  <a:pt x="55215" y="361673"/>
                </a:cubicBezTo>
                <a:close/>
                <a:moveTo>
                  <a:pt x="88874" y="299588"/>
                </a:moveTo>
                <a:lnTo>
                  <a:pt x="1154049" y="299588"/>
                </a:lnTo>
                <a:cubicBezTo>
                  <a:pt x="1161336" y="313138"/>
                  <a:pt x="1168623" y="325457"/>
                  <a:pt x="1174696" y="339007"/>
                </a:cubicBezTo>
                <a:cubicBezTo>
                  <a:pt x="1174696" y="339007"/>
                  <a:pt x="1174696" y="339007"/>
                  <a:pt x="67012" y="339007"/>
                </a:cubicBezTo>
                <a:cubicBezTo>
                  <a:pt x="74300" y="325457"/>
                  <a:pt x="81587" y="313138"/>
                  <a:pt x="88874" y="299588"/>
                </a:cubicBezTo>
                <a:close/>
                <a:moveTo>
                  <a:pt x="131403" y="239473"/>
                </a:moveTo>
                <a:lnTo>
                  <a:pt x="1111291" y="239473"/>
                </a:lnTo>
                <a:cubicBezTo>
                  <a:pt x="1121005" y="251484"/>
                  <a:pt x="1130719" y="264695"/>
                  <a:pt x="1139219" y="277907"/>
                </a:cubicBezTo>
                <a:cubicBezTo>
                  <a:pt x="1139219" y="277907"/>
                  <a:pt x="1139219" y="277907"/>
                  <a:pt x="103476" y="277907"/>
                </a:cubicBezTo>
                <a:cubicBezTo>
                  <a:pt x="111975" y="264695"/>
                  <a:pt x="121689" y="251484"/>
                  <a:pt x="131403" y="239473"/>
                </a:cubicBezTo>
                <a:close/>
                <a:moveTo>
                  <a:pt x="185259" y="178373"/>
                </a:moveTo>
                <a:cubicBezTo>
                  <a:pt x="185259" y="178373"/>
                  <a:pt x="185259" y="178373"/>
                  <a:pt x="1056450" y="178373"/>
                </a:cubicBezTo>
                <a:cubicBezTo>
                  <a:pt x="1068600" y="190453"/>
                  <a:pt x="1080751" y="202533"/>
                  <a:pt x="1092901" y="215821"/>
                </a:cubicBezTo>
                <a:cubicBezTo>
                  <a:pt x="1092901" y="215821"/>
                  <a:pt x="1092901" y="215821"/>
                  <a:pt x="148808" y="215821"/>
                </a:cubicBezTo>
                <a:cubicBezTo>
                  <a:pt x="159743" y="202533"/>
                  <a:pt x="171894" y="190453"/>
                  <a:pt x="185259" y="178373"/>
                </a:cubicBezTo>
                <a:close/>
                <a:moveTo>
                  <a:pt x="257312" y="116288"/>
                </a:moveTo>
                <a:lnTo>
                  <a:pt x="984167" y="116288"/>
                </a:lnTo>
                <a:cubicBezTo>
                  <a:pt x="1001184" y="128606"/>
                  <a:pt x="1016985" y="142157"/>
                  <a:pt x="1032787" y="155707"/>
                </a:cubicBezTo>
                <a:cubicBezTo>
                  <a:pt x="1032787" y="155707"/>
                  <a:pt x="1032787" y="155707"/>
                  <a:pt x="209908" y="155707"/>
                </a:cubicBezTo>
                <a:cubicBezTo>
                  <a:pt x="224494" y="142157"/>
                  <a:pt x="241510" y="128606"/>
                  <a:pt x="257312" y="116288"/>
                </a:cubicBezTo>
                <a:close/>
                <a:moveTo>
                  <a:pt x="363363" y="56173"/>
                </a:moveTo>
                <a:lnTo>
                  <a:pt x="878346" y="56173"/>
                </a:lnTo>
                <a:cubicBezTo>
                  <a:pt x="903852" y="67045"/>
                  <a:pt x="926929" y="79125"/>
                  <a:pt x="950006" y="93621"/>
                </a:cubicBezTo>
                <a:cubicBezTo>
                  <a:pt x="950006" y="93621"/>
                  <a:pt x="950006" y="93621"/>
                  <a:pt x="291703" y="93621"/>
                </a:cubicBezTo>
                <a:cubicBezTo>
                  <a:pt x="314779" y="79125"/>
                  <a:pt x="339071" y="67045"/>
                  <a:pt x="363363" y="56173"/>
                </a:cubicBezTo>
                <a:close/>
                <a:moveTo>
                  <a:pt x="620361" y="0"/>
                </a:moveTo>
                <a:cubicBezTo>
                  <a:pt x="690856" y="0"/>
                  <a:pt x="757705" y="10841"/>
                  <a:pt x="820907" y="32521"/>
                </a:cubicBezTo>
                <a:cubicBezTo>
                  <a:pt x="820907" y="32521"/>
                  <a:pt x="820907" y="32521"/>
                  <a:pt x="419816" y="32521"/>
                </a:cubicBezTo>
                <a:cubicBezTo>
                  <a:pt x="483018" y="10841"/>
                  <a:pt x="551082" y="0"/>
                  <a:pt x="62036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23" name="Shape 20"/>
          <p:cNvSpPr/>
          <p:nvPr/>
        </p:nvSpPr>
        <p:spPr>
          <a:xfrm rot="6540000">
            <a:off x="4919345" y="-12700"/>
            <a:ext cx="1242695" cy="1242695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cxnSp>
        <p:nvCxnSpPr>
          <p:cNvPr id="24" name="Shape 21"/>
          <p:cNvCxnSpPr>
            <a:endCxn id="11" idx="1"/>
          </p:cNvCxnSpPr>
          <p:nvPr/>
        </p:nvCxnSpPr>
        <p:spPr>
          <a:xfrm flipH="1" flipV="1">
            <a:off x="137324" y="6240145"/>
            <a:ext cx="11455281" cy="7030"/>
          </a:xfrm>
          <a:prstGeom prst="line">
            <a:avLst/>
          </a:prstGeom>
          <a:noFill/>
          <a:ln w="12700">
            <a:solidFill>
              <a:srgbClr val="004CC0"/>
            </a:solidFill>
            <a:prstDash val="solid"/>
            <a:headEnd type="none"/>
            <a:tailEnd type="none"/>
          </a:ln>
        </p:spPr>
      </p:cxnSp>
      <p:sp>
        <p:nvSpPr>
          <p:cNvPr id="25" name="Shape 22"/>
          <p:cNvSpPr/>
          <p:nvPr/>
        </p:nvSpPr>
        <p:spPr>
          <a:xfrm rot="16200000" flipH="1">
            <a:off x="11779309" y="6167814"/>
            <a:ext cx="222250" cy="158631"/>
          </a:xfrm>
          <a:prstGeom prst="triangle">
            <a:avLst>
              <a:gd name="adj" fmla="val 50000"/>
            </a:avLst>
          </a:prstGeom>
          <a:solidFill>
            <a:srgbClr val="004CC0"/>
          </a:solidFill>
        </p:spPr>
      </p:sp>
      <p:sp>
        <p:nvSpPr>
          <p:cNvPr id="26" name="Shape 23"/>
          <p:cNvSpPr/>
          <p:nvPr/>
        </p:nvSpPr>
        <p:spPr>
          <a:xfrm rot="16200000" flipH="1">
            <a:off x="11560751" y="6167814"/>
            <a:ext cx="222250" cy="158631"/>
          </a:xfrm>
          <a:prstGeom prst="triangle">
            <a:avLst>
              <a:gd name="adj" fmla="val 50000"/>
            </a:avLst>
          </a:prstGeom>
          <a:solidFill>
            <a:srgbClr val="004CC0"/>
          </a:solidFill>
        </p:spPr>
      </p:sp>
      <p:sp>
        <p:nvSpPr>
          <p:cNvPr id="27" name="Shape 24"/>
          <p:cNvSpPr/>
          <p:nvPr/>
        </p:nvSpPr>
        <p:spPr>
          <a:xfrm>
            <a:off x="7019290" y="1320165"/>
            <a:ext cx="5172710" cy="3987800"/>
          </a:xfrm>
          <a:custGeom>
            <a:avLst/>
            <a:gdLst/>
            <a:ahLst/>
            <a:cxnLst/>
            <a:rect l="l" t="t" r="r" b="b"/>
            <a:pathLst>
              <a:path w="5172710" h="3987800">
                <a:moveTo>
                  <a:pt x="3362960" y="0"/>
                </a:moveTo>
                <a:cubicBezTo>
                  <a:pt x="4033520" y="8255"/>
                  <a:pt x="4612640" y="172720"/>
                  <a:pt x="5172710" y="528955"/>
                </a:cubicBezTo>
                <a:lnTo>
                  <a:pt x="5172710" y="3101340"/>
                </a:lnTo>
                <a:cubicBezTo>
                  <a:pt x="5187950" y="3599180"/>
                  <a:pt x="4732655" y="3999865"/>
                  <a:pt x="4286250" y="3987800"/>
                </a:cubicBezTo>
                <a:lnTo>
                  <a:pt x="57785" y="3987800"/>
                </a:lnTo>
                <a:cubicBezTo>
                  <a:pt x="19685" y="3790315"/>
                  <a:pt x="-635" y="3554730"/>
                  <a:pt x="0" y="3362960"/>
                </a:cubicBezTo>
                <a:cubicBezTo>
                  <a:pt x="-57785" y="1475740"/>
                  <a:pt x="1670685" y="-46355"/>
                  <a:pt x="336296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CC0"/>
              </a:gs>
              <a:gs pos="30000">
                <a:srgbClr val="004CC0"/>
              </a:gs>
              <a:gs pos="79000">
                <a:srgbClr val="0084B4"/>
              </a:gs>
              <a:gs pos="100000">
                <a:srgbClr val="0084B4"/>
              </a:gs>
            </a:gsLst>
            <a:lin ang="4800000" scaled="1"/>
          </a:gradFill>
        </p:spPr>
      </p:sp>
      <p:pic>
        <p:nvPicPr>
          <p:cNvPr id="28" name="Image 1" descr="https://kimi-img.moonshot.cn/pub/slides/slides_tmpl/image/25-09-04-15:50:50-d2sk9mm1bb2p4onbqe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845" y="16510"/>
            <a:ext cx="5175250" cy="5291455"/>
          </a:xfrm>
          <a:prstGeom prst="rect">
            <a:avLst/>
          </a:prstGeom>
        </p:spPr>
      </p:pic>
      <p:pic>
        <p:nvPicPr>
          <p:cNvPr id="29" name="Image 2" descr="https://kimi-img.moonshot.cn/pub/slides/slides_tmpl/image/25-09-04-15:50:49-d2sk9me1bb2p4onbqe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880" y="-8890"/>
            <a:ext cx="1739900" cy="14097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5" name="Shape 3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3028950" y="939800"/>
            <a:ext cx="6096000" cy="11106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68708" y="5151120"/>
            <a:ext cx="502285" cy="0"/>
          </a:xfrm>
          <a:prstGeom prst="line">
            <a:avLst/>
          </a:prstGeom>
          <a:noFill/>
          <a:ln w="9525">
            <a:gradFill flip="none" rotWithShape="1">
              <a:gsLst>
                <a:gs pos="0">
                  <a:srgbClr val="004CC0">
                    <a:alpha val="65000"/>
                  </a:srgbClr>
                </a:gs>
                <a:gs pos="100000">
                  <a:srgbClr val="004C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452809" y="5151120"/>
            <a:ext cx="502285" cy="0"/>
          </a:xfrm>
          <a:prstGeom prst="line">
            <a:avLst/>
          </a:prstGeom>
          <a:noFill/>
          <a:ln w="9525">
            <a:gradFill flip="none" rotWithShape="1">
              <a:gsLst>
                <a:gs pos="0">
                  <a:srgbClr val="004CC0">
                    <a:alpha val="65000"/>
                  </a:srgbClr>
                </a:gs>
                <a:gs pos="100000">
                  <a:srgbClr val="004C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236910" y="5151120"/>
            <a:ext cx="502285" cy="0"/>
          </a:xfrm>
          <a:prstGeom prst="line">
            <a:avLst/>
          </a:prstGeom>
          <a:noFill/>
          <a:ln w="9525">
            <a:gradFill flip="none" rotWithShape="1">
              <a:gsLst>
                <a:gs pos="0">
                  <a:srgbClr val="004CC0">
                    <a:alpha val="65000"/>
                  </a:srgbClr>
                </a:gs>
                <a:gs pos="100000">
                  <a:srgbClr val="004C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021010" y="5151120"/>
            <a:ext cx="502285" cy="0"/>
          </a:xfrm>
          <a:prstGeom prst="line">
            <a:avLst/>
          </a:prstGeom>
          <a:noFill/>
          <a:ln w="9525">
            <a:gradFill flip="none" rotWithShape="1">
              <a:gsLst>
                <a:gs pos="0">
                  <a:srgbClr val="004CC0">
                    <a:alpha val="65000"/>
                  </a:srgbClr>
                </a:gs>
                <a:gs pos="100000">
                  <a:srgbClr val="004CC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-27940" y="5430520"/>
            <a:ext cx="12247880" cy="1427480"/>
          </a:xfrm>
          <a:prstGeom prst="rect">
            <a:avLst/>
          </a:prstGeom>
          <a:solidFill>
            <a:srgbClr val="004CC0"/>
          </a:solidFill>
        </p:spPr>
      </p:sp>
      <p:pic>
        <p:nvPicPr>
          <p:cNvPr id="12" name="Image 0" descr="https://kimi-img.moonshot.cn/pub/slides/slides_tmpl/image/25-09-04-15:50:49-d2sk9me1bb2p4onbqe9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70350" y="816217"/>
            <a:ext cx="4013200" cy="584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7250" y="2265450"/>
            <a:ext cx="1825200" cy="138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9000" dirty="0">
                <a:solidFill>
                  <a:srgbClr val="004C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8135" y="3508333"/>
            <a:ext cx="2563350" cy="9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zh-CN" altLang="en-US" sz="2800" b="1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</a:t>
            </a:r>
            <a:r>
              <a:rPr lang="en-US" sz="2800" b="1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背景与问题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91351" y="2265450"/>
            <a:ext cx="1825200" cy="138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800" dirty="0">
                <a:solidFill>
                  <a:srgbClr val="004C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22253" y="3508333"/>
            <a:ext cx="2563350" cy="9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领域</a:t>
            </a:r>
            <a:r>
              <a:rPr lang="zh-CN" altLang="en-US" sz="2800" b="1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Arial" panose="020B0604020202020204" pitchFamily="34" charset="0"/>
              </a:rPr>
              <a:t>论文</a:t>
            </a:r>
            <a:r>
              <a:rPr lang="en-US" sz="2800" b="1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与工具调研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75452" y="2265450"/>
            <a:ext cx="1825200" cy="138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600" dirty="0">
                <a:solidFill>
                  <a:srgbClr val="004C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06376" y="3508333"/>
            <a:ext cx="2784135" cy="9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28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</a:t>
            </a:r>
            <a:r>
              <a:rPr lang="zh-CN" altLang="en-US" sz="28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Arial" panose="020B0604020202020204" pitchFamily="34" charset="0"/>
              </a:rPr>
              <a:t>择</a:t>
            </a:r>
            <a:r>
              <a:rPr lang="en-US" altLang="zh-CN" sz="28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Marabou</a:t>
            </a:r>
            <a:r>
              <a:rPr lang="zh-CN" altLang="en-US" sz="28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</a:t>
            </a:r>
            <a:r>
              <a:rPr lang="en-US" altLang="zh-CN" sz="28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α,β-CROWN</a:t>
            </a:r>
            <a:r>
              <a:rPr lang="zh-CN" altLang="en-US" sz="28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的理由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59552" y="2265450"/>
            <a:ext cx="1825200" cy="138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8400" dirty="0">
                <a:solidFill>
                  <a:srgbClr val="004CC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990477" y="3508350"/>
            <a:ext cx="2563350" cy="95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2800" b="1" dirty="0">
                <a:solidFill>
                  <a:srgbClr val="2B2F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改进策略试想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pic>
        <p:nvPicPr>
          <p:cNvPr id="5" name="Image 0" descr="https://kimi-img.moonshot.cn/pub/slides/slides_tmpl/image/25-09-04-15:50:51-d2sk9mu1bb2p4onbqec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3430" cy="6842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1D3EBF">
              <a:alpha val="94902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3991041" y="2672349"/>
            <a:ext cx="687387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</a:t>
            </a:r>
            <a:r>
              <a:rPr 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</a:t>
            </a: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</a:t>
            </a:r>
            <a:r>
              <a:rPr 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</a:t>
            </a:r>
            <a:endParaRPr lang="zh-CN" altLang="en-US" sz="6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70960" y="2246630"/>
            <a:ext cx="0" cy="19380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941705" y="2068830"/>
            <a:ext cx="2804160" cy="2221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2100000">
            <a:off x="9042400" y="3636645"/>
            <a:ext cx="3905250" cy="3905250"/>
          </a:xfrm>
          <a:custGeom>
            <a:avLst/>
            <a:gdLst/>
            <a:ahLst/>
            <a:cxnLst/>
            <a:rect l="l" t="t" r="r" b="b"/>
            <a:pathLst>
              <a:path w="3905250" h="3905250">
                <a:moveTo>
                  <a:pt x="1430788" y="3837117"/>
                </a:moveTo>
                <a:cubicBezTo>
                  <a:pt x="1430788" y="3837117"/>
                  <a:pt x="1430788" y="3837117"/>
                  <a:pt x="2474458" y="3837117"/>
                </a:cubicBezTo>
                <a:cubicBezTo>
                  <a:pt x="2310071" y="3882540"/>
                  <a:pt x="2134213" y="3905250"/>
                  <a:pt x="1950712" y="3905250"/>
                </a:cubicBezTo>
                <a:cubicBezTo>
                  <a:pt x="1771033" y="3905250"/>
                  <a:pt x="1595175" y="3882540"/>
                  <a:pt x="1430788" y="3837117"/>
                </a:cubicBezTo>
                <a:close/>
                <a:moveTo>
                  <a:pt x="972440" y="3642011"/>
                </a:moveTo>
                <a:lnTo>
                  <a:pt x="2929711" y="3642011"/>
                </a:lnTo>
                <a:cubicBezTo>
                  <a:pt x="2849588" y="3687305"/>
                  <a:pt x="2769465" y="3728823"/>
                  <a:pt x="2681713" y="3762792"/>
                </a:cubicBezTo>
                <a:cubicBezTo>
                  <a:pt x="2681713" y="3762792"/>
                  <a:pt x="2681713" y="3762792"/>
                  <a:pt x="1216621" y="3762792"/>
                </a:cubicBezTo>
                <a:cubicBezTo>
                  <a:pt x="1132685" y="3728823"/>
                  <a:pt x="1048746" y="3687305"/>
                  <a:pt x="972440" y="3642011"/>
                </a:cubicBezTo>
                <a:close/>
                <a:moveTo>
                  <a:pt x="696812" y="3450000"/>
                </a:moveTo>
                <a:lnTo>
                  <a:pt x="3205340" y="3450000"/>
                </a:lnTo>
                <a:cubicBezTo>
                  <a:pt x="3151885" y="3491759"/>
                  <a:pt x="3098432" y="3529723"/>
                  <a:pt x="3044977" y="3567684"/>
                </a:cubicBezTo>
                <a:cubicBezTo>
                  <a:pt x="3044977" y="3567684"/>
                  <a:pt x="3044977" y="3567684"/>
                  <a:pt x="857175" y="3567684"/>
                </a:cubicBezTo>
                <a:cubicBezTo>
                  <a:pt x="799902" y="3529723"/>
                  <a:pt x="746447" y="3491759"/>
                  <a:pt x="696812" y="3450000"/>
                </a:cubicBezTo>
                <a:close/>
                <a:moveTo>
                  <a:pt x="498608" y="3254891"/>
                </a:moveTo>
                <a:lnTo>
                  <a:pt x="3403544" y="3254891"/>
                </a:lnTo>
                <a:cubicBezTo>
                  <a:pt x="3365373" y="3297474"/>
                  <a:pt x="3327199" y="3340057"/>
                  <a:pt x="3285209" y="3378769"/>
                </a:cubicBezTo>
                <a:cubicBezTo>
                  <a:pt x="3285209" y="3378769"/>
                  <a:pt x="3285209" y="3378769"/>
                  <a:pt x="616943" y="3378769"/>
                </a:cubicBezTo>
                <a:cubicBezTo>
                  <a:pt x="574953" y="3340057"/>
                  <a:pt x="532964" y="3297474"/>
                  <a:pt x="498608" y="3254891"/>
                </a:cubicBezTo>
                <a:close/>
                <a:moveTo>
                  <a:pt x="346856" y="3065979"/>
                </a:moveTo>
                <a:lnTo>
                  <a:pt x="3558390" y="3065979"/>
                </a:lnTo>
                <a:cubicBezTo>
                  <a:pt x="3527840" y="3107736"/>
                  <a:pt x="3501110" y="3145699"/>
                  <a:pt x="3466742" y="3183663"/>
                </a:cubicBezTo>
                <a:cubicBezTo>
                  <a:pt x="3466742" y="3183663"/>
                  <a:pt x="3466742" y="3183663"/>
                  <a:pt x="434687" y="3183663"/>
                </a:cubicBezTo>
                <a:cubicBezTo>
                  <a:pt x="404137" y="3145699"/>
                  <a:pt x="373587" y="3107736"/>
                  <a:pt x="346856" y="3065979"/>
                </a:cubicBezTo>
                <a:close/>
                <a:moveTo>
                  <a:pt x="229172" y="2870870"/>
                </a:moveTo>
                <a:lnTo>
                  <a:pt x="3676074" y="2870870"/>
                </a:lnTo>
                <a:cubicBezTo>
                  <a:pt x="3653171" y="2912388"/>
                  <a:pt x="3630268" y="2953907"/>
                  <a:pt x="3603548" y="2991652"/>
                </a:cubicBezTo>
                <a:cubicBezTo>
                  <a:pt x="3603548" y="2991652"/>
                  <a:pt x="3603548" y="2991652"/>
                  <a:pt x="297881" y="2991652"/>
                </a:cubicBezTo>
                <a:cubicBezTo>
                  <a:pt x="274978" y="2953907"/>
                  <a:pt x="252075" y="2912388"/>
                  <a:pt x="229172" y="2870870"/>
                </a:cubicBezTo>
                <a:close/>
                <a:moveTo>
                  <a:pt x="136264" y="2678859"/>
                </a:moveTo>
                <a:lnTo>
                  <a:pt x="3762788" y="2678859"/>
                </a:lnTo>
                <a:cubicBezTo>
                  <a:pt x="3747519" y="2716821"/>
                  <a:pt x="3728432" y="2758580"/>
                  <a:pt x="3709345" y="2796543"/>
                </a:cubicBezTo>
                <a:cubicBezTo>
                  <a:pt x="3709345" y="2796543"/>
                  <a:pt x="3709345" y="2796543"/>
                  <a:pt x="189707" y="2796543"/>
                </a:cubicBezTo>
                <a:cubicBezTo>
                  <a:pt x="170620" y="2758580"/>
                  <a:pt x="155351" y="2716821"/>
                  <a:pt x="136264" y="2678859"/>
                </a:cubicBezTo>
                <a:close/>
                <a:moveTo>
                  <a:pt x="71229" y="2483753"/>
                </a:moveTo>
                <a:lnTo>
                  <a:pt x="3830923" y="2483753"/>
                </a:lnTo>
                <a:cubicBezTo>
                  <a:pt x="3819472" y="2526335"/>
                  <a:pt x="3804205" y="2568918"/>
                  <a:pt x="3788937" y="2607631"/>
                </a:cubicBezTo>
                <a:cubicBezTo>
                  <a:pt x="3788937" y="2607631"/>
                  <a:pt x="3788937" y="2607631"/>
                  <a:pt x="109399" y="2607631"/>
                </a:cubicBezTo>
                <a:cubicBezTo>
                  <a:pt x="94130" y="2568918"/>
                  <a:pt x="82680" y="2526335"/>
                  <a:pt x="71229" y="2483753"/>
                </a:cubicBezTo>
                <a:close/>
                <a:moveTo>
                  <a:pt x="24774" y="2294838"/>
                </a:moveTo>
                <a:lnTo>
                  <a:pt x="3874279" y="2294838"/>
                </a:lnTo>
                <a:cubicBezTo>
                  <a:pt x="3866641" y="2332799"/>
                  <a:pt x="3859004" y="2374559"/>
                  <a:pt x="3851364" y="2412522"/>
                </a:cubicBezTo>
                <a:cubicBezTo>
                  <a:pt x="3851364" y="2412522"/>
                  <a:pt x="3851364" y="2412522"/>
                  <a:pt x="51506" y="2412522"/>
                </a:cubicBezTo>
                <a:cubicBezTo>
                  <a:pt x="43868" y="2374559"/>
                  <a:pt x="32411" y="2332799"/>
                  <a:pt x="24774" y="2294838"/>
                </a:cubicBezTo>
                <a:close/>
                <a:moveTo>
                  <a:pt x="3096" y="2099731"/>
                </a:moveTo>
                <a:lnTo>
                  <a:pt x="3902152" y="2099731"/>
                </a:lnTo>
                <a:cubicBezTo>
                  <a:pt x="3898334" y="2141249"/>
                  <a:pt x="3894515" y="2182769"/>
                  <a:pt x="3886877" y="2220513"/>
                </a:cubicBezTo>
                <a:cubicBezTo>
                  <a:pt x="3886877" y="2220513"/>
                  <a:pt x="3886877" y="2220513"/>
                  <a:pt x="18371" y="2220513"/>
                </a:cubicBezTo>
                <a:cubicBezTo>
                  <a:pt x="10733" y="2182769"/>
                  <a:pt x="6916" y="2141249"/>
                  <a:pt x="3096" y="2099731"/>
                </a:cubicBezTo>
                <a:close/>
                <a:moveTo>
                  <a:pt x="0" y="1907721"/>
                </a:moveTo>
                <a:cubicBezTo>
                  <a:pt x="0" y="1907721"/>
                  <a:pt x="0" y="1907721"/>
                  <a:pt x="3905250" y="1907721"/>
                </a:cubicBezTo>
                <a:cubicBezTo>
                  <a:pt x="3905250" y="1923204"/>
                  <a:pt x="3905250" y="1934818"/>
                  <a:pt x="3905250" y="1950304"/>
                </a:cubicBezTo>
                <a:cubicBezTo>
                  <a:pt x="3905250" y="1977403"/>
                  <a:pt x="3905250" y="2004500"/>
                  <a:pt x="3905250" y="2031599"/>
                </a:cubicBezTo>
                <a:cubicBezTo>
                  <a:pt x="3905250" y="2031599"/>
                  <a:pt x="3905250" y="2031599"/>
                  <a:pt x="0" y="2031599"/>
                </a:cubicBezTo>
                <a:cubicBezTo>
                  <a:pt x="0" y="2004500"/>
                  <a:pt x="0" y="1977403"/>
                  <a:pt x="0" y="1950304"/>
                </a:cubicBezTo>
                <a:cubicBezTo>
                  <a:pt x="0" y="1934818"/>
                  <a:pt x="0" y="1923204"/>
                  <a:pt x="0" y="1907721"/>
                </a:cubicBezTo>
                <a:close/>
                <a:moveTo>
                  <a:pt x="10733" y="1712612"/>
                </a:moveTo>
                <a:lnTo>
                  <a:pt x="3890695" y="1712612"/>
                </a:lnTo>
                <a:cubicBezTo>
                  <a:pt x="3898334" y="1755195"/>
                  <a:pt x="3898334" y="1793907"/>
                  <a:pt x="3902152" y="1836490"/>
                </a:cubicBezTo>
                <a:cubicBezTo>
                  <a:pt x="3902152" y="1836490"/>
                  <a:pt x="3902152" y="1836490"/>
                  <a:pt x="3096" y="1836490"/>
                </a:cubicBezTo>
                <a:cubicBezTo>
                  <a:pt x="3096" y="1793907"/>
                  <a:pt x="6916" y="1755195"/>
                  <a:pt x="10733" y="1712612"/>
                </a:cubicBezTo>
                <a:close/>
                <a:moveTo>
                  <a:pt x="44578" y="1523699"/>
                </a:moveTo>
                <a:lnTo>
                  <a:pt x="3857574" y="1523699"/>
                </a:lnTo>
                <a:cubicBezTo>
                  <a:pt x="3865207" y="1561444"/>
                  <a:pt x="3872841" y="1602962"/>
                  <a:pt x="3880474" y="1644481"/>
                </a:cubicBezTo>
                <a:cubicBezTo>
                  <a:pt x="3880474" y="1644481"/>
                  <a:pt x="3880474" y="1644481"/>
                  <a:pt x="21678" y="1644481"/>
                </a:cubicBezTo>
                <a:cubicBezTo>
                  <a:pt x="29311" y="1602962"/>
                  <a:pt x="36945" y="1561444"/>
                  <a:pt x="44578" y="1523699"/>
                </a:cubicBezTo>
                <a:close/>
                <a:moveTo>
                  <a:pt x="99389" y="1328591"/>
                </a:moveTo>
                <a:lnTo>
                  <a:pt x="3805859" y="1328591"/>
                </a:lnTo>
                <a:cubicBezTo>
                  <a:pt x="3817310" y="1370108"/>
                  <a:pt x="3828762" y="1407853"/>
                  <a:pt x="3840213" y="1449373"/>
                </a:cubicBezTo>
                <a:cubicBezTo>
                  <a:pt x="3840213" y="1449373"/>
                  <a:pt x="3840213" y="1449373"/>
                  <a:pt x="65035" y="1449373"/>
                </a:cubicBezTo>
                <a:cubicBezTo>
                  <a:pt x="72669" y="1407853"/>
                  <a:pt x="87938" y="1370108"/>
                  <a:pt x="99389" y="1328591"/>
                </a:cubicBezTo>
                <a:close/>
                <a:moveTo>
                  <a:pt x="173517" y="1136580"/>
                </a:moveTo>
                <a:lnTo>
                  <a:pt x="3724814" y="1136580"/>
                </a:lnTo>
                <a:cubicBezTo>
                  <a:pt x="3743906" y="1175293"/>
                  <a:pt x="3762999" y="1217875"/>
                  <a:pt x="3778274" y="1260458"/>
                </a:cubicBezTo>
                <a:cubicBezTo>
                  <a:pt x="3778274" y="1260458"/>
                  <a:pt x="3778274" y="1260458"/>
                  <a:pt x="123876" y="1260458"/>
                </a:cubicBezTo>
                <a:cubicBezTo>
                  <a:pt x="139151" y="1217875"/>
                  <a:pt x="154424" y="1175293"/>
                  <a:pt x="173517" y="1136580"/>
                </a:cubicBezTo>
                <a:close/>
                <a:moveTo>
                  <a:pt x="279293" y="941474"/>
                </a:moveTo>
                <a:lnTo>
                  <a:pt x="3626673" y="941474"/>
                </a:lnTo>
                <a:cubicBezTo>
                  <a:pt x="3649574" y="984056"/>
                  <a:pt x="3672475" y="1022769"/>
                  <a:pt x="3691560" y="1065351"/>
                </a:cubicBezTo>
                <a:cubicBezTo>
                  <a:pt x="3691560" y="1065351"/>
                  <a:pt x="3691560" y="1065351"/>
                  <a:pt x="210590" y="1065351"/>
                </a:cubicBezTo>
                <a:cubicBezTo>
                  <a:pt x="233491" y="1022769"/>
                  <a:pt x="256392" y="984056"/>
                  <a:pt x="279293" y="941474"/>
                </a:cubicBezTo>
                <a:close/>
                <a:moveTo>
                  <a:pt x="412943" y="752559"/>
                </a:moveTo>
                <a:lnTo>
                  <a:pt x="3492305" y="752559"/>
                </a:lnTo>
                <a:cubicBezTo>
                  <a:pt x="3522832" y="790304"/>
                  <a:pt x="3553359" y="831821"/>
                  <a:pt x="3580070" y="873341"/>
                </a:cubicBezTo>
                <a:cubicBezTo>
                  <a:pt x="3580070" y="873341"/>
                  <a:pt x="3580070" y="873341"/>
                  <a:pt x="325179" y="873341"/>
                </a:cubicBezTo>
                <a:cubicBezTo>
                  <a:pt x="351889" y="831821"/>
                  <a:pt x="382416" y="790304"/>
                  <a:pt x="412943" y="752559"/>
                </a:cubicBezTo>
                <a:close/>
                <a:moveTo>
                  <a:pt x="582189" y="560548"/>
                </a:moveTo>
                <a:cubicBezTo>
                  <a:pt x="582189" y="560548"/>
                  <a:pt x="582189" y="560548"/>
                  <a:pt x="3319963" y="560548"/>
                </a:cubicBezTo>
                <a:cubicBezTo>
                  <a:pt x="3358147" y="598509"/>
                  <a:pt x="3396330" y="636473"/>
                  <a:pt x="3434514" y="678232"/>
                </a:cubicBezTo>
                <a:cubicBezTo>
                  <a:pt x="3434514" y="678232"/>
                  <a:pt x="3434514" y="678232"/>
                  <a:pt x="467638" y="678232"/>
                </a:cubicBezTo>
                <a:cubicBezTo>
                  <a:pt x="502004" y="636473"/>
                  <a:pt x="540188" y="598509"/>
                  <a:pt x="582189" y="560548"/>
                </a:cubicBezTo>
                <a:close/>
                <a:moveTo>
                  <a:pt x="808618" y="365442"/>
                </a:moveTo>
                <a:lnTo>
                  <a:pt x="3092810" y="365442"/>
                </a:lnTo>
                <a:cubicBezTo>
                  <a:pt x="3146286" y="404154"/>
                  <a:pt x="3195943" y="446737"/>
                  <a:pt x="3245599" y="489319"/>
                </a:cubicBezTo>
                <a:cubicBezTo>
                  <a:pt x="3245599" y="489319"/>
                  <a:pt x="3245599" y="489319"/>
                  <a:pt x="659649" y="489319"/>
                </a:cubicBezTo>
                <a:cubicBezTo>
                  <a:pt x="705486" y="446737"/>
                  <a:pt x="758962" y="404154"/>
                  <a:pt x="808618" y="365442"/>
                </a:cubicBezTo>
                <a:close/>
                <a:moveTo>
                  <a:pt x="1141891" y="176527"/>
                </a:moveTo>
                <a:lnTo>
                  <a:pt x="2760259" y="176527"/>
                </a:lnTo>
                <a:cubicBezTo>
                  <a:pt x="2840413" y="210692"/>
                  <a:pt x="2912935" y="248655"/>
                  <a:pt x="2985456" y="294211"/>
                </a:cubicBezTo>
                <a:cubicBezTo>
                  <a:pt x="2985456" y="294211"/>
                  <a:pt x="2985456" y="294211"/>
                  <a:pt x="916695" y="294211"/>
                </a:cubicBezTo>
                <a:cubicBezTo>
                  <a:pt x="989215" y="248655"/>
                  <a:pt x="1065553" y="210692"/>
                  <a:pt x="1141891" y="176527"/>
                </a:cubicBezTo>
                <a:close/>
                <a:moveTo>
                  <a:pt x="1949526" y="0"/>
                </a:moveTo>
                <a:cubicBezTo>
                  <a:pt x="2171061" y="0"/>
                  <a:pt x="2381136" y="34067"/>
                  <a:pt x="2579754" y="102200"/>
                </a:cubicBezTo>
                <a:cubicBezTo>
                  <a:pt x="2579754" y="102200"/>
                  <a:pt x="2579754" y="102200"/>
                  <a:pt x="1319298" y="102200"/>
                </a:cubicBezTo>
                <a:cubicBezTo>
                  <a:pt x="1517916" y="34067"/>
                  <a:pt x="1731811" y="0"/>
                  <a:pt x="19495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1" name="Shape 8"/>
          <p:cNvSpPr/>
          <p:nvPr/>
        </p:nvSpPr>
        <p:spPr>
          <a:xfrm rot="16680000">
            <a:off x="-121920" y="-71120"/>
            <a:ext cx="2160270" cy="1989455"/>
          </a:xfrm>
          <a:custGeom>
            <a:avLst/>
            <a:gdLst/>
            <a:ahLst/>
            <a:cxnLst/>
            <a:rect l="l" t="t" r="r" b="b"/>
            <a:pathLst>
              <a:path w="2160270" h="1989455">
                <a:moveTo>
                  <a:pt x="0" y="404000"/>
                </a:moveTo>
                <a:cubicBezTo>
                  <a:pt x="-4270" y="299551"/>
                  <a:pt x="25291" y="106748"/>
                  <a:pt x="30218" y="95252"/>
                </a:cubicBezTo>
                <a:lnTo>
                  <a:pt x="672683" y="0"/>
                </a:lnTo>
                <a:cubicBezTo>
                  <a:pt x="623742" y="90325"/>
                  <a:pt x="580057" y="311376"/>
                  <a:pt x="587283" y="404000"/>
                </a:cubicBezTo>
                <a:cubicBezTo>
                  <a:pt x="570204" y="964345"/>
                  <a:pt x="1083255" y="1415972"/>
                  <a:pt x="1585468" y="1402177"/>
                </a:cubicBezTo>
                <a:cubicBezTo>
                  <a:pt x="1754953" y="1415643"/>
                  <a:pt x="2006223" y="1319406"/>
                  <a:pt x="2070272" y="1276707"/>
                </a:cubicBezTo>
                <a:lnTo>
                  <a:pt x="2160270" y="1882050"/>
                </a:lnTo>
                <a:cubicBezTo>
                  <a:pt x="2022974" y="1946756"/>
                  <a:pt x="1709297" y="1997995"/>
                  <a:pt x="1585468" y="1989455"/>
                </a:cubicBezTo>
                <a:cubicBezTo>
                  <a:pt x="695675" y="2016717"/>
                  <a:pt x="-21678" y="1202147"/>
                  <a:pt x="0" y="4040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12" name="Shape 9"/>
          <p:cNvSpPr/>
          <p:nvPr/>
        </p:nvSpPr>
        <p:spPr>
          <a:xfrm rot="17460000">
            <a:off x="10614660" y="325120"/>
            <a:ext cx="1136650" cy="113665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3" name="Shape 10"/>
          <p:cNvSpPr/>
          <p:nvPr/>
        </p:nvSpPr>
        <p:spPr>
          <a:xfrm rot="17460000" flipH="1" flipV="1">
            <a:off x="811530" y="5401945"/>
            <a:ext cx="3069590" cy="306959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5" name="Shape 3"/>
          <p:cNvSpPr/>
          <p:nvPr/>
        </p:nvSpPr>
        <p:spPr>
          <a:xfrm>
            <a:off x="-27940" y="4827905"/>
            <a:ext cx="12247880" cy="2038985"/>
          </a:xfrm>
          <a:custGeom>
            <a:avLst/>
            <a:gdLst/>
            <a:ahLst/>
            <a:cxnLst/>
            <a:rect l="l" t="t" r="r" b="b"/>
            <a:pathLst>
              <a:path w="12247880" h="2038985">
                <a:moveTo>
                  <a:pt x="0" y="882015"/>
                </a:moveTo>
                <a:cubicBezTo>
                  <a:pt x="1100455" y="360045"/>
                  <a:pt x="3429635" y="0"/>
                  <a:pt x="6124575" y="0"/>
                </a:cubicBezTo>
                <a:cubicBezTo>
                  <a:pt x="8818880" y="0"/>
                  <a:pt x="11146790" y="360045"/>
                  <a:pt x="12247880" y="881380"/>
                </a:cubicBezTo>
                <a:lnTo>
                  <a:pt x="12247880" y="2038985"/>
                </a:lnTo>
                <a:lnTo>
                  <a:pt x="0" y="2038985"/>
                </a:lnTo>
                <a:lnTo>
                  <a:pt x="0" y="882015"/>
                </a:lnTo>
                <a:close/>
              </a:path>
            </a:pathLst>
          </a:custGeom>
          <a:solidFill>
            <a:srgbClr val="004CC0"/>
          </a:solidFill>
        </p:spPr>
      </p:sp>
      <p:sp>
        <p:nvSpPr>
          <p:cNvPr id="6" name="Shape 4"/>
          <p:cNvSpPr/>
          <p:nvPr/>
        </p:nvSpPr>
        <p:spPr>
          <a:xfrm>
            <a:off x="3831713" y="2527863"/>
            <a:ext cx="4526280" cy="3246120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31713" y="1486463"/>
            <a:ext cx="4526280" cy="9144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4CC0"/>
          </a:solidFill>
        </p:spPr>
      </p:sp>
      <p:sp>
        <p:nvSpPr>
          <p:cNvPr id="10" name="Text 8"/>
          <p:cNvSpPr/>
          <p:nvPr/>
        </p:nvSpPr>
        <p:spPr>
          <a:xfrm>
            <a:off x="582930" y="211455"/>
            <a:ext cx="10151745" cy="586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安全关键系统中的神经网络验证需求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06973" y="1553138"/>
            <a:ext cx="4084955" cy="878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ReLU网络的安全隐患与验证必要性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71743" y="2791388"/>
            <a:ext cx="3993515" cy="22491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神经网络已广泛应用于自动驾驶、医疗诊断等安全关键领域，ReLU作为主流激活函数虽计算高效，但网络对对抗样本极度敏感，</a:t>
            </a: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微小扰动</a:t>
            </a: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即可引发灾难性</a:t>
            </a: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误判</a:t>
            </a: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形式化鲁棒性验证</a:t>
            </a: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成为保障系统可靠性的核心技术需求。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pic>
        <p:nvPicPr>
          <p:cNvPr id="5" name="Image 0" descr="https://kimi-img.moonshot.cn/pub/slides/slides_tmpl/image/25-09-04-15:50:51-d2sk9mu1bb2p4onbqec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3430" cy="6842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1D3EBF">
              <a:alpha val="94902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4060825" y="2246630"/>
            <a:ext cx="687387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领域</a:t>
            </a: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Arial" panose="020B0604020202020204" pitchFamily="34" charset="0"/>
              </a:rPr>
              <a:t>论文</a:t>
            </a:r>
            <a:r>
              <a:rPr 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与工具调研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70960" y="2246630"/>
            <a:ext cx="0" cy="19380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941705" y="2068830"/>
            <a:ext cx="2804160" cy="2221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2100000">
            <a:off x="9042400" y="3636645"/>
            <a:ext cx="3905250" cy="3905250"/>
          </a:xfrm>
          <a:custGeom>
            <a:avLst/>
            <a:gdLst/>
            <a:ahLst/>
            <a:cxnLst/>
            <a:rect l="l" t="t" r="r" b="b"/>
            <a:pathLst>
              <a:path w="3905250" h="3905250">
                <a:moveTo>
                  <a:pt x="1430788" y="3837117"/>
                </a:moveTo>
                <a:cubicBezTo>
                  <a:pt x="1430788" y="3837117"/>
                  <a:pt x="1430788" y="3837117"/>
                  <a:pt x="2474458" y="3837117"/>
                </a:cubicBezTo>
                <a:cubicBezTo>
                  <a:pt x="2310071" y="3882540"/>
                  <a:pt x="2134213" y="3905250"/>
                  <a:pt x="1950712" y="3905250"/>
                </a:cubicBezTo>
                <a:cubicBezTo>
                  <a:pt x="1771033" y="3905250"/>
                  <a:pt x="1595175" y="3882540"/>
                  <a:pt x="1430788" y="3837117"/>
                </a:cubicBezTo>
                <a:close/>
                <a:moveTo>
                  <a:pt x="972440" y="3642011"/>
                </a:moveTo>
                <a:lnTo>
                  <a:pt x="2929711" y="3642011"/>
                </a:lnTo>
                <a:cubicBezTo>
                  <a:pt x="2849588" y="3687305"/>
                  <a:pt x="2769465" y="3728823"/>
                  <a:pt x="2681713" y="3762792"/>
                </a:cubicBezTo>
                <a:cubicBezTo>
                  <a:pt x="2681713" y="3762792"/>
                  <a:pt x="2681713" y="3762792"/>
                  <a:pt x="1216621" y="3762792"/>
                </a:cubicBezTo>
                <a:cubicBezTo>
                  <a:pt x="1132685" y="3728823"/>
                  <a:pt x="1048746" y="3687305"/>
                  <a:pt x="972440" y="3642011"/>
                </a:cubicBezTo>
                <a:close/>
                <a:moveTo>
                  <a:pt x="696812" y="3450000"/>
                </a:moveTo>
                <a:lnTo>
                  <a:pt x="3205340" y="3450000"/>
                </a:lnTo>
                <a:cubicBezTo>
                  <a:pt x="3151885" y="3491759"/>
                  <a:pt x="3098432" y="3529723"/>
                  <a:pt x="3044977" y="3567684"/>
                </a:cubicBezTo>
                <a:cubicBezTo>
                  <a:pt x="3044977" y="3567684"/>
                  <a:pt x="3044977" y="3567684"/>
                  <a:pt x="857175" y="3567684"/>
                </a:cubicBezTo>
                <a:cubicBezTo>
                  <a:pt x="799902" y="3529723"/>
                  <a:pt x="746447" y="3491759"/>
                  <a:pt x="696812" y="3450000"/>
                </a:cubicBezTo>
                <a:close/>
                <a:moveTo>
                  <a:pt x="498608" y="3254891"/>
                </a:moveTo>
                <a:lnTo>
                  <a:pt x="3403544" y="3254891"/>
                </a:lnTo>
                <a:cubicBezTo>
                  <a:pt x="3365373" y="3297474"/>
                  <a:pt x="3327199" y="3340057"/>
                  <a:pt x="3285209" y="3378769"/>
                </a:cubicBezTo>
                <a:cubicBezTo>
                  <a:pt x="3285209" y="3378769"/>
                  <a:pt x="3285209" y="3378769"/>
                  <a:pt x="616943" y="3378769"/>
                </a:cubicBezTo>
                <a:cubicBezTo>
                  <a:pt x="574953" y="3340057"/>
                  <a:pt x="532964" y="3297474"/>
                  <a:pt x="498608" y="3254891"/>
                </a:cubicBezTo>
                <a:close/>
                <a:moveTo>
                  <a:pt x="346856" y="3065979"/>
                </a:moveTo>
                <a:lnTo>
                  <a:pt x="3558390" y="3065979"/>
                </a:lnTo>
                <a:cubicBezTo>
                  <a:pt x="3527840" y="3107736"/>
                  <a:pt x="3501110" y="3145699"/>
                  <a:pt x="3466742" y="3183663"/>
                </a:cubicBezTo>
                <a:cubicBezTo>
                  <a:pt x="3466742" y="3183663"/>
                  <a:pt x="3466742" y="3183663"/>
                  <a:pt x="434687" y="3183663"/>
                </a:cubicBezTo>
                <a:cubicBezTo>
                  <a:pt x="404137" y="3145699"/>
                  <a:pt x="373587" y="3107736"/>
                  <a:pt x="346856" y="3065979"/>
                </a:cubicBezTo>
                <a:close/>
                <a:moveTo>
                  <a:pt x="229172" y="2870870"/>
                </a:moveTo>
                <a:lnTo>
                  <a:pt x="3676074" y="2870870"/>
                </a:lnTo>
                <a:cubicBezTo>
                  <a:pt x="3653171" y="2912388"/>
                  <a:pt x="3630268" y="2953907"/>
                  <a:pt x="3603548" y="2991652"/>
                </a:cubicBezTo>
                <a:cubicBezTo>
                  <a:pt x="3603548" y="2991652"/>
                  <a:pt x="3603548" y="2991652"/>
                  <a:pt x="297881" y="2991652"/>
                </a:cubicBezTo>
                <a:cubicBezTo>
                  <a:pt x="274978" y="2953907"/>
                  <a:pt x="252075" y="2912388"/>
                  <a:pt x="229172" y="2870870"/>
                </a:cubicBezTo>
                <a:close/>
                <a:moveTo>
                  <a:pt x="136264" y="2678859"/>
                </a:moveTo>
                <a:lnTo>
                  <a:pt x="3762788" y="2678859"/>
                </a:lnTo>
                <a:cubicBezTo>
                  <a:pt x="3747519" y="2716821"/>
                  <a:pt x="3728432" y="2758580"/>
                  <a:pt x="3709345" y="2796543"/>
                </a:cubicBezTo>
                <a:cubicBezTo>
                  <a:pt x="3709345" y="2796543"/>
                  <a:pt x="3709345" y="2796543"/>
                  <a:pt x="189707" y="2796543"/>
                </a:cubicBezTo>
                <a:cubicBezTo>
                  <a:pt x="170620" y="2758580"/>
                  <a:pt x="155351" y="2716821"/>
                  <a:pt x="136264" y="2678859"/>
                </a:cubicBezTo>
                <a:close/>
                <a:moveTo>
                  <a:pt x="71229" y="2483753"/>
                </a:moveTo>
                <a:lnTo>
                  <a:pt x="3830923" y="2483753"/>
                </a:lnTo>
                <a:cubicBezTo>
                  <a:pt x="3819472" y="2526335"/>
                  <a:pt x="3804205" y="2568918"/>
                  <a:pt x="3788937" y="2607631"/>
                </a:cubicBezTo>
                <a:cubicBezTo>
                  <a:pt x="3788937" y="2607631"/>
                  <a:pt x="3788937" y="2607631"/>
                  <a:pt x="109399" y="2607631"/>
                </a:cubicBezTo>
                <a:cubicBezTo>
                  <a:pt x="94130" y="2568918"/>
                  <a:pt x="82680" y="2526335"/>
                  <a:pt x="71229" y="2483753"/>
                </a:cubicBezTo>
                <a:close/>
                <a:moveTo>
                  <a:pt x="24774" y="2294838"/>
                </a:moveTo>
                <a:lnTo>
                  <a:pt x="3874279" y="2294838"/>
                </a:lnTo>
                <a:cubicBezTo>
                  <a:pt x="3866641" y="2332799"/>
                  <a:pt x="3859004" y="2374559"/>
                  <a:pt x="3851364" y="2412522"/>
                </a:cubicBezTo>
                <a:cubicBezTo>
                  <a:pt x="3851364" y="2412522"/>
                  <a:pt x="3851364" y="2412522"/>
                  <a:pt x="51506" y="2412522"/>
                </a:cubicBezTo>
                <a:cubicBezTo>
                  <a:pt x="43868" y="2374559"/>
                  <a:pt x="32411" y="2332799"/>
                  <a:pt x="24774" y="2294838"/>
                </a:cubicBezTo>
                <a:close/>
                <a:moveTo>
                  <a:pt x="3096" y="2099731"/>
                </a:moveTo>
                <a:lnTo>
                  <a:pt x="3902152" y="2099731"/>
                </a:lnTo>
                <a:cubicBezTo>
                  <a:pt x="3898334" y="2141249"/>
                  <a:pt x="3894515" y="2182769"/>
                  <a:pt x="3886877" y="2220513"/>
                </a:cubicBezTo>
                <a:cubicBezTo>
                  <a:pt x="3886877" y="2220513"/>
                  <a:pt x="3886877" y="2220513"/>
                  <a:pt x="18371" y="2220513"/>
                </a:cubicBezTo>
                <a:cubicBezTo>
                  <a:pt x="10733" y="2182769"/>
                  <a:pt x="6916" y="2141249"/>
                  <a:pt x="3096" y="2099731"/>
                </a:cubicBezTo>
                <a:close/>
                <a:moveTo>
                  <a:pt x="0" y="1907721"/>
                </a:moveTo>
                <a:cubicBezTo>
                  <a:pt x="0" y="1907721"/>
                  <a:pt x="0" y="1907721"/>
                  <a:pt x="3905250" y="1907721"/>
                </a:cubicBezTo>
                <a:cubicBezTo>
                  <a:pt x="3905250" y="1923204"/>
                  <a:pt x="3905250" y="1934818"/>
                  <a:pt x="3905250" y="1950304"/>
                </a:cubicBezTo>
                <a:cubicBezTo>
                  <a:pt x="3905250" y="1977403"/>
                  <a:pt x="3905250" y="2004500"/>
                  <a:pt x="3905250" y="2031599"/>
                </a:cubicBezTo>
                <a:cubicBezTo>
                  <a:pt x="3905250" y="2031599"/>
                  <a:pt x="3905250" y="2031599"/>
                  <a:pt x="0" y="2031599"/>
                </a:cubicBezTo>
                <a:cubicBezTo>
                  <a:pt x="0" y="2004500"/>
                  <a:pt x="0" y="1977403"/>
                  <a:pt x="0" y="1950304"/>
                </a:cubicBezTo>
                <a:cubicBezTo>
                  <a:pt x="0" y="1934818"/>
                  <a:pt x="0" y="1923204"/>
                  <a:pt x="0" y="1907721"/>
                </a:cubicBezTo>
                <a:close/>
                <a:moveTo>
                  <a:pt x="10733" y="1712612"/>
                </a:moveTo>
                <a:lnTo>
                  <a:pt x="3890695" y="1712612"/>
                </a:lnTo>
                <a:cubicBezTo>
                  <a:pt x="3898334" y="1755195"/>
                  <a:pt x="3898334" y="1793907"/>
                  <a:pt x="3902152" y="1836490"/>
                </a:cubicBezTo>
                <a:cubicBezTo>
                  <a:pt x="3902152" y="1836490"/>
                  <a:pt x="3902152" y="1836490"/>
                  <a:pt x="3096" y="1836490"/>
                </a:cubicBezTo>
                <a:cubicBezTo>
                  <a:pt x="3096" y="1793907"/>
                  <a:pt x="6916" y="1755195"/>
                  <a:pt x="10733" y="1712612"/>
                </a:cubicBezTo>
                <a:close/>
                <a:moveTo>
                  <a:pt x="44578" y="1523699"/>
                </a:moveTo>
                <a:lnTo>
                  <a:pt x="3857574" y="1523699"/>
                </a:lnTo>
                <a:cubicBezTo>
                  <a:pt x="3865207" y="1561444"/>
                  <a:pt x="3872841" y="1602962"/>
                  <a:pt x="3880474" y="1644481"/>
                </a:cubicBezTo>
                <a:cubicBezTo>
                  <a:pt x="3880474" y="1644481"/>
                  <a:pt x="3880474" y="1644481"/>
                  <a:pt x="21678" y="1644481"/>
                </a:cubicBezTo>
                <a:cubicBezTo>
                  <a:pt x="29311" y="1602962"/>
                  <a:pt x="36945" y="1561444"/>
                  <a:pt x="44578" y="1523699"/>
                </a:cubicBezTo>
                <a:close/>
                <a:moveTo>
                  <a:pt x="99389" y="1328591"/>
                </a:moveTo>
                <a:lnTo>
                  <a:pt x="3805859" y="1328591"/>
                </a:lnTo>
                <a:cubicBezTo>
                  <a:pt x="3817310" y="1370108"/>
                  <a:pt x="3828762" y="1407853"/>
                  <a:pt x="3840213" y="1449373"/>
                </a:cubicBezTo>
                <a:cubicBezTo>
                  <a:pt x="3840213" y="1449373"/>
                  <a:pt x="3840213" y="1449373"/>
                  <a:pt x="65035" y="1449373"/>
                </a:cubicBezTo>
                <a:cubicBezTo>
                  <a:pt x="72669" y="1407853"/>
                  <a:pt x="87938" y="1370108"/>
                  <a:pt x="99389" y="1328591"/>
                </a:cubicBezTo>
                <a:close/>
                <a:moveTo>
                  <a:pt x="173517" y="1136580"/>
                </a:moveTo>
                <a:lnTo>
                  <a:pt x="3724814" y="1136580"/>
                </a:lnTo>
                <a:cubicBezTo>
                  <a:pt x="3743906" y="1175293"/>
                  <a:pt x="3762999" y="1217875"/>
                  <a:pt x="3778274" y="1260458"/>
                </a:cubicBezTo>
                <a:cubicBezTo>
                  <a:pt x="3778274" y="1260458"/>
                  <a:pt x="3778274" y="1260458"/>
                  <a:pt x="123876" y="1260458"/>
                </a:cubicBezTo>
                <a:cubicBezTo>
                  <a:pt x="139151" y="1217875"/>
                  <a:pt x="154424" y="1175293"/>
                  <a:pt x="173517" y="1136580"/>
                </a:cubicBezTo>
                <a:close/>
                <a:moveTo>
                  <a:pt x="279293" y="941474"/>
                </a:moveTo>
                <a:lnTo>
                  <a:pt x="3626673" y="941474"/>
                </a:lnTo>
                <a:cubicBezTo>
                  <a:pt x="3649574" y="984056"/>
                  <a:pt x="3672475" y="1022769"/>
                  <a:pt x="3691560" y="1065351"/>
                </a:cubicBezTo>
                <a:cubicBezTo>
                  <a:pt x="3691560" y="1065351"/>
                  <a:pt x="3691560" y="1065351"/>
                  <a:pt x="210590" y="1065351"/>
                </a:cubicBezTo>
                <a:cubicBezTo>
                  <a:pt x="233491" y="1022769"/>
                  <a:pt x="256392" y="984056"/>
                  <a:pt x="279293" y="941474"/>
                </a:cubicBezTo>
                <a:close/>
                <a:moveTo>
                  <a:pt x="412943" y="752559"/>
                </a:moveTo>
                <a:lnTo>
                  <a:pt x="3492305" y="752559"/>
                </a:lnTo>
                <a:cubicBezTo>
                  <a:pt x="3522832" y="790304"/>
                  <a:pt x="3553359" y="831821"/>
                  <a:pt x="3580070" y="873341"/>
                </a:cubicBezTo>
                <a:cubicBezTo>
                  <a:pt x="3580070" y="873341"/>
                  <a:pt x="3580070" y="873341"/>
                  <a:pt x="325179" y="873341"/>
                </a:cubicBezTo>
                <a:cubicBezTo>
                  <a:pt x="351889" y="831821"/>
                  <a:pt x="382416" y="790304"/>
                  <a:pt x="412943" y="752559"/>
                </a:cubicBezTo>
                <a:close/>
                <a:moveTo>
                  <a:pt x="582189" y="560548"/>
                </a:moveTo>
                <a:cubicBezTo>
                  <a:pt x="582189" y="560548"/>
                  <a:pt x="582189" y="560548"/>
                  <a:pt x="3319963" y="560548"/>
                </a:cubicBezTo>
                <a:cubicBezTo>
                  <a:pt x="3358147" y="598509"/>
                  <a:pt x="3396330" y="636473"/>
                  <a:pt x="3434514" y="678232"/>
                </a:cubicBezTo>
                <a:cubicBezTo>
                  <a:pt x="3434514" y="678232"/>
                  <a:pt x="3434514" y="678232"/>
                  <a:pt x="467638" y="678232"/>
                </a:cubicBezTo>
                <a:cubicBezTo>
                  <a:pt x="502004" y="636473"/>
                  <a:pt x="540188" y="598509"/>
                  <a:pt x="582189" y="560548"/>
                </a:cubicBezTo>
                <a:close/>
                <a:moveTo>
                  <a:pt x="808618" y="365442"/>
                </a:moveTo>
                <a:lnTo>
                  <a:pt x="3092810" y="365442"/>
                </a:lnTo>
                <a:cubicBezTo>
                  <a:pt x="3146286" y="404154"/>
                  <a:pt x="3195943" y="446737"/>
                  <a:pt x="3245599" y="489319"/>
                </a:cubicBezTo>
                <a:cubicBezTo>
                  <a:pt x="3245599" y="489319"/>
                  <a:pt x="3245599" y="489319"/>
                  <a:pt x="659649" y="489319"/>
                </a:cubicBezTo>
                <a:cubicBezTo>
                  <a:pt x="705486" y="446737"/>
                  <a:pt x="758962" y="404154"/>
                  <a:pt x="808618" y="365442"/>
                </a:cubicBezTo>
                <a:close/>
                <a:moveTo>
                  <a:pt x="1141891" y="176527"/>
                </a:moveTo>
                <a:lnTo>
                  <a:pt x="2760259" y="176527"/>
                </a:lnTo>
                <a:cubicBezTo>
                  <a:pt x="2840413" y="210692"/>
                  <a:pt x="2912935" y="248655"/>
                  <a:pt x="2985456" y="294211"/>
                </a:cubicBezTo>
                <a:cubicBezTo>
                  <a:pt x="2985456" y="294211"/>
                  <a:pt x="2985456" y="294211"/>
                  <a:pt x="916695" y="294211"/>
                </a:cubicBezTo>
                <a:cubicBezTo>
                  <a:pt x="989215" y="248655"/>
                  <a:pt x="1065553" y="210692"/>
                  <a:pt x="1141891" y="176527"/>
                </a:cubicBezTo>
                <a:close/>
                <a:moveTo>
                  <a:pt x="1949526" y="0"/>
                </a:moveTo>
                <a:cubicBezTo>
                  <a:pt x="2171061" y="0"/>
                  <a:pt x="2381136" y="34067"/>
                  <a:pt x="2579754" y="102200"/>
                </a:cubicBezTo>
                <a:cubicBezTo>
                  <a:pt x="2579754" y="102200"/>
                  <a:pt x="2579754" y="102200"/>
                  <a:pt x="1319298" y="102200"/>
                </a:cubicBezTo>
                <a:cubicBezTo>
                  <a:pt x="1517916" y="34067"/>
                  <a:pt x="1731811" y="0"/>
                  <a:pt x="19495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1" name="Shape 8"/>
          <p:cNvSpPr/>
          <p:nvPr/>
        </p:nvSpPr>
        <p:spPr>
          <a:xfrm rot="16680000">
            <a:off x="-121920" y="-71120"/>
            <a:ext cx="2160270" cy="1989455"/>
          </a:xfrm>
          <a:custGeom>
            <a:avLst/>
            <a:gdLst/>
            <a:ahLst/>
            <a:cxnLst/>
            <a:rect l="l" t="t" r="r" b="b"/>
            <a:pathLst>
              <a:path w="2160270" h="1989455">
                <a:moveTo>
                  <a:pt x="0" y="404000"/>
                </a:moveTo>
                <a:cubicBezTo>
                  <a:pt x="-4270" y="299551"/>
                  <a:pt x="25291" y="106748"/>
                  <a:pt x="30218" y="95252"/>
                </a:cubicBezTo>
                <a:lnTo>
                  <a:pt x="672683" y="0"/>
                </a:lnTo>
                <a:cubicBezTo>
                  <a:pt x="623742" y="90325"/>
                  <a:pt x="580057" y="311376"/>
                  <a:pt x="587283" y="404000"/>
                </a:cubicBezTo>
                <a:cubicBezTo>
                  <a:pt x="570204" y="964345"/>
                  <a:pt x="1083255" y="1415972"/>
                  <a:pt x="1585468" y="1402177"/>
                </a:cubicBezTo>
                <a:cubicBezTo>
                  <a:pt x="1754953" y="1415643"/>
                  <a:pt x="2006223" y="1319406"/>
                  <a:pt x="2070272" y="1276707"/>
                </a:cubicBezTo>
                <a:lnTo>
                  <a:pt x="2160270" y="1882050"/>
                </a:lnTo>
                <a:cubicBezTo>
                  <a:pt x="2022974" y="1946756"/>
                  <a:pt x="1709297" y="1997995"/>
                  <a:pt x="1585468" y="1989455"/>
                </a:cubicBezTo>
                <a:cubicBezTo>
                  <a:pt x="695675" y="2016717"/>
                  <a:pt x="-21678" y="1202147"/>
                  <a:pt x="0" y="4040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12" name="Shape 9"/>
          <p:cNvSpPr/>
          <p:nvPr/>
        </p:nvSpPr>
        <p:spPr>
          <a:xfrm rot="17460000">
            <a:off x="10614660" y="325120"/>
            <a:ext cx="1136650" cy="113665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3" name="Shape 10"/>
          <p:cNvSpPr/>
          <p:nvPr/>
        </p:nvSpPr>
        <p:spPr>
          <a:xfrm rot="17460000" flipH="1" flipV="1">
            <a:off x="811530" y="5401945"/>
            <a:ext cx="3069590" cy="306959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pic>
        <p:nvPicPr>
          <p:cNvPr id="5" name="Image 0" descr="https://kimi-img.moonshot.cn/pub/slides/slides_tmpl/image/25-09-04-15:50:55-d2sk9nu1bb2p4onbqem0.jpg"/>
          <p:cNvPicPr>
            <a:picLocks noChangeAspect="1"/>
          </p:cNvPicPr>
          <p:nvPr/>
        </p:nvPicPr>
        <p:blipFill>
          <a:blip r:embed="rId3"/>
          <a:srcRect l="29" r="29"/>
          <a:stretch>
            <a:fillRect/>
          </a:stretch>
        </p:blipFill>
        <p:spPr>
          <a:xfrm>
            <a:off x="9966960" y="-34290"/>
            <a:ext cx="2223770" cy="68922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964420" y="-34290"/>
            <a:ext cx="2227580" cy="6903720"/>
          </a:xfrm>
          <a:prstGeom prst="rect">
            <a:avLst/>
          </a:prstGeom>
          <a:gradFill flip="none" rotWithShape="1">
            <a:gsLst>
              <a:gs pos="0">
                <a:srgbClr val="004CC0">
                  <a:alpha val="78000"/>
                </a:srgbClr>
              </a:gs>
              <a:gs pos="100000">
                <a:srgbClr val="004CC0"/>
              </a:gs>
            </a:gsLst>
            <a:lin ang="2700000" scaled="1"/>
          </a:gradFill>
        </p:spPr>
      </p:sp>
      <p:sp>
        <p:nvSpPr>
          <p:cNvPr id="7" name="Shape 4"/>
          <p:cNvSpPr/>
          <p:nvPr/>
        </p:nvSpPr>
        <p:spPr>
          <a:xfrm>
            <a:off x="6291731" y="8722360"/>
            <a:ext cx="287989" cy="6985"/>
          </a:xfrm>
          <a:custGeom>
            <a:avLst/>
            <a:gdLst/>
            <a:ahLst/>
            <a:cxnLst/>
            <a:rect l="l" t="t" r="r" b="b"/>
            <a:pathLst>
              <a:path w="287989" h="6985">
                <a:moveTo>
                  <a:pt x="287989" y="0"/>
                </a:moveTo>
                <a:lnTo>
                  <a:pt x="260078" y="2540"/>
                </a:lnTo>
                <a:lnTo>
                  <a:pt x="221384" y="5080"/>
                </a:lnTo>
                <a:lnTo>
                  <a:pt x="182689" y="6350"/>
                </a:lnTo>
                <a:lnTo>
                  <a:pt x="143995" y="6985"/>
                </a:lnTo>
                <a:lnTo>
                  <a:pt x="104666" y="6350"/>
                </a:lnTo>
                <a:lnTo>
                  <a:pt x="65971" y="5080"/>
                </a:lnTo>
                <a:lnTo>
                  <a:pt x="27911" y="2540"/>
                </a:lnTo>
                <a:lnTo>
                  <a:pt x="0" y="0"/>
                </a:lnTo>
                <a:lnTo>
                  <a:pt x="287989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Shape 5"/>
          <p:cNvSpPr/>
          <p:nvPr/>
        </p:nvSpPr>
        <p:spPr>
          <a:xfrm rot="4920000" flipV="1">
            <a:off x="9856470" y="5581650"/>
            <a:ext cx="1457960" cy="1342390"/>
          </a:xfrm>
          <a:custGeom>
            <a:avLst/>
            <a:gdLst/>
            <a:ahLst/>
            <a:cxnLst/>
            <a:rect l="l" t="t" r="r" b="b"/>
            <a:pathLst>
              <a:path w="1457960" h="1342390">
                <a:moveTo>
                  <a:pt x="0" y="272600"/>
                </a:moveTo>
                <a:cubicBezTo>
                  <a:pt x="-2882" y="202123"/>
                  <a:pt x="17069" y="72029"/>
                  <a:pt x="20394" y="64272"/>
                </a:cubicBezTo>
                <a:lnTo>
                  <a:pt x="453991" y="0"/>
                </a:lnTo>
                <a:cubicBezTo>
                  <a:pt x="420962" y="60947"/>
                  <a:pt x="391479" y="210102"/>
                  <a:pt x="396356" y="272600"/>
                </a:cubicBezTo>
                <a:cubicBezTo>
                  <a:pt x="384829" y="650695"/>
                  <a:pt x="731086" y="955431"/>
                  <a:pt x="1070028" y="946122"/>
                </a:cubicBezTo>
                <a:cubicBezTo>
                  <a:pt x="1184412" y="955209"/>
                  <a:pt x="1353994" y="890273"/>
                  <a:pt x="1397221" y="861461"/>
                </a:cubicBezTo>
                <a:lnTo>
                  <a:pt x="1457960" y="1269918"/>
                </a:lnTo>
                <a:cubicBezTo>
                  <a:pt x="1365300" y="1313579"/>
                  <a:pt x="1153599" y="1348152"/>
                  <a:pt x="1070028" y="1342390"/>
                </a:cubicBezTo>
                <a:cubicBezTo>
                  <a:pt x="469509" y="1360785"/>
                  <a:pt x="-14631" y="811152"/>
                  <a:pt x="0" y="2726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9" name="Shape 6"/>
          <p:cNvSpPr/>
          <p:nvPr/>
        </p:nvSpPr>
        <p:spPr>
          <a:xfrm rot="15060000" flipH="1">
            <a:off x="10623533" y="4245026"/>
            <a:ext cx="1958340" cy="1694329"/>
          </a:xfrm>
          <a:custGeom>
            <a:avLst/>
            <a:gdLst/>
            <a:ahLst/>
            <a:cxnLst/>
            <a:rect l="l" t="t" r="r" b="b"/>
            <a:pathLst>
              <a:path w="1958340" h="1694329">
                <a:moveTo>
                  <a:pt x="250190" y="1632094"/>
                </a:moveTo>
                <a:lnTo>
                  <a:pt x="525780" y="1632094"/>
                </a:lnTo>
                <a:lnTo>
                  <a:pt x="349885" y="1694329"/>
                </a:lnTo>
                <a:lnTo>
                  <a:pt x="309245" y="1694329"/>
                </a:lnTo>
                <a:cubicBezTo>
                  <a:pt x="288290" y="1675277"/>
                  <a:pt x="265430" y="1651780"/>
                  <a:pt x="250190" y="1632094"/>
                </a:cubicBezTo>
                <a:close/>
                <a:moveTo>
                  <a:pt x="173990" y="1537470"/>
                </a:moveTo>
                <a:lnTo>
                  <a:pt x="793750" y="1537470"/>
                </a:lnTo>
                <a:lnTo>
                  <a:pt x="626745" y="1596530"/>
                </a:lnTo>
                <a:lnTo>
                  <a:pt x="217805" y="1596530"/>
                </a:lnTo>
                <a:cubicBezTo>
                  <a:pt x="202565" y="1578114"/>
                  <a:pt x="186055" y="1556522"/>
                  <a:pt x="173990" y="1537470"/>
                </a:cubicBezTo>
                <a:close/>
                <a:moveTo>
                  <a:pt x="114935" y="1439672"/>
                </a:moveTo>
                <a:lnTo>
                  <a:pt x="1071245" y="1439672"/>
                </a:lnTo>
                <a:lnTo>
                  <a:pt x="899795" y="1500637"/>
                </a:lnTo>
                <a:lnTo>
                  <a:pt x="149225" y="1500637"/>
                </a:lnTo>
                <a:cubicBezTo>
                  <a:pt x="137795" y="1481585"/>
                  <a:pt x="125095" y="1458723"/>
                  <a:pt x="114935" y="1439672"/>
                </a:cubicBezTo>
                <a:close/>
                <a:moveTo>
                  <a:pt x="68580" y="1343778"/>
                </a:moveTo>
                <a:lnTo>
                  <a:pt x="1343660" y="1343778"/>
                </a:lnTo>
                <a:lnTo>
                  <a:pt x="1176655" y="1402203"/>
                </a:lnTo>
                <a:lnTo>
                  <a:pt x="95250" y="1402203"/>
                </a:lnTo>
                <a:cubicBezTo>
                  <a:pt x="90170" y="1393313"/>
                  <a:pt x="85090" y="1380611"/>
                  <a:pt x="81280" y="1372356"/>
                </a:cubicBezTo>
                <a:cubicBezTo>
                  <a:pt x="77470" y="1362830"/>
                  <a:pt x="72390" y="1350764"/>
                  <a:pt x="68580" y="1343778"/>
                </a:cubicBezTo>
                <a:close/>
                <a:moveTo>
                  <a:pt x="35560" y="1245345"/>
                </a:moveTo>
                <a:lnTo>
                  <a:pt x="1621155" y="1245345"/>
                </a:lnTo>
                <a:lnTo>
                  <a:pt x="1445260" y="1307580"/>
                </a:lnTo>
                <a:lnTo>
                  <a:pt x="54610" y="1307580"/>
                </a:lnTo>
                <a:cubicBezTo>
                  <a:pt x="46990" y="1288528"/>
                  <a:pt x="40640" y="1265031"/>
                  <a:pt x="35560" y="1245345"/>
                </a:cubicBezTo>
                <a:close/>
                <a:moveTo>
                  <a:pt x="12700" y="1150721"/>
                </a:moveTo>
                <a:lnTo>
                  <a:pt x="1889125" y="1150721"/>
                </a:lnTo>
                <a:lnTo>
                  <a:pt x="1722120" y="1209781"/>
                </a:lnTo>
                <a:lnTo>
                  <a:pt x="26035" y="1209781"/>
                </a:lnTo>
                <a:cubicBezTo>
                  <a:pt x="24130" y="1200256"/>
                  <a:pt x="20955" y="1188189"/>
                  <a:pt x="19050" y="1179934"/>
                </a:cubicBezTo>
                <a:cubicBezTo>
                  <a:pt x="16510" y="1170408"/>
                  <a:pt x="13970" y="1158342"/>
                  <a:pt x="12700" y="1150721"/>
                </a:cubicBezTo>
                <a:close/>
                <a:moveTo>
                  <a:pt x="1270" y="1052923"/>
                </a:moveTo>
                <a:lnTo>
                  <a:pt x="1957070" y="1052923"/>
                </a:lnTo>
                <a:cubicBezTo>
                  <a:pt x="1955165" y="1073879"/>
                  <a:pt x="1952625" y="1096741"/>
                  <a:pt x="1948815" y="1113888"/>
                </a:cubicBezTo>
                <a:lnTo>
                  <a:pt x="9525" y="1113888"/>
                </a:lnTo>
                <a:cubicBezTo>
                  <a:pt x="5080" y="1094836"/>
                  <a:pt x="3175" y="1071974"/>
                  <a:pt x="1270" y="1052923"/>
                </a:cubicBezTo>
                <a:close/>
                <a:moveTo>
                  <a:pt x="0" y="957029"/>
                </a:moveTo>
                <a:lnTo>
                  <a:pt x="1958340" y="957029"/>
                </a:lnTo>
                <a:lnTo>
                  <a:pt x="1958340" y="960204"/>
                </a:lnTo>
                <a:lnTo>
                  <a:pt x="1958340" y="960839"/>
                </a:lnTo>
                <a:lnTo>
                  <a:pt x="1958340" y="961475"/>
                </a:lnTo>
                <a:lnTo>
                  <a:pt x="1958340" y="962110"/>
                </a:lnTo>
                <a:lnTo>
                  <a:pt x="1958340" y="962745"/>
                </a:lnTo>
                <a:lnTo>
                  <a:pt x="1958340" y="963380"/>
                </a:lnTo>
                <a:lnTo>
                  <a:pt x="1958340" y="964015"/>
                </a:lnTo>
                <a:lnTo>
                  <a:pt x="1958340" y="979256"/>
                </a:lnTo>
                <a:lnTo>
                  <a:pt x="1958340" y="979891"/>
                </a:lnTo>
                <a:lnTo>
                  <a:pt x="1958340" y="980526"/>
                </a:lnTo>
                <a:lnTo>
                  <a:pt x="1958340" y="981796"/>
                </a:lnTo>
                <a:lnTo>
                  <a:pt x="1958340" y="982431"/>
                </a:lnTo>
                <a:lnTo>
                  <a:pt x="1958340" y="984337"/>
                </a:lnTo>
                <a:lnTo>
                  <a:pt x="1958340" y="991322"/>
                </a:lnTo>
                <a:lnTo>
                  <a:pt x="1958340" y="1018630"/>
                </a:lnTo>
                <a:lnTo>
                  <a:pt x="0" y="1018630"/>
                </a:lnTo>
                <a:lnTo>
                  <a:pt x="0" y="957029"/>
                </a:lnTo>
                <a:close/>
                <a:moveTo>
                  <a:pt x="5080" y="858596"/>
                </a:moveTo>
                <a:lnTo>
                  <a:pt x="1951355" y="858596"/>
                </a:lnTo>
                <a:cubicBezTo>
                  <a:pt x="1953895" y="873202"/>
                  <a:pt x="1954530" y="889078"/>
                  <a:pt x="1955165" y="901144"/>
                </a:cubicBezTo>
                <a:cubicBezTo>
                  <a:pt x="1955800" y="907495"/>
                  <a:pt x="1956435" y="916386"/>
                  <a:pt x="1957070" y="920831"/>
                </a:cubicBezTo>
                <a:lnTo>
                  <a:pt x="1270" y="920831"/>
                </a:lnTo>
                <a:cubicBezTo>
                  <a:pt x="1270" y="901144"/>
                  <a:pt x="3175" y="880822"/>
                  <a:pt x="5080" y="863041"/>
                </a:cubicBezTo>
                <a:lnTo>
                  <a:pt x="5080" y="861771"/>
                </a:lnTo>
                <a:lnTo>
                  <a:pt x="5080" y="861136"/>
                </a:lnTo>
                <a:lnTo>
                  <a:pt x="5080" y="859866"/>
                </a:lnTo>
                <a:lnTo>
                  <a:pt x="5080" y="858596"/>
                </a:lnTo>
                <a:close/>
                <a:moveTo>
                  <a:pt x="22225" y="763972"/>
                </a:moveTo>
                <a:lnTo>
                  <a:pt x="1934210" y="763972"/>
                </a:lnTo>
                <a:cubicBezTo>
                  <a:pt x="1938020" y="783024"/>
                  <a:pt x="1942465" y="805886"/>
                  <a:pt x="1945640" y="824938"/>
                </a:cubicBezTo>
                <a:lnTo>
                  <a:pt x="10795" y="824938"/>
                </a:lnTo>
                <a:cubicBezTo>
                  <a:pt x="14605" y="803981"/>
                  <a:pt x="19050" y="781119"/>
                  <a:pt x="22225" y="763972"/>
                </a:cubicBezTo>
                <a:close/>
                <a:moveTo>
                  <a:pt x="49530" y="666174"/>
                </a:moveTo>
                <a:lnTo>
                  <a:pt x="1908810" y="666174"/>
                </a:lnTo>
                <a:cubicBezTo>
                  <a:pt x="1911350" y="676334"/>
                  <a:pt x="1915160" y="689036"/>
                  <a:pt x="1917065" y="697291"/>
                </a:cubicBezTo>
                <a:cubicBezTo>
                  <a:pt x="1920240" y="706817"/>
                  <a:pt x="1923415" y="718248"/>
                  <a:pt x="1925955" y="727139"/>
                </a:cubicBezTo>
                <a:lnTo>
                  <a:pt x="32385" y="727139"/>
                </a:lnTo>
                <a:cubicBezTo>
                  <a:pt x="34925" y="713803"/>
                  <a:pt x="40005" y="698561"/>
                  <a:pt x="43180" y="687765"/>
                </a:cubicBezTo>
                <a:cubicBezTo>
                  <a:pt x="45720" y="680780"/>
                  <a:pt x="48260" y="671889"/>
                  <a:pt x="49530" y="666174"/>
                </a:cubicBezTo>
                <a:close/>
                <a:moveTo>
                  <a:pt x="86995" y="570280"/>
                </a:moveTo>
                <a:lnTo>
                  <a:pt x="1868170" y="570280"/>
                </a:lnTo>
                <a:cubicBezTo>
                  <a:pt x="1877060" y="589332"/>
                  <a:pt x="1887855" y="612829"/>
                  <a:pt x="1894840" y="631881"/>
                </a:cubicBezTo>
                <a:lnTo>
                  <a:pt x="62230" y="631881"/>
                </a:lnTo>
                <a:cubicBezTo>
                  <a:pt x="69850" y="610924"/>
                  <a:pt x="78105" y="587427"/>
                  <a:pt x="86995" y="570280"/>
                </a:cubicBezTo>
                <a:close/>
                <a:moveTo>
                  <a:pt x="140335" y="471846"/>
                </a:moveTo>
                <a:lnTo>
                  <a:pt x="1818640" y="471846"/>
                </a:lnTo>
                <a:cubicBezTo>
                  <a:pt x="1821815" y="477562"/>
                  <a:pt x="1825625" y="485183"/>
                  <a:pt x="1828165" y="488993"/>
                </a:cubicBezTo>
                <a:cubicBezTo>
                  <a:pt x="1835785" y="503599"/>
                  <a:pt x="1845310" y="520746"/>
                  <a:pt x="1851025" y="534082"/>
                </a:cubicBezTo>
                <a:lnTo>
                  <a:pt x="105410" y="534082"/>
                </a:lnTo>
                <a:cubicBezTo>
                  <a:pt x="111125" y="523921"/>
                  <a:pt x="118110" y="511220"/>
                  <a:pt x="123190" y="502964"/>
                </a:cubicBezTo>
                <a:cubicBezTo>
                  <a:pt x="128905" y="492803"/>
                  <a:pt x="135255" y="480737"/>
                  <a:pt x="140335" y="471846"/>
                </a:cubicBezTo>
                <a:close/>
                <a:moveTo>
                  <a:pt x="207010" y="377223"/>
                </a:moveTo>
                <a:lnTo>
                  <a:pt x="1751330" y="377223"/>
                </a:lnTo>
                <a:cubicBezTo>
                  <a:pt x="1766570" y="396275"/>
                  <a:pt x="1783080" y="419137"/>
                  <a:pt x="1795145" y="438189"/>
                </a:cubicBezTo>
                <a:lnTo>
                  <a:pt x="163195" y="438189"/>
                </a:lnTo>
                <a:cubicBezTo>
                  <a:pt x="175895" y="417232"/>
                  <a:pt x="193040" y="394370"/>
                  <a:pt x="207010" y="377223"/>
                </a:cubicBezTo>
                <a:close/>
                <a:moveTo>
                  <a:pt x="292100" y="281330"/>
                </a:moveTo>
                <a:lnTo>
                  <a:pt x="1664970" y="281330"/>
                </a:lnTo>
                <a:cubicBezTo>
                  <a:pt x="1683385" y="299746"/>
                  <a:pt x="1704975" y="321338"/>
                  <a:pt x="1722120" y="340390"/>
                </a:cubicBezTo>
                <a:lnTo>
                  <a:pt x="234315" y="340390"/>
                </a:lnTo>
                <a:cubicBezTo>
                  <a:pt x="251460" y="319433"/>
                  <a:pt x="273050" y="298476"/>
                  <a:pt x="292100" y="281330"/>
                </a:cubicBezTo>
                <a:close/>
                <a:moveTo>
                  <a:pt x="405765" y="183531"/>
                </a:moveTo>
                <a:lnTo>
                  <a:pt x="1550670" y="183531"/>
                </a:lnTo>
                <a:cubicBezTo>
                  <a:pt x="1577340" y="202583"/>
                  <a:pt x="1605280" y="226080"/>
                  <a:pt x="1627505" y="245132"/>
                </a:cubicBezTo>
                <a:lnTo>
                  <a:pt x="330835" y="245132"/>
                </a:lnTo>
                <a:cubicBezTo>
                  <a:pt x="353060" y="224175"/>
                  <a:pt x="382905" y="200678"/>
                  <a:pt x="405765" y="183531"/>
                </a:cubicBezTo>
                <a:close/>
                <a:moveTo>
                  <a:pt x="572770" y="88273"/>
                </a:moveTo>
                <a:lnTo>
                  <a:pt x="1384300" y="88273"/>
                </a:lnTo>
                <a:cubicBezTo>
                  <a:pt x="1423670" y="105419"/>
                  <a:pt x="1464310" y="127011"/>
                  <a:pt x="1497330" y="147333"/>
                </a:cubicBezTo>
                <a:lnTo>
                  <a:pt x="459740" y="147333"/>
                </a:lnTo>
                <a:cubicBezTo>
                  <a:pt x="495300" y="125106"/>
                  <a:pt x="537845" y="104149"/>
                  <a:pt x="572770" y="88273"/>
                </a:cubicBezTo>
                <a:close/>
                <a:moveTo>
                  <a:pt x="977900" y="0"/>
                </a:moveTo>
                <a:cubicBezTo>
                  <a:pt x="1087120" y="-1270"/>
                  <a:pt x="1203325" y="19687"/>
                  <a:pt x="1293495" y="51440"/>
                </a:cubicBezTo>
                <a:lnTo>
                  <a:pt x="661670" y="51440"/>
                </a:lnTo>
                <a:cubicBezTo>
                  <a:pt x="759460" y="16511"/>
                  <a:pt x="878840" y="-635"/>
                  <a:pt x="9779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3500000" scaled="1"/>
          </a:gradFill>
        </p:spPr>
      </p:sp>
      <p:sp>
        <p:nvSpPr>
          <p:cNvPr id="10" name="Shape 7"/>
          <p:cNvSpPr/>
          <p:nvPr/>
        </p:nvSpPr>
        <p:spPr>
          <a:xfrm rot="6540000">
            <a:off x="10932795" y="1224280"/>
            <a:ext cx="464185" cy="464185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1" name="Shape 8"/>
          <p:cNvSpPr/>
          <p:nvPr/>
        </p:nvSpPr>
        <p:spPr>
          <a:xfrm>
            <a:off x="639445" y="1260475"/>
            <a:ext cx="91440" cy="143256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2" name="Shape 9"/>
          <p:cNvSpPr/>
          <p:nvPr/>
        </p:nvSpPr>
        <p:spPr>
          <a:xfrm>
            <a:off x="766445" y="1260475"/>
            <a:ext cx="9063990" cy="503331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 flipV="1">
            <a:off x="9601835" y="1260475"/>
            <a:ext cx="228600" cy="228600"/>
          </a:xfrm>
          <a:prstGeom prst="rtTriangle">
            <a:avLst/>
          </a:prstGeom>
          <a:solidFill>
            <a:srgbClr val="004CC0"/>
          </a:solidFill>
        </p:spPr>
      </p:sp>
      <p:sp>
        <p:nvSpPr>
          <p:cNvPr id="20" name="Text 17"/>
          <p:cNvSpPr/>
          <p:nvPr/>
        </p:nvSpPr>
        <p:spPr>
          <a:xfrm>
            <a:off x="582930" y="211455"/>
            <a:ext cx="1015174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</a:t>
            </a: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论文的</a:t>
            </a:r>
            <a:r>
              <a:rPr lang="zh-CN" alt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基本信息</a:t>
            </a:r>
            <a:endParaRPr lang="en-US" sz="1600" dirty="0"/>
          </a:p>
        </p:txBody>
      </p:sp>
      <p:graphicFrame>
        <p:nvGraphicFramePr>
          <p:cNvPr id="34" name="表格 33"/>
          <p:cNvGraphicFramePr/>
          <p:nvPr/>
        </p:nvGraphicFramePr>
        <p:xfrm>
          <a:off x="1091125" y="1561812"/>
          <a:ext cx="8510270" cy="45135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90168"/>
                <a:gridCol w="5620102"/>
              </a:tblGrid>
              <a:tr h="579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项目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内容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论文</a:t>
                      </a:r>
                      <a:r>
                        <a:rPr lang="zh-CN" altLang="en-US" b="1">
                          <a:cs typeface="Arial" panose="020B0604020202020204" pitchFamily="34" charset="0"/>
                        </a:rPr>
                        <a:t>标题</a:t>
                      </a:r>
                      <a:endParaRPr lang="zh-CN" altLang="en-US" b="1"/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 dirty="0"/>
                        <a:t>Neuron Similarity-Based Neural Network Verification via Abstraction and Refinement</a:t>
                      </a:r>
                      <a:r>
                        <a:rPr lang="zh-CN" altLang="en-US" b="1" dirty="0"/>
                        <a:t>（基于神经元相似性的抽象精炼神经网络验证方法）</a:t>
                      </a:r>
                      <a:endParaRPr lang="en-US" altLang="zh-CN" b="1" dirty="0"/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作</a:t>
                      </a:r>
                      <a:r>
                        <a:rPr lang="zh-CN" altLang="en-US" b="1">
                          <a:cs typeface="Arial" panose="020B0604020202020204" pitchFamily="34" charset="0"/>
                        </a:rPr>
                        <a:t>者</a:t>
                      </a:r>
                      <a:endParaRPr lang="zh-CN" altLang="en-US" b="1"/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Yuehao Liu, Yansong Dong, Liang Zhao, Wensheng Wang, Cong Tian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单位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西安电子科技大学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会议</a:t>
                      </a:r>
                      <a:r>
                        <a:rPr lang="en-US" altLang="zh-CN" b="1"/>
                        <a:t>/</a:t>
                      </a:r>
                      <a:r>
                        <a:rPr lang="zh-CN" altLang="en-US" b="1"/>
                        <a:t>期刊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IJCAI 2025 (International Joint Conference on Artificial Intelligence)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CCF</a:t>
                      </a:r>
                      <a:r>
                        <a:rPr lang="zh-CN" altLang="en-US" b="1"/>
                        <a:t>等级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1"/>
                        <a:t>A</a:t>
                      </a:r>
                      <a:r>
                        <a:rPr lang="zh-CN" altLang="en-US" b="1"/>
                        <a:t>类会议（人工智能领域顶级会议）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/>
                        <a:t>发表时间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2025年</a:t>
                      </a:r>
                    </a:p>
                  </a:txBody>
                  <a:tcPr anchor="ctr">
                    <a:lnL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L>
                    <a:lnR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R>
                    <a:lnT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T>
                    <a:lnB w="12700" cmpd="sng">
                      <a:solidFill>
                        <a:srgbClr val="004CC0">
                          <a:alpha val="100000"/>
                        </a:srgbClr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5" name="Shape 3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6" name="Shape 4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7" name="Shape 5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8" name="Shape 6"/>
          <p:cNvSpPr/>
          <p:nvPr/>
        </p:nvSpPr>
        <p:spPr>
          <a:xfrm>
            <a:off x="663575" y="1241743"/>
            <a:ext cx="2590777" cy="47688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4CC0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3421992" y="1241743"/>
            <a:ext cx="2590165" cy="4768850"/>
          </a:xfrm>
          <a:prstGeom prst="roundRect">
            <a:avLst>
              <a:gd name="adj" fmla="val 50000"/>
            </a:avLst>
          </a:prstGeom>
          <a:solidFill>
            <a:srgbClr val="004CC0"/>
          </a:solidFill>
          <a:ln w="12700">
            <a:solidFill>
              <a:srgbClr val="004CC0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6179797" y="1241743"/>
            <a:ext cx="2590165" cy="476885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4CC0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3"/>
            </p:custDataLst>
          </p:nvPr>
        </p:nvSpPr>
        <p:spPr>
          <a:xfrm>
            <a:off x="8937602" y="1241743"/>
            <a:ext cx="2590165" cy="4768850"/>
          </a:xfrm>
          <a:prstGeom prst="roundRect">
            <a:avLst>
              <a:gd name="adj" fmla="val 50000"/>
            </a:avLst>
          </a:prstGeom>
          <a:solidFill>
            <a:srgbClr val="004CC0"/>
          </a:solidFill>
          <a:ln w="12700">
            <a:solidFill>
              <a:srgbClr val="004C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930" y="211455"/>
            <a:ext cx="11606642" cy="837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选择参考论文的理由 </a:t>
            </a:r>
            <a:endParaRPr lang="en-US" altLang="zh-CN" b="1" dirty="0">
              <a:solidFill>
                <a:srgbClr val="000E28"/>
              </a:solidFill>
              <a:latin typeface="Open Sans" panose="020B0606030504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1245" y="1770698"/>
            <a:ext cx="2092574" cy="771525"/>
          </a:xfrm>
          <a:prstGeom prst="rect">
            <a:avLst/>
          </a:prstGeom>
          <a:noFill/>
        </p:spPr>
        <p:txBody>
          <a:bodyPr wrap="square" lIns="90043" tIns="46863" rIns="90043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2000" b="1" dirty="0">
                <a:solidFill>
                  <a:srgbClr val="004CC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选题与老师要求高度契合</a:t>
            </a:r>
            <a:r>
              <a:rPr lang="zh-CN" altLang="en-US" sz="20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 </a:t>
            </a:r>
          </a:p>
        </p:txBody>
      </p:sp>
      <p:sp>
        <p:nvSpPr>
          <p:cNvPr id="14" name="Text 12"/>
          <p:cNvSpPr/>
          <p:nvPr/>
        </p:nvSpPr>
        <p:spPr>
          <a:xfrm>
            <a:off x="891786" y="2481222"/>
            <a:ext cx="2282191" cy="29236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研究对象：</a:t>
            </a:r>
            <a:r>
              <a:rPr lang="en-US" altLang="zh-CN" sz="16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ReLU</a:t>
            </a:r>
            <a:r>
              <a:rPr lang="zh-CN" altLang="en-US" sz="16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激活函数的全连接神经网络</a:t>
            </a: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参考工具：</a:t>
            </a:r>
            <a:r>
              <a:rPr lang="en-US" altLang="zh-CN" sz="16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α,β-CROWN、Marabou、Verinet</a:t>
            </a: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验证数据集：</a:t>
            </a:r>
            <a:r>
              <a:rPr lang="en-US" altLang="zh-CN" sz="16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MNIST、ACAS Xu</a:t>
            </a:r>
            <a:endParaRPr lang="zh-CN" altLang="en-US" sz="1600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实验内容：对比</a:t>
            </a:r>
            <a:r>
              <a:rPr lang="zh-CN" altLang="en-US" sz="1600">
                <a:latin typeface="MiSans" pitchFamily="34" charset="-122"/>
                <a:ea typeface="MiSans" pitchFamily="34" charset="-122"/>
                <a:cs typeface="MiSans" pitchFamily="34" charset="-122"/>
              </a:rPr>
              <a:t>不同策略的验证方法</a:t>
            </a:r>
            <a:endParaRPr lang="en-US" sz="1600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3679585" y="1770642"/>
            <a:ext cx="2092072" cy="710610"/>
          </a:xfrm>
          <a:prstGeom prst="rect">
            <a:avLst/>
          </a:prstGeom>
          <a:noFill/>
        </p:spPr>
        <p:txBody>
          <a:bodyPr wrap="square" lIns="90043" tIns="46863" rIns="90043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实验设计可以直接复用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6" name="Text 14"/>
          <p:cNvSpPr/>
          <p:nvPr>
            <p:custDataLst>
              <p:tags r:id="rId5"/>
            </p:custDataLst>
          </p:nvPr>
        </p:nvSpPr>
        <p:spPr>
          <a:xfrm>
            <a:off x="3610801" y="2481250"/>
            <a:ext cx="2250825" cy="26435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用相同的数据集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MNIST）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用相同的网络结构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（2-6层</a:t>
            </a:r>
            <a:r>
              <a:rPr lang="en-US" altLang="zh-CN" dirty="0">
                <a:solidFill>
                  <a:schemeClr val="bg1"/>
                </a:solidFill>
              </a:rPr>
              <a:t>ReLU</a:t>
            </a:r>
            <a:r>
              <a:rPr lang="zh-CN" altLang="en-US" dirty="0">
                <a:solidFill>
                  <a:schemeClr val="bg1"/>
                </a:solidFill>
              </a:rPr>
              <a:t>网络）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用相同的扰动半径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（0.02, 0.05）</a:t>
            </a:r>
            <a:endParaRPr lang="en-US" altLang="zh-CN" dirty="0">
              <a:solidFill>
                <a:schemeClr val="bg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对比相同的工具（</a:t>
            </a:r>
            <a:r>
              <a:rPr lang="en-US" altLang="zh-CN" dirty="0">
                <a:solidFill>
                  <a:schemeClr val="bg1"/>
                </a:solidFill>
              </a:rPr>
              <a:t>α,β-CROWN、Marabou）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>
            <p:custDataLst>
              <p:tags r:id="rId6"/>
            </p:custDataLst>
          </p:nvPr>
        </p:nvSpPr>
        <p:spPr>
          <a:xfrm>
            <a:off x="6437406" y="1770698"/>
            <a:ext cx="2092080" cy="771525"/>
          </a:xfrm>
          <a:prstGeom prst="rect">
            <a:avLst/>
          </a:prstGeom>
          <a:noFill/>
        </p:spPr>
        <p:txBody>
          <a:bodyPr wrap="square" lIns="90043" tIns="46863" rIns="90043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2000" b="1" dirty="0">
                <a:solidFill>
                  <a:srgbClr val="004CC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方法创新具有启发性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8" name="Text 16"/>
          <p:cNvSpPr/>
          <p:nvPr>
            <p:custDataLst>
              <p:tags r:id="rId7"/>
            </p:custDataLst>
          </p:nvPr>
        </p:nvSpPr>
        <p:spPr>
          <a:xfrm>
            <a:off x="6437386" y="2542311"/>
            <a:ext cx="2092080" cy="26435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可以借鉴论文</a:t>
            </a:r>
            <a:r>
              <a:rPr lang="zh-CN" altLang="en-US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的核心思想——通过抽象来加速验证，在对比实验中增加一个“简化验证策略”：比如只验证关键层的神经元，或者用更宽松的边界条件进行验证。</a:t>
            </a:r>
          </a:p>
        </p:txBody>
      </p:sp>
      <p:sp>
        <p:nvSpPr>
          <p:cNvPr id="19" name="Text 17"/>
          <p:cNvSpPr/>
          <p:nvPr>
            <p:custDataLst>
              <p:tags r:id="rId8"/>
            </p:custDataLst>
          </p:nvPr>
        </p:nvSpPr>
        <p:spPr>
          <a:xfrm>
            <a:off x="9195211" y="1770698"/>
            <a:ext cx="2092080" cy="771525"/>
          </a:xfrm>
          <a:prstGeom prst="rect">
            <a:avLst/>
          </a:prstGeom>
          <a:noFill/>
        </p:spPr>
        <p:txBody>
          <a:bodyPr wrap="square" lIns="90043" tIns="46863" rIns="90043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论文质量高，权威性强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20" name="Text 18"/>
          <p:cNvSpPr/>
          <p:nvPr>
            <p:custDataLst>
              <p:tags r:id="rId9"/>
            </p:custDataLst>
          </p:nvPr>
        </p:nvSpPr>
        <p:spPr>
          <a:xfrm>
            <a:off x="9195195" y="2542311"/>
            <a:ext cx="2092080" cy="26435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本篇论文发表于人工智能领域顶级会议</a:t>
            </a:r>
            <a:r>
              <a:rPr lang="en-US" altLang="zh-CN" dirty="0">
                <a:solidFill>
                  <a:schemeClr val="bg1"/>
                </a:solidFill>
              </a:rPr>
              <a:t>IJCAI 2025（CCF A</a:t>
            </a:r>
            <a:r>
              <a:rPr lang="zh-CN" altLang="en-US" dirty="0">
                <a:solidFill>
                  <a:schemeClr val="bg1"/>
                </a:solidFill>
              </a:rPr>
              <a:t>类会议），代表了神经网络验证方向的最新研究进展。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pic>
        <p:nvPicPr>
          <p:cNvPr id="5" name="Image 0" descr="https://kimi-img.moonshot.cn/pub/slides/slides_tmpl/image/25-09-04-15:50:55-d2sk9nu1bb2p4onbqel0.png"/>
          <p:cNvPicPr>
            <a:picLocks noChangeAspect="1"/>
          </p:cNvPicPr>
          <p:nvPr/>
        </p:nvPicPr>
        <p:blipFill>
          <a:blip r:embed="rId3"/>
          <a:srcRect l="32" r="32"/>
          <a:stretch>
            <a:fillRect/>
          </a:stretch>
        </p:blipFill>
        <p:spPr>
          <a:xfrm>
            <a:off x="7287895" y="-6350"/>
            <a:ext cx="4904105" cy="68643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H="1" flipV="1">
            <a:off x="7287895" y="-6350"/>
            <a:ext cx="4884420" cy="6858000"/>
          </a:xfrm>
          <a:prstGeom prst="round1Rect">
            <a:avLst>
              <a:gd name="adj" fmla="val 22282"/>
            </a:avLst>
          </a:prstGeom>
          <a:solidFill>
            <a:srgbClr val="8496B0">
              <a:alpha val="20000"/>
            </a:srgbClr>
          </a:solidFill>
        </p:spPr>
      </p:sp>
      <p:sp>
        <p:nvSpPr>
          <p:cNvPr id="7" name="Shape 4"/>
          <p:cNvSpPr/>
          <p:nvPr/>
        </p:nvSpPr>
        <p:spPr>
          <a:xfrm flipV="1">
            <a:off x="-1905" y="0"/>
            <a:ext cx="7306945" cy="6858000"/>
          </a:xfrm>
          <a:prstGeom prst="round1Rect">
            <a:avLst>
              <a:gd name="adj" fmla="val 1666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9" name="Shape 6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0" name="Shape 7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1" name="Text 8"/>
          <p:cNvSpPr/>
          <p:nvPr/>
        </p:nvSpPr>
        <p:spPr>
          <a:xfrm>
            <a:off x="582930" y="211455"/>
            <a:ext cx="10151745" cy="586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主流验证工具的技术路线对比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flipH="1">
            <a:off x="6159661" y="5695950"/>
            <a:ext cx="2279328" cy="1162050"/>
          </a:xfrm>
          <a:custGeom>
            <a:avLst/>
            <a:gdLst/>
            <a:ahLst/>
            <a:cxnLst/>
            <a:rect l="l" t="t" r="r" b="b"/>
            <a:pathLst>
              <a:path w="2279328" h="1162050">
                <a:moveTo>
                  <a:pt x="2279328" y="1150620"/>
                </a:moveTo>
                <a:cubicBezTo>
                  <a:pt x="1688697" y="1161415"/>
                  <a:pt x="1119024" y="480060"/>
                  <a:pt x="1139982" y="0"/>
                </a:cubicBezTo>
                <a:cubicBezTo>
                  <a:pt x="1150143" y="607060"/>
                  <a:pt x="506800" y="1145540"/>
                  <a:pt x="0" y="1150620"/>
                </a:cubicBezTo>
                <a:cubicBezTo>
                  <a:pt x="49537" y="1149985"/>
                  <a:pt x="99074" y="1153795"/>
                  <a:pt x="147975" y="1162050"/>
                </a:cubicBezTo>
                <a:lnTo>
                  <a:pt x="2161837" y="1162050"/>
                </a:lnTo>
                <a:cubicBezTo>
                  <a:pt x="2201847" y="1155065"/>
                  <a:pt x="2241223" y="1151255"/>
                  <a:pt x="2279328" y="1150620"/>
                </a:cubicBezTo>
                <a:close/>
              </a:path>
            </a:pathLst>
          </a:custGeom>
          <a:solidFill>
            <a:srgbClr val="004CC0"/>
          </a:solidFill>
        </p:spPr>
      </p:sp>
      <p:sp>
        <p:nvSpPr>
          <p:cNvPr id="13" name="Shape 10"/>
          <p:cNvSpPr/>
          <p:nvPr/>
        </p:nvSpPr>
        <p:spPr>
          <a:xfrm flipH="1">
            <a:off x="11388725" y="422910"/>
            <a:ext cx="614680" cy="575310"/>
          </a:xfrm>
          <a:custGeom>
            <a:avLst/>
            <a:gdLst/>
            <a:ahLst/>
            <a:cxnLst/>
            <a:rect l="l" t="t" r="r" b="b"/>
            <a:pathLst>
              <a:path w="614680" h="575310">
                <a:moveTo>
                  <a:pt x="614680" y="287655"/>
                </a:moveTo>
                <a:lnTo>
                  <a:pt x="606766" y="287655"/>
                </a:lnTo>
                <a:lnTo>
                  <a:pt x="598851" y="287655"/>
                </a:lnTo>
                <a:lnTo>
                  <a:pt x="592256" y="287655"/>
                </a:lnTo>
                <a:lnTo>
                  <a:pt x="592256" y="287655"/>
                </a:lnTo>
                <a:lnTo>
                  <a:pt x="600170" y="287655"/>
                </a:lnTo>
                <a:lnTo>
                  <a:pt x="606766" y="287655"/>
                </a:lnTo>
                <a:lnTo>
                  <a:pt x="614680" y="287655"/>
                </a:lnTo>
                <a:close/>
                <a:moveTo>
                  <a:pt x="592256" y="287655"/>
                </a:moveTo>
                <a:cubicBezTo>
                  <a:pt x="444522" y="290294"/>
                  <a:pt x="302064" y="120076"/>
                  <a:pt x="307340" y="0"/>
                </a:cubicBezTo>
                <a:cubicBezTo>
                  <a:pt x="309978" y="151745"/>
                  <a:pt x="149053" y="286335"/>
                  <a:pt x="22424" y="287655"/>
                </a:cubicBezTo>
                <a:cubicBezTo>
                  <a:pt x="170158" y="285016"/>
                  <a:pt x="312616" y="455234"/>
                  <a:pt x="307340" y="575310"/>
                </a:cubicBezTo>
                <a:cubicBezTo>
                  <a:pt x="304702" y="424885"/>
                  <a:pt x="465627" y="290294"/>
                  <a:pt x="592256" y="287655"/>
                </a:cubicBezTo>
                <a:close/>
                <a:moveTo>
                  <a:pt x="22424" y="287655"/>
                </a:moveTo>
                <a:lnTo>
                  <a:pt x="21105" y="287655"/>
                </a:lnTo>
                <a:lnTo>
                  <a:pt x="14510" y="287655"/>
                </a:lnTo>
                <a:lnTo>
                  <a:pt x="6595" y="287655"/>
                </a:lnTo>
                <a:lnTo>
                  <a:pt x="0" y="287655"/>
                </a:lnTo>
                <a:lnTo>
                  <a:pt x="7914" y="287655"/>
                </a:lnTo>
                <a:lnTo>
                  <a:pt x="15829" y="287655"/>
                </a:lnTo>
                <a:lnTo>
                  <a:pt x="22424" y="28765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Shape 11"/>
          <p:cNvSpPr/>
          <p:nvPr/>
        </p:nvSpPr>
        <p:spPr>
          <a:xfrm flipH="1">
            <a:off x="11549380" y="559816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Shape 12"/>
          <p:cNvSpPr/>
          <p:nvPr/>
        </p:nvSpPr>
        <p:spPr>
          <a:xfrm flipH="1">
            <a:off x="11549380" y="612521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Shape 13"/>
          <p:cNvSpPr/>
          <p:nvPr/>
        </p:nvSpPr>
        <p:spPr>
          <a:xfrm flipH="1">
            <a:off x="11549380" y="507111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4"/>
          <p:cNvSpPr/>
          <p:nvPr/>
        </p:nvSpPr>
        <p:spPr>
          <a:xfrm>
            <a:off x="11696065" y="1156335"/>
            <a:ext cx="0" cy="36000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8" name="Image 1" descr="https://kimi-img.moonshot.cn/pub/slides/slides_tmpl/image/25-09-04-15:50:52-d2sk9n61bb2p4onbqeeg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4530" y="1392059"/>
            <a:ext cx="6019800" cy="546100"/>
          </a:xfrm>
          <a:prstGeom prst="rect">
            <a:avLst/>
          </a:prstGeom>
        </p:spPr>
      </p:pic>
      <p:pic>
        <p:nvPicPr>
          <p:cNvPr id="19" name="Image 2" descr="https://kimi-img.moonshot.cn/pub/slides/slides_tmpl/image/25-09-04-15:50:52-d2sk9n61bb2p4onbqef0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79146" y="3830954"/>
            <a:ext cx="6032500" cy="5461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 flipH="1" flipV="1">
            <a:off x="11056781" y="0"/>
            <a:ext cx="1135219" cy="1058229"/>
          </a:xfrm>
          <a:custGeom>
            <a:avLst/>
            <a:gdLst/>
            <a:ahLst/>
            <a:cxnLst/>
            <a:rect l="l" t="t" r="r" b="b"/>
            <a:pathLst>
              <a:path w="1135219" h="1058229">
                <a:moveTo>
                  <a:pt x="1135219" y="1046802"/>
                </a:moveTo>
                <a:cubicBezTo>
                  <a:pt x="586022" y="1056325"/>
                  <a:pt x="55237" y="468490"/>
                  <a:pt x="0" y="0"/>
                </a:cubicBezTo>
                <a:lnTo>
                  <a:pt x="0" y="1058229"/>
                </a:lnTo>
                <a:lnTo>
                  <a:pt x="1017761" y="1058229"/>
                </a:lnTo>
                <a:cubicBezTo>
                  <a:pt x="1057760" y="1051246"/>
                  <a:pt x="1097124" y="1047437"/>
                  <a:pt x="1135219" y="1046802"/>
                </a:cubicBezTo>
                <a:close/>
              </a:path>
            </a:pathLst>
          </a:custGeom>
          <a:solidFill>
            <a:srgbClr val="004CC0"/>
          </a:solidFill>
        </p:spPr>
      </p:sp>
      <p:sp>
        <p:nvSpPr>
          <p:cNvPr id="21" name="Text 16"/>
          <p:cNvSpPr/>
          <p:nvPr/>
        </p:nvSpPr>
        <p:spPr>
          <a:xfrm>
            <a:off x="684530" y="1417320"/>
            <a:ext cx="5901055" cy="396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精确求解与边界传播工具特性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84530" y="1990090"/>
            <a:ext cx="6149975" cy="11703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Marabou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基于 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SMT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求解，支持交互式分析，但受限于网络规模；</a:t>
            </a:r>
            <a:r>
              <a:rPr lang="en-US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,β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CROWN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凭借 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GPU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加速，展现出卓越的扩展性；</a:t>
            </a: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VeriNet 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专注于符号传播优化。</a:t>
            </a:r>
            <a:endParaRPr lang="en-US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781050" y="3860800"/>
            <a:ext cx="5901055" cy="396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工具选型的对照研究价值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81050" y="4433570"/>
            <a:ext cx="6149975" cy="11703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系统对比各工具的方法论差异与适用边界，明确SMT精确方法与边界传播近似方法的互补特性，为后续改进设计提供决策依据与集成方案。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pic>
        <p:nvPicPr>
          <p:cNvPr id="5" name="Image 0" descr="https://kimi-img.moonshot.cn/pub/slides/slides_tmpl/image/25-09-04-15:50:51-d2sk9mu1bb2p4onbqec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3430" cy="6842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1D3EBF">
              <a:alpha val="94902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4100852" y="2246694"/>
            <a:ext cx="7010584" cy="2861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</a:t>
            </a:r>
            <a:r>
              <a:rPr lang="en-US" altLang="zh-CN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Marabou</a:t>
            </a: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</a:t>
            </a:r>
            <a:r>
              <a:rPr lang="en-US" altLang="zh-CN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α,β-CROWN</a:t>
            </a: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的理由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70960" y="2246630"/>
            <a:ext cx="0" cy="19380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941705" y="2068830"/>
            <a:ext cx="2804160" cy="2221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2100000">
            <a:off x="9042400" y="3636645"/>
            <a:ext cx="3905250" cy="3905250"/>
          </a:xfrm>
          <a:custGeom>
            <a:avLst/>
            <a:gdLst/>
            <a:ahLst/>
            <a:cxnLst/>
            <a:rect l="l" t="t" r="r" b="b"/>
            <a:pathLst>
              <a:path w="3905250" h="3905250">
                <a:moveTo>
                  <a:pt x="1430788" y="3837117"/>
                </a:moveTo>
                <a:cubicBezTo>
                  <a:pt x="1430788" y="3837117"/>
                  <a:pt x="1430788" y="3837117"/>
                  <a:pt x="2474458" y="3837117"/>
                </a:cubicBezTo>
                <a:cubicBezTo>
                  <a:pt x="2310071" y="3882540"/>
                  <a:pt x="2134213" y="3905250"/>
                  <a:pt x="1950712" y="3905250"/>
                </a:cubicBezTo>
                <a:cubicBezTo>
                  <a:pt x="1771033" y="3905250"/>
                  <a:pt x="1595175" y="3882540"/>
                  <a:pt x="1430788" y="3837117"/>
                </a:cubicBezTo>
                <a:close/>
                <a:moveTo>
                  <a:pt x="972440" y="3642011"/>
                </a:moveTo>
                <a:lnTo>
                  <a:pt x="2929711" y="3642011"/>
                </a:lnTo>
                <a:cubicBezTo>
                  <a:pt x="2849588" y="3687305"/>
                  <a:pt x="2769465" y="3728823"/>
                  <a:pt x="2681713" y="3762792"/>
                </a:cubicBezTo>
                <a:cubicBezTo>
                  <a:pt x="2681713" y="3762792"/>
                  <a:pt x="2681713" y="3762792"/>
                  <a:pt x="1216621" y="3762792"/>
                </a:cubicBezTo>
                <a:cubicBezTo>
                  <a:pt x="1132685" y="3728823"/>
                  <a:pt x="1048746" y="3687305"/>
                  <a:pt x="972440" y="3642011"/>
                </a:cubicBezTo>
                <a:close/>
                <a:moveTo>
                  <a:pt x="696812" y="3450000"/>
                </a:moveTo>
                <a:lnTo>
                  <a:pt x="3205340" y="3450000"/>
                </a:lnTo>
                <a:cubicBezTo>
                  <a:pt x="3151885" y="3491759"/>
                  <a:pt x="3098432" y="3529723"/>
                  <a:pt x="3044977" y="3567684"/>
                </a:cubicBezTo>
                <a:cubicBezTo>
                  <a:pt x="3044977" y="3567684"/>
                  <a:pt x="3044977" y="3567684"/>
                  <a:pt x="857175" y="3567684"/>
                </a:cubicBezTo>
                <a:cubicBezTo>
                  <a:pt x="799902" y="3529723"/>
                  <a:pt x="746447" y="3491759"/>
                  <a:pt x="696812" y="3450000"/>
                </a:cubicBezTo>
                <a:close/>
                <a:moveTo>
                  <a:pt x="498608" y="3254891"/>
                </a:moveTo>
                <a:lnTo>
                  <a:pt x="3403544" y="3254891"/>
                </a:lnTo>
                <a:cubicBezTo>
                  <a:pt x="3365373" y="3297474"/>
                  <a:pt x="3327199" y="3340057"/>
                  <a:pt x="3285209" y="3378769"/>
                </a:cubicBezTo>
                <a:cubicBezTo>
                  <a:pt x="3285209" y="3378769"/>
                  <a:pt x="3285209" y="3378769"/>
                  <a:pt x="616943" y="3378769"/>
                </a:cubicBezTo>
                <a:cubicBezTo>
                  <a:pt x="574953" y="3340057"/>
                  <a:pt x="532964" y="3297474"/>
                  <a:pt x="498608" y="3254891"/>
                </a:cubicBezTo>
                <a:close/>
                <a:moveTo>
                  <a:pt x="346856" y="3065979"/>
                </a:moveTo>
                <a:lnTo>
                  <a:pt x="3558390" y="3065979"/>
                </a:lnTo>
                <a:cubicBezTo>
                  <a:pt x="3527840" y="3107736"/>
                  <a:pt x="3501110" y="3145699"/>
                  <a:pt x="3466742" y="3183663"/>
                </a:cubicBezTo>
                <a:cubicBezTo>
                  <a:pt x="3466742" y="3183663"/>
                  <a:pt x="3466742" y="3183663"/>
                  <a:pt x="434687" y="3183663"/>
                </a:cubicBezTo>
                <a:cubicBezTo>
                  <a:pt x="404137" y="3145699"/>
                  <a:pt x="373587" y="3107736"/>
                  <a:pt x="346856" y="3065979"/>
                </a:cubicBezTo>
                <a:close/>
                <a:moveTo>
                  <a:pt x="229172" y="2870870"/>
                </a:moveTo>
                <a:lnTo>
                  <a:pt x="3676074" y="2870870"/>
                </a:lnTo>
                <a:cubicBezTo>
                  <a:pt x="3653171" y="2912388"/>
                  <a:pt x="3630268" y="2953907"/>
                  <a:pt x="3603548" y="2991652"/>
                </a:cubicBezTo>
                <a:cubicBezTo>
                  <a:pt x="3603548" y="2991652"/>
                  <a:pt x="3603548" y="2991652"/>
                  <a:pt x="297881" y="2991652"/>
                </a:cubicBezTo>
                <a:cubicBezTo>
                  <a:pt x="274978" y="2953907"/>
                  <a:pt x="252075" y="2912388"/>
                  <a:pt x="229172" y="2870870"/>
                </a:cubicBezTo>
                <a:close/>
                <a:moveTo>
                  <a:pt x="136264" y="2678859"/>
                </a:moveTo>
                <a:lnTo>
                  <a:pt x="3762788" y="2678859"/>
                </a:lnTo>
                <a:cubicBezTo>
                  <a:pt x="3747519" y="2716821"/>
                  <a:pt x="3728432" y="2758580"/>
                  <a:pt x="3709345" y="2796543"/>
                </a:cubicBezTo>
                <a:cubicBezTo>
                  <a:pt x="3709345" y="2796543"/>
                  <a:pt x="3709345" y="2796543"/>
                  <a:pt x="189707" y="2796543"/>
                </a:cubicBezTo>
                <a:cubicBezTo>
                  <a:pt x="170620" y="2758580"/>
                  <a:pt x="155351" y="2716821"/>
                  <a:pt x="136264" y="2678859"/>
                </a:cubicBezTo>
                <a:close/>
                <a:moveTo>
                  <a:pt x="71229" y="2483753"/>
                </a:moveTo>
                <a:lnTo>
                  <a:pt x="3830923" y="2483753"/>
                </a:lnTo>
                <a:cubicBezTo>
                  <a:pt x="3819472" y="2526335"/>
                  <a:pt x="3804205" y="2568918"/>
                  <a:pt x="3788937" y="2607631"/>
                </a:cubicBezTo>
                <a:cubicBezTo>
                  <a:pt x="3788937" y="2607631"/>
                  <a:pt x="3788937" y="2607631"/>
                  <a:pt x="109399" y="2607631"/>
                </a:cubicBezTo>
                <a:cubicBezTo>
                  <a:pt x="94130" y="2568918"/>
                  <a:pt x="82680" y="2526335"/>
                  <a:pt x="71229" y="2483753"/>
                </a:cubicBezTo>
                <a:close/>
                <a:moveTo>
                  <a:pt x="24774" y="2294838"/>
                </a:moveTo>
                <a:lnTo>
                  <a:pt x="3874279" y="2294838"/>
                </a:lnTo>
                <a:cubicBezTo>
                  <a:pt x="3866641" y="2332799"/>
                  <a:pt x="3859004" y="2374559"/>
                  <a:pt x="3851364" y="2412522"/>
                </a:cubicBezTo>
                <a:cubicBezTo>
                  <a:pt x="3851364" y="2412522"/>
                  <a:pt x="3851364" y="2412522"/>
                  <a:pt x="51506" y="2412522"/>
                </a:cubicBezTo>
                <a:cubicBezTo>
                  <a:pt x="43868" y="2374559"/>
                  <a:pt x="32411" y="2332799"/>
                  <a:pt x="24774" y="2294838"/>
                </a:cubicBezTo>
                <a:close/>
                <a:moveTo>
                  <a:pt x="3096" y="2099731"/>
                </a:moveTo>
                <a:lnTo>
                  <a:pt x="3902152" y="2099731"/>
                </a:lnTo>
                <a:cubicBezTo>
                  <a:pt x="3898334" y="2141249"/>
                  <a:pt x="3894515" y="2182769"/>
                  <a:pt x="3886877" y="2220513"/>
                </a:cubicBezTo>
                <a:cubicBezTo>
                  <a:pt x="3886877" y="2220513"/>
                  <a:pt x="3886877" y="2220513"/>
                  <a:pt x="18371" y="2220513"/>
                </a:cubicBezTo>
                <a:cubicBezTo>
                  <a:pt x="10733" y="2182769"/>
                  <a:pt x="6916" y="2141249"/>
                  <a:pt x="3096" y="2099731"/>
                </a:cubicBezTo>
                <a:close/>
                <a:moveTo>
                  <a:pt x="0" y="1907721"/>
                </a:moveTo>
                <a:cubicBezTo>
                  <a:pt x="0" y="1907721"/>
                  <a:pt x="0" y="1907721"/>
                  <a:pt x="3905250" y="1907721"/>
                </a:cubicBezTo>
                <a:cubicBezTo>
                  <a:pt x="3905250" y="1923204"/>
                  <a:pt x="3905250" y="1934818"/>
                  <a:pt x="3905250" y="1950304"/>
                </a:cubicBezTo>
                <a:cubicBezTo>
                  <a:pt x="3905250" y="1977403"/>
                  <a:pt x="3905250" y="2004500"/>
                  <a:pt x="3905250" y="2031599"/>
                </a:cubicBezTo>
                <a:cubicBezTo>
                  <a:pt x="3905250" y="2031599"/>
                  <a:pt x="3905250" y="2031599"/>
                  <a:pt x="0" y="2031599"/>
                </a:cubicBezTo>
                <a:cubicBezTo>
                  <a:pt x="0" y="2004500"/>
                  <a:pt x="0" y="1977403"/>
                  <a:pt x="0" y="1950304"/>
                </a:cubicBezTo>
                <a:cubicBezTo>
                  <a:pt x="0" y="1934818"/>
                  <a:pt x="0" y="1923204"/>
                  <a:pt x="0" y="1907721"/>
                </a:cubicBezTo>
                <a:close/>
                <a:moveTo>
                  <a:pt x="10733" y="1712612"/>
                </a:moveTo>
                <a:lnTo>
                  <a:pt x="3890695" y="1712612"/>
                </a:lnTo>
                <a:cubicBezTo>
                  <a:pt x="3898334" y="1755195"/>
                  <a:pt x="3898334" y="1793907"/>
                  <a:pt x="3902152" y="1836490"/>
                </a:cubicBezTo>
                <a:cubicBezTo>
                  <a:pt x="3902152" y="1836490"/>
                  <a:pt x="3902152" y="1836490"/>
                  <a:pt x="3096" y="1836490"/>
                </a:cubicBezTo>
                <a:cubicBezTo>
                  <a:pt x="3096" y="1793907"/>
                  <a:pt x="6916" y="1755195"/>
                  <a:pt x="10733" y="1712612"/>
                </a:cubicBezTo>
                <a:close/>
                <a:moveTo>
                  <a:pt x="44578" y="1523699"/>
                </a:moveTo>
                <a:lnTo>
                  <a:pt x="3857574" y="1523699"/>
                </a:lnTo>
                <a:cubicBezTo>
                  <a:pt x="3865207" y="1561444"/>
                  <a:pt x="3872841" y="1602962"/>
                  <a:pt x="3880474" y="1644481"/>
                </a:cubicBezTo>
                <a:cubicBezTo>
                  <a:pt x="3880474" y="1644481"/>
                  <a:pt x="3880474" y="1644481"/>
                  <a:pt x="21678" y="1644481"/>
                </a:cubicBezTo>
                <a:cubicBezTo>
                  <a:pt x="29311" y="1602962"/>
                  <a:pt x="36945" y="1561444"/>
                  <a:pt x="44578" y="1523699"/>
                </a:cubicBezTo>
                <a:close/>
                <a:moveTo>
                  <a:pt x="99389" y="1328591"/>
                </a:moveTo>
                <a:lnTo>
                  <a:pt x="3805859" y="1328591"/>
                </a:lnTo>
                <a:cubicBezTo>
                  <a:pt x="3817310" y="1370108"/>
                  <a:pt x="3828762" y="1407853"/>
                  <a:pt x="3840213" y="1449373"/>
                </a:cubicBezTo>
                <a:cubicBezTo>
                  <a:pt x="3840213" y="1449373"/>
                  <a:pt x="3840213" y="1449373"/>
                  <a:pt x="65035" y="1449373"/>
                </a:cubicBezTo>
                <a:cubicBezTo>
                  <a:pt x="72669" y="1407853"/>
                  <a:pt x="87938" y="1370108"/>
                  <a:pt x="99389" y="1328591"/>
                </a:cubicBezTo>
                <a:close/>
                <a:moveTo>
                  <a:pt x="173517" y="1136580"/>
                </a:moveTo>
                <a:lnTo>
                  <a:pt x="3724814" y="1136580"/>
                </a:lnTo>
                <a:cubicBezTo>
                  <a:pt x="3743906" y="1175293"/>
                  <a:pt x="3762999" y="1217875"/>
                  <a:pt x="3778274" y="1260458"/>
                </a:cubicBezTo>
                <a:cubicBezTo>
                  <a:pt x="3778274" y="1260458"/>
                  <a:pt x="3778274" y="1260458"/>
                  <a:pt x="123876" y="1260458"/>
                </a:cubicBezTo>
                <a:cubicBezTo>
                  <a:pt x="139151" y="1217875"/>
                  <a:pt x="154424" y="1175293"/>
                  <a:pt x="173517" y="1136580"/>
                </a:cubicBezTo>
                <a:close/>
                <a:moveTo>
                  <a:pt x="279293" y="941474"/>
                </a:moveTo>
                <a:lnTo>
                  <a:pt x="3626673" y="941474"/>
                </a:lnTo>
                <a:cubicBezTo>
                  <a:pt x="3649574" y="984056"/>
                  <a:pt x="3672475" y="1022769"/>
                  <a:pt x="3691560" y="1065351"/>
                </a:cubicBezTo>
                <a:cubicBezTo>
                  <a:pt x="3691560" y="1065351"/>
                  <a:pt x="3691560" y="1065351"/>
                  <a:pt x="210590" y="1065351"/>
                </a:cubicBezTo>
                <a:cubicBezTo>
                  <a:pt x="233491" y="1022769"/>
                  <a:pt x="256392" y="984056"/>
                  <a:pt x="279293" y="941474"/>
                </a:cubicBezTo>
                <a:close/>
                <a:moveTo>
                  <a:pt x="412943" y="752559"/>
                </a:moveTo>
                <a:lnTo>
                  <a:pt x="3492305" y="752559"/>
                </a:lnTo>
                <a:cubicBezTo>
                  <a:pt x="3522832" y="790304"/>
                  <a:pt x="3553359" y="831821"/>
                  <a:pt x="3580070" y="873341"/>
                </a:cubicBezTo>
                <a:cubicBezTo>
                  <a:pt x="3580070" y="873341"/>
                  <a:pt x="3580070" y="873341"/>
                  <a:pt x="325179" y="873341"/>
                </a:cubicBezTo>
                <a:cubicBezTo>
                  <a:pt x="351889" y="831821"/>
                  <a:pt x="382416" y="790304"/>
                  <a:pt x="412943" y="752559"/>
                </a:cubicBezTo>
                <a:close/>
                <a:moveTo>
                  <a:pt x="582189" y="560548"/>
                </a:moveTo>
                <a:cubicBezTo>
                  <a:pt x="582189" y="560548"/>
                  <a:pt x="582189" y="560548"/>
                  <a:pt x="3319963" y="560548"/>
                </a:cubicBezTo>
                <a:cubicBezTo>
                  <a:pt x="3358147" y="598509"/>
                  <a:pt x="3396330" y="636473"/>
                  <a:pt x="3434514" y="678232"/>
                </a:cubicBezTo>
                <a:cubicBezTo>
                  <a:pt x="3434514" y="678232"/>
                  <a:pt x="3434514" y="678232"/>
                  <a:pt x="467638" y="678232"/>
                </a:cubicBezTo>
                <a:cubicBezTo>
                  <a:pt x="502004" y="636473"/>
                  <a:pt x="540188" y="598509"/>
                  <a:pt x="582189" y="560548"/>
                </a:cubicBezTo>
                <a:close/>
                <a:moveTo>
                  <a:pt x="808618" y="365442"/>
                </a:moveTo>
                <a:lnTo>
                  <a:pt x="3092810" y="365442"/>
                </a:lnTo>
                <a:cubicBezTo>
                  <a:pt x="3146286" y="404154"/>
                  <a:pt x="3195943" y="446737"/>
                  <a:pt x="3245599" y="489319"/>
                </a:cubicBezTo>
                <a:cubicBezTo>
                  <a:pt x="3245599" y="489319"/>
                  <a:pt x="3245599" y="489319"/>
                  <a:pt x="659649" y="489319"/>
                </a:cubicBezTo>
                <a:cubicBezTo>
                  <a:pt x="705486" y="446737"/>
                  <a:pt x="758962" y="404154"/>
                  <a:pt x="808618" y="365442"/>
                </a:cubicBezTo>
                <a:close/>
                <a:moveTo>
                  <a:pt x="1141891" y="176527"/>
                </a:moveTo>
                <a:lnTo>
                  <a:pt x="2760259" y="176527"/>
                </a:lnTo>
                <a:cubicBezTo>
                  <a:pt x="2840413" y="210692"/>
                  <a:pt x="2912935" y="248655"/>
                  <a:pt x="2985456" y="294211"/>
                </a:cubicBezTo>
                <a:cubicBezTo>
                  <a:pt x="2985456" y="294211"/>
                  <a:pt x="2985456" y="294211"/>
                  <a:pt x="916695" y="294211"/>
                </a:cubicBezTo>
                <a:cubicBezTo>
                  <a:pt x="989215" y="248655"/>
                  <a:pt x="1065553" y="210692"/>
                  <a:pt x="1141891" y="176527"/>
                </a:cubicBezTo>
                <a:close/>
                <a:moveTo>
                  <a:pt x="1949526" y="0"/>
                </a:moveTo>
                <a:cubicBezTo>
                  <a:pt x="2171061" y="0"/>
                  <a:pt x="2381136" y="34067"/>
                  <a:pt x="2579754" y="102200"/>
                </a:cubicBezTo>
                <a:cubicBezTo>
                  <a:pt x="2579754" y="102200"/>
                  <a:pt x="2579754" y="102200"/>
                  <a:pt x="1319298" y="102200"/>
                </a:cubicBezTo>
                <a:cubicBezTo>
                  <a:pt x="1517916" y="34067"/>
                  <a:pt x="1731811" y="0"/>
                  <a:pt x="19495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1" name="Shape 8"/>
          <p:cNvSpPr/>
          <p:nvPr/>
        </p:nvSpPr>
        <p:spPr>
          <a:xfrm rot="16680000">
            <a:off x="-121920" y="-71120"/>
            <a:ext cx="2160270" cy="1989455"/>
          </a:xfrm>
          <a:custGeom>
            <a:avLst/>
            <a:gdLst/>
            <a:ahLst/>
            <a:cxnLst/>
            <a:rect l="l" t="t" r="r" b="b"/>
            <a:pathLst>
              <a:path w="2160270" h="1989455">
                <a:moveTo>
                  <a:pt x="0" y="404000"/>
                </a:moveTo>
                <a:cubicBezTo>
                  <a:pt x="-4270" y="299551"/>
                  <a:pt x="25291" y="106748"/>
                  <a:pt x="30218" y="95252"/>
                </a:cubicBezTo>
                <a:lnTo>
                  <a:pt x="672683" y="0"/>
                </a:lnTo>
                <a:cubicBezTo>
                  <a:pt x="623742" y="90325"/>
                  <a:pt x="580057" y="311376"/>
                  <a:pt x="587283" y="404000"/>
                </a:cubicBezTo>
                <a:cubicBezTo>
                  <a:pt x="570204" y="964345"/>
                  <a:pt x="1083255" y="1415972"/>
                  <a:pt x="1585468" y="1402177"/>
                </a:cubicBezTo>
                <a:cubicBezTo>
                  <a:pt x="1754953" y="1415643"/>
                  <a:pt x="2006223" y="1319406"/>
                  <a:pt x="2070272" y="1276707"/>
                </a:cubicBezTo>
                <a:lnTo>
                  <a:pt x="2160270" y="1882050"/>
                </a:lnTo>
                <a:cubicBezTo>
                  <a:pt x="2022974" y="1946756"/>
                  <a:pt x="1709297" y="1997995"/>
                  <a:pt x="1585468" y="1989455"/>
                </a:cubicBezTo>
                <a:cubicBezTo>
                  <a:pt x="695675" y="2016717"/>
                  <a:pt x="-21678" y="1202147"/>
                  <a:pt x="0" y="4040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12" name="Shape 9"/>
          <p:cNvSpPr/>
          <p:nvPr/>
        </p:nvSpPr>
        <p:spPr>
          <a:xfrm rot="17460000">
            <a:off x="10614660" y="325120"/>
            <a:ext cx="1136650" cy="113665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3" name="Shape 10"/>
          <p:cNvSpPr/>
          <p:nvPr/>
        </p:nvSpPr>
        <p:spPr>
          <a:xfrm rot="17460000" flipH="1" flipV="1">
            <a:off x="811530" y="5401945"/>
            <a:ext cx="3069590" cy="306959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5" name="Shape 3"/>
          <p:cNvSpPr/>
          <p:nvPr/>
        </p:nvSpPr>
        <p:spPr>
          <a:xfrm rot="16200000">
            <a:off x="9388769" y="1820428"/>
            <a:ext cx="2664622" cy="111315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4CC0"/>
          </a:solidFill>
        </p:spPr>
      </p:sp>
      <p:sp>
        <p:nvSpPr>
          <p:cNvPr id="6" name="Shape 4"/>
          <p:cNvSpPr/>
          <p:nvPr/>
        </p:nvSpPr>
        <p:spPr>
          <a:xfrm rot="5400000" flipV="1">
            <a:off x="9216244" y="4646780"/>
            <a:ext cx="3009672" cy="111315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4CC0"/>
          </a:solidFill>
        </p:spPr>
      </p:sp>
      <p:sp>
        <p:nvSpPr>
          <p:cNvPr id="7" name="Shape 5"/>
          <p:cNvSpPr/>
          <p:nvPr/>
        </p:nvSpPr>
        <p:spPr>
          <a:xfrm>
            <a:off x="1229425" y="1044697"/>
            <a:ext cx="8854440" cy="5663466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1573182" y="2858783"/>
            <a:ext cx="167640" cy="16764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1660583" y="2942554"/>
            <a:ext cx="7992110" cy="0"/>
          </a:xfrm>
          <a:prstGeom prst="line">
            <a:avLst/>
          </a:prstGeom>
          <a:noFill/>
          <a:ln w="12700">
            <a:solidFill>
              <a:srgbClr val="004CC0"/>
            </a:solidFill>
            <a:prstDash val="dash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584366" y="5071809"/>
            <a:ext cx="167640" cy="16764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1" name="Shape 9"/>
          <p:cNvSpPr/>
          <p:nvPr/>
        </p:nvSpPr>
        <p:spPr>
          <a:xfrm>
            <a:off x="1740867" y="5155589"/>
            <a:ext cx="7992110" cy="0"/>
          </a:xfrm>
          <a:prstGeom prst="line">
            <a:avLst/>
          </a:prstGeom>
          <a:noFill/>
          <a:ln w="12700">
            <a:solidFill>
              <a:srgbClr val="004CC0"/>
            </a:solidFill>
            <a:prstDash val="dash"/>
            <a:headEnd type="arrow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82930" y="211455"/>
            <a:ext cx="1015174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 </a:t>
            </a:r>
            <a:r>
              <a:rPr lang="en-US" altLang="zh-CN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Marabou </a:t>
            </a:r>
            <a:r>
              <a:rPr lang="zh-CN" alt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的理由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3"/>
            </p:custDataLst>
          </p:nvPr>
        </p:nvSpPr>
        <p:spPr>
          <a:xfrm>
            <a:off x="1456731" y="1228046"/>
            <a:ext cx="85604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论文</a:t>
            </a:r>
            <a:r>
              <a:rPr lang="zh-CN" altLang="en-US" sz="24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Arial" panose="020B0604020202020204" pitchFamily="34" charset="0"/>
              </a:rPr>
              <a:t>高度</a:t>
            </a:r>
            <a:r>
              <a:rPr lang="zh-CN" altLang="en-US" sz="24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对齐</a:t>
            </a:r>
            <a:endParaRPr lang="en-US" sz="2400" dirty="0"/>
          </a:p>
        </p:txBody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1456703" y="1594369"/>
            <a:ext cx="8707786" cy="4686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Marabou</a:t>
            </a:r>
            <a:r>
              <a:rPr lang="zh-CN" alt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是参考论文中对比的三个工具之一，实验设计可以直接参考论文的表1</a:t>
            </a:r>
          </a:p>
          <a:p>
            <a:pPr algn="just">
              <a:lnSpc>
                <a:spcPct val="130000"/>
              </a:lnSpc>
            </a:pPr>
            <a:endParaRPr lang="en-US" dirty="0"/>
          </a:p>
        </p:txBody>
      </p:sp>
      <p:sp>
        <p:nvSpPr>
          <p:cNvPr id="15" name="Text 13"/>
          <p:cNvSpPr/>
          <p:nvPr>
            <p:custDataLst>
              <p:tags r:id="rId5"/>
            </p:custDataLst>
          </p:nvPr>
        </p:nvSpPr>
        <p:spPr>
          <a:xfrm>
            <a:off x="1456748" y="3120989"/>
            <a:ext cx="85604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版本成熟稳定</a:t>
            </a:r>
            <a:endParaRPr lang="en-US" sz="2400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9" name="Text 14"/>
          <p:cNvSpPr/>
          <p:nvPr>
            <p:custDataLst>
              <p:tags r:id="rId6"/>
            </p:custDataLst>
          </p:nvPr>
        </p:nvSpPr>
        <p:spPr>
          <a:xfrm>
            <a:off x="1494727" y="3490704"/>
            <a:ext cx="8522467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2024年发布的2.0版本在</a:t>
            </a:r>
            <a:r>
              <a:rPr lang="en-US" altLang="zh-CN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VNN-COMP</a:t>
            </a:r>
            <a:r>
              <a:rPr lang="zh-CN" altLang="en-US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竞赛中获得第二名，预处理速度提升了60倍</a:t>
            </a:r>
            <a:endParaRPr lang="en-US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6" name="Text 11"/>
          <p:cNvSpPr/>
          <p:nvPr>
            <p:custDataLst>
              <p:tags r:id="rId7"/>
            </p:custDataLst>
          </p:nvPr>
        </p:nvSpPr>
        <p:spPr>
          <a:xfrm>
            <a:off x="1456702" y="2062972"/>
            <a:ext cx="85604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实际应用验证</a:t>
            </a:r>
            <a:endParaRPr lang="en-US" sz="2400" dirty="0"/>
          </a:p>
        </p:txBody>
      </p:sp>
      <p:sp>
        <p:nvSpPr>
          <p:cNvPr id="17" name="Text 12"/>
          <p:cNvSpPr/>
          <p:nvPr>
            <p:custDataLst>
              <p:tags r:id="rId8"/>
            </p:custDataLst>
          </p:nvPr>
        </p:nvSpPr>
        <p:spPr>
          <a:xfrm>
            <a:off x="1494676" y="2424290"/>
            <a:ext cx="8707786" cy="4686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Marabou</a:t>
            </a:r>
            <a:r>
              <a:rPr lang="zh-CN" altLang="en-US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已被用于卫星故障检测等安全关键系统的神经网络验证，证明工具可靠</a:t>
            </a:r>
            <a:endParaRPr lang="en-US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8" name="Text 13"/>
          <p:cNvSpPr/>
          <p:nvPr>
            <p:custDataLst>
              <p:tags r:id="rId9"/>
            </p:custDataLst>
          </p:nvPr>
        </p:nvSpPr>
        <p:spPr>
          <a:xfrm>
            <a:off x="1456702" y="3941604"/>
            <a:ext cx="85604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上手门槛低</a:t>
            </a:r>
            <a:endParaRPr lang="en-US" sz="2400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21" name="Text 14"/>
          <p:cNvSpPr/>
          <p:nvPr>
            <p:custDataLst>
              <p:tags r:id="rId10"/>
            </p:custDataLst>
          </p:nvPr>
        </p:nvSpPr>
        <p:spPr>
          <a:xfrm>
            <a:off x="1494902" y="4362132"/>
            <a:ext cx="8192770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提供 </a:t>
            </a:r>
            <a:r>
              <a:rPr lang="en-US" altLang="zh-CN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pip install marabou </a:t>
            </a:r>
            <a:r>
              <a:rPr lang="zh-CN" altLang="en-US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一键安装，最快跑通实验流程</a:t>
            </a:r>
            <a:endParaRPr lang="en-US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pic>
        <p:nvPicPr>
          <p:cNvPr id="22" name="图片 21" descr="post_object_image_319387226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9445" y="4812989"/>
            <a:ext cx="8534400" cy="17537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92466" y="1325129"/>
            <a:ext cx="2690011" cy="3893909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4CC0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819466" y="1452129"/>
            <a:ext cx="2690011" cy="4673068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8" name="Shape 6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9" name="Shape 7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0" name="Shape 8"/>
          <p:cNvSpPr/>
          <p:nvPr/>
        </p:nvSpPr>
        <p:spPr>
          <a:xfrm flipH="1" flipV="1">
            <a:off x="7307580" y="0"/>
            <a:ext cx="4884420" cy="6858000"/>
          </a:xfrm>
          <a:prstGeom prst="round1Rect">
            <a:avLst>
              <a:gd name="adj" fmla="val 16667"/>
            </a:avLst>
          </a:prstGeom>
          <a:solidFill>
            <a:srgbClr val="004CC0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3"/>
            </p:custDataLst>
          </p:nvPr>
        </p:nvSpPr>
        <p:spPr>
          <a:xfrm>
            <a:off x="1108911" y="2285924"/>
            <a:ext cx="2136291" cy="14469"/>
          </a:xfrm>
          <a:prstGeom prst="line">
            <a:avLst/>
          </a:prstGeom>
          <a:noFill/>
          <a:ln w="127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1094421" y="2725304"/>
            <a:ext cx="14469" cy="14469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3" name="Shape 11"/>
          <p:cNvSpPr/>
          <p:nvPr/>
        </p:nvSpPr>
        <p:spPr>
          <a:xfrm flipH="1">
            <a:off x="11388725" y="422910"/>
            <a:ext cx="614680" cy="575310"/>
          </a:xfrm>
          <a:custGeom>
            <a:avLst/>
            <a:gdLst/>
            <a:ahLst/>
            <a:cxnLst/>
            <a:rect l="l" t="t" r="r" b="b"/>
            <a:pathLst>
              <a:path w="614680" h="575310">
                <a:moveTo>
                  <a:pt x="614680" y="287655"/>
                </a:moveTo>
                <a:lnTo>
                  <a:pt x="606766" y="287655"/>
                </a:lnTo>
                <a:lnTo>
                  <a:pt x="598851" y="287655"/>
                </a:lnTo>
                <a:lnTo>
                  <a:pt x="592256" y="287655"/>
                </a:lnTo>
                <a:lnTo>
                  <a:pt x="592256" y="287655"/>
                </a:lnTo>
                <a:lnTo>
                  <a:pt x="600170" y="287655"/>
                </a:lnTo>
                <a:lnTo>
                  <a:pt x="606766" y="287655"/>
                </a:lnTo>
                <a:lnTo>
                  <a:pt x="614680" y="287655"/>
                </a:lnTo>
                <a:close/>
                <a:moveTo>
                  <a:pt x="592256" y="287655"/>
                </a:moveTo>
                <a:cubicBezTo>
                  <a:pt x="444522" y="290294"/>
                  <a:pt x="302064" y="120076"/>
                  <a:pt x="307340" y="0"/>
                </a:cubicBezTo>
                <a:cubicBezTo>
                  <a:pt x="309978" y="151745"/>
                  <a:pt x="149053" y="286335"/>
                  <a:pt x="22424" y="287655"/>
                </a:cubicBezTo>
                <a:cubicBezTo>
                  <a:pt x="170158" y="285016"/>
                  <a:pt x="312616" y="455234"/>
                  <a:pt x="307340" y="575310"/>
                </a:cubicBezTo>
                <a:cubicBezTo>
                  <a:pt x="304702" y="424885"/>
                  <a:pt x="465627" y="290294"/>
                  <a:pt x="592256" y="287655"/>
                </a:cubicBezTo>
                <a:close/>
                <a:moveTo>
                  <a:pt x="22424" y="287655"/>
                </a:moveTo>
                <a:lnTo>
                  <a:pt x="21105" y="287655"/>
                </a:lnTo>
                <a:lnTo>
                  <a:pt x="14510" y="287655"/>
                </a:lnTo>
                <a:lnTo>
                  <a:pt x="6595" y="287655"/>
                </a:lnTo>
                <a:lnTo>
                  <a:pt x="0" y="287655"/>
                </a:lnTo>
                <a:lnTo>
                  <a:pt x="7914" y="287655"/>
                </a:lnTo>
                <a:lnTo>
                  <a:pt x="15829" y="287655"/>
                </a:lnTo>
                <a:lnTo>
                  <a:pt x="22424" y="28765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 flipH="1">
            <a:off x="11549380" y="559816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 flipH="1">
            <a:off x="11549380" y="612521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 flipH="1">
            <a:off x="11549380" y="507111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11696065" y="1156335"/>
            <a:ext cx="0" cy="36000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307580" y="5511165"/>
            <a:ext cx="1352550" cy="1346835"/>
          </a:xfrm>
          <a:custGeom>
            <a:avLst/>
            <a:gdLst/>
            <a:ahLst/>
            <a:cxnLst/>
            <a:rect l="l" t="t" r="r" b="b"/>
            <a:pathLst>
              <a:path w="1352550" h="1346835">
                <a:moveTo>
                  <a:pt x="0" y="0"/>
                </a:moveTo>
                <a:lnTo>
                  <a:pt x="538480" y="0"/>
                </a:lnTo>
                <a:cubicBezTo>
                  <a:pt x="995680" y="-13970"/>
                  <a:pt x="1363980" y="404495"/>
                  <a:pt x="1352550" y="814070"/>
                </a:cubicBezTo>
                <a:lnTo>
                  <a:pt x="1352550" y="1346835"/>
                </a:lnTo>
                <a:lnTo>
                  <a:pt x="814070" y="1346835"/>
                </a:lnTo>
                <a:cubicBezTo>
                  <a:pt x="356870" y="1360805"/>
                  <a:pt x="-11430" y="942340"/>
                  <a:pt x="0" y="532765"/>
                </a:cubicBezTo>
                <a:lnTo>
                  <a:pt x="0" y="0"/>
                </a:lnTo>
                <a:close/>
              </a:path>
            </a:pathLst>
          </a:custGeom>
          <a:solidFill>
            <a:srgbClr val="1D3EBF"/>
          </a:solidFill>
          <a:ln w="19050">
            <a:solidFill>
              <a:srgbClr val="1D3E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8704580" y="5473065"/>
            <a:ext cx="1352550" cy="1346835"/>
          </a:xfrm>
          <a:custGeom>
            <a:avLst/>
            <a:gdLst/>
            <a:ahLst/>
            <a:cxnLst/>
            <a:rect l="l" t="t" r="r" b="b"/>
            <a:pathLst>
              <a:path w="1352550" h="1346835">
                <a:moveTo>
                  <a:pt x="0" y="0"/>
                </a:moveTo>
                <a:lnTo>
                  <a:pt x="538480" y="0"/>
                </a:lnTo>
                <a:cubicBezTo>
                  <a:pt x="995680" y="-13970"/>
                  <a:pt x="1363980" y="404495"/>
                  <a:pt x="1352550" y="814070"/>
                </a:cubicBezTo>
                <a:lnTo>
                  <a:pt x="1352550" y="1346835"/>
                </a:lnTo>
                <a:lnTo>
                  <a:pt x="814070" y="1346835"/>
                </a:lnTo>
                <a:cubicBezTo>
                  <a:pt x="356870" y="1360805"/>
                  <a:pt x="-11430" y="942340"/>
                  <a:pt x="0" y="532765"/>
                </a:cubicBezTo>
                <a:lnTo>
                  <a:pt x="0" y="0"/>
                </a:lnTo>
                <a:close/>
              </a:path>
            </a:pathLst>
          </a:custGeom>
          <a:solidFill>
            <a:srgbClr val="1D3EBF"/>
          </a:solidFill>
          <a:ln w="19050">
            <a:solidFill>
              <a:srgbClr val="1D3E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930" y="211455"/>
            <a:ext cx="1015174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 </a:t>
            </a:r>
            <a:r>
              <a:rPr lang="en-US" altLang="zh-CN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α,β-CROWN </a:t>
            </a:r>
            <a:r>
              <a:rPr lang="zh-CN" alt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的理由</a:t>
            </a:r>
            <a:endParaRPr lang="en-US" sz="1600" dirty="0"/>
          </a:p>
        </p:txBody>
      </p:sp>
      <p:sp>
        <p:nvSpPr>
          <p:cNvPr id="21" name="Text 19"/>
          <p:cNvSpPr/>
          <p:nvPr>
            <p:custDataLst>
              <p:tags r:id="rId5"/>
            </p:custDataLst>
          </p:nvPr>
        </p:nvSpPr>
        <p:spPr>
          <a:xfrm>
            <a:off x="1094104" y="1752167"/>
            <a:ext cx="2136801" cy="3156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</a:rPr>
              <a:t>竞赛验证</a:t>
            </a:r>
            <a:endParaRPr lang="en-US" sz="2000" dirty="0"/>
          </a:p>
        </p:txBody>
      </p:sp>
      <p:sp>
        <p:nvSpPr>
          <p:cNvPr id="22" name="Text 20"/>
          <p:cNvSpPr/>
          <p:nvPr>
            <p:custDataLst>
              <p:tags r:id="rId6"/>
            </p:custDataLst>
          </p:nvPr>
        </p:nvSpPr>
        <p:spPr>
          <a:xfrm>
            <a:off x="1011671" y="2285906"/>
            <a:ext cx="2233558" cy="32252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dirty="0"/>
              <a:t>VNN-COMP 2023、2024</a:t>
            </a:r>
            <a:r>
              <a:rPr lang="zh-CN" altLang="en-US" dirty="0"/>
              <a:t>连续两年获得冠军，证明算法性能和工程实现都是顶尖水平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73633" y="1085118"/>
            <a:ext cx="342455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FFFFFF"/>
                </a:solidFill>
              </a:rPr>
              <a:t>支持</a:t>
            </a:r>
            <a:r>
              <a:rPr lang="en-US" altLang="zh-CN" sz="2400" b="1" dirty="0">
                <a:solidFill>
                  <a:srgbClr val="FFFFFF"/>
                </a:solidFill>
              </a:rPr>
              <a:t>GPU</a:t>
            </a:r>
            <a:r>
              <a:rPr lang="zh-CN" altLang="en-US" sz="2400" b="1" dirty="0">
                <a:solidFill>
                  <a:srgbClr val="FFFFFF"/>
                </a:solidFill>
              </a:rPr>
              <a:t>加速</a:t>
            </a:r>
            <a:endParaRPr lang="en-US" sz="1600" b="1" dirty="0"/>
          </a:p>
        </p:txBody>
      </p:sp>
      <p:sp>
        <p:nvSpPr>
          <p:cNvPr id="24" name="Text 22"/>
          <p:cNvSpPr/>
          <p:nvPr/>
        </p:nvSpPr>
        <p:spPr>
          <a:xfrm>
            <a:off x="7773633" y="1616086"/>
            <a:ext cx="3424555" cy="810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支持</a:t>
            </a:r>
            <a:r>
              <a:rPr lang="en-US" altLang="zh-CN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GPU</a:t>
            </a:r>
            <a:r>
              <a:rPr lang="zh-CN" altLang="en-US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验证，可以处理比</a:t>
            </a:r>
            <a:r>
              <a:rPr lang="en-US" altLang="zh-CN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CPU</a:t>
            </a:r>
            <a:r>
              <a:rPr lang="zh-CN" altLang="en-US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工具更大规模的网络</a:t>
            </a:r>
            <a:endParaRPr lang="en-US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25" name="Shape 3"/>
          <p:cNvSpPr/>
          <p:nvPr>
            <p:custDataLst>
              <p:tags r:id="rId7"/>
            </p:custDataLst>
          </p:nvPr>
        </p:nvSpPr>
        <p:spPr>
          <a:xfrm>
            <a:off x="3816550" y="1325079"/>
            <a:ext cx="2690011" cy="3893909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4CC0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26" name="Shape 4"/>
          <p:cNvSpPr/>
          <p:nvPr>
            <p:custDataLst>
              <p:tags r:id="rId8"/>
            </p:custDataLst>
          </p:nvPr>
        </p:nvSpPr>
        <p:spPr>
          <a:xfrm>
            <a:off x="3930424" y="1452118"/>
            <a:ext cx="2863300" cy="4673079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27" name="Shape 9"/>
          <p:cNvSpPr/>
          <p:nvPr>
            <p:custDataLst>
              <p:tags r:id="rId9"/>
            </p:custDataLst>
          </p:nvPr>
        </p:nvSpPr>
        <p:spPr>
          <a:xfrm>
            <a:off x="4207257" y="2285906"/>
            <a:ext cx="2136291" cy="14469"/>
          </a:xfrm>
          <a:prstGeom prst="line">
            <a:avLst/>
          </a:prstGeom>
          <a:noFill/>
          <a:ln w="127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28" name="Shape 10"/>
          <p:cNvSpPr/>
          <p:nvPr>
            <p:custDataLst>
              <p:tags r:id="rId10"/>
            </p:custDataLst>
          </p:nvPr>
        </p:nvSpPr>
        <p:spPr>
          <a:xfrm>
            <a:off x="4192788" y="2598254"/>
            <a:ext cx="14469" cy="14469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29" name="Text 19"/>
          <p:cNvSpPr/>
          <p:nvPr>
            <p:custDataLst>
              <p:tags r:id="rId11"/>
            </p:custDataLst>
          </p:nvPr>
        </p:nvSpPr>
        <p:spPr>
          <a:xfrm>
            <a:off x="4192788" y="1745015"/>
            <a:ext cx="2136801" cy="3156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dirty="0">
                <a:solidFill>
                  <a:srgbClr val="000000"/>
                </a:solidFill>
              </a:rPr>
              <a:t>论文</a:t>
            </a:r>
            <a:r>
              <a:rPr lang="zh-CN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对齐</a:t>
            </a:r>
            <a:endParaRPr lang="en-US" sz="2000" dirty="0"/>
          </a:p>
        </p:txBody>
      </p:sp>
      <p:sp>
        <p:nvSpPr>
          <p:cNvPr id="30" name="Text 20"/>
          <p:cNvSpPr/>
          <p:nvPr>
            <p:custDataLst>
              <p:tags r:id="rId12"/>
            </p:custDataLst>
          </p:nvPr>
        </p:nvSpPr>
        <p:spPr>
          <a:xfrm>
            <a:off x="4067891" y="2285906"/>
            <a:ext cx="2557399" cy="18663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/>
              <a:t>参考论文的表1中，</a:t>
            </a:r>
            <a:r>
              <a:rPr lang="en-US" altLang="zh-CN" dirty="0"/>
              <a:t>α,β-CROWN</a:t>
            </a:r>
            <a:r>
              <a:rPr lang="zh-CN" altLang="en-US" dirty="0"/>
              <a:t>作为原始工具之一参与对比，实验结果可直接参考</a:t>
            </a:r>
            <a:endParaRPr lang="en-US" dirty="0"/>
          </a:p>
        </p:txBody>
      </p:sp>
      <p:pic>
        <p:nvPicPr>
          <p:cNvPr id="31" name="图片 30" descr="post_object_image_319387226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74176" y="2939420"/>
            <a:ext cx="4221867" cy="34068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pic>
        <p:nvPicPr>
          <p:cNvPr id="5" name="Image 0" descr="https://kimi-img.moonshot.cn/pub/slides/slides_tmpl/image/25-09-04-15:50:51-d2sk9mu1bb2p4onbqec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3430" cy="6842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-27940" y="-8890"/>
            <a:ext cx="12247880" cy="6875780"/>
          </a:xfrm>
          <a:prstGeom prst="rect">
            <a:avLst/>
          </a:prstGeom>
          <a:solidFill>
            <a:srgbClr val="1D3EBF">
              <a:alpha val="94902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4100852" y="2672349"/>
            <a:ext cx="687387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改进策略试想</a:t>
            </a:r>
          </a:p>
        </p:txBody>
      </p:sp>
      <p:sp>
        <p:nvSpPr>
          <p:cNvPr id="8" name="Shape 5"/>
          <p:cNvSpPr/>
          <p:nvPr/>
        </p:nvSpPr>
        <p:spPr>
          <a:xfrm>
            <a:off x="3870960" y="2246630"/>
            <a:ext cx="0" cy="19380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941705" y="2068830"/>
            <a:ext cx="2804160" cy="2221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3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rot="2100000">
            <a:off x="9042400" y="3636645"/>
            <a:ext cx="3905250" cy="3905250"/>
          </a:xfrm>
          <a:custGeom>
            <a:avLst/>
            <a:gdLst/>
            <a:ahLst/>
            <a:cxnLst/>
            <a:rect l="l" t="t" r="r" b="b"/>
            <a:pathLst>
              <a:path w="3905250" h="3905250">
                <a:moveTo>
                  <a:pt x="1430788" y="3837117"/>
                </a:moveTo>
                <a:cubicBezTo>
                  <a:pt x="1430788" y="3837117"/>
                  <a:pt x="1430788" y="3837117"/>
                  <a:pt x="2474458" y="3837117"/>
                </a:cubicBezTo>
                <a:cubicBezTo>
                  <a:pt x="2310071" y="3882540"/>
                  <a:pt x="2134213" y="3905250"/>
                  <a:pt x="1950712" y="3905250"/>
                </a:cubicBezTo>
                <a:cubicBezTo>
                  <a:pt x="1771033" y="3905250"/>
                  <a:pt x="1595175" y="3882540"/>
                  <a:pt x="1430788" y="3837117"/>
                </a:cubicBezTo>
                <a:close/>
                <a:moveTo>
                  <a:pt x="972440" y="3642011"/>
                </a:moveTo>
                <a:lnTo>
                  <a:pt x="2929711" y="3642011"/>
                </a:lnTo>
                <a:cubicBezTo>
                  <a:pt x="2849588" y="3687305"/>
                  <a:pt x="2769465" y="3728823"/>
                  <a:pt x="2681713" y="3762792"/>
                </a:cubicBezTo>
                <a:cubicBezTo>
                  <a:pt x="2681713" y="3762792"/>
                  <a:pt x="2681713" y="3762792"/>
                  <a:pt x="1216621" y="3762792"/>
                </a:cubicBezTo>
                <a:cubicBezTo>
                  <a:pt x="1132685" y="3728823"/>
                  <a:pt x="1048746" y="3687305"/>
                  <a:pt x="972440" y="3642011"/>
                </a:cubicBezTo>
                <a:close/>
                <a:moveTo>
                  <a:pt x="696812" y="3450000"/>
                </a:moveTo>
                <a:lnTo>
                  <a:pt x="3205340" y="3450000"/>
                </a:lnTo>
                <a:cubicBezTo>
                  <a:pt x="3151885" y="3491759"/>
                  <a:pt x="3098432" y="3529723"/>
                  <a:pt x="3044977" y="3567684"/>
                </a:cubicBezTo>
                <a:cubicBezTo>
                  <a:pt x="3044977" y="3567684"/>
                  <a:pt x="3044977" y="3567684"/>
                  <a:pt x="857175" y="3567684"/>
                </a:cubicBezTo>
                <a:cubicBezTo>
                  <a:pt x="799902" y="3529723"/>
                  <a:pt x="746447" y="3491759"/>
                  <a:pt x="696812" y="3450000"/>
                </a:cubicBezTo>
                <a:close/>
                <a:moveTo>
                  <a:pt x="498608" y="3254891"/>
                </a:moveTo>
                <a:lnTo>
                  <a:pt x="3403544" y="3254891"/>
                </a:lnTo>
                <a:cubicBezTo>
                  <a:pt x="3365373" y="3297474"/>
                  <a:pt x="3327199" y="3340057"/>
                  <a:pt x="3285209" y="3378769"/>
                </a:cubicBezTo>
                <a:cubicBezTo>
                  <a:pt x="3285209" y="3378769"/>
                  <a:pt x="3285209" y="3378769"/>
                  <a:pt x="616943" y="3378769"/>
                </a:cubicBezTo>
                <a:cubicBezTo>
                  <a:pt x="574953" y="3340057"/>
                  <a:pt x="532964" y="3297474"/>
                  <a:pt x="498608" y="3254891"/>
                </a:cubicBezTo>
                <a:close/>
                <a:moveTo>
                  <a:pt x="346856" y="3065979"/>
                </a:moveTo>
                <a:lnTo>
                  <a:pt x="3558390" y="3065979"/>
                </a:lnTo>
                <a:cubicBezTo>
                  <a:pt x="3527840" y="3107736"/>
                  <a:pt x="3501110" y="3145699"/>
                  <a:pt x="3466742" y="3183663"/>
                </a:cubicBezTo>
                <a:cubicBezTo>
                  <a:pt x="3466742" y="3183663"/>
                  <a:pt x="3466742" y="3183663"/>
                  <a:pt x="434687" y="3183663"/>
                </a:cubicBezTo>
                <a:cubicBezTo>
                  <a:pt x="404137" y="3145699"/>
                  <a:pt x="373587" y="3107736"/>
                  <a:pt x="346856" y="3065979"/>
                </a:cubicBezTo>
                <a:close/>
                <a:moveTo>
                  <a:pt x="229172" y="2870870"/>
                </a:moveTo>
                <a:lnTo>
                  <a:pt x="3676074" y="2870870"/>
                </a:lnTo>
                <a:cubicBezTo>
                  <a:pt x="3653171" y="2912388"/>
                  <a:pt x="3630268" y="2953907"/>
                  <a:pt x="3603548" y="2991652"/>
                </a:cubicBezTo>
                <a:cubicBezTo>
                  <a:pt x="3603548" y="2991652"/>
                  <a:pt x="3603548" y="2991652"/>
                  <a:pt x="297881" y="2991652"/>
                </a:cubicBezTo>
                <a:cubicBezTo>
                  <a:pt x="274978" y="2953907"/>
                  <a:pt x="252075" y="2912388"/>
                  <a:pt x="229172" y="2870870"/>
                </a:cubicBezTo>
                <a:close/>
                <a:moveTo>
                  <a:pt x="136264" y="2678859"/>
                </a:moveTo>
                <a:lnTo>
                  <a:pt x="3762788" y="2678859"/>
                </a:lnTo>
                <a:cubicBezTo>
                  <a:pt x="3747519" y="2716821"/>
                  <a:pt x="3728432" y="2758580"/>
                  <a:pt x="3709345" y="2796543"/>
                </a:cubicBezTo>
                <a:cubicBezTo>
                  <a:pt x="3709345" y="2796543"/>
                  <a:pt x="3709345" y="2796543"/>
                  <a:pt x="189707" y="2796543"/>
                </a:cubicBezTo>
                <a:cubicBezTo>
                  <a:pt x="170620" y="2758580"/>
                  <a:pt x="155351" y="2716821"/>
                  <a:pt x="136264" y="2678859"/>
                </a:cubicBezTo>
                <a:close/>
                <a:moveTo>
                  <a:pt x="71229" y="2483753"/>
                </a:moveTo>
                <a:lnTo>
                  <a:pt x="3830923" y="2483753"/>
                </a:lnTo>
                <a:cubicBezTo>
                  <a:pt x="3819472" y="2526335"/>
                  <a:pt x="3804205" y="2568918"/>
                  <a:pt x="3788937" y="2607631"/>
                </a:cubicBezTo>
                <a:cubicBezTo>
                  <a:pt x="3788937" y="2607631"/>
                  <a:pt x="3788937" y="2607631"/>
                  <a:pt x="109399" y="2607631"/>
                </a:cubicBezTo>
                <a:cubicBezTo>
                  <a:pt x="94130" y="2568918"/>
                  <a:pt x="82680" y="2526335"/>
                  <a:pt x="71229" y="2483753"/>
                </a:cubicBezTo>
                <a:close/>
                <a:moveTo>
                  <a:pt x="24774" y="2294838"/>
                </a:moveTo>
                <a:lnTo>
                  <a:pt x="3874279" y="2294838"/>
                </a:lnTo>
                <a:cubicBezTo>
                  <a:pt x="3866641" y="2332799"/>
                  <a:pt x="3859004" y="2374559"/>
                  <a:pt x="3851364" y="2412522"/>
                </a:cubicBezTo>
                <a:cubicBezTo>
                  <a:pt x="3851364" y="2412522"/>
                  <a:pt x="3851364" y="2412522"/>
                  <a:pt x="51506" y="2412522"/>
                </a:cubicBezTo>
                <a:cubicBezTo>
                  <a:pt x="43868" y="2374559"/>
                  <a:pt x="32411" y="2332799"/>
                  <a:pt x="24774" y="2294838"/>
                </a:cubicBezTo>
                <a:close/>
                <a:moveTo>
                  <a:pt x="3096" y="2099731"/>
                </a:moveTo>
                <a:lnTo>
                  <a:pt x="3902152" y="2099731"/>
                </a:lnTo>
                <a:cubicBezTo>
                  <a:pt x="3898334" y="2141249"/>
                  <a:pt x="3894515" y="2182769"/>
                  <a:pt x="3886877" y="2220513"/>
                </a:cubicBezTo>
                <a:cubicBezTo>
                  <a:pt x="3886877" y="2220513"/>
                  <a:pt x="3886877" y="2220513"/>
                  <a:pt x="18371" y="2220513"/>
                </a:cubicBezTo>
                <a:cubicBezTo>
                  <a:pt x="10733" y="2182769"/>
                  <a:pt x="6916" y="2141249"/>
                  <a:pt x="3096" y="2099731"/>
                </a:cubicBezTo>
                <a:close/>
                <a:moveTo>
                  <a:pt x="0" y="1907721"/>
                </a:moveTo>
                <a:cubicBezTo>
                  <a:pt x="0" y="1907721"/>
                  <a:pt x="0" y="1907721"/>
                  <a:pt x="3905250" y="1907721"/>
                </a:cubicBezTo>
                <a:cubicBezTo>
                  <a:pt x="3905250" y="1923204"/>
                  <a:pt x="3905250" y="1934818"/>
                  <a:pt x="3905250" y="1950304"/>
                </a:cubicBezTo>
                <a:cubicBezTo>
                  <a:pt x="3905250" y="1977403"/>
                  <a:pt x="3905250" y="2004500"/>
                  <a:pt x="3905250" y="2031599"/>
                </a:cubicBezTo>
                <a:cubicBezTo>
                  <a:pt x="3905250" y="2031599"/>
                  <a:pt x="3905250" y="2031599"/>
                  <a:pt x="0" y="2031599"/>
                </a:cubicBezTo>
                <a:cubicBezTo>
                  <a:pt x="0" y="2004500"/>
                  <a:pt x="0" y="1977403"/>
                  <a:pt x="0" y="1950304"/>
                </a:cubicBezTo>
                <a:cubicBezTo>
                  <a:pt x="0" y="1934818"/>
                  <a:pt x="0" y="1923204"/>
                  <a:pt x="0" y="1907721"/>
                </a:cubicBezTo>
                <a:close/>
                <a:moveTo>
                  <a:pt x="10733" y="1712612"/>
                </a:moveTo>
                <a:lnTo>
                  <a:pt x="3890695" y="1712612"/>
                </a:lnTo>
                <a:cubicBezTo>
                  <a:pt x="3898334" y="1755195"/>
                  <a:pt x="3898334" y="1793907"/>
                  <a:pt x="3902152" y="1836490"/>
                </a:cubicBezTo>
                <a:cubicBezTo>
                  <a:pt x="3902152" y="1836490"/>
                  <a:pt x="3902152" y="1836490"/>
                  <a:pt x="3096" y="1836490"/>
                </a:cubicBezTo>
                <a:cubicBezTo>
                  <a:pt x="3096" y="1793907"/>
                  <a:pt x="6916" y="1755195"/>
                  <a:pt x="10733" y="1712612"/>
                </a:cubicBezTo>
                <a:close/>
                <a:moveTo>
                  <a:pt x="44578" y="1523699"/>
                </a:moveTo>
                <a:lnTo>
                  <a:pt x="3857574" y="1523699"/>
                </a:lnTo>
                <a:cubicBezTo>
                  <a:pt x="3865207" y="1561444"/>
                  <a:pt x="3872841" y="1602962"/>
                  <a:pt x="3880474" y="1644481"/>
                </a:cubicBezTo>
                <a:cubicBezTo>
                  <a:pt x="3880474" y="1644481"/>
                  <a:pt x="3880474" y="1644481"/>
                  <a:pt x="21678" y="1644481"/>
                </a:cubicBezTo>
                <a:cubicBezTo>
                  <a:pt x="29311" y="1602962"/>
                  <a:pt x="36945" y="1561444"/>
                  <a:pt x="44578" y="1523699"/>
                </a:cubicBezTo>
                <a:close/>
                <a:moveTo>
                  <a:pt x="99389" y="1328591"/>
                </a:moveTo>
                <a:lnTo>
                  <a:pt x="3805859" y="1328591"/>
                </a:lnTo>
                <a:cubicBezTo>
                  <a:pt x="3817310" y="1370108"/>
                  <a:pt x="3828762" y="1407853"/>
                  <a:pt x="3840213" y="1449373"/>
                </a:cubicBezTo>
                <a:cubicBezTo>
                  <a:pt x="3840213" y="1449373"/>
                  <a:pt x="3840213" y="1449373"/>
                  <a:pt x="65035" y="1449373"/>
                </a:cubicBezTo>
                <a:cubicBezTo>
                  <a:pt x="72669" y="1407853"/>
                  <a:pt x="87938" y="1370108"/>
                  <a:pt x="99389" y="1328591"/>
                </a:cubicBezTo>
                <a:close/>
                <a:moveTo>
                  <a:pt x="173517" y="1136580"/>
                </a:moveTo>
                <a:lnTo>
                  <a:pt x="3724814" y="1136580"/>
                </a:lnTo>
                <a:cubicBezTo>
                  <a:pt x="3743906" y="1175293"/>
                  <a:pt x="3762999" y="1217875"/>
                  <a:pt x="3778274" y="1260458"/>
                </a:cubicBezTo>
                <a:cubicBezTo>
                  <a:pt x="3778274" y="1260458"/>
                  <a:pt x="3778274" y="1260458"/>
                  <a:pt x="123876" y="1260458"/>
                </a:cubicBezTo>
                <a:cubicBezTo>
                  <a:pt x="139151" y="1217875"/>
                  <a:pt x="154424" y="1175293"/>
                  <a:pt x="173517" y="1136580"/>
                </a:cubicBezTo>
                <a:close/>
                <a:moveTo>
                  <a:pt x="279293" y="941474"/>
                </a:moveTo>
                <a:lnTo>
                  <a:pt x="3626673" y="941474"/>
                </a:lnTo>
                <a:cubicBezTo>
                  <a:pt x="3649574" y="984056"/>
                  <a:pt x="3672475" y="1022769"/>
                  <a:pt x="3691560" y="1065351"/>
                </a:cubicBezTo>
                <a:cubicBezTo>
                  <a:pt x="3691560" y="1065351"/>
                  <a:pt x="3691560" y="1065351"/>
                  <a:pt x="210590" y="1065351"/>
                </a:cubicBezTo>
                <a:cubicBezTo>
                  <a:pt x="233491" y="1022769"/>
                  <a:pt x="256392" y="984056"/>
                  <a:pt x="279293" y="941474"/>
                </a:cubicBezTo>
                <a:close/>
                <a:moveTo>
                  <a:pt x="412943" y="752559"/>
                </a:moveTo>
                <a:lnTo>
                  <a:pt x="3492305" y="752559"/>
                </a:lnTo>
                <a:cubicBezTo>
                  <a:pt x="3522832" y="790304"/>
                  <a:pt x="3553359" y="831821"/>
                  <a:pt x="3580070" y="873341"/>
                </a:cubicBezTo>
                <a:cubicBezTo>
                  <a:pt x="3580070" y="873341"/>
                  <a:pt x="3580070" y="873341"/>
                  <a:pt x="325179" y="873341"/>
                </a:cubicBezTo>
                <a:cubicBezTo>
                  <a:pt x="351889" y="831821"/>
                  <a:pt x="382416" y="790304"/>
                  <a:pt x="412943" y="752559"/>
                </a:cubicBezTo>
                <a:close/>
                <a:moveTo>
                  <a:pt x="582189" y="560548"/>
                </a:moveTo>
                <a:cubicBezTo>
                  <a:pt x="582189" y="560548"/>
                  <a:pt x="582189" y="560548"/>
                  <a:pt x="3319963" y="560548"/>
                </a:cubicBezTo>
                <a:cubicBezTo>
                  <a:pt x="3358147" y="598509"/>
                  <a:pt x="3396330" y="636473"/>
                  <a:pt x="3434514" y="678232"/>
                </a:cubicBezTo>
                <a:cubicBezTo>
                  <a:pt x="3434514" y="678232"/>
                  <a:pt x="3434514" y="678232"/>
                  <a:pt x="467638" y="678232"/>
                </a:cubicBezTo>
                <a:cubicBezTo>
                  <a:pt x="502004" y="636473"/>
                  <a:pt x="540188" y="598509"/>
                  <a:pt x="582189" y="560548"/>
                </a:cubicBezTo>
                <a:close/>
                <a:moveTo>
                  <a:pt x="808618" y="365442"/>
                </a:moveTo>
                <a:lnTo>
                  <a:pt x="3092810" y="365442"/>
                </a:lnTo>
                <a:cubicBezTo>
                  <a:pt x="3146286" y="404154"/>
                  <a:pt x="3195943" y="446737"/>
                  <a:pt x="3245599" y="489319"/>
                </a:cubicBezTo>
                <a:cubicBezTo>
                  <a:pt x="3245599" y="489319"/>
                  <a:pt x="3245599" y="489319"/>
                  <a:pt x="659649" y="489319"/>
                </a:cubicBezTo>
                <a:cubicBezTo>
                  <a:pt x="705486" y="446737"/>
                  <a:pt x="758962" y="404154"/>
                  <a:pt x="808618" y="365442"/>
                </a:cubicBezTo>
                <a:close/>
                <a:moveTo>
                  <a:pt x="1141891" y="176527"/>
                </a:moveTo>
                <a:lnTo>
                  <a:pt x="2760259" y="176527"/>
                </a:lnTo>
                <a:cubicBezTo>
                  <a:pt x="2840413" y="210692"/>
                  <a:pt x="2912935" y="248655"/>
                  <a:pt x="2985456" y="294211"/>
                </a:cubicBezTo>
                <a:cubicBezTo>
                  <a:pt x="2985456" y="294211"/>
                  <a:pt x="2985456" y="294211"/>
                  <a:pt x="916695" y="294211"/>
                </a:cubicBezTo>
                <a:cubicBezTo>
                  <a:pt x="989215" y="248655"/>
                  <a:pt x="1065553" y="210692"/>
                  <a:pt x="1141891" y="176527"/>
                </a:cubicBezTo>
                <a:close/>
                <a:moveTo>
                  <a:pt x="1949526" y="0"/>
                </a:moveTo>
                <a:cubicBezTo>
                  <a:pt x="2171061" y="0"/>
                  <a:pt x="2381136" y="34067"/>
                  <a:pt x="2579754" y="102200"/>
                </a:cubicBezTo>
                <a:cubicBezTo>
                  <a:pt x="2579754" y="102200"/>
                  <a:pt x="2579754" y="102200"/>
                  <a:pt x="1319298" y="102200"/>
                </a:cubicBezTo>
                <a:cubicBezTo>
                  <a:pt x="1517916" y="34067"/>
                  <a:pt x="1731811" y="0"/>
                  <a:pt x="1949526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1" name="Shape 8"/>
          <p:cNvSpPr/>
          <p:nvPr/>
        </p:nvSpPr>
        <p:spPr>
          <a:xfrm rot="16680000">
            <a:off x="-121920" y="-71120"/>
            <a:ext cx="2160270" cy="1989455"/>
          </a:xfrm>
          <a:custGeom>
            <a:avLst/>
            <a:gdLst/>
            <a:ahLst/>
            <a:cxnLst/>
            <a:rect l="l" t="t" r="r" b="b"/>
            <a:pathLst>
              <a:path w="2160270" h="1989455">
                <a:moveTo>
                  <a:pt x="0" y="404000"/>
                </a:moveTo>
                <a:cubicBezTo>
                  <a:pt x="-4270" y="299551"/>
                  <a:pt x="25291" y="106748"/>
                  <a:pt x="30218" y="95252"/>
                </a:cubicBezTo>
                <a:lnTo>
                  <a:pt x="672683" y="0"/>
                </a:lnTo>
                <a:cubicBezTo>
                  <a:pt x="623742" y="90325"/>
                  <a:pt x="580057" y="311376"/>
                  <a:pt x="587283" y="404000"/>
                </a:cubicBezTo>
                <a:cubicBezTo>
                  <a:pt x="570204" y="964345"/>
                  <a:pt x="1083255" y="1415972"/>
                  <a:pt x="1585468" y="1402177"/>
                </a:cubicBezTo>
                <a:cubicBezTo>
                  <a:pt x="1754953" y="1415643"/>
                  <a:pt x="2006223" y="1319406"/>
                  <a:pt x="2070272" y="1276707"/>
                </a:cubicBezTo>
                <a:lnTo>
                  <a:pt x="2160270" y="1882050"/>
                </a:lnTo>
                <a:cubicBezTo>
                  <a:pt x="2022974" y="1946756"/>
                  <a:pt x="1709297" y="1997995"/>
                  <a:pt x="1585468" y="1989455"/>
                </a:cubicBezTo>
                <a:cubicBezTo>
                  <a:pt x="695675" y="2016717"/>
                  <a:pt x="-21678" y="1202147"/>
                  <a:pt x="0" y="40400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0"/>
                </a:srgbClr>
              </a:gs>
              <a:gs pos="100000">
                <a:srgbClr val="00B0F0">
                  <a:alpha val="0"/>
                </a:srgbClr>
              </a:gs>
            </a:gsLst>
            <a:lin ang="16200000" scaled="1"/>
          </a:gradFill>
        </p:spPr>
      </p:sp>
      <p:sp>
        <p:nvSpPr>
          <p:cNvPr id="12" name="Shape 9"/>
          <p:cNvSpPr/>
          <p:nvPr/>
        </p:nvSpPr>
        <p:spPr>
          <a:xfrm rot="17460000">
            <a:off x="10614660" y="325120"/>
            <a:ext cx="1136650" cy="113665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3" name="Shape 10"/>
          <p:cNvSpPr/>
          <p:nvPr/>
        </p:nvSpPr>
        <p:spPr>
          <a:xfrm rot="17460000" flipH="1" flipV="1">
            <a:off x="811530" y="5401945"/>
            <a:ext cx="3069590" cy="3069590"/>
          </a:xfrm>
          <a:prstGeom prst="ellipse">
            <a:avLst/>
          </a:pr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pic>
        <p:nvPicPr>
          <p:cNvPr id="5" name="Image 0" descr="https://kimi-img.moonshot.cn/pub/slides/slides_tmpl/image/25-09-04-15:50:51-d2sk9mu1bb2p4onbqe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35" y="0"/>
            <a:ext cx="1192974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V="1">
            <a:off x="-27940" y="6866890"/>
            <a:ext cx="6396777" cy="6350"/>
          </a:xfrm>
          <a:custGeom>
            <a:avLst/>
            <a:gdLst/>
            <a:ahLst/>
            <a:cxnLst/>
            <a:rect l="l" t="t" r="r" b="b"/>
            <a:pathLst>
              <a:path w="6396777" h="6350">
                <a:moveTo>
                  <a:pt x="0" y="0"/>
                </a:moveTo>
                <a:lnTo>
                  <a:pt x="6275496" y="0"/>
                </a:lnTo>
                <a:cubicBezTo>
                  <a:pt x="6322484" y="-1905"/>
                  <a:pt x="6434241" y="9525"/>
                  <a:pt x="6396777" y="6350"/>
                </a:cubicBez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68072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8" name="Shape 5"/>
          <p:cNvSpPr/>
          <p:nvPr/>
        </p:nvSpPr>
        <p:spPr>
          <a:xfrm>
            <a:off x="95465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9" name="Shape 6"/>
          <p:cNvSpPr/>
          <p:nvPr/>
        </p:nvSpPr>
        <p:spPr>
          <a:xfrm>
            <a:off x="122858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0" name="Shape 7"/>
          <p:cNvSpPr/>
          <p:nvPr/>
        </p:nvSpPr>
        <p:spPr>
          <a:xfrm>
            <a:off x="775774" y="5909623"/>
            <a:ext cx="5472000" cy="0"/>
          </a:xfrm>
          <a:prstGeom prst="line">
            <a:avLst/>
          </a:prstGeom>
          <a:noFill/>
          <a:ln w="254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800520" y="2930525"/>
            <a:ext cx="1080135" cy="0"/>
          </a:xfrm>
          <a:prstGeom prst="line">
            <a:avLst/>
          </a:prstGeom>
          <a:noFill/>
          <a:ln w="254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2413420" y="2930525"/>
            <a:ext cx="3851910" cy="0"/>
          </a:xfrm>
          <a:prstGeom prst="line">
            <a:avLst/>
          </a:prstGeom>
          <a:noFill/>
          <a:ln w="254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 flipV="1">
            <a:off x="1878750" y="2646680"/>
            <a:ext cx="274320" cy="289560"/>
          </a:xfrm>
          <a:prstGeom prst="line">
            <a:avLst/>
          </a:prstGeom>
          <a:noFill/>
          <a:ln w="254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 flipH="1" flipV="1">
            <a:off x="2139103" y="2646696"/>
            <a:ext cx="274320" cy="289560"/>
          </a:xfrm>
          <a:prstGeom prst="line">
            <a:avLst/>
          </a:prstGeom>
          <a:noFill/>
          <a:ln w="254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822960" y="1553210"/>
            <a:ext cx="5424805" cy="7004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3600" dirty="0">
                <a:solidFill>
                  <a:srgbClr val="1D3EBF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改进策略试想</a:t>
            </a:r>
          </a:p>
        </p:txBody>
      </p:sp>
      <p:sp>
        <p:nvSpPr>
          <p:cNvPr id="17" name="Text 14"/>
          <p:cNvSpPr/>
          <p:nvPr/>
        </p:nvSpPr>
        <p:spPr>
          <a:xfrm>
            <a:off x="680720" y="3011805"/>
            <a:ext cx="5782945" cy="28155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000">
                <a:solidFill>
                  <a:srgbClr val="0F1115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基于关键层的简化验证</a:t>
            </a:r>
          </a:p>
          <a:p>
            <a:pPr algn="just">
              <a:lnSpc>
                <a:spcPct val="130000"/>
              </a:lnSpc>
            </a:pPr>
            <a:r>
              <a:rPr lang="zh-CN" altLang="en-US" sz="2000">
                <a:solidFill>
                  <a:srgbClr val="0F1115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思路：借鉴参考论文的“抽象”思想，不直接验证整个网络，而是先通过敏感性分析或神经元活跃度统计，识别出对鲁棒性影响最大的“关键层”或“关键神经元子集”。然后集中验证这些关键部分，而非全网络，以牺牲极小部分完备性为代价，大幅提升验证速度。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Shape 1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5" name="Shap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57000">
                <a:srgbClr val="004CC0"/>
              </a:gs>
              <a:gs pos="100000">
                <a:srgbClr val="1D3EBF"/>
              </a:gs>
            </a:gsLst>
            <a:lin ang="2700000" scaled="1"/>
          </a:gradFill>
        </p:spPr>
      </p:sp>
      <p:pic>
        <p:nvPicPr>
          <p:cNvPr id="6" name="Image 0" descr="https://kimi-img.moonshot.cn/pub/slides/slides_tmpl/image/25-09-04-15:50:55-d2sk9nu1bb2p4onbqe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835" y="1348105"/>
            <a:ext cx="6571615" cy="568134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49345" y="756100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049345" y="821637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49345" y="887173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1" y="2"/>
            <a:ext cx="1739899" cy="1405430"/>
          </a:xfrm>
          <a:custGeom>
            <a:avLst/>
            <a:gdLst/>
            <a:ahLst/>
            <a:cxnLst/>
            <a:rect l="l" t="t" r="r" b="b"/>
            <a:pathLst>
              <a:path w="1739899" h="1405430">
                <a:moveTo>
                  <a:pt x="1146615" y="0"/>
                </a:moveTo>
                <a:lnTo>
                  <a:pt x="1739899" y="0"/>
                </a:lnTo>
                <a:lnTo>
                  <a:pt x="1724927" y="98105"/>
                </a:lnTo>
                <a:cubicBezTo>
                  <a:pt x="1572255" y="844194"/>
                  <a:pt x="912117" y="1405430"/>
                  <a:pt x="120894" y="1405430"/>
                </a:cubicBezTo>
                <a:lnTo>
                  <a:pt x="0" y="1399326"/>
                </a:lnTo>
                <a:lnTo>
                  <a:pt x="0" y="812861"/>
                </a:lnTo>
                <a:lnTo>
                  <a:pt x="13314" y="814893"/>
                </a:lnTo>
                <a:cubicBezTo>
                  <a:pt x="48685" y="818485"/>
                  <a:pt x="84574" y="820325"/>
                  <a:pt x="120894" y="820325"/>
                </a:cubicBezTo>
                <a:cubicBezTo>
                  <a:pt x="593045" y="820325"/>
                  <a:pt x="992562" y="509337"/>
                  <a:pt x="1125781" y="81022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0"/>
                </a:srgbClr>
              </a:gs>
              <a:gs pos="100000">
                <a:srgbClr val="00B0F0"/>
              </a:gs>
            </a:gsLst>
            <a:lin ang="2700000" scaled="1"/>
          </a:gradFill>
        </p:spPr>
      </p:sp>
      <p:sp>
        <p:nvSpPr>
          <p:cNvPr id="11" name="Shape 8"/>
          <p:cNvSpPr/>
          <p:nvPr/>
        </p:nvSpPr>
        <p:spPr>
          <a:xfrm rot="2100000">
            <a:off x="4903470" y="142875"/>
            <a:ext cx="1850390" cy="1850390"/>
          </a:xfrm>
          <a:custGeom>
            <a:avLst/>
            <a:gdLst/>
            <a:ahLst/>
            <a:cxnLst/>
            <a:rect l="l" t="t" r="r" b="b"/>
            <a:pathLst>
              <a:path w="1850390" h="1850390">
                <a:moveTo>
                  <a:pt x="677938" y="1818107"/>
                </a:moveTo>
                <a:cubicBezTo>
                  <a:pt x="677938" y="1818107"/>
                  <a:pt x="677938" y="1818107"/>
                  <a:pt x="1172451" y="1818107"/>
                </a:cubicBezTo>
                <a:cubicBezTo>
                  <a:pt x="1094561" y="1839630"/>
                  <a:pt x="1011235" y="1850390"/>
                  <a:pt x="924289" y="1850390"/>
                </a:cubicBezTo>
                <a:cubicBezTo>
                  <a:pt x="839153" y="1850390"/>
                  <a:pt x="755828" y="1839630"/>
                  <a:pt x="677938" y="1818107"/>
                </a:cubicBezTo>
                <a:close/>
                <a:moveTo>
                  <a:pt x="460762" y="1725662"/>
                </a:moveTo>
                <a:lnTo>
                  <a:pt x="1388159" y="1725662"/>
                </a:lnTo>
                <a:cubicBezTo>
                  <a:pt x="1350195" y="1747123"/>
                  <a:pt x="1312231" y="1766795"/>
                  <a:pt x="1270652" y="1782891"/>
                </a:cubicBezTo>
                <a:cubicBezTo>
                  <a:pt x="1270652" y="1782891"/>
                  <a:pt x="1270652" y="1782891"/>
                  <a:pt x="576461" y="1782891"/>
                </a:cubicBezTo>
                <a:cubicBezTo>
                  <a:pt x="536690" y="1766795"/>
                  <a:pt x="496918" y="1747123"/>
                  <a:pt x="460762" y="1725662"/>
                </a:cubicBezTo>
                <a:close/>
                <a:moveTo>
                  <a:pt x="330164" y="1634683"/>
                </a:moveTo>
                <a:lnTo>
                  <a:pt x="1518758" y="1634683"/>
                </a:lnTo>
                <a:cubicBezTo>
                  <a:pt x="1493430" y="1654469"/>
                  <a:pt x="1468103" y="1672457"/>
                  <a:pt x="1442775" y="1690444"/>
                </a:cubicBezTo>
                <a:cubicBezTo>
                  <a:pt x="1442775" y="1690444"/>
                  <a:pt x="1442775" y="1690444"/>
                  <a:pt x="406147" y="1690444"/>
                </a:cubicBezTo>
                <a:cubicBezTo>
                  <a:pt x="379011" y="1672457"/>
                  <a:pt x="353683" y="1654469"/>
                  <a:pt x="330164" y="1634683"/>
                </a:cubicBezTo>
                <a:close/>
                <a:moveTo>
                  <a:pt x="236251" y="1542236"/>
                </a:moveTo>
                <a:lnTo>
                  <a:pt x="1612671" y="1542236"/>
                </a:lnTo>
                <a:cubicBezTo>
                  <a:pt x="1594585" y="1562413"/>
                  <a:pt x="1576497" y="1582590"/>
                  <a:pt x="1556601" y="1600932"/>
                </a:cubicBezTo>
                <a:cubicBezTo>
                  <a:pt x="1556601" y="1600932"/>
                  <a:pt x="1556601" y="1600932"/>
                  <a:pt x="292321" y="1600932"/>
                </a:cubicBezTo>
                <a:cubicBezTo>
                  <a:pt x="272425" y="1582590"/>
                  <a:pt x="252529" y="1562413"/>
                  <a:pt x="236251" y="1542236"/>
                </a:cubicBezTo>
                <a:close/>
                <a:moveTo>
                  <a:pt x="164348" y="1452725"/>
                </a:moveTo>
                <a:lnTo>
                  <a:pt x="1686040" y="1452725"/>
                </a:lnTo>
                <a:cubicBezTo>
                  <a:pt x="1671565" y="1472511"/>
                  <a:pt x="1658900" y="1490499"/>
                  <a:pt x="1642616" y="1508487"/>
                </a:cubicBezTo>
                <a:cubicBezTo>
                  <a:pt x="1642616" y="1508487"/>
                  <a:pt x="1642616" y="1508487"/>
                  <a:pt x="205964" y="1508487"/>
                </a:cubicBezTo>
                <a:cubicBezTo>
                  <a:pt x="191488" y="1490499"/>
                  <a:pt x="177013" y="1472511"/>
                  <a:pt x="164348" y="1452725"/>
                </a:cubicBezTo>
                <a:close/>
                <a:moveTo>
                  <a:pt x="108587" y="1360279"/>
                </a:moveTo>
                <a:lnTo>
                  <a:pt x="1741802" y="1360279"/>
                </a:lnTo>
                <a:cubicBezTo>
                  <a:pt x="1730950" y="1379951"/>
                  <a:pt x="1720098" y="1399624"/>
                  <a:pt x="1707437" y="1417508"/>
                </a:cubicBezTo>
                <a:cubicBezTo>
                  <a:pt x="1707437" y="1417508"/>
                  <a:pt x="1707437" y="1417508"/>
                  <a:pt x="141142" y="1417508"/>
                </a:cubicBezTo>
                <a:cubicBezTo>
                  <a:pt x="130290" y="1399624"/>
                  <a:pt x="119438" y="1379951"/>
                  <a:pt x="108587" y="1360279"/>
                </a:cubicBezTo>
                <a:close/>
                <a:moveTo>
                  <a:pt x="64565" y="1269300"/>
                </a:moveTo>
                <a:lnTo>
                  <a:pt x="1782889" y="1269300"/>
                </a:lnTo>
                <a:cubicBezTo>
                  <a:pt x="1775654" y="1287287"/>
                  <a:pt x="1766610" y="1307074"/>
                  <a:pt x="1757566" y="1325061"/>
                </a:cubicBezTo>
                <a:cubicBezTo>
                  <a:pt x="1757566" y="1325061"/>
                  <a:pt x="1757566" y="1325061"/>
                  <a:pt x="89887" y="1325061"/>
                </a:cubicBezTo>
                <a:cubicBezTo>
                  <a:pt x="80843" y="1307074"/>
                  <a:pt x="73608" y="1287287"/>
                  <a:pt x="64565" y="1269300"/>
                </a:cubicBezTo>
                <a:close/>
                <a:moveTo>
                  <a:pt x="33750" y="1176855"/>
                </a:moveTo>
                <a:lnTo>
                  <a:pt x="1815172" y="1176855"/>
                </a:lnTo>
                <a:cubicBezTo>
                  <a:pt x="1809747" y="1197031"/>
                  <a:pt x="1802513" y="1217208"/>
                  <a:pt x="1795279" y="1235550"/>
                </a:cubicBezTo>
                <a:cubicBezTo>
                  <a:pt x="1795279" y="1235550"/>
                  <a:pt x="1795279" y="1235550"/>
                  <a:pt x="51835" y="1235550"/>
                </a:cubicBezTo>
                <a:cubicBezTo>
                  <a:pt x="44601" y="1217208"/>
                  <a:pt x="39176" y="1197031"/>
                  <a:pt x="33750" y="1176855"/>
                </a:cubicBezTo>
                <a:close/>
                <a:moveTo>
                  <a:pt x="11738" y="1087343"/>
                </a:moveTo>
                <a:lnTo>
                  <a:pt x="1835715" y="1087343"/>
                </a:lnTo>
                <a:cubicBezTo>
                  <a:pt x="1832096" y="1105330"/>
                  <a:pt x="1828477" y="1125116"/>
                  <a:pt x="1824858" y="1143104"/>
                </a:cubicBezTo>
                <a:cubicBezTo>
                  <a:pt x="1824858" y="1143104"/>
                  <a:pt x="1824858" y="1143104"/>
                  <a:pt x="24405" y="1143104"/>
                </a:cubicBezTo>
                <a:cubicBezTo>
                  <a:pt x="20786" y="1125116"/>
                  <a:pt x="15357" y="1105330"/>
                  <a:pt x="11738" y="1087343"/>
                </a:cubicBezTo>
                <a:close/>
                <a:moveTo>
                  <a:pt x="1467" y="994897"/>
                </a:moveTo>
                <a:lnTo>
                  <a:pt x="1848922" y="994897"/>
                </a:lnTo>
                <a:cubicBezTo>
                  <a:pt x="1847113" y="1014569"/>
                  <a:pt x="1845303" y="1034242"/>
                  <a:pt x="1841685" y="1052126"/>
                </a:cubicBezTo>
                <a:cubicBezTo>
                  <a:pt x="1841685" y="1052126"/>
                  <a:pt x="1841685" y="1052126"/>
                  <a:pt x="8705" y="1052126"/>
                </a:cubicBezTo>
                <a:cubicBezTo>
                  <a:pt x="5086" y="1034242"/>
                  <a:pt x="3277" y="1014569"/>
                  <a:pt x="1467" y="994897"/>
                </a:cubicBezTo>
                <a:close/>
                <a:moveTo>
                  <a:pt x="0" y="903918"/>
                </a:moveTo>
                <a:cubicBezTo>
                  <a:pt x="0" y="903918"/>
                  <a:pt x="0" y="903918"/>
                  <a:pt x="1850390" y="903918"/>
                </a:cubicBezTo>
                <a:cubicBezTo>
                  <a:pt x="1850390" y="911255"/>
                  <a:pt x="1850390" y="916758"/>
                  <a:pt x="1850390" y="924095"/>
                </a:cubicBezTo>
                <a:cubicBezTo>
                  <a:pt x="1850390" y="936935"/>
                  <a:pt x="1850390" y="949774"/>
                  <a:pt x="1850390" y="962614"/>
                </a:cubicBezTo>
                <a:cubicBezTo>
                  <a:pt x="1850390" y="962614"/>
                  <a:pt x="1850390" y="962614"/>
                  <a:pt x="0" y="962614"/>
                </a:cubicBezTo>
                <a:cubicBezTo>
                  <a:pt x="0" y="949774"/>
                  <a:pt x="0" y="936935"/>
                  <a:pt x="0" y="924095"/>
                </a:cubicBezTo>
                <a:cubicBezTo>
                  <a:pt x="0" y="916758"/>
                  <a:pt x="0" y="911255"/>
                  <a:pt x="0" y="903918"/>
                </a:cubicBezTo>
                <a:close/>
                <a:moveTo>
                  <a:pt x="5086" y="811472"/>
                </a:moveTo>
                <a:lnTo>
                  <a:pt x="1843493" y="811472"/>
                </a:lnTo>
                <a:cubicBezTo>
                  <a:pt x="1847113" y="831648"/>
                  <a:pt x="1847113" y="849991"/>
                  <a:pt x="1848922" y="870168"/>
                </a:cubicBezTo>
                <a:cubicBezTo>
                  <a:pt x="1848922" y="870168"/>
                  <a:pt x="1848922" y="870168"/>
                  <a:pt x="1467" y="870168"/>
                </a:cubicBezTo>
                <a:cubicBezTo>
                  <a:pt x="1467" y="849991"/>
                  <a:pt x="3277" y="831648"/>
                  <a:pt x="5086" y="811472"/>
                </a:cubicBezTo>
                <a:close/>
                <a:moveTo>
                  <a:pt x="21122" y="721961"/>
                </a:moveTo>
                <a:lnTo>
                  <a:pt x="1827800" y="721961"/>
                </a:lnTo>
                <a:cubicBezTo>
                  <a:pt x="1831417" y="739845"/>
                  <a:pt x="1835034" y="759517"/>
                  <a:pt x="1838651" y="779190"/>
                </a:cubicBezTo>
                <a:cubicBezTo>
                  <a:pt x="1838651" y="779190"/>
                  <a:pt x="1838651" y="779190"/>
                  <a:pt x="10271" y="779190"/>
                </a:cubicBezTo>
                <a:cubicBezTo>
                  <a:pt x="13888" y="759517"/>
                  <a:pt x="17505" y="739845"/>
                  <a:pt x="21122" y="721961"/>
                </a:cubicBezTo>
                <a:close/>
                <a:moveTo>
                  <a:pt x="47093" y="629514"/>
                </a:moveTo>
                <a:lnTo>
                  <a:pt x="1803296" y="629514"/>
                </a:lnTo>
                <a:cubicBezTo>
                  <a:pt x="1808722" y="649186"/>
                  <a:pt x="1814148" y="667071"/>
                  <a:pt x="1819574" y="686743"/>
                </a:cubicBezTo>
                <a:cubicBezTo>
                  <a:pt x="1819574" y="686743"/>
                  <a:pt x="1819574" y="686743"/>
                  <a:pt x="30815" y="686743"/>
                </a:cubicBezTo>
                <a:cubicBezTo>
                  <a:pt x="34432" y="667071"/>
                  <a:pt x="41667" y="649186"/>
                  <a:pt x="47093" y="629514"/>
                </a:cubicBezTo>
                <a:close/>
                <a:moveTo>
                  <a:pt x="82216" y="538536"/>
                </a:moveTo>
                <a:lnTo>
                  <a:pt x="1764895" y="538536"/>
                </a:lnTo>
                <a:cubicBezTo>
                  <a:pt x="1773942" y="556878"/>
                  <a:pt x="1782989" y="577055"/>
                  <a:pt x="1790226" y="597232"/>
                </a:cubicBezTo>
                <a:cubicBezTo>
                  <a:pt x="1790226" y="597232"/>
                  <a:pt x="1790226" y="597232"/>
                  <a:pt x="58695" y="597232"/>
                </a:cubicBezTo>
                <a:cubicBezTo>
                  <a:pt x="65933" y="577055"/>
                  <a:pt x="73169" y="556878"/>
                  <a:pt x="82216" y="538536"/>
                </a:cubicBezTo>
                <a:close/>
                <a:moveTo>
                  <a:pt x="132335" y="446090"/>
                </a:moveTo>
                <a:lnTo>
                  <a:pt x="1718394" y="446090"/>
                </a:lnTo>
                <a:cubicBezTo>
                  <a:pt x="1729245" y="466267"/>
                  <a:pt x="1740096" y="484609"/>
                  <a:pt x="1749139" y="504786"/>
                </a:cubicBezTo>
                <a:cubicBezTo>
                  <a:pt x="1749139" y="504786"/>
                  <a:pt x="1749139" y="504786"/>
                  <a:pt x="99782" y="504786"/>
                </a:cubicBezTo>
                <a:cubicBezTo>
                  <a:pt x="110633" y="484609"/>
                  <a:pt x="121484" y="466267"/>
                  <a:pt x="132335" y="446090"/>
                </a:cubicBezTo>
                <a:close/>
                <a:moveTo>
                  <a:pt x="195661" y="356578"/>
                </a:moveTo>
                <a:lnTo>
                  <a:pt x="1654728" y="356578"/>
                </a:lnTo>
                <a:cubicBezTo>
                  <a:pt x="1669192" y="374463"/>
                  <a:pt x="1683656" y="394134"/>
                  <a:pt x="1696313" y="413807"/>
                </a:cubicBezTo>
                <a:cubicBezTo>
                  <a:pt x="1696313" y="413807"/>
                  <a:pt x="1696313" y="413807"/>
                  <a:pt x="154076" y="413807"/>
                </a:cubicBezTo>
                <a:cubicBezTo>
                  <a:pt x="166733" y="394134"/>
                  <a:pt x="181197" y="374463"/>
                  <a:pt x="195661" y="356578"/>
                </a:cubicBezTo>
                <a:close/>
                <a:moveTo>
                  <a:pt x="275853" y="265600"/>
                </a:moveTo>
                <a:cubicBezTo>
                  <a:pt x="275853" y="265600"/>
                  <a:pt x="275853" y="265600"/>
                  <a:pt x="1573069" y="265600"/>
                </a:cubicBezTo>
                <a:cubicBezTo>
                  <a:pt x="1591161" y="283586"/>
                  <a:pt x="1609253" y="301574"/>
                  <a:pt x="1627345" y="321361"/>
                </a:cubicBezTo>
                <a:cubicBezTo>
                  <a:pt x="1627345" y="321361"/>
                  <a:pt x="1627345" y="321361"/>
                  <a:pt x="221577" y="321361"/>
                </a:cubicBezTo>
                <a:cubicBezTo>
                  <a:pt x="237860" y="301574"/>
                  <a:pt x="255952" y="283586"/>
                  <a:pt x="275853" y="265600"/>
                </a:cubicBezTo>
                <a:close/>
                <a:moveTo>
                  <a:pt x="383140" y="173154"/>
                </a:moveTo>
                <a:lnTo>
                  <a:pt x="1465439" y="173154"/>
                </a:lnTo>
                <a:cubicBezTo>
                  <a:pt x="1490777" y="191497"/>
                  <a:pt x="1514305" y="211673"/>
                  <a:pt x="1537833" y="231850"/>
                </a:cubicBezTo>
                <a:cubicBezTo>
                  <a:pt x="1537833" y="231850"/>
                  <a:pt x="1537833" y="231850"/>
                  <a:pt x="312556" y="231850"/>
                </a:cubicBezTo>
                <a:cubicBezTo>
                  <a:pt x="334274" y="211673"/>
                  <a:pt x="359612" y="191497"/>
                  <a:pt x="383140" y="173154"/>
                </a:cubicBezTo>
                <a:close/>
                <a:moveTo>
                  <a:pt x="541052" y="83642"/>
                </a:moveTo>
                <a:lnTo>
                  <a:pt x="1307869" y="83642"/>
                </a:lnTo>
                <a:cubicBezTo>
                  <a:pt x="1345848" y="99830"/>
                  <a:pt x="1380210" y="117818"/>
                  <a:pt x="1414572" y="139403"/>
                </a:cubicBezTo>
                <a:cubicBezTo>
                  <a:pt x="1414572" y="139403"/>
                  <a:pt x="1414572" y="139403"/>
                  <a:pt x="434349" y="139403"/>
                </a:cubicBezTo>
                <a:cubicBezTo>
                  <a:pt x="468711" y="117818"/>
                  <a:pt x="504881" y="99830"/>
                  <a:pt x="541052" y="83642"/>
                </a:cubicBezTo>
                <a:close/>
                <a:moveTo>
                  <a:pt x="923727" y="0"/>
                </a:moveTo>
                <a:cubicBezTo>
                  <a:pt x="1028694" y="0"/>
                  <a:pt x="1128233" y="16142"/>
                  <a:pt x="1222342" y="48425"/>
                </a:cubicBezTo>
                <a:cubicBezTo>
                  <a:pt x="1222342" y="48425"/>
                  <a:pt x="1222342" y="48425"/>
                  <a:pt x="625111" y="48425"/>
                </a:cubicBezTo>
                <a:cubicBezTo>
                  <a:pt x="719221" y="16142"/>
                  <a:pt x="820569" y="0"/>
                  <a:pt x="92372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0F0">
                  <a:alpha val="34000"/>
                </a:srgbClr>
              </a:gs>
              <a:gs pos="76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0" scaled="1"/>
          </a:gradFill>
        </p:spPr>
      </p:sp>
      <p:sp>
        <p:nvSpPr>
          <p:cNvPr id="12" name="Text 9"/>
          <p:cNvSpPr/>
          <p:nvPr/>
        </p:nvSpPr>
        <p:spPr>
          <a:xfrm>
            <a:off x="672465" y="1646555"/>
            <a:ext cx="7708900" cy="18646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1500" b="1" dirty="0">
                <a:gradFill flip="none" rotWithShape="0">
                  <a:gsLst>
                    <a:gs pos="0">
                      <a:srgbClr val="EFF6FF">
                        <a:alpha val="0"/>
                      </a:srgbClr>
                    </a:gs>
                    <a:gs pos="62000">
                      <a:srgbClr val="FFFFFF"/>
                    </a:gs>
                    <a:gs pos="100000">
                      <a:srgbClr val="FFFFFF"/>
                    </a:gs>
                  </a:gsLst>
                  <a:lin ang="16200000" scaled="1"/>
                </a:gradFill>
                <a:latin typeface="MiSans" pitchFamily="34" charset="-122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95131" y="1899285"/>
            <a:ext cx="5896869" cy="4958715"/>
          </a:xfrm>
          <a:custGeom>
            <a:avLst/>
            <a:gdLst/>
            <a:ahLst/>
            <a:cxnLst/>
            <a:rect l="l" t="t" r="r" b="b"/>
            <a:pathLst>
              <a:path w="5896869" h="4958715">
                <a:moveTo>
                  <a:pt x="3824288" y="0"/>
                </a:moveTo>
                <a:cubicBezTo>
                  <a:pt x="4550321" y="0"/>
                  <a:pt x="5229100" y="202320"/>
                  <a:pt x="5807321" y="553655"/>
                </a:cubicBezTo>
                <a:lnTo>
                  <a:pt x="5896869" y="611064"/>
                </a:lnTo>
                <a:lnTo>
                  <a:pt x="5896869" y="4958715"/>
                </a:lnTo>
                <a:lnTo>
                  <a:pt x="171213" y="4958715"/>
                </a:lnTo>
                <a:lnTo>
                  <a:pt x="77696" y="4595016"/>
                </a:lnTo>
                <a:cubicBezTo>
                  <a:pt x="26753" y="4346064"/>
                  <a:pt x="0" y="4088300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4CC0"/>
              </a:gs>
              <a:gs pos="30000">
                <a:srgbClr val="004CC0"/>
              </a:gs>
              <a:gs pos="79000">
                <a:srgbClr val="0084B4"/>
              </a:gs>
              <a:gs pos="100000">
                <a:srgbClr val="0084B4"/>
              </a:gs>
            </a:gsLst>
            <a:lin ang="4800000" scaled="1"/>
          </a:gradFill>
        </p:spPr>
      </p:sp>
      <p:sp>
        <p:nvSpPr>
          <p:cNvPr id="14" name="Shape 11"/>
          <p:cNvSpPr/>
          <p:nvPr/>
        </p:nvSpPr>
        <p:spPr>
          <a:xfrm>
            <a:off x="10586534" y="732719"/>
            <a:ext cx="127370" cy="127370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solidFill>
              <a:srgbClr val="004CC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824716" y="732719"/>
            <a:ext cx="127370" cy="127370"/>
          </a:xfrm>
          <a:prstGeom prst="ellipse">
            <a:avLst/>
          </a:prstGeom>
          <a:solidFill>
            <a:srgbClr val="004CC0"/>
          </a:solidFill>
          <a:ln w="9525">
            <a:solidFill>
              <a:srgbClr val="004C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064171" y="732719"/>
            <a:ext cx="127370" cy="127370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solidFill>
              <a:srgbClr val="004C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302353" y="732719"/>
            <a:ext cx="127370" cy="127370"/>
          </a:xfrm>
          <a:prstGeom prst="ellipse">
            <a:avLst/>
          </a:prstGeom>
          <a:solidFill>
            <a:srgbClr val="004CC0"/>
          </a:solidFill>
          <a:ln w="9525">
            <a:solidFill>
              <a:srgbClr val="004C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465" y="3212465"/>
            <a:ext cx="5298440" cy="10185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pic>
        <p:nvPicPr>
          <p:cNvPr id="19" name="Image 1" descr="https://kimi-img.moonshot.cn/pub/slides/slides_tmpl/image/25-09-04-15:50:57-d2sk9oe1bb2p4onbqe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870" y="0"/>
            <a:ext cx="6120130" cy="68580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0" y="5358130"/>
            <a:ext cx="12106275" cy="86042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50000"/>
                </a:srgbClr>
              </a:gs>
              <a:gs pos="55000">
                <a:srgbClr val="FFFFFF">
                  <a:alpha val="3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21" name="Shape 17"/>
          <p:cNvSpPr/>
          <p:nvPr/>
        </p:nvSpPr>
        <p:spPr>
          <a:xfrm rot="5400000">
            <a:off x="11222990" y="5725160"/>
            <a:ext cx="159385" cy="137795"/>
          </a:xfrm>
          <a:prstGeom prst="triangle">
            <a:avLst>
              <a:gd name="adj" fmla="val 50000"/>
            </a:avLst>
          </a:prstGeom>
          <a:solidFill>
            <a:srgbClr val="00B0F0"/>
          </a:solidFill>
        </p:spPr>
      </p:sp>
      <p:sp>
        <p:nvSpPr>
          <p:cNvPr id="22" name="Shape 18"/>
          <p:cNvSpPr/>
          <p:nvPr/>
        </p:nvSpPr>
        <p:spPr>
          <a:xfrm rot="5400000" flipV="1">
            <a:off x="10981690" y="5725160"/>
            <a:ext cx="159385" cy="137795"/>
          </a:xfrm>
          <a:prstGeom prst="triangle">
            <a:avLst>
              <a:gd name="adj" fmla="val 50000"/>
            </a:avLst>
          </a:prstGeom>
          <a:solidFill>
            <a:srgbClr val="00B0F0"/>
          </a:solidFill>
        </p:spPr>
      </p:sp>
      <p:sp>
        <p:nvSpPr>
          <p:cNvPr id="23" name="Shape 19"/>
          <p:cNvSpPr/>
          <p:nvPr/>
        </p:nvSpPr>
        <p:spPr>
          <a:xfrm>
            <a:off x="1858645" y="5788660"/>
            <a:ext cx="7811770" cy="0"/>
          </a:xfrm>
          <a:prstGeom prst="line">
            <a:avLst/>
          </a:prstGeom>
          <a:noFill/>
          <a:ln w="1270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24" name="Shape 20"/>
          <p:cNvSpPr/>
          <p:nvPr/>
        </p:nvSpPr>
        <p:spPr>
          <a:xfrm rot="5400000">
            <a:off x="969010" y="5621655"/>
            <a:ext cx="400050" cy="285750"/>
          </a:xfrm>
          <a:prstGeom prst="triangle">
            <a:avLst>
              <a:gd name="adj" fmla="val 50000"/>
            </a:avLst>
          </a:prstGeom>
          <a:solidFill>
            <a:srgbClr val="004CC0"/>
          </a:solidFill>
        </p:spPr>
      </p:sp>
      <p:sp>
        <p:nvSpPr>
          <p:cNvPr id="25" name="Shape 21"/>
          <p:cNvSpPr/>
          <p:nvPr/>
        </p:nvSpPr>
        <p:spPr>
          <a:xfrm rot="5400000">
            <a:off x="1362710" y="5621655"/>
            <a:ext cx="400050" cy="285750"/>
          </a:xfrm>
          <a:prstGeom prst="triangle">
            <a:avLst>
              <a:gd name="adj" fmla="val 50000"/>
            </a:avLst>
          </a:prstGeom>
          <a:solidFill>
            <a:srgbClr val="004CC0"/>
          </a:solidFill>
        </p:spPr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VlZGQ2MjY2OTViYTQ3N2JiNzZlY2E1YmY0ZjhmM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50000000000006,&quot;left&quot;:269.448188976378,&quot;top&quot;:97.77503937007874,&quot;width&quot;:638.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27842519685043,&quot;left&quot;:114.70094488188977,&quot;top&quot;:96.69653543307086,&quot;width&quot;:688.642519685039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7.9620472440945,&quot;left&quot;:54.524881889763776,&quot;top&quot;:104.33692913385826,&quot;width&quot;:480.414015748031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CC0"/>
      </a:accent1>
      <a:accent2>
        <a:srgbClr val="00B0F0"/>
      </a:accent2>
      <a:accent3>
        <a:srgbClr val="1D3EB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CC0"/>
      </a:accent1>
      <a:accent2>
        <a:srgbClr val="00B0F0"/>
      </a:accent2>
      <a:accent3>
        <a:srgbClr val="1D3EB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590</Words>
  <Application>Microsoft Office PowerPoint</Application>
  <PresentationFormat>宽屏</PresentationFormat>
  <Paragraphs>97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Open Sans</vt:lpstr>
      <vt:lpstr>等线</vt:lpstr>
      <vt:lpstr>Calibri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ReLU神经网络鲁棒性验证：工具调研与改进思路</dc:title>
  <dc:subject>ReLU神经网络鲁棒性验证：工具调研与改进思路</dc:subject>
  <dc:creator>Kimi</dc:creator>
  <cp:lastModifiedBy>10094</cp:lastModifiedBy>
  <cp:revision>14</cp:revision>
  <dcterms:created xsi:type="dcterms:W3CDTF">2026-03-22T02:16:00Z</dcterms:created>
  <dcterms:modified xsi:type="dcterms:W3CDTF">2026-04-05T04:51:57Z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LU神经网络鲁棒性验证：工具调研与改进思路","ContentProducer":"001191110108MACG2KBH8F10000","ProduceID":"19d064aa-fbc2-8753-8000-00000b5738d8","ReservedCode1":"","ContentPropagator":"001191110108MACG2KBH8F20000","PropagateID":"19d064aa-fbc2-8753-8000-00000b5738d8"</vt:lpwstr>
  </property>
  <property fmtid="{D5CDD505-2E9C-101B-9397-08002B2CF9AE}" pid="3" name="ICV">
    <vt:lpwstr>B8AC86196607769A12CEBC6968686E5B_42</vt:lpwstr>
  </property>
  <property fmtid="{D5CDD505-2E9C-101B-9397-08002B2CF9AE}" pid="4" name="KSOProductBuildVer">
    <vt:lpwstr>2052-12.1.0.18276</vt:lpwstr>
  </property>
</Properties>
</file>