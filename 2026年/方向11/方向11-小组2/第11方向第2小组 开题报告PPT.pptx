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78" r:id="rId7"/>
    <p:sldId id="272" r:id="rId8"/>
    <p:sldId id="260" r:id="rId9"/>
    <p:sldId id="261" r:id="rId10"/>
    <p:sldId id="262" r:id="rId11"/>
    <p:sldId id="276" r:id="rId12"/>
    <p:sldId id="279" r:id="rId13"/>
    <p:sldId id="265" r:id="rId14"/>
    <p:sldId id="266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348" y="60"/>
      </p:cViewPr>
      <p:guideLst>
        <p:guide orient="horz" pos="22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0305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17" y="0"/>
            <a:ext cx="12192000" cy="684276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5" y="0"/>
            <a:ext cx="12190305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9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9576" y="3424518"/>
            <a:ext cx="7404848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 spc="30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深度学习验证器研究</a:t>
            </a:r>
            <a:endParaRPr lang="en-US" sz="1200" spc="300" dirty="0"/>
          </a:p>
        </p:txBody>
      </p:sp>
      <p:sp>
        <p:nvSpPr>
          <p:cNvPr id="3" name="TextBox 3"/>
          <p:cNvSpPr txBox="1"/>
          <p:nvPr/>
        </p:nvSpPr>
        <p:spPr>
          <a:xfrm>
            <a:off x="869576" y="4796118"/>
            <a:ext cx="7404848" cy="6813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Marabou 2.0为例的初步探索与展望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797616" y="6070768"/>
            <a:ext cx="2540000" cy="355600"/>
          </a:xfrm>
          <a:prstGeom prst="rect">
            <a:avLst/>
          </a:prstGeom>
          <a:ln w="0">
            <a:noFill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2961a67-f3c3-411b-ac95-55000a4558e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74753" y="1071701"/>
            <a:ext cx="10602847" cy="5120999"/>
            <a:chOff x="674753" y="1071701"/>
            <a:chExt cx="10829794" cy="5120999"/>
          </a:xfrm>
        </p:grpSpPr>
        <p:sp>
          <p:nvSpPr>
            <p:cNvPr id="4" name="AutoShape 4"/>
            <p:cNvSpPr/>
            <p:nvPr/>
          </p:nvSpPr>
          <p:spPr>
            <a:xfrm>
              <a:off x="2596797" y="1703324"/>
              <a:ext cx="2368003" cy="472553"/>
            </a:xfrm>
            <a:custGeom>
              <a:avLst/>
              <a:gdLst/>
              <a:ahLst/>
              <a:cxnLst/>
              <a:rect l="l" t="t" r="r" b="b"/>
              <a:pathLst>
                <a:path w="560355" h="111823">
                  <a:moveTo>
                    <a:pt x="0" y="111824"/>
                  </a:moveTo>
                  <a:lnTo>
                    <a:pt x="446056" y="111824"/>
                  </a:lnTo>
                  <a:lnTo>
                    <a:pt x="560356" y="0"/>
                  </a:lnTo>
                </a:path>
              </a:pathLst>
            </a:custGeom>
            <a:ln w="9525">
              <a:gradFill>
                <a:gsLst>
                  <a:gs pos="38999">
                    <a:srgbClr val="A50C0B">
                      <a:alpha val="0"/>
                    </a:srgbClr>
                  </a:gs>
                  <a:gs pos="100000">
                    <a:srgbClr val="858585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5" name="AutoShape 5"/>
            <p:cNvSpPr/>
            <p:nvPr/>
          </p:nvSpPr>
          <p:spPr>
            <a:xfrm>
              <a:off x="3174410" y="2979826"/>
              <a:ext cx="3183494" cy="194412"/>
            </a:xfrm>
            <a:custGeom>
              <a:avLst/>
              <a:gdLst/>
              <a:ahLst/>
              <a:cxnLst/>
              <a:rect l="l" t="t" r="r" b="b"/>
              <a:pathLst>
                <a:path w="872204" h="46005">
                  <a:moveTo>
                    <a:pt x="0" y="46006"/>
                  </a:moveTo>
                  <a:lnTo>
                    <a:pt x="485775" y="46006"/>
                  </a:lnTo>
                  <a:lnTo>
                    <a:pt x="531781" y="0"/>
                  </a:lnTo>
                  <a:lnTo>
                    <a:pt x="872204" y="0"/>
                  </a:lnTo>
                </a:path>
              </a:pathLst>
            </a:custGeom>
            <a:ln w="9525">
              <a:gradFill>
                <a:gsLst>
                  <a:gs pos="38999">
                    <a:srgbClr val="A50C0B">
                      <a:alpha val="0"/>
                    </a:srgbClr>
                  </a:gs>
                  <a:gs pos="100000">
                    <a:srgbClr val="858585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3174410" y="4169433"/>
              <a:ext cx="3183494" cy="194412"/>
            </a:xfrm>
            <a:custGeom>
              <a:avLst/>
              <a:gdLst/>
              <a:ahLst/>
              <a:cxnLst/>
              <a:rect l="l" t="t" r="r" b="b"/>
              <a:pathLst>
                <a:path w="872204" h="46005">
                  <a:moveTo>
                    <a:pt x="0" y="46006"/>
                  </a:moveTo>
                  <a:lnTo>
                    <a:pt x="485775" y="46006"/>
                  </a:lnTo>
                  <a:lnTo>
                    <a:pt x="531781" y="0"/>
                  </a:lnTo>
                  <a:lnTo>
                    <a:pt x="872204" y="0"/>
                  </a:lnTo>
                </a:path>
              </a:pathLst>
            </a:custGeom>
            <a:ln w="9525">
              <a:gradFill>
                <a:gsLst>
                  <a:gs pos="38999">
                    <a:srgbClr val="A50C0B">
                      <a:alpha val="0"/>
                    </a:srgbClr>
                  </a:gs>
                  <a:gs pos="100000">
                    <a:srgbClr val="858585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7" name="AutoShape 7"/>
            <p:cNvSpPr/>
            <p:nvPr/>
          </p:nvSpPr>
          <p:spPr>
            <a:xfrm flipV="1">
              <a:off x="2428949" y="5107644"/>
              <a:ext cx="2549138" cy="464904"/>
            </a:xfrm>
            <a:custGeom>
              <a:avLst/>
              <a:gdLst/>
              <a:ahLst/>
              <a:cxnLst/>
              <a:rect l="l" t="t" r="r" b="b"/>
              <a:pathLst>
                <a:path w="603218" h="110013">
                  <a:moveTo>
                    <a:pt x="0" y="110014"/>
                  </a:moveTo>
                  <a:lnTo>
                    <a:pt x="493205" y="110014"/>
                  </a:lnTo>
                  <a:lnTo>
                    <a:pt x="603218" y="0"/>
                  </a:lnTo>
                </a:path>
              </a:pathLst>
            </a:custGeom>
            <a:ln w="9525">
              <a:gradFill>
                <a:gsLst>
                  <a:gs pos="38999">
                    <a:srgbClr val="A50C0B">
                      <a:alpha val="0"/>
                    </a:srgbClr>
                  </a:gs>
                  <a:gs pos="100000">
                    <a:srgbClr val="858585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8" name="AutoShape 8"/>
            <p:cNvSpPr/>
            <p:nvPr/>
          </p:nvSpPr>
          <p:spPr>
            <a:xfrm>
              <a:off x="5095087" y="3077032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A50C0B">
                      <a:alpha val="0"/>
                    </a:srgbClr>
                  </a:gs>
                  <a:gs pos="100000">
                    <a:srgbClr val="858585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4568037" y="4461332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A50C0B">
                      <a:alpha val="0"/>
                    </a:srgbClr>
                  </a:gs>
                  <a:gs pos="100000">
                    <a:srgbClr val="858585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5228437" y="2846050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A50C0B">
                      <a:alpha val="0"/>
                    </a:srgbClr>
                  </a:gs>
                  <a:gs pos="100000">
                    <a:srgbClr val="858585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674753" y="1883870"/>
              <a:ext cx="3496660" cy="3496660"/>
            </a:xfrm>
            <a:prstGeom prst="ellipse">
              <a:avLst/>
            </a:prstGeom>
            <a:solidFill>
              <a:srgbClr val="000000">
                <a:alpha val="7058"/>
              </a:srgbClr>
            </a:solidFill>
            <a:ln w="34925">
              <a:gradFill>
                <a:gsLst>
                  <a:gs pos="11999">
                    <a:srgbClr val="FFFFFF">
                      <a:alpha val="100000"/>
                      <a:lumMod val="0"/>
                      <a:lumOff val="100000"/>
                    </a:srgbClr>
                  </a:gs>
                  <a:gs pos="23999">
                    <a:srgbClr val="CBC5F5">
                      <a:alpha val="0"/>
                    </a:srgbClr>
                  </a:gs>
                  <a:gs pos="77999">
                    <a:srgbClr val="DBD7F8">
                      <a:alpha val="10196"/>
                    </a:srgbClr>
                  </a:gs>
                  <a:gs pos="87999">
                    <a:srgbClr val="FFFFFF">
                      <a:alpha val="100000"/>
                      <a:lumMod val="60000"/>
                      <a:lumOff val="40000"/>
                    </a:srgbClr>
                  </a:gs>
                </a:gsLst>
                <a:lin ang="2700000"/>
              </a:gradFill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894394" y="2103511"/>
              <a:ext cx="3057380" cy="3057380"/>
            </a:xfrm>
            <a:prstGeom prst="ellipse">
              <a:avLst/>
            </a:prstGeom>
            <a:gradFill>
              <a:gsLst>
                <a:gs pos="0">
                  <a:srgbClr val="858585">
                    <a:alpha val="100000"/>
                  </a:srgbClr>
                </a:gs>
                <a:gs pos="80000">
                  <a:srgbClr val="A50C0B">
                    <a:alpha val="100000"/>
                  </a:srgbClr>
                </a:gs>
              </a:gsLst>
              <a:lin ang="2700000"/>
            </a:gra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3247830" y="5210385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A50C0B">
                      <a:alpha val="0"/>
                    </a:srgbClr>
                  </a:gs>
                  <a:gs pos="100000">
                    <a:srgbClr val="858585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3700222" y="2290077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A50C0B">
                      <a:alpha val="0"/>
                    </a:srgbClr>
                  </a:gs>
                  <a:gs pos="100000">
                    <a:srgbClr val="858585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164102" y="1071701"/>
              <a:ext cx="6340445" cy="1130270"/>
              <a:chOff x="5164102" y="1071701"/>
              <a:chExt cx="6340445" cy="113027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455785" y="1276350"/>
                <a:ext cx="5048762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A50C0B">
                        <a:alpha val="100000"/>
                      </a:srgbClr>
                    </a:gs>
                    <a:gs pos="100000">
                      <a:srgbClr val="858585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 strike="noStrike" spc="30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研究背景与动机</a:t>
                </a:r>
                <a:endParaRPr lang="en-US" sz="1400" spc="3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228437" y="1136037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858585">
                      <a:alpha val="100000"/>
                    </a:srgbClr>
                  </a:gs>
                  <a:gs pos="80000">
                    <a:srgbClr val="A50C0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5164102" y="1071701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858585">
                        <a:alpha val="100000"/>
                      </a:srgbClr>
                    </a:gs>
                    <a:gs pos="100000">
                      <a:srgbClr val="A50C0B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580847" y="2414691"/>
              <a:ext cx="4923700" cy="1130270"/>
              <a:chOff x="6580847" y="2414691"/>
              <a:chExt cx="4923700" cy="11302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837378" y="2619340"/>
                <a:ext cx="3667169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A50C0B">
                        <a:alpha val="100000"/>
                      </a:srgbClr>
                    </a:gs>
                    <a:gs pos="100000">
                      <a:srgbClr val="858585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 strike="noStrike" spc="30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领域调研与核心论文</a:t>
                </a:r>
                <a:endParaRPr lang="en-US" sz="1400" spc="30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45182" y="2479027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858585">
                      <a:alpha val="100000"/>
                    </a:srgbClr>
                  </a:gs>
                  <a:gs pos="80000">
                    <a:srgbClr val="A50C0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6580847" y="2414691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858585">
                        <a:alpha val="100000"/>
                      </a:srgbClr>
                    </a:gs>
                    <a:gs pos="100000">
                      <a:srgbClr val="A50C0B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6580847" y="3740828"/>
              <a:ext cx="4923700" cy="1130270"/>
              <a:chOff x="6580847" y="3740828"/>
              <a:chExt cx="4923700" cy="113027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7837378" y="3943209"/>
                <a:ext cx="3667169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A50C0B">
                        <a:alpha val="100000"/>
                      </a:srgbClr>
                    </a:gs>
                    <a:gs pos="100000">
                      <a:srgbClr val="858585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 strike="noStrike" spc="30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初步实验成果</a:t>
                </a:r>
                <a:endParaRPr lang="en-US" sz="1400" spc="300" dirty="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45182" y="3802896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858585">
                      <a:alpha val="100000"/>
                    </a:srgbClr>
                  </a:gs>
                  <a:gs pos="80000">
                    <a:srgbClr val="A50C0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26" name="AutoShape 26"/>
              <p:cNvSpPr/>
              <p:nvPr/>
            </p:nvSpPr>
            <p:spPr>
              <a:xfrm>
                <a:off x="6580847" y="3740828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858585">
                        <a:alpha val="100000"/>
                      </a:srgbClr>
                    </a:gs>
                    <a:gs pos="100000">
                      <a:srgbClr val="A50C0B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164102" y="5062430"/>
              <a:ext cx="6340445" cy="1130270"/>
              <a:chOff x="5164102" y="5062430"/>
              <a:chExt cx="6340445" cy="113027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455785" y="5267079"/>
                <a:ext cx="5048762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A50C0B">
                        <a:alpha val="100000"/>
                      </a:srgbClr>
                    </a:gs>
                    <a:gs pos="100000">
                      <a:srgbClr val="858585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 strike="noStrike" spc="30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改进思路与研究计划</a:t>
                </a:r>
                <a:endParaRPr lang="en-US" sz="1400" spc="300" dirty="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228437" y="5126766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858585">
                      <a:alpha val="100000"/>
                    </a:srgbClr>
                  </a:gs>
                  <a:gs pos="80000">
                    <a:srgbClr val="A50C0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30" name="AutoShape 30"/>
              <p:cNvSpPr/>
              <p:nvPr/>
            </p:nvSpPr>
            <p:spPr>
              <a:xfrm>
                <a:off x="5164102" y="5062430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858585">
                        <a:alpha val="100000"/>
                      </a:srgbClr>
                    </a:gs>
                    <a:gs pos="100000">
                      <a:srgbClr val="A50C0B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</p:grpSp>
      <p:sp>
        <p:nvSpPr>
          <p:cNvPr id="31" name="TextBox 3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9000" y="304800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 strike="noStrike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研究背景与动机</a:t>
            </a:r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676400" y="2514600"/>
            <a:ext cx="9526905" cy="3140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endParaRPr sz="1600" b="0" i="0" strike="noStrike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56ab36-ad21-4b52-acc5-2f4f62c41ea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>
            <a:off x="795043" y="1879600"/>
            <a:ext cx="10716683" cy="4254501"/>
            <a:chOff x="795043" y="1879600"/>
            <a:chExt cx="10716683" cy="4254501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4285985" y="1879600"/>
              <a:ext cx="3608732" cy="4254500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A50C0B">
                  <a:alpha val="100000"/>
                </a:srgbClr>
              </a:solidFill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795043" y="2078276"/>
              <a:ext cx="3415007" cy="4055825"/>
              <a:chOff x="795043" y="2078276"/>
              <a:chExt cx="3415007" cy="4055825"/>
            </a:xfrm>
          </p:grpSpPr>
          <p:sp>
            <p:nvSpPr>
              <p:cNvPr id="7" name="TextBox 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600" dirty="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95043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核心痛点</a:t>
                </a: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95678" y="3048000"/>
                <a:ext cx="3414372" cy="3086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200000"/>
                  </a:lnSpc>
                  <a:defRPr/>
                </a:pPr>
                <a:r>
                  <a:rPr lang="en-US" altLang="zh-CN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charset="-122"/>
                  </a:rPr>
                  <a:t>AI</a:t>
                </a:r>
                <a:r>
                  <a:rPr lang="zh-CN" alt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charset="-122"/>
                  </a:rPr>
                  <a:t>模型虽性能强大，但其决策过程缺乏可解释性，且在面对精心构造的‘对抗样本’时表现出脆弱性，这在自动驾驶、医疗诊断等安全关键领域构成了严重威胁。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385609" y="2078276"/>
              <a:ext cx="3414372" cy="4055825"/>
              <a:chOff x="4385609" y="2078276"/>
              <a:chExt cx="3414372" cy="4055825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495148" y="2078276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600" dirty="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385609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传统测试的局限</a:t>
                </a:r>
                <a:endParaRPr 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385609" y="3048000"/>
                <a:ext cx="3414372" cy="3086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>
                <a:defPPr>
                  <a:defRPr lang="en-US"/>
                </a:defPPr>
                <a:lvl1pPr>
                  <a:lnSpc>
                    <a:spcPct val="200000"/>
                  </a:lnSpc>
                  <a:defRPr b="0" i="0">
                    <a:solidFill>
                      <a:srgbClr val="000000">
                        <a:alpha val="100000"/>
                      </a:srgbClr>
                    </a:solidFill>
                    <a:latin typeface="+mn-ea"/>
                    <a:cs typeface="微软雅黑" panose="020B0503020204020204" charset="-122"/>
                  </a:defRPr>
                </a:lvl1pPr>
              </a:lstStyle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传统的软件测试（单元测试、模糊测试）只能覆盖部分输</a:t>
                </a:r>
                <a:r>
                  <a:rPr lang="en-US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⼊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空间，无法保证所有情况下的安全性（即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100%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覆盖率）。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077141" y="2078276"/>
              <a:ext cx="3434585" cy="4055825"/>
              <a:chOff x="8077141" y="2078276"/>
              <a:chExt cx="3434585" cy="4055825"/>
            </a:xfrm>
          </p:grpSpPr>
          <p:sp>
            <p:nvSpPr>
              <p:cNvPr id="15" name="TextBox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8085080" y="2078276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600" dirty="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077141" y="250606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解决方案</a:t>
                </a:r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097354" y="3048000"/>
                <a:ext cx="3414372" cy="3086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>
                <a:defPPr>
                  <a:defRPr lang="en-US"/>
                </a:defPPr>
                <a:lvl1pPr>
                  <a:lnSpc>
                    <a:spcPct val="200000"/>
                  </a:lnSpc>
                  <a:defRPr b="0" i="0">
                    <a:solidFill>
                      <a:srgbClr val="000000">
                        <a:alpha val="100000"/>
                      </a:srgbClr>
                    </a:solidFill>
                    <a:latin typeface="+mn-ea"/>
                    <a:cs typeface="微软雅黑" panose="020B050302020402020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引入形式化验证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(Formal Verification)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。它不依赖于有限的测试用例，而是通过数学证明的方法，在给定的约束条件下，为模型的安全性提供严格的、可证明的保障。</a:t>
                </a:r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研究背景与动机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52190" y="274341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4400" b="1" i="0" strike="noStrike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领域调研与核心论文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6220" y="2641600"/>
            <a:ext cx="9526905" cy="3140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endParaRPr sz="1600" b="0" i="0" strike="noStrike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56ab36-ad21-4b52-acc5-2f4f62c41ea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45520" y="1130302"/>
            <a:ext cx="10873379" cy="5003799"/>
            <a:chOff x="645520" y="1130302"/>
            <a:chExt cx="10873379" cy="5003799"/>
          </a:xfrm>
        </p:grpSpPr>
        <p:sp>
          <p:nvSpPr>
            <p:cNvPr id="4" name="AutoShape 4"/>
            <p:cNvSpPr/>
            <p:nvPr/>
          </p:nvSpPr>
          <p:spPr>
            <a:xfrm>
              <a:off x="4285985" y="1879600"/>
              <a:ext cx="3608732" cy="4254500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A50C0B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 flipH="1">
              <a:off x="660399" y="1130302"/>
              <a:ext cx="10858500" cy="550188"/>
            </a:xfrm>
            <a:prstGeom prst="rect">
              <a:avLst/>
            </a:prstGeom>
            <a:solidFill>
              <a:srgbClr val="A50C0B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神经网络安全性验证技术的发展趋势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45520" y="2078276"/>
              <a:ext cx="3618986" cy="4055825"/>
              <a:chOff x="645520" y="2078276"/>
              <a:chExt cx="3618986" cy="405582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6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95678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核心挑战</a:t>
                </a:r>
                <a:endParaRPr lang="en-US" sz="11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45520" y="3048000"/>
                <a:ext cx="3618986" cy="3086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>
                <a:defPPr>
                  <a:defRPr lang="en-US"/>
                </a:defPPr>
                <a:lvl1pPr>
                  <a:lnSpc>
                    <a:spcPct val="200000"/>
                  </a:lnSpc>
                  <a:defRPr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dirty="0" err="1"/>
                  <a:t>深度学习模型，尤其在安全关键领域（如自动驾驶、医疗诊断</a:t>
                </a:r>
                <a:r>
                  <a:rPr lang="en-US" dirty="0"/>
                  <a:t>），</a:t>
                </a:r>
                <a:r>
                  <a:rPr lang="en-US" dirty="0" err="1"/>
                  <a:t>其决策的不可预测性和对抗样本问题日益凸显，威胁系统安</a:t>
                </a:r>
                <a:r>
                  <a:rPr lang="zh-CN" altLang="en-US" dirty="0"/>
                  <a:t>全</a:t>
                </a:r>
                <a:r>
                  <a:rPr lang="en-US" dirty="0"/>
                  <a:t>。</a:t>
                </a:r>
                <a:r>
                  <a:rPr lang="zh-CN" altLang="en-US" dirty="0"/>
                  <a:t>同时神经网络作为黑盒的特性使得调试和定位错误变得异常困难，这也是推动可解释验证发展的动力之一。</a:t>
                </a:r>
                <a:endParaRPr lang="en-US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285984" y="2078276"/>
              <a:ext cx="3630211" cy="4055825"/>
              <a:chOff x="4285984" y="2078276"/>
              <a:chExt cx="3630211" cy="405582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495148" y="2078276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6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85609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技术演进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285984" y="3048000"/>
                <a:ext cx="3630211" cy="3086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charset="-122"/>
                  </a:defRPr>
                </a:lvl1pPr>
              </a:lstStyle>
              <a:p>
                <a:r>
                  <a:rPr lang="zh-CN" altLang="en-US" dirty="0"/>
                  <a:t>早期的验证方法侧重于提升验证‘效率’和可扩展性（如</a:t>
                </a:r>
                <a:r>
                  <a:rPr lang="en-US" altLang="zh-CN" dirty="0"/>
                  <a:t>α,β-CROWN</a:t>
                </a:r>
                <a:r>
                  <a:rPr lang="zh-CN" altLang="en-US" dirty="0"/>
                  <a:t>）。当前的研究前沿则致力于构建功能更全面、结果更具可解释性的验证工具，例如支持复杂网络结构、生成可供审计的证明证书等。</a:t>
                </a:r>
                <a:endParaRPr lang="en-US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975541" y="2078276"/>
              <a:ext cx="3414372" cy="4055825"/>
              <a:chOff x="7975541" y="2078276"/>
              <a:chExt cx="3414372" cy="405582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085080" y="2078276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60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75541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最新趋势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75541" y="3048000"/>
                <a:ext cx="3414372" cy="3086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charset="-122"/>
                  </a:defRPr>
                </a:lvl1pPr>
              </a:lstStyle>
              <a:p>
                <a:r>
                  <a:rPr lang="en-US" dirty="0" err="1"/>
                  <a:t>以Marabou</a:t>
                </a:r>
                <a:r>
                  <a:rPr lang="en-US" dirty="0"/>
                  <a:t> 2.0为代表的工具，标志着验证技术进入新阶段。它们不仅功能全面，支持复杂约束，还能生成可读的证明证书，为模型的安全性提供坚实的数学保障。</a:t>
                </a: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调研与核心论文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56ab36-ad21-4b52-acc5-2f4f62c41ea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>
            <a:off x="660399" y="1179197"/>
            <a:ext cx="11059714" cy="4843144"/>
            <a:chOff x="660399" y="1179197"/>
            <a:chExt cx="11059714" cy="4843144"/>
          </a:xfrm>
        </p:grpSpPr>
        <p:sp>
          <p:nvSpPr>
            <p:cNvPr id="5" name="TextBox 5"/>
            <p:cNvSpPr txBox="1"/>
            <p:nvPr/>
          </p:nvSpPr>
          <p:spPr>
            <a:xfrm flipH="1">
              <a:off x="660399" y="1179197"/>
              <a:ext cx="10858500" cy="550188"/>
            </a:xfrm>
            <a:prstGeom prst="rect">
              <a:avLst/>
            </a:prstGeom>
            <a:solidFill>
              <a:srgbClr val="A50C0B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我们参考的文献</a:t>
              </a: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831963" y="1948597"/>
              <a:ext cx="5055761" cy="3995922"/>
              <a:chOff x="831963" y="1948597"/>
              <a:chExt cx="5055761" cy="3995922"/>
            </a:xfrm>
          </p:grpSpPr>
          <p:sp>
            <p:nvSpPr>
              <p:cNvPr id="7" name="TextBox 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31963" y="1948597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400" dirty="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92202" y="2550511"/>
                <a:ext cx="499552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基石之作：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CROWN / α-CROWN/</a:t>
                </a:r>
                <a:r>
                  <a:rPr lang="el-GR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β-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CROWN (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NeurIPS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2018 / ICLR 2021 /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NeurIPS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2021 )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92201" y="3503579"/>
                <a:ext cx="4487707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贡献：提出了高效的线性松弛框架，是</a:t>
                </a:r>
                <a:r>
                  <a:rPr lang="zh-CN" altLang="en-US" sz="200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目</a:t>
                </a:r>
                <a:r>
                  <a:rPr lang="zh-CN" alt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前速度最快的验证方法之</a:t>
                </a:r>
                <a:r>
                  <a:rPr lang="zh-CN" altLang="en-US" sz="200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</a:t>
                </a:r>
                <a:r>
                  <a:rPr lang="zh-CN" alt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en-US" altLang="zh-CN" sz="20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VNN-COMP </a:t>
                </a:r>
                <a:r>
                  <a:rPr lang="zh-CN" alt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冠军）。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095983" y="1955721"/>
              <a:ext cx="4488022" cy="3990420"/>
              <a:chOff x="6095983" y="1955721"/>
              <a:chExt cx="4488022" cy="3990420"/>
            </a:xfrm>
          </p:grpSpPr>
          <p:sp>
            <p:nvSpPr>
              <p:cNvPr id="11" name="TextBox 1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095983" y="1955721"/>
                <a:ext cx="381600" cy="382702"/>
              </a:xfrm>
              <a:prstGeom prst="rect">
                <a:avLst/>
              </a:prstGeom>
              <a:ln w="12700">
                <a:solidFill>
                  <a:srgbClr val="A50C0B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400" dirty="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096299" y="25251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>
                <a:defPPr>
                  <a:defRPr lang="en-US"/>
                </a:defPPr>
                <a:lvl1pPr>
                  <a:lnSpc>
                    <a:spcPct val="120000"/>
                  </a:lnSpc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2000" dirty="0"/>
                  <a:t>最新进展：</a:t>
                </a:r>
                <a:r>
                  <a:rPr lang="en-US" altLang="zh-CN" sz="2000" dirty="0"/>
                  <a:t>Marabou 2.0 ( </a:t>
                </a:r>
                <a:r>
                  <a:rPr lang="en-US" altLang="zh-CN" sz="2000" dirty="0" err="1"/>
                  <a:t>ArXiv</a:t>
                </a:r>
                <a:r>
                  <a:rPr lang="en-US" altLang="zh-CN" sz="2000" dirty="0"/>
                  <a:t> 2024 )</a:t>
                </a:r>
                <a:r>
                  <a:rPr lang="zh-CN" altLang="en-US" sz="2000" dirty="0"/>
                  <a:t>。</a:t>
                </a: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096298" y="3505201"/>
                <a:ext cx="4487707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>
                <a:defPPr>
                  <a:defRPr lang="en-US"/>
                </a:defPPr>
                <a:lvl1pPr>
                  <a:lnSpc>
                    <a:spcPct val="120000"/>
                  </a:lnSpc>
                  <a:defRPr sz="20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</a:lstStyle>
              <a:p>
                <a:r>
                  <a:rPr lang="zh-CN" altLang="en-US" dirty="0"/>
                  <a:t>贡献：一个功能强大的工业级验证器，支持更复杂的网络结构和约束条件，并具备生成机器可检查的证明证书的能力，极大地增强了验证结果的可信度。</a:t>
                </a:r>
                <a:endParaRPr lang="en-US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114741" y="2590517"/>
              <a:ext cx="7605372" cy="3431824"/>
              <a:chOff x="4114741" y="2590517"/>
              <a:chExt cx="7605372" cy="3431824"/>
            </a:xfrm>
          </p:grpSpPr>
          <p:sp>
            <p:nvSpPr>
              <p:cNvPr id="16" name="TextBox 1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8305741" y="2590517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114741" y="3581401"/>
                <a:ext cx="3414372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endParaRPr lang="en-US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调研与核心论文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c61c90-d47c-4160-bea9-34b7b4142bf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>
            <a:off x="660400" y="1372427"/>
            <a:ext cx="10858500" cy="4845029"/>
            <a:chOff x="660400" y="1372427"/>
            <a:chExt cx="10858500" cy="4845029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4231916" y="2951643"/>
              <a:ext cx="0" cy="2277128"/>
            </a:xfrm>
            <a:prstGeom prst="line">
              <a:avLst/>
            </a:prstGeom>
            <a:ln w="12700">
              <a:solidFill>
                <a:srgbClr val="000000">
                  <a:alpha val="10196"/>
                  <a:lumMod val="50000"/>
                  <a:lumOff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>
              <a:off x="7972785" y="2951643"/>
              <a:ext cx="0" cy="2277128"/>
            </a:xfrm>
            <a:prstGeom prst="line">
              <a:avLst/>
            </a:prstGeom>
            <a:ln w="12700">
              <a:solidFill>
                <a:srgbClr val="000000">
                  <a:alpha val="10196"/>
                  <a:lumMod val="50000"/>
                  <a:lumOff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372427"/>
              <a:ext cx="10858500" cy="65063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 dirty="0" err="1">
                  <a:solidFill>
                    <a:srgbClr val="000000">
                      <a:alpha val="100000"/>
                      <a:lumMod val="95000"/>
                      <a:lumOff val="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从代表性、功能性与社区活跃度三个维度分析选择Marabou</a:t>
              </a:r>
              <a:r>
                <a:rPr lang="en-US" sz="2400" b="1" i="0" dirty="0">
                  <a:solidFill>
                    <a:srgbClr val="000000">
                      <a:alpha val="100000"/>
                      <a:lumMod val="95000"/>
                      <a:lumOff val="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2.0的理由</a:t>
              </a:r>
              <a:endParaRPr lang="en-US" sz="1100" dirty="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682620" y="1962957"/>
              <a:ext cx="3558813" cy="4254499"/>
              <a:chOff x="682620" y="1962957"/>
              <a:chExt cx="3558813" cy="4254499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682620" y="1962957"/>
                <a:ext cx="3558813" cy="425449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46545" y="2858929"/>
                <a:ext cx="3042580" cy="226461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50000"/>
                  </a:lnSpc>
                  <a:defRPr/>
                </a:pPr>
                <a:r>
                  <a:rPr lang="zh-CN" alt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作为一个成熟的开源项目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Marabou由卡内基梅隆大学</a:t>
                </a:r>
                <a:r>
                  <a:rPr 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(CMU)、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斯坦福等顶尖高校联合开发，是学术界和工业界公认的标准验证工具之一，代表了领域内的先进水平</a:t>
                </a:r>
                <a:r>
                  <a:rPr 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。</a:t>
                </a:r>
                <a:endParaRPr lang="en-US" sz="1600" dirty="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46547" y="2061546"/>
                <a:ext cx="3042578" cy="7516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400" b="1" i="0" dirty="0">
                    <a:solidFill>
                      <a:srgbClr val="A50C0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46543" y="5228771"/>
                <a:ext cx="3042582" cy="706664"/>
              </a:xfrm>
              <a:prstGeom prst="rect">
                <a:avLst/>
              </a:prstGeom>
              <a:solidFill>
                <a:srgbClr val="A50C0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顶尖机构背书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574709" y="2061546"/>
              <a:ext cx="3064349" cy="3873889"/>
              <a:chOff x="4574709" y="2061546"/>
              <a:chExt cx="3064349" cy="3873889"/>
            </a:xfrm>
          </p:grpSpPr>
          <p:sp>
            <p:nvSpPr>
              <p:cNvPr id="13" name="TextBox 1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574711" y="2858929"/>
                <a:ext cx="3042580" cy="226461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50000"/>
                  </a:lnSpc>
                  <a:defRPr/>
                </a:pPr>
                <a:r>
                  <a:rPr lang="zh-CN" alt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它不仅支持</a:t>
                </a:r>
                <a:r>
                  <a:rPr lang="en-US" altLang="zh-CN" sz="1600" b="0" i="0" dirty="0" err="1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ReLU</a:t>
                </a:r>
                <a:r>
                  <a:rPr lang="zh-CN" alt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altLang="zh-CN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Sigmoid</a:t>
                </a:r>
                <a:r>
                  <a:rPr lang="zh-CN" alt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altLang="zh-CN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Tanh</a:t>
                </a:r>
                <a:r>
                  <a:rPr lang="zh-CN" alt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等多种激活函数，还兼容全连接、卷积等多种网络层，并能灵活调用不同的</a:t>
                </a:r>
                <a:r>
                  <a:rPr lang="en-US" altLang="zh-CN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SMT</a:t>
                </a:r>
                <a:r>
                  <a:rPr lang="zh-CN" alt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求解器后端，能够满足多样化的验证需求。</a:t>
                </a:r>
                <a:endParaRPr lang="en-US" sz="1600" dirty="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596480" y="2061546"/>
                <a:ext cx="3042578" cy="7516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400" b="1" i="0" dirty="0">
                    <a:solidFill>
                      <a:srgbClr val="A50C0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574709" y="5228771"/>
                <a:ext cx="3042582" cy="706664"/>
              </a:xfrm>
              <a:prstGeom prst="rect">
                <a:avLst/>
              </a:prstGeom>
              <a:solidFill>
                <a:srgbClr val="A50C0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功能全面强大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327382" y="2061546"/>
              <a:ext cx="3042582" cy="3873889"/>
              <a:chOff x="8327382" y="2061546"/>
              <a:chExt cx="3042582" cy="3873889"/>
            </a:xfrm>
          </p:grpSpPr>
          <p:sp>
            <p:nvSpPr>
              <p:cNvPr id="17" name="TextBox 1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327384" y="2858929"/>
                <a:ext cx="3042580" cy="226461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50000"/>
                  </a:lnSpc>
                  <a:defRPr/>
                </a:pPr>
                <a:r>
                  <a:rPr lang="en-US" sz="1600" b="0" i="0" dirty="0"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Marabou在2024年发布了2.0版本，官方文档详尽，社区讨论活跃。对于初学者而言，完善的资料和积极的开发者社区是学习和进行二次开发的理想选择。</a:t>
                </a:r>
                <a:endParaRPr lang="en-US" sz="1600" dirty="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327386" y="2061546"/>
                <a:ext cx="3042578" cy="7516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400" b="1" i="0" dirty="0">
                    <a:solidFill>
                      <a:srgbClr val="A50C0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327382" y="5228771"/>
                <a:ext cx="3042582" cy="706664"/>
              </a:xfrm>
              <a:prstGeom prst="rect">
                <a:avLst/>
              </a:prstGeom>
              <a:solidFill>
                <a:srgbClr val="A50C0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活跃的社区支持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为何选择Marabou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8200" y="281940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初步探索与成果</a:t>
            </a:r>
            <a:endParaRPr lang="en-US" sz="16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92b084-38cc-496e-8567-c3eef0ea39a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>
            <a:off x="380999" y="1242696"/>
            <a:ext cx="11010900" cy="5003799"/>
            <a:chOff x="507999" y="1130301"/>
            <a:chExt cx="11010900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73109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成功</a:t>
              </a:r>
              <a:r>
                <a:rPr lang="zh-CN" alt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编译</a:t>
              </a:r>
              <a:r>
                <a:rPr 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Marabou 2.0并运行测试</a:t>
              </a:r>
              <a:endParaRPr lang="en-US" sz="11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399" y="2140125"/>
              <a:ext cx="10858499" cy="1741934"/>
              <a:chOff x="660399" y="2140125"/>
              <a:chExt cx="10858499" cy="1741934"/>
            </a:xfrm>
          </p:grpSpPr>
          <p:sp>
            <p:nvSpPr>
              <p:cNvPr id="6" name="TextBox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399" y="2548559"/>
                <a:ext cx="10858499" cy="4924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0399" y="3041045"/>
                <a:ext cx="10858499" cy="8410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479547" y="2140125"/>
                <a:ext cx="8991600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>
                  <a:defRPr/>
                </a:pPr>
                <a:r>
                  <a:rPr 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 </a:t>
                </a:r>
                <a:r>
                  <a:rPr lang="zh-CN" alt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扰动半径</a:t>
                </a:r>
                <a:r>
                  <a:rPr lang="en-US" altLang="zh-CN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0.005</a:t>
                </a:r>
                <a:r>
                  <a:rPr lang="zh-CN" alt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，运行时间</a:t>
                </a:r>
                <a:r>
                  <a:rPr lang="zh-CN" altLang="en-US" sz="2400" b="1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小于</a:t>
                </a:r>
                <a:r>
                  <a:rPr lang="en-US" altLang="zh-CN" sz="2400" b="1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1s</a:t>
                </a:r>
                <a:r>
                  <a:rPr lang="zh-CN" alt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，</a:t>
                </a:r>
                <a:r>
                  <a:rPr lang="en-US" altLang="zh-CN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UNSAT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507999" y="4225787"/>
              <a:ext cx="11010900" cy="1908313"/>
              <a:chOff x="507999" y="4225787"/>
              <a:chExt cx="11010900" cy="1908313"/>
            </a:xfrm>
          </p:grpSpPr>
          <p:sp>
            <p:nvSpPr>
              <p:cNvPr id="11" name="TextBox 1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07999" y="4744085"/>
                <a:ext cx="10858500" cy="4924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399" y="5293086"/>
                <a:ext cx="10858500" cy="8410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4225787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endParaRPr lang="en-US" sz="1100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实验环境搭建</a:t>
            </a:r>
            <a:endParaRPr lang="en-US"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2547" y="3153438"/>
            <a:ext cx="9220201" cy="14136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92b084-38cc-496e-8567-c3eef0ea39a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>
            <a:off x="380999" y="1242696"/>
            <a:ext cx="11010900" cy="5003799"/>
            <a:chOff x="507999" y="1130301"/>
            <a:chExt cx="11010900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73109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成功</a:t>
              </a:r>
              <a:r>
                <a:rPr lang="zh-CN" alt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编译</a:t>
              </a:r>
              <a:r>
                <a:rPr 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Marabou</a:t>
              </a:r>
              <a:r>
                <a:rPr lang="en-US" altLang="zh-CN" sz="2400" b="1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2.0</a:t>
              </a:r>
              <a:r>
                <a:rPr 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并运行测试</a:t>
              </a:r>
              <a:endParaRPr lang="en-US" sz="11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399" y="1988753"/>
              <a:ext cx="10858499" cy="1893306"/>
              <a:chOff x="660399" y="1988753"/>
              <a:chExt cx="10858499" cy="1893306"/>
            </a:xfrm>
          </p:grpSpPr>
          <p:sp>
            <p:nvSpPr>
              <p:cNvPr id="6" name="TextBox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399" y="2548559"/>
                <a:ext cx="10858499" cy="4924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0399" y="3041045"/>
                <a:ext cx="10858499" cy="8410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774824" y="1988753"/>
                <a:ext cx="6172200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>
                  <a:defRPr/>
                </a:pPr>
                <a:r>
                  <a:rPr 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02. </a:t>
                </a:r>
                <a:r>
                  <a:rPr lang="zh-CN" alt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扰动半径</a:t>
                </a:r>
                <a:r>
                  <a:rPr lang="en-US" altLang="zh-CN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0.05</a:t>
                </a:r>
                <a:r>
                  <a:rPr lang="zh-CN" alt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，运行时间</a:t>
                </a:r>
                <a:r>
                  <a:rPr lang="en-US" altLang="zh-CN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35s</a:t>
                </a:r>
                <a:r>
                  <a:rPr lang="zh-CN" altLang="en-US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，</a:t>
                </a:r>
                <a:r>
                  <a:rPr lang="en-US" altLang="zh-CN" sz="24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UNSAT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507999" y="4225787"/>
              <a:ext cx="11010900" cy="1908313"/>
              <a:chOff x="507999" y="4225787"/>
              <a:chExt cx="11010900" cy="1908313"/>
            </a:xfrm>
          </p:grpSpPr>
          <p:sp>
            <p:nvSpPr>
              <p:cNvPr id="11" name="TextBox 1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07999" y="4744085"/>
                <a:ext cx="10858500" cy="4924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399" y="5293086"/>
                <a:ext cx="10858500" cy="8410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4225787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endParaRPr lang="en-US" sz="1100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实验环境搭建</a:t>
            </a:r>
            <a:endParaRPr lang="en-US" sz="11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7824" y="2819400"/>
            <a:ext cx="8896352" cy="10645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A216-8E94-870A-7488-643E7A06C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92b084-38cc-496e-8567-c3eef0ea39a6">
            <a:extLst>
              <a:ext uri="{FF2B5EF4-FFF2-40B4-BE49-F238E27FC236}">
                <a16:creationId xmlns:a16="http://schemas.microsoft.com/office/drawing/2014/main" id="{47EF4785-E0D7-F971-683D-442E4C4BA586}"/>
              </a:ext>
            </a:extLst>
          </p:cNvPr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CFB7E15-A549-964F-293A-A77C020DE7B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80999" y="1242696"/>
            <a:ext cx="11010900" cy="5003799"/>
            <a:chOff x="507999" y="1130301"/>
            <a:chExt cx="11010900" cy="500379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196E21C-8F9B-AADC-4049-BCEA54ABDAB8}"/>
                </a:ext>
              </a:extLst>
            </p:cNvPr>
            <p:cNvSpPr txBox="1"/>
            <p:nvPr/>
          </p:nvSpPr>
          <p:spPr>
            <a:xfrm>
              <a:off x="660399" y="1130301"/>
              <a:ext cx="10858500" cy="73109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成功</a:t>
              </a:r>
              <a:r>
                <a:rPr lang="zh-CN" alt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编译</a:t>
              </a:r>
              <a:r>
                <a:rPr 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Marabou</a:t>
              </a:r>
              <a:r>
                <a:rPr lang="en-US" altLang="zh-CN" sz="2400" b="1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2.0</a:t>
              </a:r>
              <a:r>
                <a:rPr lang="en-US" sz="24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并运行测试</a:t>
              </a:r>
              <a:endParaRPr lang="en-US" sz="1100" dirty="0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6051911-D8A8-FBDF-1991-A92D7EB1A9F4}"/>
                </a:ext>
              </a:extLst>
            </p:cNvPr>
            <p:cNvGrpSpPr/>
            <p:nvPr/>
          </p:nvGrpSpPr>
          <p:grpSpPr>
            <a:xfrm>
              <a:off x="660399" y="2548559"/>
              <a:ext cx="10858499" cy="1333500"/>
              <a:chOff x="660399" y="2548559"/>
              <a:chExt cx="10858499" cy="1333500"/>
            </a:xfrm>
          </p:grpSpPr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18B4057-B707-09A4-CA4B-2E8124B98C4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399" y="2548559"/>
                <a:ext cx="10858499" cy="4924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endParaRPr lang="en-US" sz="1100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D1263E7-46B9-D6AB-37E2-CDD832DF58E2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0399" y="3041045"/>
                <a:ext cx="10858499" cy="8410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endParaRPr lang="en-US" sz="1100"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C4415CBA-F138-8771-A66E-D271A91FE46D}"/>
                </a:ext>
              </a:extLst>
            </p:cNvPr>
            <p:cNvGrpSpPr/>
            <p:nvPr/>
          </p:nvGrpSpPr>
          <p:grpSpPr>
            <a:xfrm>
              <a:off x="507999" y="4225787"/>
              <a:ext cx="11010900" cy="1908313"/>
              <a:chOff x="507999" y="4225787"/>
              <a:chExt cx="11010900" cy="1908313"/>
            </a:xfrm>
          </p:grpSpPr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ED505D2-1BBA-C50E-C5C1-2D6F6DE2FA7B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07999" y="4744085"/>
                <a:ext cx="10858500" cy="4924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endParaRPr lang="en-US" sz="1100"/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2A892949-EFC9-24EF-2EB2-BDDD909FFCCE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399" y="5293086"/>
                <a:ext cx="10858500" cy="8410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endParaRPr lang="en-US" sz="1100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BFA90C8-BACD-BCC8-094A-DE55A61542C5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4225787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endParaRPr lang="en-US" sz="1100"/>
              </a:p>
            </p:txBody>
          </p:sp>
        </p:grp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5C031C7-1B4E-0749-B8DC-07AACF9F0A46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实验环境搭建</a:t>
            </a:r>
            <a:endParaRPr lang="en-US" sz="11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FEDA3C-F07B-948D-431A-66C8F388A633}"/>
              </a:ext>
            </a:extLst>
          </p:cNvPr>
          <p:cNvSpPr txBox="1"/>
          <p:nvPr/>
        </p:nvSpPr>
        <p:spPr>
          <a:xfrm>
            <a:off x="1524000" y="1981200"/>
            <a:ext cx="764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扰动半径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，运行时间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分钟，无结果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FC3B45B-173A-DD5E-2978-F8516B5A61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98" y="2660954"/>
            <a:ext cx="9131300" cy="1017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2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9000" y="2133810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600" b="1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改进思路与研究计划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78200" y="3581400"/>
            <a:ext cx="5435600" cy="127672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通过初步实验，我们发现随着扰动范围增大，验证难度呈指数级上升，这正是我们需要深</a:t>
            </a:r>
            <a:r>
              <a:rPr lang="zh-CN" altLang="en-US" sz="16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lang="zh-CN" alt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研究的问题。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9c7db0-9866-44ec-ac8b-162d494cb43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219200"/>
            <a:ext cx="10871202" cy="5006232"/>
            <a:chOff x="660399" y="1921188"/>
            <a:chExt cx="10871202" cy="4304244"/>
          </a:xfrm>
        </p:grpSpPr>
        <p:grpSp>
          <p:nvGrpSpPr>
            <p:cNvPr id="5" name="Group 5"/>
            <p:cNvGrpSpPr/>
            <p:nvPr/>
          </p:nvGrpSpPr>
          <p:grpSpPr>
            <a:xfrm>
              <a:off x="660399" y="1921188"/>
              <a:ext cx="10864851" cy="1271346"/>
              <a:chOff x="6751348" y="1082479"/>
              <a:chExt cx="2738801" cy="2728741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751348" y="1082479"/>
                <a:ext cx="2738801" cy="2728741"/>
              </a:xfrm>
              <a:prstGeom prst="roundRect">
                <a:avLst>
                  <a:gd name="adj" fmla="val 4969"/>
                </a:avLst>
              </a:prstGeom>
              <a:solidFill>
                <a:srgbClr val="A50C0B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798781" y="2359631"/>
                <a:ext cx="2494482" cy="12624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计划测试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Marabou 2.0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的多线程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--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numWorkers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在不同硬件配置下的加速比，寻找最优配置。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98781" y="1264192"/>
                <a:ext cx="2391631" cy="11705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思路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：并行化策略评估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 flipH="1">
                <a:off x="9320915" y="1236748"/>
                <a:ext cx="123402" cy="243293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A50C0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66750" y="3325669"/>
              <a:ext cx="10864851" cy="1413547"/>
              <a:chOff x="6752949" y="1161752"/>
              <a:chExt cx="2738801" cy="303395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752949" y="1161752"/>
                <a:ext cx="2738801" cy="3033953"/>
              </a:xfrm>
              <a:prstGeom prst="roundRect">
                <a:avLst>
                  <a:gd name="adj" fmla="val 4969"/>
                </a:avLst>
              </a:prstGeom>
              <a:solidFill>
                <a:srgbClr val="A50C0B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798781" y="2542096"/>
                <a:ext cx="2391631" cy="12624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引入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SOTA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α, β-CROWN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进行对比。分析在什么场景下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Marabou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更优（如需要证明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时），什么场景下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α, β-CROWN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更优（如纯速度需求）。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798781" y="1249284"/>
                <a:ext cx="2391631" cy="11705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思路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2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：工具对比分析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 flipH="1">
                <a:off x="9320915" y="1467509"/>
                <a:ext cx="123402" cy="24329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858585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60399" y="4874052"/>
              <a:ext cx="10864851" cy="1351380"/>
              <a:chOff x="6751348" y="1549890"/>
              <a:chExt cx="2738801" cy="2900523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751348" y="1549890"/>
                <a:ext cx="2738801" cy="2900523"/>
              </a:xfrm>
              <a:prstGeom prst="roundRect">
                <a:avLst>
                  <a:gd name="adj" fmla="val 4969"/>
                </a:avLst>
              </a:prstGeom>
              <a:solidFill>
                <a:srgbClr val="A50C0B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798781" y="2868802"/>
                <a:ext cx="2391631" cy="12624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尝试编写脚本，将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Marabou 2.0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枯燥的文本输出转化为可视化的图表（如决策树深度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图、时间消耗分布图），让验证结果更易读。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98781" y="1553567"/>
                <a:ext cx="2391631" cy="11705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思路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3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：可视化与报告生成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 flipH="1">
                <a:off x="9320915" y="1698271"/>
                <a:ext cx="123402" cy="243293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A50C0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改进思路</a:t>
            </a: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与研究计划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12732" y="2640106"/>
            <a:ext cx="7153836" cy="198418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7200" b="1" i="0" spc="6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  </a:t>
            </a:r>
            <a:r>
              <a:rPr lang="en-US" sz="7200" b="1" i="0" spc="60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</a:t>
            </a:r>
            <a:r>
              <a:rPr lang="en-US" sz="7200" b="1" i="0" spc="6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观  看</a:t>
            </a:r>
            <a:endParaRPr lang="en-US" spc="600" dirty="0"/>
          </a:p>
        </p:txBody>
      </p:sp>
      <p:sp>
        <p:nvSpPr>
          <p:cNvPr id="3" name="TextBox 3"/>
          <p:cNvSpPr txBox="1"/>
          <p:nvPr/>
        </p:nvSpPr>
        <p:spPr>
          <a:xfrm>
            <a:off x="2512731" y="4814495"/>
            <a:ext cx="7153835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512731" y="5088815"/>
            <a:ext cx="7153835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99984251968493,&quot;left&quot;:51.999921259842516,&quot;top&quot;:89.00015748031495,&quot;width&quot;:870.843622047244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1188188976378,&quot;left&quot;:51.999921259842516,&quot;top&quot;:98.88110236220473,&quot;width&quot;:855.000078740157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499212598425,&quot;left&quot;:29.99992125984254,&quot;top&quot;:89.00007874015748,&quot;width&quot;:877}"/>
</p:tagLst>
</file>

<file path=ppt/theme/theme1.xml><?xml version="1.0" encoding="utf-8"?>
<a:theme xmlns:a="http://schemas.openxmlformats.org/drawingml/2006/main" name="1530036b-72b3-46a9-815f-18fa2e84652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686</Words>
  <Application>Microsoft Office PowerPoint</Application>
  <PresentationFormat>宽屏</PresentationFormat>
  <Paragraphs>91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微软雅黑</vt:lpstr>
      <vt:lpstr>Arial</vt:lpstr>
      <vt:lpstr>Calibri</vt:lpstr>
      <vt:lpstr>1530036b-72b3-46a9-815f-18fa2e84652a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Hanshi Qi</dc:creator>
  <cp:lastModifiedBy>Hanshi Qi</cp:lastModifiedBy>
  <cp:revision>10</cp:revision>
  <dcterms:created xsi:type="dcterms:W3CDTF">2006-08-16T00:00:00Z</dcterms:created>
  <dcterms:modified xsi:type="dcterms:W3CDTF">2026-03-22T10:03:06Z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C30CB6D22FD94D09805B3E5340ADC028_13</vt:lpwstr>
  </property>
</Properties>
</file>