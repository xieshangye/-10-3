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2013" y="1071563"/>
            <a:ext cx="7119947" cy="30003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297763" y="1557170"/>
            <a:ext cx="6548447" cy="5486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ReLU 神经网络鲁棒性验证研究</a:t>
            </a:r>
            <a:endParaRPr lang="en-US" sz="3295" dirty="0"/>
          </a:p>
        </p:txBody>
      </p:sp>
      <p:sp>
        <p:nvSpPr>
          <p:cNvPr id="5" name="Text 2"/>
          <p:cNvSpPr/>
          <p:nvPr/>
        </p:nvSpPr>
        <p:spPr>
          <a:xfrm>
            <a:off x="1297763" y="2248663"/>
            <a:ext cx="6548447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基于 alpha-beta-CROWN 的分支策略对比实验</a:t>
            </a:r>
            <a:endParaRPr lang="en-US" sz="17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4579144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研究背景：深度神经网络的"可证明安全"挑战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0050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4000500" cy="46255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8855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1544" y="1250156"/>
            <a:ext cx="6858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行业痛点</a:t>
            </a:r>
            <a:endParaRPr lang="en-US" sz="1270" dirty="0"/>
          </a:p>
        </p:txBody>
      </p:sp>
      <p:sp>
        <p:nvSpPr>
          <p:cNvPr id="10" name="Text 6"/>
          <p:cNvSpPr/>
          <p:nvPr/>
        </p:nvSpPr>
        <p:spPr>
          <a:xfrm>
            <a:off x="642938" y="1819870"/>
            <a:ext cx="3571875" cy="41143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深度神经网络已广泛部署于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视觉识别、医疗辅助、智能控制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等高可靠性场景。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642938" y="2409899"/>
            <a:ext cx="3571875" cy="41143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传统评估依赖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自然准确率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，无法回答"在可接受扰动范围内模型是否稳定"。</a:t>
            </a:r>
            <a:endParaRPr lang="en-US" sz="940" dirty="0"/>
          </a:p>
        </p:txBody>
      </p:sp>
      <p:sp>
        <p:nvSpPr>
          <p:cNvPr id="12" name="Text 8"/>
          <p:cNvSpPr/>
          <p:nvPr/>
        </p:nvSpPr>
        <p:spPr>
          <a:xfrm>
            <a:off x="642938" y="2999929"/>
            <a:ext cx="3571875" cy="41143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微小输入扰动（如对抗样本）可能导致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预测翻转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，带来严重安全风险。</a:t>
            </a:r>
            <a:endParaRPr lang="en-US" sz="940" dirty="0"/>
          </a:p>
        </p:txBody>
      </p:sp>
      <p:sp>
        <p:nvSpPr>
          <p:cNvPr id="13" name="Shape 9"/>
          <p:cNvSpPr/>
          <p:nvPr/>
        </p:nvSpPr>
        <p:spPr>
          <a:xfrm>
            <a:off x="4714875" y="1143000"/>
            <a:ext cx="400050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2938" y="1819870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642938" y="2409899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642938" y="2999929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17" name="Shape 13"/>
          <p:cNvSpPr/>
          <p:nvPr/>
        </p:nvSpPr>
        <p:spPr>
          <a:xfrm>
            <a:off x="4714875" y="1143000"/>
            <a:ext cx="4000500" cy="46255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288554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7794" y="1250156"/>
            <a:ext cx="10287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核心问题定义</a:t>
            </a:r>
            <a:endParaRPr lang="en-US" sz="1270" dirty="0"/>
          </a:p>
        </p:txBody>
      </p:sp>
      <p:sp>
        <p:nvSpPr>
          <p:cNvPr id="20" name="Text 15"/>
          <p:cNvSpPr/>
          <p:nvPr/>
        </p:nvSpPr>
        <p:spPr>
          <a:xfrm>
            <a:off x="4929188" y="1819870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5107781" y="1837730"/>
            <a:ext cx="3343275" cy="3753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验证目标：对于输入样本和扰动半径，保证在扰动范围内分类结果不变。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5107781" y="2338462"/>
            <a:ext cx="3393281" cy="428625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07781" y="2338462"/>
            <a:ext cx="3393281" cy="428625"/>
          </a:xfrm>
          <a:prstGeom prst="rect">
            <a:avLst/>
          </a:prstGeom>
          <a:noFill/>
        </p:spPr>
        <p:txBody>
          <a:bodyPr wrap="square" lIns="127508" tIns="127508" rIns="127508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||x' - x||_∞ ≤ ε ⇒ f_y(x') - f_j(x') &gt; 0 (j ≠ y)</a:t>
            </a:r>
            <a:endParaRPr lang="en-US" sz="835" dirty="0"/>
          </a:p>
        </p:txBody>
      </p:sp>
      <p:sp>
        <p:nvSpPr>
          <p:cNvPr id="24" name="Text 19"/>
          <p:cNvSpPr/>
          <p:nvPr/>
        </p:nvSpPr>
        <p:spPr>
          <a:xfrm>
            <a:off x="4929188" y="2945681"/>
            <a:ext cx="3571875" cy="41143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严格区分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"未找到反例"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与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"可证明安全"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——这是软件质量保障的核心命题。</a:t>
            </a:r>
            <a:endParaRPr lang="en-US" sz="940" dirty="0"/>
          </a:p>
        </p:txBody>
      </p:sp>
      <p:sp>
        <p:nvSpPr>
          <p:cNvPr id="25" name="Text 20"/>
          <p:cNvSpPr/>
          <p:nvPr/>
        </p:nvSpPr>
        <p:spPr>
          <a:xfrm>
            <a:off x="4929188" y="2945681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36576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研究意义：从四个维度构建研究价值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8286750" cy="2087761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2197" y="1146572"/>
            <a:ext cx="1655899" cy="428625"/>
          </a:xfrm>
          <a:prstGeom prst="rect">
            <a:avLst/>
          </a:prstGeom>
          <a:solidFill>
            <a:srgbClr val="F1F5F9"/>
          </a:solidFill>
          <a:ln w="9144">
            <a:solidFill>
              <a:srgbClr val="1A2B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2197" y="1146572"/>
            <a:ext cx="1655899" cy="428625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维度</a:t>
            </a:r>
            <a:endParaRPr lang="en-US" sz="985" dirty="0"/>
          </a:p>
        </p:txBody>
      </p:sp>
      <p:sp>
        <p:nvSpPr>
          <p:cNvPr id="9" name="Shape 6"/>
          <p:cNvSpPr/>
          <p:nvPr/>
        </p:nvSpPr>
        <p:spPr>
          <a:xfrm>
            <a:off x="2088096" y="1146572"/>
            <a:ext cx="6623707" cy="428625"/>
          </a:xfrm>
          <a:prstGeom prst="rect">
            <a:avLst/>
          </a:prstGeom>
          <a:solidFill>
            <a:srgbClr val="1A2B4C"/>
          </a:solidFill>
          <a:ln w="9144">
            <a:solidFill>
              <a:srgbClr val="1A2B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88096" y="1146572"/>
            <a:ext cx="6623707" cy="428625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核心价值</a:t>
            </a:r>
            <a:endParaRPr lang="en-US" sz="985" dirty="0"/>
          </a:p>
        </p:txBody>
      </p:sp>
      <p:sp>
        <p:nvSpPr>
          <p:cNvPr id="11" name="Shape 8"/>
          <p:cNvSpPr/>
          <p:nvPr/>
        </p:nvSpPr>
        <p:spPr>
          <a:xfrm>
            <a:off x="432197" y="1568053"/>
            <a:ext cx="1655899" cy="408980"/>
          </a:xfrm>
          <a:prstGeom prst="rect">
            <a:avLst/>
          </a:prstGeom>
          <a:solidFill>
            <a:srgbClr val="F1F5F9"/>
          </a:solidFill>
          <a:ln w="9144">
            <a:solidFill>
              <a:srgbClr val="1A2B4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2" y="1714500"/>
            <a:ext cx="128588" cy="128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3659" y="1693069"/>
            <a:ext cx="5911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理论意义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2088096" y="1568053"/>
            <a:ext cx="6623707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将鲁棒性问题表达为全称约束判定问题，建立形式化验证框架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432197" y="1977033"/>
            <a:ext cx="1655899" cy="408980"/>
          </a:xfrm>
          <a:prstGeom prst="rect">
            <a:avLst/>
          </a:prstGeom>
          <a:solidFill>
            <a:srgbClr val="F1F5F9"/>
          </a:solidFill>
          <a:ln w="9144">
            <a:solidFill>
              <a:srgbClr val="1A2B4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2" y="2123480"/>
            <a:ext cx="160734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5806" y="2102048"/>
            <a:ext cx="5911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方法意义</a:t>
            </a:r>
            <a:endParaRPr lang="en-US" sz="885" dirty="0"/>
          </a:p>
        </p:txBody>
      </p:sp>
      <p:sp>
        <p:nvSpPr>
          <p:cNvPr id="18" name="Text 13"/>
          <p:cNvSpPr/>
          <p:nvPr/>
        </p:nvSpPr>
        <p:spPr>
          <a:xfrm>
            <a:off x="2088096" y="1977033"/>
            <a:ext cx="6623707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比较不完整验证与完整验证在准确性、可扩展性、计算代价上的权衡</a:t>
            </a:r>
            <a:endParaRPr lang="en-US" sz="940" dirty="0"/>
          </a:p>
        </p:txBody>
      </p:sp>
      <p:sp>
        <p:nvSpPr>
          <p:cNvPr id="19" name="Shape 14"/>
          <p:cNvSpPr/>
          <p:nvPr/>
        </p:nvSpPr>
        <p:spPr>
          <a:xfrm>
            <a:off x="432197" y="2386013"/>
            <a:ext cx="1655899" cy="410766"/>
          </a:xfrm>
          <a:prstGeom prst="rect">
            <a:avLst/>
          </a:prstGeom>
          <a:solidFill>
            <a:srgbClr val="F1F5F9"/>
          </a:solidFill>
          <a:ln w="9144">
            <a:solidFill>
              <a:srgbClr val="1A2B4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072" y="2533352"/>
            <a:ext cx="160734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5806" y="2511921"/>
            <a:ext cx="5911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工程意义</a:t>
            </a:r>
            <a:endParaRPr lang="en-US" sz="885" dirty="0"/>
          </a:p>
        </p:txBody>
      </p:sp>
      <p:sp>
        <p:nvSpPr>
          <p:cNvPr id="22" name="Text 16"/>
          <p:cNvSpPr/>
          <p:nvPr/>
        </p:nvSpPr>
        <p:spPr>
          <a:xfrm>
            <a:off x="2088096" y="2386013"/>
            <a:ext cx="6623707" cy="410766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形成可复现验证流水线：配置管理 → 日志归档 → 指标汇总 → 图表生成</a:t>
            </a:r>
            <a:endParaRPr lang="en-US" sz="940" dirty="0"/>
          </a:p>
        </p:txBody>
      </p:sp>
      <p:sp>
        <p:nvSpPr>
          <p:cNvPr id="23" name="Shape 17"/>
          <p:cNvSpPr/>
          <p:nvPr/>
        </p:nvSpPr>
        <p:spPr>
          <a:xfrm>
            <a:off x="432197" y="2796778"/>
            <a:ext cx="1655899" cy="408980"/>
          </a:xfrm>
          <a:prstGeom prst="rect">
            <a:avLst/>
          </a:prstGeom>
          <a:solidFill>
            <a:srgbClr val="F1F5F9"/>
          </a:solidFill>
          <a:ln w="9144">
            <a:solidFill>
              <a:srgbClr val="1A2B4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45011"/>
            <a:ext cx="160734" cy="128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2234" y="2923580"/>
            <a:ext cx="591145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教学意义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2085249" y="2796778"/>
            <a:ext cx="6626554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完整覆盖"搭建、分析、改进、实验、汇报"全流程，与课程评分强一致</a:t>
            </a:r>
            <a:endParaRPr lang="en-US" sz="940" dirty="0"/>
          </a:p>
        </p:txBody>
      </p:sp>
      <p:sp>
        <p:nvSpPr>
          <p:cNvPr id="27" name="Shape 20"/>
          <p:cNvSpPr/>
          <p:nvPr/>
        </p:nvSpPr>
        <p:spPr>
          <a:xfrm>
            <a:off x="428625" y="3423642"/>
            <a:ext cx="8286750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D9770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2938" y="3316486"/>
            <a:ext cx="728663" cy="258961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9" name="Text 22"/>
          <p:cNvSpPr/>
          <p:nvPr/>
        </p:nvSpPr>
        <p:spPr>
          <a:xfrm>
            <a:off x="642938" y="3316486"/>
            <a:ext cx="728663" cy="258961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研究策略</a:t>
            </a:r>
            <a:endParaRPr lang="en-US" sz="885" dirty="0"/>
          </a:p>
        </p:txBody>
      </p:sp>
      <p:sp>
        <p:nvSpPr>
          <p:cNvPr id="30" name="Text 23"/>
          <p:cNvSpPr/>
          <p:nvPr/>
        </p:nvSpPr>
        <p:spPr>
          <a:xfrm>
            <a:off x="714375" y="3780830"/>
            <a:ext cx="771525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采用 </a:t>
            </a:r>
            <a:r>
              <a:rPr lang="en-US" sz="9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"中档目标"策略</a:t>
            </a:r>
            <a:r>
              <a:rPr lang="en-US" sz="105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：工具解析 + 复现实验 + 对比结论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714375" y="4038005"/>
            <a:ext cx="771525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优先保证：</a:t>
            </a:r>
            <a:r>
              <a:rPr lang="en-US" sz="9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过程可复核、结果可解释、结论可交付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36576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国内外研究现状：三大主流技术路线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2619356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2619356" cy="428625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8" name="Text 5"/>
          <p:cNvSpPr/>
          <p:nvPr/>
        </p:nvSpPr>
        <p:spPr>
          <a:xfrm>
            <a:off x="428625" y="1143000"/>
            <a:ext cx="2619356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线性松弛/边界传播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746647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1519" y="1727002"/>
            <a:ext cx="5250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代表工具</a:t>
            </a:r>
            <a:endParaRPr lang="en-US" sz="785" dirty="0"/>
          </a:p>
        </p:txBody>
      </p:sp>
      <p:sp>
        <p:nvSpPr>
          <p:cNvPr id="11" name="Text 7"/>
          <p:cNvSpPr/>
          <p:nvPr/>
        </p:nvSpPr>
        <p:spPr>
          <a:xfrm>
            <a:off x="607219" y="191452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CROWN、alpha-CROWN</a:t>
            </a:r>
            <a:endParaRPr lang="en-US" sz="83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2213837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1519" y="2194192"/>
            <a:ext cx="2964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优势</a:t>
            </a:r>
            <a:endParaRPr lang="en-US" sz="785" dirty="0"/>
          </a:p>
        </p:txBody>
      </p:sp>
      <p:sp>
        <p:nvSpPr>
          <p:cNvPr id="14" name="Text 9"/>
          <p:cNvSpPr/>
          <p:nvPr/>
        </p:nvSpPr>
        <p:spPr>
          <a:xfrm>
            <a:off x="607219" y="238171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速度快、GPU友好、扩展性好</a:t>
            </a:r>
            <a:endParaRPr lang="en-US" sz="835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681027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1519" y="2661382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局限性</a:t>
            </a:r>
            <a:endParaRPr lang="en-US" sz="785" dirty="0"/>
          </a:p>
        </p:txBody>
      </p:sp>
      <p:sp>
        <p:nvSpPr>
          <p:cNvPr id="17" name="Text 11"/>
          <p:cNvSpPr/>
          <p:nvPr/>
        </p:nvSpPr>
        <p:spPr>
          <a:xfrm>
            <a:off x="607219" y="284890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复杂样本难以直接证明</a:t>
            </a:r>
            <a:endParaRPr lang="en-US" sz="835" dirty="0"/>
          </a:p>
        </p:txBody>
      </p:sp>
      <p:sp>
        <p:nvSpPr>
          <p:cNvPr id="18" name="Shape 12"/>
          <p:cNvSpPr/>
          <p:nvPr/>
        </p:nvSpPr>
        <p:spPr>
          <a:xfrm>
            <a:off x="3262294" y="1143000"/>
            <a:ext cx="2619384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262294" y="1143000"/>
            <a:ext cx="2619384" cy="428625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0" name="Text 14"/>
          <p:cNvSpPr/>
          <p:nvPr/>
        </p:nvSpPr>
        <p:spPr>
          <a:xfrm>
            <a:off x="3262294" y="1143000"/>
            <a:ext cx="2619384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Branch-and-Bound</a:t>
            </a:r>
            <a:endParaRPr lang="en-US" sz="10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746647"/>
            <a:ext cx="114300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555188" y="1727002"/>
            <a:ext cx="5250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代表工具</a:t>
            </a:r>
            <a:endParaRPr lang="en-US" sz="785" dirty="0"/>
          </a:p>
        </p:txBody>
      </p:sp>
      <p:sp>
        <p:nvSpPr>
          <p:cNvPr id="23" name="Text 16"/>
          <p:cNvSpPr/>
          <p:nvPr/>
        </p:nvSpPr>
        <p:spPr>
          <a:xfrm>
            <a:off x="3440888" y="1914525"/>
            <a:ext cx="2262197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beta-CROWN</a:t>
            </a:r>
            <a:endParaRPr lang="en-US" sz="835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0888" y="2213837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55188" y="2194192"/>
            <a:ext cx="2964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优势</a:t>
            </a:r>
            <a:endParaRPr lang="en-US" sz="785" dirty="0"/>
          </a:p>
        </p:txBody>
      </p:sp>
      <p:sp>
        <p:nvSpPr>
          <p:cNvPr id="26" name="Text 18"/>
          <p:cNvSpPr/>
          <p:nvPr/>
        </p:nvSpPr>
        <p:spPr>
          <a:xfrm>
            <a:off x="3440888" y="2381715"/>
            <a:ext cx="2262197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证明能力强，可得确定结论</a:t>
            </a:r>
            <a:endParaRPr lang="en-US" sz="835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0888" y="2681027"/>
            <a:ext cx="114300" cy="114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555188" y="2661382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局限性</a:t>
            </a:r>
            <a:endParaRPr lang="en-US" sz="785" dirty="0"/>
          </a:p>
        </p:txBody>
      </p:sp>
      <p:sp>
        <p:nvSpPr>
          <p:cNvPr id="29" name="Text 20"/>
          <p:cNvSpPr/>
          <p:nvPr/>
        </p:nvSpPr>
        <p:spPr>
          <a:xfrm>
            <a:off x="3440888" y="2848905"/>
            <a:ext cx="2262197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计算代价随分支增长</a:t>
            </a:r>
            <a:endParaRPr lang="en-US" sz="835" dirty="0"/>
          </a:p>
        </p:txBody>
      </p:sp>
      <p:sp>
        <p:nvSpPr>
          <p:cNvPr id="30" name="Shape 21"/>
          <p:cNvSpPr/>
          <p:nvPr/>
        </p:nvSpPr>
        <p:spPr>
          <a:xfrm>
            <a:off x="6095991" y="1143000"/>
            <a:ext cx="2619356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095991" y="1143000"/>
            <a:ext cx="2619356" cy="428625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32" name="Text 23"/>
          <p:cNvSpPr/>
          <p:nvPr/>
        </p:nvSpPr>
        <p:spPr>
          <a:xfrm>
            <a:off x="6095991" y="1143000"/>
            <a:ext cx="2619356" cy="428625"/>
          </a:xfrm>
          <a:prstGeom prst="rect">
            <a:avLst/>
          </a:prstGeom>
          <a:noFill/>
        </p:spPr>
        <p:txBody>
          <a:bodyPr wrap="square" lIns="0" tIns="127508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SMT/MIP 精确求解</a:t>
            </a:r>
            <a:endParaRPr lang="en-US" sz="10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4584" y="1746647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388884" y="1727002"/>
            <a:ext cx="5250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代表工具</a:t>
            </a:r>
            <a:endParaRPr lang="en-US" sz="785" dirty="0"/>
          </a:p>
        </p:txBody>
      </p:sp>
      <p:sp>
        <p:nvSpPr>
          <p:cNvPr id="35" name="Text 25"/>
          <p:cNvSpPr/>
          <p:nvPr/>
        </p:nvSpPr>
        <p:spPr>
          <a:xfrm>
            <a:off x="6274584" y="191452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Marabou、MIP求解器</a:t>
            </a:r>
            <a:endParaRPr lang="en-US" sz="835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84" y="2213837"/>
            <a:ext cx="114300" cy="1143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388884" y="2194192"/>
            <a:ext cx="2964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优势</a:t>
            </a:r>
            <a:endParaRPr lang="en-US" sz="785" dirty="0"/>
          </a:p>
        </p:txBody>
      </p:sp>
      <p:sp>
        <p:nvSpPr>
          <p:cNvPr id="38" name="Text 27"/>
          <p:cNvSpPr/>
          <p:nvPr/>
        </p:nvSpPr>
        <p:spPr>
          <a:xfrm>
            <a:off x="6274584" y="238171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理论精确性强</a:t>
            </a:r>
            <a:endParaRPr lang="en-US" sz="835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4584" y="2681027"/>
            <a:ext cx="114300" cy="11430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388884" y="2661382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局限性</a:t>
            </a:r>
            <a:endParaRPr lang="en-US" sz="785" dirty="0"/>
          </a:p>
        </p:txBody>
      </p:sp>
      <p:sp>
        <p:nvSpPr>
          <p:cNvPr id="41" name="Text 29"/>
          <p:cNvSpPr/>
          <p:nvPr/>
        </p:nvSpPr>
        <p:spPr>
          <a:xfrm>
            <a:off x="6274584" y="2848905"/>
            <a:ext cx="2262169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大规模模型成本极高</a:t>
            </a:r>
            <a:endParaRPr lang="en-US" sz="835" dirty="0"/>
          </a:p>
        </p:txBody>
      </p:sp>
      <p:sp>
        <p:nvSpPr>
          <p:cNvPr id="42" name="Shape 30"/>
          <p:cNvSpPr/>
          <p:nvPr/>
        </p:nvSpPr>
        <p:spPr>
          <a:xfrm>
            <a:off x="428625" y="3714750"/>
            <a:ext cx="828675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D97706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642938" y="3586163"/>
            <a:ext cx="1057275" cy="2571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4" name="Text 32"/>
          <p:cNvSpPr/>
          <p:nvPr/>
        </p:nvSpPr>
        <p:spPr>
          <a:xfrm>
            <a:off x="642938" y="3586163"/>
            <a:ext cx="1057275" cy="257175"/>
          </a:xfrm>
          <a:prstGeom prst="rect">
            <a:avLst/>
          </a:prstGeom>
          <a:noFill/>
        </p:spPr>
        <p:txBody>
          <a:bodyPr wrap="square" lIns="170053" tIns="42545" rIns="170053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研究趋势收敛</a:t>
            </a:r>
            <a:endParaRPr lang="en-US" sz="885" dirty="0"/>
          </a:p>
        </p:txBody>
      </p:sp>
      <p:sp>
        <p:nvSpPr>
          <p:cNvPr id="45" name="Text 33"/>
          <p:cNvSpPr/>
          <p:nvPr/>
        </p:nvSpPr>
        <p:spPr>
          <a:xfrm>
            <a:off x="714375" y="4000500"/>
            <a:ext cx="7715250" cy="205718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近年方法从"高精度但低扩展"向 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"松弛传播 + 分支定界"混合路线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收敛</a:t>
            </a:r>
            <a:endParaRPr lang="en-US" sz="940" dirty="0"/>
          </a:p>
        </p:txBody>
      </p:sp>
      <p:sp>
        <p:nvSpPr>
          <p:cNvPr id="46" name="Text 34"/>
          <p:cNvSpPr/>
          <p:nvPr/>
        </p:nvSpPr>
        <p:spPr>
          <a:xfrm>
            <a:off x="714375" y="4313374"/>
            <a:ext cx="7715250" cy="205718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核心驱动：图像任务维度高 → SMT/MIP遇规模瓶颈；线性松弛具备GPU友好性</a:t>
            </a:r>
            <a:endParaRPr lang="en-US" sz="940" dirty="0"/>
          </a:p>
        </p:txBody>
      </p:sp>
      <p:sp>
        <p:nvSpPr>
          <p:cNvPr id="47" name="Text 35"/>
          <p:cNvSpPr/>
          <p:nvPr/>
        </p:nvSpPr>
        <p:spPr>
          <a:xfrm>
            <a:off x="714375" y="4000500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48" name="Text 36"/>
          <p:cNvSpPr/>
          <p:nvPr/>
        </p:nvSpPr>
        <p:spPr>
          <a:xfrm>
            <a:off x="714375" y="4313374"/>
            <a:ext cx="15359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4464844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工具选型：alpha-beta-CROWN 的四大优势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625" y="1143000"/>
            <a:ext cx="12001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主平台选型理由</a:t>
            </a:r>
            <a:endParaRPr lang="en-US" sz="1195" dirty="0"/>
          </a:p>
        </p:txBody>
      </p:sp>
      <p:sp>
        <p:nvSpPr>
          <p:cNvPr id="7" name="Shape 4"/>
          <p:cNvSpPr/>
          <p:nvPr/>
        </p:nvSpPr>
        <p:spPr>
          <a:xfrm>
            <a:off x="428625" y="1571625"/>
            <a:ext cx="2300874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37717"/>
            <a:ext cx="214313" cy="214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2107406"/>
            <a:ext cx="2015124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统一框架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571500" y="2393156"/>
            <a:ext cx="2015124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同时支持</a:t>
            </a: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不完整验证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（线性松弛）与</a:t>
            </a: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完</a:t>
            </a: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整验证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（BaB），可在同一框架下完成方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法对比。</a:t>
            </a:r>
            <a:endParaRPr lang="en-US" sz="835" dirty="0"/>
          </a:p>
        </p:txBody>
      </p:sp>
      <p:sp>
        <p:nvSpPr>
          <p:cNvPr id="11" name="Shape 7"/>
          <p:cNvSpPr/>
          <p:nvPr/>
        </p:nvSpPr>
        <p:spPr>
          <a:xfrm>
            <a:off x="2872374" y="1571625"/>
            <a:ext cx="2300874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249" y="1737717"/>
            <a:ext cx="214313" cy="214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15249" y="2107406"/>
            <a:ext cx="2015124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GPU加速</a:t>
            </a:r>
            <a:endParaRPr lang="en-US" sz="985" dirty="0"/>
          </a:p>
        </p:txBody>
      </p:sp>
      <p:sp>
        <p:nvSpPr>
          <p:cNvPr id="14" name="Text 9"/>
          <p:cNvSpPr/>
          <p:nvPr/>
        </p:nvSpPr>
        <p:spPr>
          <a:xfrm>
            <a:off x="3015249" y="2393156"/>
            <a:ext cx="2015124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具备显著的 GPU 加速能力，适合在有限时间内完成多个扰动半径与策略组合实验。</a:t>
            </a:r>
            <a:endParaRPr lang="en-US" sz="835" dirty="0"/>
          </a:p>
        </p:txBody>
      </p:sp>
      <p:sp>
        <p:nvSpPr>
          <p:cNvPr id="15" name="Shape 10"/>
          <p:cNvSpPr/>
          <p:nvPr/>
        </p:nvSpPr>
        <p:spPr>
          <a:xfrm>
            <a:off x="428625" y="3143250"/>
            <a:ext cx="2300874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09342"/>
            <a:ext cx="241102" cy="2143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3679031"/>
            <a:ext cx="2015124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配置清晰</a:t>
            </a:r>
            <a:endParaRPr lang="en-US" sz="985" dirty="0"/>
          </a:p>
        </p:txBody>
      </p:sp>
      <p:sp>
        <p:nvSpPr>
          <p:cNvPr id="18" name="Text 12"/>
          <p:cNvSpPr/>
          <p:nvPr/>
        </p:nvSpPr>
        <p:spPr>
          <a:xfrm>
            <a:off x="571500" y="3964781"/>
            <a:ext cx="2015124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提供 </a:t>
            </a: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CLI 与 API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双入口，便于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从"配置复现"无缝扩展到"程序化批量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实验"。</a:t>
            </a:r>
            <a:endParaRPr lang="en-US" sz="835" dirty="0"/>
          </a:p>
        </p:txBody>
      </p:sp>
      <p:sp>
        <p:nvSpPr>
          <p:cNvPr id="19" name="Shape 13"/>
          <p:cNvSpPr/>
          <p:nvPr/>
        </p:nvSpPr>
        <p:spPr>
          <a:xfrm>
            <a:off x="2872374" y="3143250"/>
            <a:ext cx="2300874" cy="1428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5249" y="3309342"/>
            <a:ext cx="267891" cy="2143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015249" y="3679031"/>
            <a:ext cx="2015124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ReLU支持成熟</a:t>
            </a:r>
            <a:endParaRPr lang="en-US" sz="985" dirty="0"/>
          </a:p>
        </p:txBody>
      </p:sp>
      <p:sp>
        <p:nvSpPr>
          <p:cNvPr id="22" name="Text 15"/>
          <p:cNvSpPr/>
          <p:nvPr/>
        </p:nvSpPr>
        <p:spPr>
          <a:xfrm>
            <a:off x="3015249" y="3964781"/>
            <a:ext cx="2015124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对 ReLU 全连接网络支持完善，配置范式规范，便于课程成员分工协作。</a:t>
            </a:r>
            <a:endParaRPr lang="en-US" sz="835" dirty="0"/>
          </a:p>
        </p:txBody>
      </p:sp>
      <p:sp>
        <p:nvSpPr>
          <p:cNvPr id="23" name="Text 16"/>
          <p:cNvSpPr/>
          <p:nvPr/>
        </p:nvSpPr>
        <p:spPr>
          <a:xfrm>
            <a:off x="5387560" y="1143000"/>
            <a:ext cx="102870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工具定位分工</a:t>
            </a:r>
            <a:endParaRPr lang="en-US" sz="1195" dirty="0"/>
          </a:p>
        </p:txBody>
      </p:sp>
      <p:sp>
        <p:nvSpPr>
          <p:cNvPr id="24" name="Shape 17"/>
          <p:cNvSpPr/>
          <p:nvPr/>
        </p:nvSpPr>
        <p:spPr>
          <a:xfrm>
            <a:off x="5387560" y="1571625"/>
            <a:ext cx="3327788" cy="9501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18"/>
          <p:cNvSpPr/>
          <p:nvPr/>
        </p:nvSpPr>
        <p:spPr>
          <a:xfrm>
            <a:off x="5387560" y="1571625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6" name="Shape 19"/>
          <p:cNvSpPr/>
          <p:nvPr/>
        </p:nvSpPr>
        <p:spPr>
          <a:xfrm>
            <a:off x="8701060" y="1571625"/>
            <a:ext cx="14288" cy="950119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7" name="Shape 20"/>
          <p:cNvSpPr/>
          <p:nvPr/>
        </p:nvSpPr>
        <p:spPr>
          <a:xfrm>
            <a:off x="5387560" y="2507456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8" name="Shape 21"/>
          <p:cNvSpPr/>
          <p:nvPr/>
        </p:nvSpPr>
        <p:spPr>
          <a:xfrm>
            <a:off x="5387560" y="1571625"/>
            <a:ext cx="57150" cy="950119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29" name="Text 22"/>
          <p:cNvSpPr/>
          <p:nvPr/>
        </p:nvSpPr>
        <p:spPr>
          <a:xfrm>
            <a:off x="5530435" y="1714500"/>
            <a:ext cx="304203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alpha-beta-CROWN</a:t>
            </a:r>
            <a:endParaRPr lang="en-US" sz="1090" dirty="0"/>
          </a:p>
        </p:txBody>
      </p:sp>
      <p:sp>
        <p:nvSpPr>
          <p:cNvPr id="30" name="Text 23"/>
          <p:cNvSpPr/>
          <p:nvPr/>
        </p:nvSpPr>
        <p:spPr>
          <a:xfrm>
            <a:off x="5530435" y="2000250"/>
            <a:ext cx="30420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主实验平台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负责产出可规模化对比结果，执行核心验证任务。</a:t>
            </a:r>
            <a:endParaRPr lang="en-US" sz="835" dirty="0"/>
          </a:p>
        </p:txBody>
      </p:sp>
      <p:sp>
        <p:nvSpPr>
          <p:cNvPr id="31" name="Shape 24"/>
          <p:cNvSpPr/>
          <p:nvPr/>
        </p:nvSpPr>
        <p:spPr>
          <a:xfrm>
            <a:off x="5387560" y="2664619"/>
            <a:ext cx="3327788" cy="9501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25"/>
          <p:cNvSpPr/>
          <p:nvPr/>
        </p:nvSpPr>
        <p:spPr>
          <a:xfrm>
            <a:off x="5387560" y="2664619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33" name="Shape 26"/>
          <p:cNvSpPr/>
          <p:nvPr/>
        </p:nvSpPr>
        <p:spPr>
          <a:xfrm>
            <a:off x="8701060" y="2664619"/>
            <a:ext cx="14288" cy="950119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34" name="Shape 27"/>
          <p:cNvSpPr/>
          <p:nvPr/>
        </p:nvSpPr>
        <p:spPr>
          <a:xfrm>
            <a:off x="5387560" y="3600450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35" name="Shape 28"/>
          <p:cNvSpPr/>
          <p:nvPr/>
        </p:nvSpPr>
        <p:spPr>
          <a:xfrm>
            <a:off x="5387560" y="2664619"/>
            <a:ext cx="57150" cy="950119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36" name="Text 29"/>
          <p:cNvSpPr/>
          <p:nvPr/>
        </p:nvSpPr>
        <p:spPr>
          <a:xfrm>
            <a:off x="5530435" y="2807494"/>
            <a:ext cx="304203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Marabou</a:t>
            </a:r>
            <a:endParaRPr lang="en-US" sz="1090" dirty="0"/>
          </a:p>
        </p:txBody>
      </p:sp>
      <p:sp>
        <p:nvSpPr>
          <p:cNvPr id="37" name="Text 30"/>
          <p:cNvSpPr/>
          <p:nvPr/>
        </p:nvSpPr>
        <p:spPr>
          <a:xfrm>
            <a:off x="5530435" y="3093244"/>
            <a:ext cx="304203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方法学对照参照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用于说明 SMT 方向在解释性与完整性上的优势及其规模限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制。</a:t>
            </a:r>
            <a:endParaRPr lang="en-US" sz="835" dirty="0"/>
          </a:p>
        </p:txBody>
      </p:sp>
      <p:sp>
        <p:nvSpPr>
          <p:cNvPr id="38" name="Shape 31"/>
          <p:cNvSpPr/>
          <p:nvPr/>
        </p:nvSpPr>
        <p:spPr>
          <a:xfrm>
            <a:off x="5387560" y="3757613"/>
            <a:ext cx="3327788" cy="95011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Shape 32"/>
          <p:cNvSpPr/>
          <p:nvPr/>
        </p:nvSpPr>
        <p:spPr>
          <a:xfrm>
            <a:off x="5387560" y="3757613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40" name="Shape 33"/>
          <p:cNvSpPr/>
          <p:nvPr/>
        </p:nvSpPr>
        <p:spPr>
          <a:xfrm>
            <a:off x="8701060" y="3757613"/>
            <a:ext cx="14288" cy="950119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41" name="Shape 34"/>
          <p:cNvSpPr/>
          <p:nvPr/>
        </p:nvSpPr>
        <p:spPr>
          <a:xfrm>
            <a:off x="5387560" y="4693444"/>
            <a:ext cx="3327788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42" name="Shape 35"/>
          <p:cNvSpPr/>
          <p:nvPr/>
        </p:nvSpPr>
        <p:spPr>
          <a:xfrm>
            <a:off x="5387560" y="3757613"/>
            <a:ext cx="57150" cy="950119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43" name="Text 36"/>
          <p:cNvSpPr/>
          <p:nvPr/>
        </p:nvSpPr>
        <p:spPr>
          <a:xfrm>
            <a:off x="5530435" y="3900488"/>
            <a:ext cx="3042038" cy="2143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MIP 路径</a:t>
            </a:r>
            <a:endParaRPr lang="en-US" sz="1090" dirty="0"/>
          </a:p>
        </p:txBody>
      </p:sp>
      <p:sp>
        <p:nvSpPr>
          <p:cNvPr id="44" name="Text 37"/>
          <p:cNvSpPr/>
          <p:nvPr/>
        </p:nvSpPr>
        <p:spPr>
          <a:xfrm>
            <a:off x="5530435" y="4186238"/>
            <a:ext cx="304203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可选精确增强手段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在主平台内作为补充，解释"证明能力与计算成本"的典型</a:t>
            </a: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权衡。</a:t>
            </a:r>
            <a:endParaRPr lang="en-US" sz="83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38862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技术路线：验证流水线与核心实验设计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3286125" cy="46255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88554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544" y="1250156"/>
            <a:ext cx="18859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系统架构（四层流水线）</a:t>
            </a:r>
            <a:endParaRPr lang="en-US" sz="1270" dirty="0"/>
          </a:p>
        </p:txBody>
      </p:sp>
      <p:sp>
        <p:nvSpPr>
          <p:cNvPr id="9" name="Shape 5"/>
          <p:cNvSpPr/>
          <p:nvPr/>
        </p:nvSpPr>
        <p:spPr>
          <a:xfrm>
            <a:off x="428625" y="1748433"/>
            <a:ext cx="3286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369A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1500" y="1903809"/>
            <a:ext cx="30003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[配置层]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571500" y="2127052"/>
            <a:ext cx="30003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baseline / auto / kfsb 三套对比配置</a:t>
            </a:r>
            <a:endParaRPr lang="en-US" sz="72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94" y="2377083"/>
            <a:ext cx="128588" cy="1714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8625" y="2605683"/>
            <a:ext cx="3286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369A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71500" y="2767310"/>
            <a:ext cx="30003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[执行层]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571500" y="2990552"/>
            <a:ext cx="30003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alpha-beta-CROWN CLI</a:t>
            </a:r>
            <a:endParaRPr lang="en-US" sz="725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94" y="3234333"/>
            <a:ext cx="128588" cy="17145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28625" y="3462933"/>
            <a:ext cx="3286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369A1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71500" y="3618309"/>
            <a:ext cx="30003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[归档层]</a:t>
            </a:r>
            <a:endParaRPr lang="en-US" sz="885" dirty="0"/>
          </a:p>
        </p:txBody>
      </p:sp>
      <p:sp>
        <p:nvSpPr>
          <p:cNvPr id="19" name="Text 13"/>
          <p:cNvSpPr/>
          <p:nvPr/>
        </p:nvSpPr>
        <p:spPr>
          <a:xfrm>
            <a:off x="571500" y="3841552"/>
            <a:ext cx="30003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日志归档 + 策略对比 CSV 自动生成</a:t>
            </a:r>
            <a:endParaRPr lang="en-US" sz="725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94" y="4091583"/>
            <a:ext cx="128588" cy="17145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28625" y="4320183"/>
            <a:ext cx="328612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0369A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71500" y="4475559"/>
            <a:ext cx="3000375" cy="1875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[分析层]</a:t>
            </a:r>
            <a:endParaRPr lang="en-US" sz="885" dirty="0"/>
          </a:p>
        </p:txBody>
      </p:sp>
      <p:sp>
        <p:nvSpPr>
          <p:cNvPr id="23" name="Text 16"/>
          <p:cNvSpPr/>
          <p:nvPr/>
        </p:nvSpPr>
        <p:spPr>
          <a:xfrm>
            <a:off x="571500" y="4698802"/>
            <a:ext cx="3000375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图表生成 + 阶段结论提炼</a:t>
            </a:r>
            <a:endParaRPr lang="en-US" sz="725" dirty="0"/>
          </a:p>
        </p:txBody>
      </p:sp>
      <p:sp>
        <p:nvSpPr>
          <p:cNvPr id="24" name="Shape 17"/>
          <p:cNvSpPr/>
          <p:nvPr/>
        </p:nvSpPr>
        <p:spPr>
          <a:xfrm>
            <a:off x="4000500" y="1143000"/>
            <a:ext cx="4714875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000500" y="1143000"/>
            <a:ext cx="4714875" cy="46255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1288554"/>
            <a:ext cx="171450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93419" y="1250156"/>
            <a:ext cx="10287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核心验证原理</a:t>
            </a:r>
            <a:endParaRPr lang="en-US" sz="1270" dirty="0"/>
          </a:p>
        </p:txBody>
      </p:sp>
      <p:sp>
        <p:nvSpPr>
          <p:cNvPr id="28" name="Shape 20"/>
          <p:cNvSpPr/>
          <p:nvPr/>
        </p:nvSpPr>
        <p:spPr>
          <a:xfrm>
            <a:off x="4286250" y="1891308"/>
            <a:ext cx="4143375" cy="78581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9" name="Shape 21"/>
          <p:cNvSpPr/>
          <p:nvPr/>
        </p:nvSpPr>
        <p:spPr>
          <a:xfrm>
            <a:off x="4286250" y="1891308"/>
            <a:ext cx="28575" cy="785813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Text 22"/>
          <p:cNvSpPr/>
          <p:nvPr/>
        </p:nvSpPr>
        <p:spPr>
          <a:xfrm>
            <a:off x="4429125" y="1998464"/>
            <a:ext cx="400050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线性松弛（不完整验证）</a:t>
            </a:r>
            <a:endParaRPr lang="en-US" sz="985" dirty="0"/>
          </a:p>
        </p:txBody>
      </p:sp>
      <p:sp>
        <p:nvSpPr>
          <p:cNvPr id="31" name="Text 23"/>
          <p:cNvSpPr/>
          <p:nvPr/>
        </p:nvSpPr>
        <p:spPr>
          <a:xfrm>
            <a:off x="4429125" y="2327077"/>
            <a:ext cx="4000500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通过 CROWN/alpha-CROWN 快速传播边界，给出松弛证明。</a:t>
            </a:r>
            <a:endParaRPr lang="en-US" sz="940" dirty="0"/>
          </a:p>
        </p:txBody>
      </p:sp>
      <p:sp>
        <p:nvSpPr>
          <p:cNvPr id="32" name="Shape 24"/>
          <p:cNvSpPr/>
          <p:nvPr/>
        </p:nvSpPr>
        <p:spPr>
          <a:xfrm>
            <a:off x="4286250" y="2891433"/>
            <a:ext cx="4143375" cy="78581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3" name="Shape 25"/>
          <p:cNvSpPr/>
          <p:nvPr/>
        </p:nvSpPr>
        <p:spPr>
          <a:xfrm>
            <a:off x="4286250" y="2891433"/>
            <a:ext cx="28575" cy="785813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4" name="Text 26"/>
          <p:cNvSpPr/>
          <p:nvPr/>
        </p:nvSpPr>
        <p:spPr>
          <a:xfrm>
            <a:off x="4429125" y="2998589"/>
            <a:ext cx="4000500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Branch-and-Bound（完整验证）</a:t>
            </a:r>
            <a:endParaRPr lang="en-US" sz="985" dirty="0"/>
          </a:p>
        </p:txBody>
      </p:sp>
      <p:sp>
        <p:nvSpPr>
          <p:cNvPr id="35" name="Text 27"/>
          <p:cNvSpPr/>
          <p:nvPr/>
        </p:nvSpPr>
        <p:spPr>
          <a:xfrm>
            <a:off x="4429125" y="3327202"/>
            <a:ext cx="4000500" cy="23144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对松弛不够紧的神经元进行分支，逐步收缩不确定区域。</a:t>
            </a:r>
            <a:endParaRPr lang="en-US" sz="940" dirty="0"/>
          </a:p>
        </p:txBody>
      </p:sp>
      <p:sp>
        <p:nvSpPr>
          <p:cNvPr id="36" name="Shape 28"/>
          <p:cNvSpPr/>
          <p:nvPr/>
        </p:nvSpPr>
        <p:spPr>
          <a:xfrm>
            <a:off x="4286250" y="3891558"/>
            <a:ext cx="4143375" cy="57150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7" name="Text 29"/>
          <p:cNvSpPr/>
          <p:nvPr/>
        </p:nvSpPr>
        <p:spPr>
          <a:xfrm>
            <a:off x="4429125" y="4025168"/>
            <a:ext cx="507206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关键参数：</a:t>
            </a:r>
            <a:endParaRPr lang="en-US" sz="835" dirty="0"/>
          </a:p>
        </p:txBody>
      </p:sp>
      <p:sp>
        <p:nvSpPr>
          <p:cNvPr id="38" name="Text 30"/>
          <p:cNvSpPr/>
          <p:nvPr/>
        </p:nvSpPr>
        <p:spPr>
          <a:xfrm>
            <a:off x="4936331" y="4025168"/>
            <a:ext cx="3493294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35" dirty="0">
                <a:solidFill>
                  <a:srgbClr val="E2E8F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branching.method, branching.candidates, branching.reduceop</a:t>
            </a:r>
            <a:endParaRPr lang="en-US" sz="83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405765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初步实验结果：100样本下策略差异显现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8286750" cy="2021681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8286750" cy="350044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6584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5813" y="1214438"/>
            <a:ext cx="293549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关键实验结论（固定 ε=0.02，MNIST 0-100）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8625" y="1496616"/>
            <a:ext cx="1680595" cy="4089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7"/>
          <p:cNvSpPr/>
          <p:nvPr/>
        </p:nvSpPr>
        <p:spPr>
          <a:xfrm>
            <a:off x="428625" y="1496616"/>
            <a:ext cx="1680595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2" name="Shape 8"/>
          <p:cNvSpPr/>
          <p:nvPr/>
        </p:nvSpPr>
        <p:spPr>
          <a:xfrm>
            <a:off x="2102076" y="1496616"/>
            <a:ext cx="7144" cy="408980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3" name="Shape 9"/>
          <p:cNvSpPr/>
          <p:nvPr/>
        </p:nvSpPr>
        <p:spPr>
          <a:xfrm>
            <a:off x="428625" y="1898452"/>
            <a:ext cx="1680595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4" name="Text 10"/>
          <p:cNvSpPr/>
          <p:nvPr/>
        </p:nvSpPr>
        <p:spPr>
          <a:xfrm>
            <a:off x="428625" y="1496616"/>
            <a:ext cx="1680595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策略</a:t>
            </a:r>
            <a:endParaRPr lang="en-US" sz="885" dirty="0"/>
          </a:p>
        </p:txBody>
      </p:sp>
      <p:sp>
        <p:nvSpPr>
          <p:cNvPr id="15" name="Shape 11"/>
          <p:cNvSpPr/>
          <p:nvPr/>
        </p:nvSpPr>
        <p:spPr>
          <a:xfrm>
            <a:off x="2110560" y="1496616"/>
            <a:ext cx="2961670" cy="4089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6" name="Shape 12"/>
          <p:cNvSpPr/>
          <p:nvPr/>
        </p:nvSpPr>
        <p:spPr>
          <a:xfrm>
            <a:off x="2110560" y="1496616"/>
            <a:ext cx="2961670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7" name="Shape 13"/>
          <p:cNvSpPr/>
          <p:nvPr/>
        </p:nvSpPr>
        <p:spPr>
          <a:xfrm>
            <a:off x="2110560" y="1898452"/>
            <a:ext cx="2961670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8" name="Text 14"/>
          <p:cNvSpPr/>
          <p:nvPr/>
        </p:nvSpPr>
        <p:spPr>
          <a:xfrm>
            <a:off x="2110560" y="1496616"/>
            <a:ext cx="2961670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Verified Accuracy</a:t>
            </a:r>
            <a:endParaRPr lang="en-US" sz="885" dirty="0"/>
          </a:p>
        </p:txBody>
      </p:sp>
      <p:sp>
        <p:nvSpPr>
          <p:cNvPr id="19" name="Shape 15"/>
          <p:cNvSpPr/>
          <p:nvPr/>
        </p:nvSpPr>
        <p:spPr>
          <a:xfrm>
            <a:off x="5072230" y="1496616"/>
            <a:ext cx="2153952" cy="4089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0" name="Shape 16"/>
          <p:cNvSpPr/>
          <p:nvPr/>
        </p:nvSpPr>
        <p:spPr>
          <a:xfrm>
            <a:off x="5072230" y="1496616"/>
            <a:ext cx="2153952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1" name="Shape 17"/>
          <p:cNvSpPr/>
          <p:nvPr/>
        </p:nvSpPr>
        <p:spPr>
          <a:xfrm>
            <a:off x="5072230" y="1898452"/>
            <a:ext cx="2153952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2" name="Text 18"/>
          <p:cNvSpPr/>
          <p:nvPr/>
        </p:nvSpPr>
        <p:spPr>
          <a:xfrm>
            <a:off x="5072230" y="1496616"/>
            <a:ext cx="2153952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Timeout 数量</a:t>
            </a:r>
            <a:endParaRPr lang="en-US" sz="885" dirty="0"/>
          </a:p>
        </p:txBody>
      </p:sp>
      <p:sp>
        <p:nvSpPr>
          <p:cNvPr id="23" name="Shape 19"/>
          <p:cNvSpPr/>
          <p:nvPr/>
        </p:nvSpPr>
        <p:spPr>
          <a:xfrm>
            <a:off x="7226182" y="1496616"/>
            <a:ext cx="1489193" cy="40898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Shape 20"/>
          <p:cNvSpPr/>
          <p:nvPr/>
        </p:nvSpPr>
        <p:spPr>
          <a:xfrm>
            <a:off x="7226182" y="1496616"/>
            <a:ext cx="148919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5" name="Shape 21"/>
          <p:cNvSpPr/>
          <p:nvPr/>
        </p:nvSpPr>
        <p:spPr>
          <a:xfrm>
            <a:off x="7226182" y="1898452"/>
            <a:ext cx="148919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6" name="Text 22"/>
          <p:cNvSpPr/>
          <p:nvPr/>
        </p:nvSpPr>
        <p:spPr>
          <a:xfrm>
            <a:off x="7226182" y="1496616"/>
            <a:ext cx="1489193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平均耗时</a:t>
            </a:r>
            <a:endParaRPr lang="en-US" sz="885" dirty="0"/>
          </a:p>
        </p:txBody>
      </p:sp>
      <p:sp>
        <p:nvSpPr>
          <p:cNvPr id="27" name="Text 23"/>
          <p:cNvSpPr/>
          <p:nvPr/>
        </p:nvSpPr>
        <p:spPr>
          <a:xfrm>
            <a:off x="428625" y="1898452"/>
            <a:ext cx="1681935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baseline</a:t>
            </a:r>
            <a:endParaRPr lang="en-US" sz="940" dirty="0"/>
          </a:p>
        </p:txBody>
      </p:sp>
      <p:sp>
        <p:nvSpPr>
          <p:cNvPr id="28" name="Text 24"/>
          <p:cNvSpPr/>
          <p:nvPr/>
        </p:nvSpPr>
        <p:spPr>
          <a:xfrm>
            <a:off x="2110560" y="1898452"/>
            <a:ext cx="2961670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91.0%</a:t>
            </a:r>
            <a:endParaRPr lang="en-US" sz="940" dirty="0"/>
          </a:p>
        </p:txBody>
      </p:sp>
      <p:sp>
        <p:nvSpPr>
          <p:cNvPr id="29" name="Text 25"/>
          <p:cNvSpPr/>
          <p:nvPr/>
        </p:nvSpPr>
        <p:spPr>
          <a:xfrm>
            <a:off x="5072230" y="1898452"/>
            <a:ext cx="2153952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940" dirty="0"/>
          </a:p>
        </p:txBody>
      </p:sp>
      <p:sp>
        <p:nvSpPr>
          <p:cNvPr id="30" name="Text 26"/>
          <p:cNvSpPr/>
          <p:nvPr/>
        </p:nvSpPr>
        <p:spPr>
          <a:xfrm>
            <a:off x="7226182" y="1898452"/>
            <a:ext cx="1489193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较高</a:t>
            </a:r>
            <a:endParaRPr lang="en-US" sz="940" dirty="0"/>
          </a:p>
        </p:txBody>
      </p:sp>
      <p:sp>
        <p:nvSpPr>
          <p:cNvPr id="31" name="Text 27"/>
          <p:cNvSpPr/>
          <p:nvPr/>
        </p:nvSpPr>
        <p:spPr>
          <a:xfrm>
            <a:off x="428625" y="2307431"/>
            <a:ext cx="1681935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auto</a:t>
            </a:r>
            <a:endParaRPr lang="en-US" sz="940" dirty="0"/>
          </a:p>
        </p:txBody>
      </p:sp>
      <p:sp>
        <p:nvSpPr>
          <p:cNvPr id="32" name="Text 28"/>
          <p:cNvSpPr/>
          <p:nvPr/>
        </p:nvSpPr>
        <p:spPr>
          <a:xfrm>
            <a:off x="2110560" y="2307431"/>
            <a:ext cx="2961670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91.0%</a:t>
            </a:r>
            <a:endParaRPr lang="en-US" sz="940" dirty="0"/>
          </a:p>
        </p:txBody>
      </p:sp>
      <p:sp>
        <p:nvSpPr>
          <p:cNvPr id="33" name="Text 29"/>
          <p:cNvSpPr/>
          <p:nvPr/>
        </p:nvSpPr>
        <p:spPr>
          <a:xfrm>
            <a:off x="5072230" y="2307431"/>
            <a:ext cx="2153952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940" dirty="0"/>
          </a:p>
        </p:txBody>
      </p:sp>
      <p:sp>
        <p:nvSpPr>
          <p:cNvPr id="34" name="Text 30"/>
          <p:cNvSpPr/>
          <p:nvPr/>
        </p:nvSpPr>
        <p:spPr>
          <a:xfrm>
            <a:off x="7226182" y="2307431"/>
            <a:ext cx="1489193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最高</a:t>
            </a:r>
            <a:endParaRPr lang="en-US" sz="940" dirty="0"/>
          </a:p>
        </p:txBody>
      </p:sp>
      <p:sp>
        <p:nvSpPr>
          <p:cNvPr id="35" name="Shape 31"/>
          <p:cNvSpPr/>
          <p:nvPr/>
        </p:nvSpPr>
        <p:spPr>
          <a:xfrm>
            <a:off x="428625" y="2716411"/>
            <a:ext cx="8286750" cy="408980"/>
          </a:xfrm>
          <a:prstGeom prst="rect">
            <a:avLst/>
          </a:prstGeom>
          <a:solidFill>
            <a:srgbClr val="0369A1">
              <a:alpha val="10000"/>
            </a:srgbClr>
          </a:solidFill>
        </p:spPr>
      </p:sp>
      <p:sp>
        <p:nvSpPr>
          <p:cNvPr id="36" name="Text 32"/>
          <p:cNvSpPr/>
          <p:nvPr/>
        </p:nvSpPr>
        <p:spPr>
          <a:xfrm>
            <a:off x="428625" y="2716411"/>
            <a:ext cx="1681935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2110560" y="2716411"/>
            <a:ext cx="2961670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92.0%</a:t>
            </a:r>
            <a:endParaRPr lang="en-US" sz="885" dirty="0"/>
          </a:p>
        </p:txBody>
      </p:sp>
      <p:sp>
        <p:nvSpPr>
          <p:cNvPr id="38" name="Text 34"/>
          <p:cNvSpPr/>
          <p:nvPr/>
        </p:nvSpPr>
        <p:spPr>
          <a:xfrm>
            <a:off x="5072230" y="2716411"/>
            <a:ext cx="2153952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885" dirty="0"/>
          </a:p>
        </p:txBody>
      </p:sp>
      <p:sp>
        <p:nvSpPr>
          <p:cNvPr id="39" name="Text 35"/>
          <p:cNvSpPr/>
          <p:nvPr/>
        </p:nvSpPr>
        <p:spPr>
          <a:xfrm>
            <a:off x="7226182" y="2716411"/>
            <a:ext cx="1489193" cy="408980"/>
          </a:xfrm>
          <a:prstGeom prst="rect">
            <a:avLst/>
          </a:prstGeom>
          <a:noFill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最低</a:t>
            </a:r>
            <a:endParaRPr lang="en-US" sz="885" dirty="0"/>
          </a:p>
        </p:txBody>
      </p:sp>
      <p:sp>
        <p:nvSpPr>
          <p:cNvPr id="40" name="Shape 36"/>
          <p:cNvSpPr/>
          <p:nvPr/>
        </p:nvSpPr>
        <p:spPr>
          <a:xfrm>
            <a:off x="428625" y="3414713"/>
            <a:ext cx="8286750" cy="1571625"/>
          </a:xfrm>
          <a:prstGeom prst="rect">
            <a:avLst/>
          </a:prstGeom>
          <a:solidFill>
            <a:srgbClr val="FFFFFF"/>
          </a:solidFill>
          <a:ln w="18288">
            <a:solidFill>
              <a:srgbClr val="D9770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42938" y="3307556"/>
            <a:ext cx="728663" cy="258961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2" name="Text 38"/>
          <p:cNvSpPr/>
          <p:nvPr/>
        </p:nvSpPr>
        <p:spPr>
          <a:xfrm>
            <a:off x="642938" y="3307556"/>
            <a:ext cx="728663" cy="258961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核心发现</a:t>
            </a:r>
            <a:endParaRPr lang="en-US" sz="885" dirty="0"/>
          </a:p>
        </p:txBody>
      </p:sp>
      <p:sp>
        <p:nvSpPr>
          <p:cNvPr id="43" name="Text 39"/>
          <p:cNvSpPr/>
          <p:nvPr/>
        </p:nvSpPr>
        <p:spPr>
          <a:xfrm>
            <a:off x="714375" y="3700463"/>
            <a:ext cx="7715250" cy="231446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小样本（0-20）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：三策略均达 100% verified acc，差异不明显</a:t>
            </a:r>
            <a:endParaRPr lang="en-US" sz="885" dirty="0"/>
          </a:p>
        </p:txBody>
      </p:sp>
      <p:sp>
        <p:nvSpPr>
          <p:cNvPr id="44" name="Text 40"/>
          <p:cNvSpPr/>
          <p:nvPr/>
        </p:nvSpPr>
        <p:spPr>
          <a:xfrm>
            <a:off x="714375" y="4039065"/>
            <a:ext cx="7715250" cy="231446"/>
          </a:xfrm>
          <a:prstGeom prst="rect">
            <a:avLst/>
          </a:prstGeom>
          <a:noFill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扩展到 0-100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：差异被放大，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 在验证率与时间成本上相对更优</a:t>
            </a:r>
            <a:endParaRPr lang="en-US" sz="885" dirty="0"/>
          </a:p>
        </p:txBody>
      </p:sp>
      <p:sp>
        <p:nvSpPr>
          <p:cNvPr id="45" name="Text 41"/>
          <p:cNvSpPr/>
          <p:nvPr/>
        </p:nvSpPr>
        <p:spPr>
          <a:xfrm>
            <a:off x="714375" y="3700463"/>
            <a:ext cx="153591" cy="231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sp>
        <p:nvSpPr>
          <p:cNvPr id="46" name="Text 42"/>
          <p:cNvSpPr/>
          <p:nvPr/>
        </p:nvSpPr>
        <p:spPr>
          <a:xfrm>
            <a:off x="714375" y="4039065"/>
            <a:ext cx="153591" cy="2314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&gt;&gt;</a:t>
            </a:r>
            <a:endParaRPr lang="en-US" sz="885" dirty="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4581265"/>
            <a:ext cx="107156" cy="142875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821531" y="4565191"/>
            <a:ext cx="3036094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结论：扩大样本规模是揭示策略差异的必要步骤</a:t>
            </a:r>
            <a:endParaRPr lang="en-US" sz="9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4039791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后续研究计划：主线A + 辅线B 双轨推进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36219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4036219" cy="35718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8731"/>
            <a:ext cx="137517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0455" y="1243013"/>
            <a:ext cx="1868091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主线 A：分支策略优化实验</a:t>
            </a:r>
            <a:endParaRPr lang="en-US" sz="1160" dirty="0"/>
          </a:p>
        </p:txBody>
      </p:sp>
      <p:sp>
        <p:nvSpPr>
          <p:cNvPr id="10" name="Text 6"/>
          <p:cNvSpPr/>
          <p:nvPr/>
        </p:nvSpPr>
        <p:spPr>
          <a:xfrm>
            <a:off x="607219" y="1778794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11" name="Text 7"/>
          <p:cNvSpPr/>
          <p:nvPr/>
        </p:nvSpPr>
        <p:spPr>
          <a:xfrm>
            <a:off x="750094" y="1768078"/>
            <a:ext cx="33397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调整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1084064" y="1775222"/>
            <a:ext cx="1171575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84064" y="1775222"/>
            <a:ext cx="1171575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branching.method</a:t>
            </a:r>
            <a:endParaRPr lang="en-US" sz="835" dirty="0"/>
          </a:p>
        </p:txBody>
      </p:sp>
      <p:sp>
        <p:nvSpPr>
          <p:cNvPr id="14" name="Text 10"/>
          <p:cNvSpPr/>
          <p:nvPr/>
        </p:nvSpPr>
        <p:spPr>
          <a:xfrm>
            <a:off x="2241352" y="1768078"/>
            <a:ext cx="1285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2369939" y="1775222"/>
            <a:ext cx="764381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369939" y="1775222"/>
            <a:ext cx="764381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candidates</a:t>
            </a:r>
            <a:endParaRPr lang="en-US" sz="835" dirty="0"/>
          </a:p>
        </p:txBody>
      </p:sp>
      <p:sp>
        <p:nvSpPr>
          <p:cNvPr id="17" name="Text 13"/>
          <p:cNvSpPr/>
          <p:nvPr/>
        </p:nvSpPr>
        <p:spPr>
          <a:xfrm>
            <a:off x="3120033" y="1768078"/>
            <a:ext cx="1285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3248620" y="1775222"/>
            <a:ext cx="628650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48620" y="1775222"/>
            <a:ext cx="628650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reduceop</a:t>
            </a:r>
            <a:endParaRPr lang="en-US" sz="835" dirty="0"/>
          </a:p>
        </p:txBody>
      </p:sp>
      <p:sp>
        <p:nvSpPr>
          <p:cNvPr id="20" name="Text 16"/>
          <p:cNvSpPr/>
          <p:nvPr/>
        </p:nvSpPr>
        <p:spPr>
          <a:xfrm>
            <a:off x="3862983" y="1768078"/>
            <a:ext cx="33397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进行</a:t>
            </a:r>
            <a:endParaRPr lang="en-US" sz="940" dirty="0"/>
          </a:p>
        </p:txBody>
      </p:sp>
      <p:sp>
        <p:nvSpPr>
          <p:cNvPr id="21" name="Text 17"/>
          <p:cNvSpPr/>
          <p:nvPr/>
        </p:nvSpPr>
        <p:spPr>
          <a:xfrm>
            <a:off x="750094" y="1973796"/>
            <a:ext cx="51435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消融实验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607219" y="2297385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23" name="Text 19"/>
          <p:cNvSpPr/>
          <p:nvPr/>
        </p:nvSpPr>
        <p:spPr>
          <a:xfrm>
            <a:off x="750094" y="2286670"/>
            <a:ext cx="33397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对比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1084064" y="2293813"/>
            <a:ext cx="425053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084064" y="2293813"/>
            <a:ext cx="425053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babsr</a:t>
            </a:r>
            <a:endParaRPr lang="en-US" sz="835" dirty="0"/>
          </a:p>
        </p:txBody>
      </p:sp>
      <p:sp>
        <p:nvSpPr>
          <p:cNvPr id="26" name="Text 22"/>
          <p:cNvSpPr/>
          <p:nvPr/>
        </p:nvSpPr>
        <p:spPr>
          <a:xfrm>
            <a:off x="1494830" y="2286670"/>
            <a:ext cx="1285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endParaRPr lang="en-US" sz="940" dirty="0"/>
          </a:p>
        </p:txBody>
      </p:sp>
      <p:sp>
        <p:nvSpPr>
          <p:cNvPr id="27" name="Shape 23"/>
          <p:cNvSpPr/>
          <p:nvPr/>
        </p:nvSpPr>
        <p:spPr>
          <a:xfrm>
            <a:off x="1623417" y="2293813"/>
            <a:ext cx="357188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623417" y="2293813"/>
            <a:ext cx="357188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</a:t>
            </a:r>
            <a:endParaRPr lang="en-US" sz="835" dirty="0"/>
          </a:p>
        </p:txBody>
      </p:sp>
      <p:sp>
        <p:nvSpPr>
          <p:cNvPr id="29" name="Text 25"/>
          <p:cNvSpPr/>
          <p:nvPr/>
        </p:nvSpPr>
        <p:spPr>
          <a:xfrm>
            <a:off x="1966317" y="2286670"/>
            <a:ext cx="128588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、</a:t>
            </a:r>
            <a:endParaRPr lang="en-US" sz="940" dirty="0"/>
          </a:p>
        </p:txBody>
      </p:sp>
      <p:sp>
        <p:nvSpPr>
          <p:cNvPr id="30" name="Shape 26"/>
          <p:cNvSpPr/>
          <p:nvPr/>
        </p:nvSpPr>
        <p:spPr>
          <a:xfrm>
            <a:off x="2094905" y="2293813"/>
            <a:ext cx="357188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094905" y="2293813"/>
            <a:ext cx="357188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auto</a:t>
            </a:r>
            <a:endParaRPr lang="en-US" sz="835" dirty="0"/>
          </a:p>
        </p:txBody>
      </p:sp>
      <p:sp>
        <p:nvSpPr>
          <p:cNvPr id="32" name="Text 28"/>
          <p:cNvSpPr/>
          <p:nvPr/>
        </p:nvSpPr>
        <p:spPr>
          <a:xfrm>
            <a:off x="750094" y="2286670"/>
            <a:ext cx="3436144" cy="3753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在同一模型、同一样本集和同一 ε 下的表现</a:t>
            </a:r>
            <a:endParaRPr lang="en-US" sz="940" dirty="0"/>
          </a:p>
        </p:txBody>
      </p:sp>
      <p:sp>
        <p:nvSpPr>
          <p:cNvPr id="33" name="Text 29"/>
          <p:cNvSpPr/>
          <p:nvPr/>
        </p:nvSpPr>
        <p:spPr>
          <a:xfrm>
            <a:off x="607219" y="2787402"/>
            <a:ext cx="3679031" cy="411435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关键指标：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verified acc、timeout、mean/max time、visited nodes</a:t>
            </a:r>
            <a:endParaRPr lang="en-US" sz="940" dirty="0"/>
          </a:p>
        </p:txBody>
      </p:sp>
      <p:sp>
        <p:nvSpPr>
          <p:cNvPr id="34" name="Shape 30"/>
          <p:cNvSpPr/>
          <p:nvPr/>
        </p:nvSpPr>
        <p:spPr>
          <a:xfrm>
            <a:off x="4679156" y="1143000"/>
            <a:ext cx="4036219" cy="2286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07219" y="2815977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36" name="Shape 32"/>
          <p:cNvSpPr/>
          <p:nvPr/>
        </p:nvSpPr>
        <p:spPr>
          <a:xfrm>
            <a:off x="4679156" y="1143000"/>
            <a:ext cx="4036219" cy="35718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278731"/>
            <a:ext cx="157163" cy="157163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50631" y="1243013"/>
            <a:ext cx="1871663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辅线 B：扰动半径扫描实验</a:t>
            </a:r>
            <a:endParaRPr lang="en-US" sz="1160" dirty="0"/>
          </a:p>
        </p:txBody>
      </p:sp>
      <p:sp>
        <p:nvSpPr>
          <p:cNvPr id="39" name="Text 34"/>
          <p:cNvSpPr/>
          <p:nvPr/>
        </p:nvSpPr>
        <p:spPr>
          <a:xfrm>
            <a:off x="4857750" y="1778794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40" name="Text 35"/>
          <p:cNvSpPr/>
          <p:nvPr/>
        </p:nvSpPr>
        <p:spPr>
          <a:xfrm>
            <a:off x="5000625" y="1768078"/>
            <a:ext cx="848320" cy="16966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固定主策略为</a:t>
            </a:r>
            <a:endParaRPr lang="en-US" sz="940" dirty="0"/>
          </a:p>
        </p:txBody>
      </p:sp>
      <p:sp>
        <p:nvSpPr>
          <p:cNvPr id="41" name="Shape 36"/>
          <p:cNvSpPr/>
          <p:nvPr/>
        </p:nvSpPr>
        <p:spPr>
          <a:xfrm>
            <a:off x="5848945" y="1775222"/>
            <a:ext cx="357188" cy="164306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848945" y="1775222"/>
            <a:ext cx="357188" cy="164306"/>
          </a:xfrm>
          <a:prstGeom prst="rect">
            <a:avLst/>
          </a:prstGeom>
          <a:noFill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</a:t>
            </a:r>
            <a:endParaRPr lang="en-US" sz="835" dirty="0"/>
          </a:p>
        </p:txBody>
      </p:sp>
      <p:sp>
        <p:nvSpPr>
          <p:cNvPr id="43" name="Text 38"/>
          <p:cNvSpPr/>
          <p:nvPr/>
        </p:nvSpPr>
        <p:spPr>
          <a:xfrm>
            <a:off x="5000625" y="1768078"/>
            <a:ext cx="3343638" cy="3753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，扫描 ε ∈ {0.01, 0.02, 0.03, 0.05}</a:t>
            </a:r>
            <a:endParaRPr lang="en-US" sz="940" dirty="0"/>
          </a:p>
        </p:txBody>
      </p:sp>
      <p:sp>
        <p:nvSpPr>
          <p:cNvPr id="44" name="Text 39"/>
          <p:cNvSpPr/>
          <p:nvPr/>
        </p:nvSpPr>
        <p:spPr>
          <a:xfrm>
            <a:off x="4857750" y="2268810"/>
            <a:ext cx="3679031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生成 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VRA-epsilon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和 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time-epsilon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曲线</a:t>
            </a:r>
            <a:endParaRPr lang="en-US" sz="940" dirty="0"/>
          </a:p>
        </p:txBody>
      </p:sp>
      <p:sp>
        <p:nvSpPr>
          <p:cNvPr id="45" name="Text 40"/>
          <p:cNvSpPr/>
          <p:nvPr/>
        </p:nvSpPr>
        <p:spPr>
          <a:xfrm>
            <a:off x="4857750" y="2581684"/>
            <a:ext cx="3679031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解释鲁棒性随扰动增强的衰减过程</a:t>
            </a:r>
            <a:endParaRPr lang="en-US" sz="940" dirty="0"/>
          </a:p>
        </p:txBody>
      </p:sp>
      <p:sp>
        <p:nvSpPr>
          <p:cNvPr id="46" name="Shape 41"/>
          <p:cNvSpPr/>
          <p:nvPr/>
        </p:nvSpPr>
        <p:spPr>
          <a:xfrm>
            <a:off x="428625" y="3643313"/>
            <a:ext cx="8286750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D9770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857750" y="2297385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48" name="Text 43"/>
          <p:cNvSpPr/>
          <p:nvPr/>
        </p:nvSpPr>
        <p:spPr>
          <a:xfrm>
            <a:off x="4857750" y="2610259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49" name="Shape 44"/>
          <p:cNvSpPr/>
          <p:nvPr/>
        </p:nvSpPr>
        <p:spPr>
          <a:xfrm>
            <a:off x="428625" y="3643313"/>
            <a:ext cx="8286750" cy="357188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79044"/>
            <a:ext cx="157163" cy="157163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00100" y="3743325"/>
            <a:ext cx="6286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联合目标</a:t>
            </a:r>
            <a:endParaRPr lang="en-US" sz="1160" dirty="0"/>
          </a:p>
        </p:txBody>
      </p:sp>
      <p:sp>
        <p:nvSpPr>
          <p:cNvPr id="52" name="Text 46"/>
          <p:cNvSpPr/>
          <p:nvPr/>
        </p:nvSpPr>
        <p:spPr>
          <a:xfrm>
            <a:off x="607219" y="4250531"/>
            <a:ext cx="3821906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验证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更优策略在多个 epsilon 下是否保持更稳定表现</a:t>
            </a:r>
            <a:endParaRPr lang="en-US" sz="940" dirty="0"/>
          </a:p>
        </p:txBody>
      </p:sp>
      <p:sp>
        <p:nvSpPr>
          <p:cNvPr id="53" name="Text 47"/>
          <p:cNvSpPr/>
          <p:nvPr/>
        </p:nvSpPr>
        <p:spPr>
          <a:xfrm>
            <a:off x="607219" y="4279106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  <p:sp>
        <p:nvSpPr>
          <p:cNvPr id="54" name="Text 48"/>
          <p:cNvSpPr/>
          <p:nvPr/>
        </p:nvSpPr>
        <p:spPr>
          <a:xfrm>
            <a:off x="4714875" y="4250531"/>
            <a:ext cx="3821906" cy="205718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实验覆盖不少于 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 组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（目标 12 组：3策略 × 4半径）</a:t>
            </a:r>
            <a:endParaRPr lang="en-US" sz="940" dirty="0"/>
          </a:p>
        </p:txBody>
      </p:sp>
      <p:sp>
        <p:nvSpPr>
          <p:cNvPr id="55" name="Text 49"/>
          <p:cNvSpPr/>
          <p:nvPr/>
        </p:nvSpPr>
        <p:spPr>
          <a:xfrm>
            <a:off x="4714875" y="4279106"/>
            <a:ext cx="51429" cy="13712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20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■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18288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进度安排与里程碑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8286750" cy="2443163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8286750" cy="350044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46584"/>
            <a:ext cx="16073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3672" y="1214438"/>
            <a:ext cx="71437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里程碑计划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8625" y="1496616"/>
            <a:ext cx="1657350" cy="3429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1" name="Shape 7"/>
          <p:cNvSpPr/>
          <p:nvPr/>
        </p:nvSpPr>
        <p:spPr>
          <a:xfrm>
            <a:off x="428625" y="1496616"/>
            <a:ext cx="1657350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2" name="Shape 8"/>
          <p:cNvSpPr/>
          <p:nvPr/>
        </p:nvSpPr>
        <p:spPr>
          <a:xfrm>
            <a:off x="428625" y="1832372"/>
            <a:ext cx="1657350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3" name="Text 9"/>
          <p:cNvSpPr/>
          <p:nvPr/>
        </p:nvSpPr>
        <p:spPr>
          <a:xfrm>
            <a:off x="428625" y="1496616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里程碑</a:t>
            </a:r>
            <a:endParaRPr lang="en-US" sz="785" dirty="0"/>
          </a:p>
        </p:txBody>
      </p:sp>
      <p:sp>
        <p:nvSpPr>
          <p:cNvPr id="14" name="Shape 10"/>
          <p:cNvSpPr/>
          <p:nvPr/>
        </p:nvSpPr>
        <p:spPr>
          <a:xfrm>
            <a:off x="2085975" y="1496616"/>
            <a:ext cx="4143375" cy="3429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5" name="Shape 11"/>
          <p:cNvSpPr/>
          <p:nvPr/>
        </p:nvSpPr>
        <p:spPr>
          <a:xfrm>
            <a:off x="2085975" y="1496616"/>
            <a:ext cx="4143375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6" name="Shape 12"/>
          <p:cNvSpPr/>
          <p:nvPr/>
        </p:nvSpPr>
        <p:spPr>
          <a:xfrm>
            <a:off x="2085975" y="1832372"/>
            <a:ext cx="4143375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17" name="Text 13"/>
          <p:cNvSpPr/>
          <p:nvPr/>
        </p:nvSpPr>
        <p:spPr>
          <a:xfrm>
            <a:off x="2085975" y="1496616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内容</a:t>
            </a:r>
            <a:endParaRPr lang="en-US" sz="785" dirty="0"/>
          </a:p>
        </p:txBody>
      </p:sp>
      <p:sp>
        <p:nvSpPr>
          <p:cNvPr id="18" name="Shape 14"/>
          <p:cNvSpPr/>
          <p:nvPr/>
        </p:nvSpPr>
        <p:spPr>
          <a:xfrm>
            <a:off x="6229350" y="1496616"/>
            <a:ext cx="1243013" cy="3429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9" name="Shape 15"/>
          <p:cNvSpPr/>
          <p:nvPr/>
        </p:nvSpPr>
        <p:spPr>
          <a:xfrm>
            <a:off x="6229350" y="1496616"/>
            <a:ext cx="124301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0" name="Shape 16"/>
          <p:cNvSpPr/>
          <p:nvPr/>
        </p:nvSpPr>
        <p:spPr>
          <a:xfrm>
            <a:off x="6229350" y="1832372"/>
            <a:ext cx="124301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1" name="Text 17"/>
          <p:cNvSpPr/>
          <p:nvPr/>
        </p:nvSpPr>
        <p:spPr>
          <a:xfrm>
            <a:off x="6229350" y="1496616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状态</a:t>
            </a:r>
            <a:endParaRPr lang="en-US" sz="785" dirty="0"/>
          </a:p>
        </p:txBody>
      </p:sp>
      <p:sp>
        <p:nvSpPr>
          <p:cNvPr id="22" name="Shape 18"/>
          <p:cNvSpPr/>
          <p:nvPr/>
        </p:nvSpPr>
        <p:spPr>
          <a:xfrm>
            <a:off x="7472363" y="1496616"/>
            <a:ext cx="1243013" cy="3429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3" name="Shape 19"/>
          <p:cNvSpPr/>
          <p:nvPr/>
        </p:nvSpPr>
        <p:spPr>
          <a:xfrm>
            <a:off x="7472363" y="1496616"/>
            <a:ext cx="124301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4" name="Shape 20"/>
          <p:cNvSpPr/>
          <p:nvPr/>
        </p:nvSpPr>
        <p:spPr>
          <a:xfrm>
            <a:off x="7472363" y="1832372"/>
            <a:ext cx="1243013" cy="7144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25" name="Text 21"/>
          <p:cNvSpPr/>
          <p:nvPr/>
        </p:nvSpPr>
        <p:spPr>
          <a:xfrm>
            <a:off x="7472363" y="1496616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时间</a:t>
            </a:r>
            <a:endParaRPr lang="en-US" sz="785" dirty="0"/>
          </a:p>
        </p:txBody>
      </p:sp>
      <p:sp>
        <p:nvSpPr>
          <p:cNvPr id="26" name="Text 22"/>
          <p:cNvSpPr/>
          <p:nvPr/>
        </p:nvSpPr>
        <p:spPr>
          <a:xfrm>
            <a:off x="428625" y="1832372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M1 搭建与流程验证</a:t>
            </a:r>
            <a:endParaRPr lang="en-US" sz="785" dirty="0"/>
          </a:p>
        </p:txBody>
      </p:sp>
      <p:sp>
        <p:nvSpPr>
          <p:cNvPr id="27" name="Text 23"/>
          <p:cNvSpPr/>
          <p:nvPr/>
        </p:nvSpPr>
        <p:spPr>
          <a:xfrm>
            <a:off x="2085975" y="1832372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环境可用、入口可执行、最小样本跑通</a:t>
            </a:r>
            <a:endParaRPr lang="en-US" sz="835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323" y="1953816"/>
            <a:ext cx="114300" cy="1143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02623" y="1934170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6A34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已完成</a:t>
            </a:r>
            <a:endParaRPr lang="en-US" sz="785" dirty="0"/>
          </a:p>
        </p:txBody>
      </p:sp>
      <p:sp>
        <p:nvSpPr>
          <p:cNvPr id="30" name="Text 25"/>
          <p:cNvSpPr/>
          <p:nvPr/>
        </p:nvSpPr>
        <p:spPr>
          <a:xfrm>
            <a:off x="7472363" y="1832372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第4周前</a:t>
            </a:r>
            <a:endParaRPr lang="en-US" sz="835" dirty="0"/>
          </a:p>
        </p:txBody>
      </p:sp>
      <p:sp>
        <p:nvSpPr>
          <p:cNvPr id="31" name="Text 26"/>
          <p:cNvSpPr/>
          <p:nvPr/>
        </p:nvSpPr>
        <p:spPr>
          <a:xfrm>
            <a:off x="428625" y="2175272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M2 基线复现与策略对比</a:t>
            </a:r>
            <a:endParaRPr lang="en-US" sz="785" dirty="0"/>
          </a:p>
        </p:txBody>
      </p:sp>
      <p:sp>
        <p:nvSpPr>
          <p:cNvPr id="32" name="Text 27"/>
          <p:cNvSpPr/>
          <p:nvPr/>
        </p:nvSpPr>
        <p:spPr>
          <a:xfrm>
            <a:off x="2085975" y="2175272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3策略对比CSV与可视化图表</a:t>
            </a:r>
            <a:endParaRPr lang="en-US" sz="835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323" y="2296716"/>
            <a:ext cx="114300" cy="1143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702623" y="2277070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进行中</a:t>
            </a:r>
            <a:endParaRPr lang="en-US" sz="785" dirty="0"/>
          </a:p>
        </p:txBody>
      </p:sp>
      <p:sp>
        <p:nvSpPr>
          <p:cNvPr id="35" name="Text 29"/>
          <p:cNvSpPr/>
          <p:nvPr/>
        </p:nvSpPr>
        <p:spPr>
          <a:xfrm>
            <a:off x="7472363" y="2175272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第5周</a:t>
            </a:r>
            <a:endParaRPr lang="en-US" sz="835" dirty="0"/>
          </a:p>
        </p:txBody>
      </p:sp>
      <p:sp>
        <p:nvSpPr>
          <p:cNvPr id="36" name="Text 30"/>
          <p:cNvSpPr/>
          <p:nvPr/>
        </p:nvSpPr>
        <p:spPr>
          <a:xfrm>
            <a:off x="428625" y="2518172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M3 分支策略优化实验</a:t>
            </a:r>
            <a:endParaRPr lang="en-US" sz="785" dirty="0"/>
          </a:p>
        </p:txBody>
      </p:sp>
      <p:sp>
        <p:nvSpPr>
          <p:cNvPr id="37" name="Text 31"/>
          <p:cNvSpPr/>
          <p:nvPr/>
        </p:nvSpPr>
        <p:spPr>
          <a:xfrm>
            <a:off x="2085975" y="2518172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至少3组配置消融，形成主线改进结论</a:t>
            </a:r>
            <a:endParaRPr lang="en-US" sz="835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323" y="2639616"/>
            <a:ext cx="114300" cy="1143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702623" y="2619970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待执行</a:t>
            </a:r>
            <a:endParaRPr lang="en-US" sz="835" dirty="0"/>
          </a:p>
        </p:txBody>
      </p:sp>
      <p:sp>
        <p:nvSpPr>
          <p:cNvPr id="40" name="Text 33"/>
          <p:cNvSpPr/>
          <p:nvPr/>
        </p:nvSpPr>
        <p:spPr>
          <a:xfrm>
            <a:off x="7472363" y="2518172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第6周</a:t>
            </a:r>
            <a:endParaRPr lang="en-US" sz="835" dirty="0"/>
          </a:p>
        </p:txBody>
      </p:sp>
      <p:sp>
        <p:nvSpPr>
          <p:cNvPr id="41" name="Text 34"/>
          <p:cNvSpPr/>
          <p:nvPr/>
        </p:nvSpPr>
        <p:spPr>
          <a:xfrm>
            <a:off x="428625" y="2861072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M4 扰动半径扩展验证</a:t>
            </a:r>
            <a:endParaRPr lang="en-US" sz="785" dirty="0"/>
          </a:p>
        </p:txBody>
      </p:sp>
      <p:sp>
        <p:nvSpPr>
          <p:cNvPr id="42" name="Text 35"/>
          <p:cNvSpPr/>
          <p:nvPr/>
        </p:nvSpPr>
        <p:spPr>
          <a:xfrm>
            <a:off x="2085975" y="2861072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4个epsilon点的VRA与耗时趋势图</a:t>
            </a:r>
            <a:endParaRPr lang="en-US" sz="835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323" y="2982516"/>
            <a:ext cx="114300" cy="1143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702623" y="2962870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待执行</a:t>
            </a:r>
            <a:endParaRPr lang="en-US" sz="835" dirty="0"/>
          </a:p>
        </p:txBody>
      </p:sp>
      <p:sp>
        <p:nvSpPr>
          <p:cNvPr id="45" name="Text 37"/>
          <p:cNvSpPr/>
          <p:nvPr/>
        </p:nvSpPr>
        <p:spPr>
          <a:xfrm>
            <a:off x="7472363" y="2861072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第7周</a:t>
            </a:r>
            <a:endParaRPr lang="en-US" sz="835" dirty="0"/>
          </a:p>
        </p:txBody>
      </p:sp>
      <p:sp>
        <p:nvSpPr>
          <p:cNvPr id="46" name="Text 38"/>
          <p:cNvSpPr/>
          <p:nvPr/>
        </p:nvSpPr>
        <p:spPr>
          <a:xfrm>
            <a:off x="428625" y="3203972"/>
            <a:ext cx="1657350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M5 阶段汇总与课堂汇报</a:t>
            </a:r>
            <a:endParaRPr lang="en-US" sz="785" dirty="0"/>
          </a:p>
        </p:txBody>
      </p:sp>
      <p:sp>
        <p:nvSpPr>
          <p:cNvPr id="47" name="Text 39"/>
          <p:cNvSpPr/>
          <p:nvPr/>
        </p:nvSpPr>
        <p:spPr>
          <a:xfrm>
            <a:off x="2085975" y="3203972"/>
            <a:ext cx="4143375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整合A+B结果，完成报告与PPT</a:t>
            </a:r>
            <a:endParaRPr lang="en-US" sz="835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323" y="3325416"/>
            <a:ext cx="114300" cy="1143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702623" y="3305770"/>
            <a:ext cx="410766" cy="1500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待执行</a:t>
            </a:r>
            <a:endParaRPr lang="en-US" sz="835" dirty="0"/>
          </a:p>
        </p:txBody>
      </p:sp>
      <p:sp>
        <p:nvSpPr>
          <p:cNvPr id="50" name="Text 41"/>
          <p:cNvSpPr/>
          <p:nvPr/>
        </p:nvSpPr>
        <p:spPr>
          <a:xfrm>
            <a:off x="7472363" y="3203972"/>
            <a:ext cx="1243013" cy="342900"/>
          </a:xfrm>
          <a:prstGeom prst="rect">
            <a:avLst/>
          </a:prstGeom>
          <a:noFill/>
        </p:spPr>
        <p:txBody>
          <a:bodyPr wrap="square" lIns="170053" tIns="102108" rIns="170053" bIns="102108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第8周</a:t>
            </a:r>
            <a:endParaRPr lang="en-US" sz="835" dirty="0"/>
          </a:p>
        </p:txBody>
      </p:sp>
      <p:sp>
        <p:nvSpPr>
          <p:cNvPr id="51" name="Shape 42"/>
          <p:cNvSpPr/>
          <p:nvPr/>
        </p:nvSpPr>
        <p:spPr>
          <a:xfrm>
            <a:off x="428625" y="3764756"/>
            <a:ext cx="8286750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0369A1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42938" y="3657600"/>
            <a:ext cx="728663" cy="258961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53" name="Text 44"/>
          <p:cNvSpPr/>
          <p:nvPr/>
        </p:nvSpPr>
        <p:spPr>
          <a:xfrm>
            <a:off x="642938" y="3657600"/>
            <a:ext cx="728663" cy="258961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人员分工</a:t>
            </a:r>
            <a:endParaRPr lang="en-US" sz="885" dirty="0"/>
          </a:p>
        </p:txBody>
      </p:sp>
      <p:sp>
        <p:nvSpPr>
          <p:cNvPr id="54" name="Shape 45"/>
          <p:cNvSpPr/>
          <p:nvPr/>
        </p:nvSpPr>
        <p:spPr>
          <a:xfrm>
            <a:off x="642938" y="4050506"/>
            <a:ext cx="214313" cy="214313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5" name="Text 46"/>
          <p:cNvSpPr/>
          <p:nvPr/>
        </p:nvSpPr>
        <p:spPr>
          <a:xfrm>
            <a:off x="642938" y="4050506"/>
            <a:ext cx="214313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785" dirty="0"/>
          </a:p>
        </p:txBody>
      </p:sp>
      <p:sp>
        <p:nvSpPr>
          <p:cNvPr id="56" name="Text 47"/>
          <p:cNvSpPr/>
          <p:nvPr/>
        </p:nvSpPr>
        <p:spPr>
          <a:xfrm>
            <a:off x="928688" y="4075509"/>
            <a:ext cx="123229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进度统筹 &amp; 里程碑验收</a:t>
            </a:r>
            <a:endParaRPr lang="en-US" sz="835" dirty="0"/>
          </a:p>
        </p:txBody>
      </p:sp>
      <p:sp>
        <p:nvSpPr>
          <p:cNvPr id="57" name="Shape 48"/>
          <p:cNvSpPr/>
          <p:nvPr/>
        </p:nvSpPr>
        <p:spPr>
          <a:xfrm>
            <a:off x="3298013" y="4050506"/>
            <a:ext cx="214313" cy="214313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8" name="Text 49"/>
          <p:cNvSpPr/>
          <p:nvPr/>
        </p:nvSpPr>
        <p:spPr>
          <a:xfrm>
            <a:off x="3298013" y="4050506"/>
            <a:ext cx="214313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785" dirty="0"/>
          </a:p>
        </p:txBody>
      </p:sp>
      <p:sp>
        <p:nvSpPr>
          <p:cNvPr id="59" name="Text 50"/>
          <p:cNvSpPr/>
          <p:nvPr/>
        </p:nvSpPr>
        <p:spPr>
          <a:xfrm>
            <a:off x="3583763" y="4075509"/>
            <a:ext cx="111799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文献综述 &amp; 理论部分</a:t>
            </a:r>
            <a:endParaRPr lang="en-US" sz="835" dirty="0"/>
          </a:p>
        </p:txBody>
      </p:sp>
      <p:sp>
        <p:nvSpPr>
          <p:cNvPr id="60" name="Shape 51"/>
          <p:cNvSpPr/>
          <p:nvPr/>
        </p:nvSpPr>
        <p:spPr>
          <a:xfrm>
            <a:off x="5953116" y="4050506"/>
            <a:ext cx="214313" cy="214313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61" name="Text 52"/>
          <p:cNvSpPr/>
          <p:nvPr/>
        </p:nvSpPr>
        <p:spPr>
          <a:xfrm>
            <a:off x="5953116" y="4050506"/>
            <a:ext cx="214313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785" dirty="0"/>
          </a:p>
        </p:txBody>
      </p:sp>
      <p:sp>
        <p:nvSpPr>
          <p:cNvPr id="62" name="Text 53"/>
          <p:cNvSpPr/>
          <p:nvPr/>
        </p:nvSpPr>
        <p:spPr>
          <a:xfrm>
            <a:off x="6238866" y="4075509"/>
            <a:ext cx="111799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环境维护 &amp; 可复现性</a:t>
            </a:r>
            <a:endParaRPr lang="en-US" sz="835" dirty="0"/>
          </a:p>
        </p:txBody>
      </p:sp>
      <p:sp>
        <p:nvSpPr>
          <p:cNvPr id="63" name="Shape 54"/>
          <p:cNvSpPr/>
          <p:nvPr/>
        </p:nvSpPr>
        <p:spPr>
          <a:xfrm>
            <a:off x="642938" y="4371975"/>
            <a:ext cx="214313" cy="214313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64" name="Text 55"/>
          <p:cNvSpPr/>
          <p:nvPr/>
        </p:nvSpPr>
        <p:spPr>
          <a:xfrm>
            <a:off x="642938" y="4371975"/>
            <a:ext cx="214313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785" dirty="0"/>
          </a:p>
        </p:txBody>
      </p:sp>
      <p:sp>
        <p:nvSpPr>
          <p:cNvPr id="65" name="Text 56"/>
          <p:cNvSpPr/>
          <p:nvPr/>
        </p:nvSpPr>
        <p:spPr>
          <a:xfrm>
            <a:off x="928688" y="4396978"/>
            <a:ext cx="134659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批量实验执行 &amp; 日志整理</a:t>
            </a:r>
            <a:endParaRPr lang="en-US" sz="835" dirty="0"/>
          </a:p>
        </p:txBody>
      </p:sp>
      <p:sp>
        <p:nvSpPr>
          <p:cNvPr id="66" name="Shape 57"/>
          <p:cNvSpPr/>
          <p:nvPr/>
        </p:nvSpPr>
        <p:spPr>
          <a:xfrm>
            <a:off x="3298013" y="4371975"/>
            <a:ext cx="214313" cy="214313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67" name="Text 58"/>
          <p:cNvSpPr/>
          <p:nvPr/>
        </p:nvSpPr>
        <p:spPr>
          <a:xfrm>
            <a:off x="3298013" y="4371975"/>
            <a:ext cx="214313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</a:t>
            </a:r>
            <a:endParaRPr lang="en-US" sz="785" dirty="0"/>
          </a:p>
        </p:txBody>
      </p:sp>
      <p:sp>
        <p:nvSpPr>
          <p:cNvPr id="68" name="Text 59"/>
          <p:cNvSpPr/>
          <p:nvPr/>
        </p:nvSpPr>
        <p:spPr>
          <a:xfrm>
            <a:off x="3583763" y="4396978"/>
            <a:ext cx="111799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图表生成 &amp; 汇报表达</a:t>
            </a:r>
            <a:endParaRPr lang="en-US" sz="8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1A2B4C"/>
          </a:solidFill>
        </p:spPr>
      </p:sp>
      <p:sp>
        <p:nvSpPr>
          <p:cNvPr id="5" name="Text 2"/>
          <p:cNvSpPr/>
          <p:nvPr/>
        </p:nvSpPr>
        <p:spPr>
          <a:xfrm>
            <a:off x="428625" y="263426"/>
            <a:ext cx="1828800" cy="3303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预期成果与创新点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143000"/>
            <a:ext cx="400050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625" y="1143000"/>
            <a:ext cx="4000500" cy="462558"/>
          </a:xfrm>
          <a:prstGeom prst="rect">
            <a:avLst/>
          </a:prstGeom>
          <a:solidFill>
            <a:srgbClr val="1A2B4C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88554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1544" y="1250156"/>
            <a:ext cx="102870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量化交付目标</a:t>
            </a:r>
            <a:endParaRPr lang="en-US" sz="127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887736"/>
            <a:ext cx="150019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0113" y="1819870"/>
            <a:ext cx="331470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实验覆盖 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≥ 8 组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（目标 12 组：3策略 × 4扰动半径）</a:t>
            </a:r>
            <a:endParaRPr lang="en-US" sz="94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354926"/>
            <a:ext cx="150019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13" y="2287060"/>
            <a:ext cx="33147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每组统一统计：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verified acc、timeout、mean 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time、max time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（A组额外统计 visited nodes）</a:t>
            </a:r>
            <a:endParaRPr lang="en-US" sz="94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944955"/>
            <a:ext cx="150019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00113" y="2877090"/>
            <a:ext cx="331470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输出 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≥ 2 张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可直接用于汇报的图表 + 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份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对比 CSV</a:t>
            </a:r>
            <a:endParaRPr lang="en-US" sz="94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412145"/>
            <a:ext cx="150019" cy="1714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00113" y="3344280"/>
            <a:ext cx="3314700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最终报告给出 </a:t>
            </a:r>
            <a:r>
              <a:rPr lang="en-US" sz="885" b="1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≥ 3 条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定量结论，均可回溯到日志与图表</a:t>
            </a:r>
            <a:endParaRPr lang="en-US" sz="940" dirty="0"/>
          </a:p>
        </p:txBody>
      </p:sp>
      <p:sp>
        <p:nvSpPr>
          <p:cNvPr id="18" name="Shape 10"/>
          <p:cNvSpPr/>
          <p:nvPr/>
        </p:nvSpPr>
        <p:spPr>
          <a:xfrm>
            <a:off x="4714875" y="1143000"/>
            <a:ext cx="4000500" cy="3429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4714875" y="1143000"/>
            <a:ext cx="4000500" cy="462558"/>
          </a:xfrm>
          <a:prstGeom prst="rect">
            <a:avLst/>
          </a:prstGeom>
          <a:solidFill>
            <a:srgbClr val="0369A1"/>
          </a:solidFill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288554"/>
            <a:ext cx="128588" cy="1714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64931" y="1250156"/>
            <a:ext cx="1200150" cy="2482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核心创新与贡献</a:t>
            </a:r>
            <a:endParaRPr lang="en-US" sz="1270" dirty="0"/>
          </a:p>
        </p:txBody>
      </p:sp>
      <p:sp>
        <p:nvSpPr>
          <p:cNvPr id="22" name="Shape 13"/>
          <p:cNvSpPr/>
          <p:nvPr/>
        </p:nvSpPr>
        <p:spPr>
          <a:xfrm>
            <a:off x="4929188" y="1819870"/>
            <a:ext cx="3571875" cy="78581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" name="Shape 14"/>
          <p:cNvSpPr/>
          <p:nvPr/>
        </p:nvSpPr>
        <p:spPr>
          <a:xfrm>
            <a:off x="4929188" y="1819870"/>
            <a:ext cx="28575" cy="785813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24" name="Text 15"/>
          <p:cNvSpPr/>
          <p:nvPr/>
        </p:nvSpPr>
        <p:spPr>
          <a:xfrm>
            <a:off x="5072063" y="1927027"/>
            <a:ext cx="34290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工程创新</a:t>
            </a:r>
            <a:endParaRPr lang="en-US" sz="985" dirty="0"/>
          </a:p>
        </p:txBody>
      </p:sp>
      <p:sp>
        <p:nvSpPr>
          <p:cNvPr id="25" name="Text 16"/>
          <p:cNvSpPr/>
          <p:nvPr/>
        </p:nvSpPr>
        <p:spPr>
          <a:xfrm>
            <a:off x="5072063" y="2227064"/>
            <a:ext cx="34290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建立"配置执行-日志归档-结果汇总-图表生成"全流程可复现验证流水线。</a:t>
            </a:r>
            <a:endParaRPr lang="en-US" sz="940" dirty="0"/>
          </a:p>
        </p:txBody>
      </p:sp>
      <p:sp>
        <p:nvSpPr>
          <p:cNvPr id="26" name="Shape 17"/>
          <p:cNvSpPr/>
          <p:nvPr/>
        </p:nvSpPr>
        <p:spPr>
          <a:xfrm>
            <a:off x="4929188" y="2819995"/>
            <a:ext cx="3571875" cy="78581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" name="Shape 18"/>
          <p:cNvSpPr/>
          <p:nvPr/>
        </p:nvSpPr>
        <p:spPr>
          <a:xfrm>
            <a:off x="4929188" y="2819995"/>
            <a:ext cx="28575" cy="785813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28" name="Text 19"/>
          <p:cNvSpPr/>
          <p:nvPr/>
        </p:nvSpPr>
        <p:spPr>
          <a:xfrm>
            <a:off x="5072063" y="2927152"/>
            <a:ext cx="34290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方法贡献</a:t>
            </a:r>
            <a:endParaRPr lang="en-US" sz="985" dirty="0"/>
          </a:p>
        </p:txBody>
      </p:sp>
      <p:sp>
        <p:nvSpPr>
          <p:cNvPr id="29" name="Text 20"/>
          <p:cNvSpPr/>
          <p:nvPr/>
        </p:nvSpPr>
        <p:spPr>
          <a:xfrm>
            <a:off x="5072063" y="3227189"/>
            <a:ext cx="34290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系统量化 BaB 分支策略（babsr/kfsb/auto）在 MNIST ReLU FCNN 上的性能差异。</a:t>
            </a:r>
            <a:endParaRPr lang="en-US" sz="940" dirty="0"/>
          </a:p>
        </p:txBody>
      </p:sp>
      <p:sp>
        <p:nvSpPr>
          <p:cNvPr id="30" name="Shape 21"/>
          <p:cNvSpPr/>
          <p:nvPr/>
        </p:nvSpPr>
        <p:spPr>
          <a:xfrm>
            <a:off x="4929188" y="3820120"/>
            <a:ext cx="3571875" cy="785813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1" name="Shape 22"/>
          <p:cNvSpPr/>
          <p:nvPr/>
        </p:nvSpPr>
        <p:spPr>
          <a:xfrm>
            <a:off x="4929188" y="3820120"/>
            <a:ext cx="28575" cy="785813"/>
          </a:xfrm>
          <a:prstGeom prst="rect">
            <a:avLst/>
          </a:prstGeom>
          <a:solidFill>
            <a:srgbClr val="0369A1"/>
          </a:solidFill>
        </p:spPr>
      </p:sp>
      <p:sp>
        <p:nvSpPr>
          <p:cNvPr id="32" name="Text 23"/>
          <p:cNvSpPr/>
          <p:nvPr/>
        </p:nvSpPr>
        <p:spPr>
          <a:xfrm>
            <a:off x="5072063" y="3927277"/>
            <a:ext cx="342900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实证价值</a:t>
            </a:r>
            <a:endParaRPr lang="en-US" sz="985" dirty="0"/>
          </a:p>
        </p:txBody>
      </p:sp>
      <p:sp>
        <p:nvSpPr>
          <p:cNvPr id="33" name="Text 24"/>
          <p:cNvSpPr/>
          <p:nvPr/>
        </p:nvSpPr>
        <p:spPr>
          <a:xfrm>
            <a:off x="5072063" y="4227314"/>
            <a:ext cx="3429000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提供策略选型依据——</a:t>
            </a:r>
            <a:r>
              <a:rPr lang="en-US" sz="885" b="1" dirty="0">
                <a:solidFill>
                  <a:srgbClr val="0369A1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 在验证率与效率上的综合优势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已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初步验证。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12013" y="678656"/>
            <a:ext cx="7119947" cy="3786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2B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00422" y="1245691"/>
            <a:ext cx="1943100" cy="6643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kern="0" spc="3" dirty="0">
                <a:solidFill>
                  <a:srgbClr val="1A2B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感谢聆听</a:t>
            </a:r>
            <a:endParaRPr lang="en-US" sz="329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239" y="2117229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45989" y="2077938"/>
            <a:ext cx="1737717" cy="3018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D9770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欢迎提问与交流</a:t>
            </a:r>
            <a:endParaRPr lang="en-US" sz="1705" dirty="0"/>
          </a:p>
        </p:txBody>
      </p:sp>
      <p:sp>
        <p:nvSpPr>
          <p:cNvPr id="7" name="Text 3"/>
          <p:cNvSpPr/>
          <p:nvPr/>
        </p:nvSpPr>
        <p:spPr>
          <a:xfrm>
            <a:off x="1440638" y="2821781"/>
            <a:ext cx="8572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研究核心</a:t>
            </a:r>
            <a:endParaRPr lang="en-US" sz="985" dirty="0"/>
          </a:p>
        </p:txBody>
      </p:sp>
      <p:sp>
        <p:nvSpPr>
          <p:cNvPr id="8" name="Text 4"/>
          <p:cNvSpPr/>
          <p:nvPr/>
        </p:nvSpPr>
        <p:spPr>
          <a:xfrm>
            <a:off x="2297888" y="2821781"/>
            <a:ext cx="256854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ReLU 神经网络在 </a:t>
            </a: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L_∞ 扰动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下的鲁棒性验证</a:t>
            </a:r>
            <a:endParaRPr lang="en-US" sz="940" dirty="0"/>
          </a:p>
        </p:txBody>
      </p:sp>
      <p:sp>
        <p:nvSpPr>
          <p:cNvPr id="9" name="Text 5"/>
          <p:cNvSpPr/>
          <p:nvPr/>
        </p:nvSpPr>
        <p:spPr>
          <a:xfrm>
            <a:off x="1440638" y="3228975"/>
            <a:ext cx="8572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主要工具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2297888" y="3228975"/>
            <a:ext cx="3459361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alpha-beta-CROWN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（Branch-and-Bound + 线性松弛）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1440638" y="3636169"/>
            <a:ext cx="857250" cy="2286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5" b="1" dirty="0">
                <a:solidFill>
                  <a:srgbClr val="0369A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当前进展</a:t>
            </a:r>
            <a:endParaRPr lang="en-US" sz="985" dirty="0"/>
          </a:p>
        </p:txBody>
      </p:sp>
      <p:sp>
        <p:nvSpPr>
          <p:cNvPr id="12" name="Text 8"/>
          <p:cNvSpPr/>
          <p:nvPr/>
        </p:nvSpPr>
        <p:spPr>
          <a:xfrm>
            <a:off x="2297888" y="3636169"/>
            <a:ext cx="3159323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M1 已完成，M2 进行中，</a:t>
            </a:r>
            <a:r>
              <a:rPr lang="en-US" sz="885" b="1" dirty="0">
                <a:solidFill>
                  <a:srgbClr val="1A2B4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kfsb 策略</a:t>
            </a:r>
            <a:r>
              <a:rPr lang="en-US" sz="940" dirty="0">
                <a:solidFill>
                  <a:srgbClr val="33415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初步显示综合优势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1440638" y="4007644"/>
            <a:ext cx="6262697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关键词：</a:t>
            </a:r>
            <a:r>
              <a:rPr lang="en-US" sz="835" dirty="0">
                <a:solidFill>
                  <a:srgbClr val="64748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神经网络鲁棒性验证 · ReLU · alpha-beta-CROWN · Branch-and-Bound · 软件质量保障</a:t>
            </a:r>
            <a:endParaRPr lang="en-US" sz="83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2749</Words>
  <Application>WPS 演示</Application>
  <PresentationFormat>On-screen Show (16:9)</PresentationFormat>
  <Paragraphs>418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Space Grotesk</vt:lpstr>
      <vt:lpstr>Segoe Print</vt:lpstr>
      <vt:lpstr>Space Grotesk</vt:lpstr>
      <vt:lpstr>Space Grotesk</vt:lpstr>
      <vt:lpstr>Roboto Mono</vt:lpstr>
      <vt:lpstr>Roboto Mono</vt:lpstr>
      <vt:lpstr>Roboto Mono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微信用户</cp:lastModifiedBy>
  <cp:revision>2</cp:revision>
  <dcterms:created xsi:type="dcterms:W3CDTF">2026-04-04T04:14:00Z</dcterms:created>
  <dcterms:modified xsi:type="dcterms:W3CDTF">2026-04-04T04:15:57Z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96567AE3C9F4420F94ECFE89148E5BC7_12</vt:lpwstr>
  </property>
  <property fmtid="{D5CDD505-2E9C-101B-9397-08002B2CF9AE}" pid="3" name="KSOProductBuildVer">
    <vt:lpwstr>2052-12.1.0.23542</vt:lpwstr>
  </property>
</Properties>
</file>