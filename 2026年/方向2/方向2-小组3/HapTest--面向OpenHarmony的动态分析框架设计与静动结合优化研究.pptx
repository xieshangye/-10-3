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4.svg" ContentType="image/svg+xml"/>
  <Override PartName="/ppt/media/image20.svg" ContentType="image/svg+xml"/>
  <Override PartName="/ppt/media/image25.svg" ContentType="image/svg+xml"/>
  <Override PartName="/ppt/media/image27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74" r:id="rId17"/>
    <p:sldId id="269" r:id="rId18"/>
    <p:sldId id="270" r:id="rId19"/>
    <p:sldId id="271" r:id="rId20"/>
    <p:sldId id="272" r:id="rId21"/>
  </p:sldIdLst>
  <p:sldSz cx="18288000" cy="10287000"/>
  <p:notesSz cx="6858000" cy="9144000"/>
  <p:embeddedFontLst>
    <p:embeddedFont>
      <p:font typeface="微软雅黑" panose="020B0503020204020204" charset="-122"/>
      <p:regular r:id="rId25"/>
    </p:embeddedFont>
    <p:embeddedFont>
      <p:font typeface="方正超粗黑简体" panose="02000000000000000000" charset="-122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pos="28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1E3E5"/>
    <a:srgbClr val="E5E7E9"/>
    <a:srgbClr val="E1E3E6"/>
    <a:srgbClr val="FFCF9C"/>
    <a:srgbClr val="FFB5B5"/>
    <a:srgbClr val="FD856E"/>
    <a:srgbClr val="F09C7E"/>
    <a:srgbClr val="B10101"/>
    <a:srgbClr val="EDF0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088"/>
        <p:guide pos="28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5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4.png"/><Relationship Id="rId7" Type="http://schemas.openxmlformats.org/officeDocument/2006/relationships/tags" Target="../tags/tag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3.xml"/><Relationship Id="rId37" Type="http://schemas.openxmlformats.org/officeDocument/2006/relationships/slideLayout" Target="../slideLayouts/slideLayout7.xml"/><Relationship Id="rId36" Type="http://schemas.openxmlformats.org/officeDocument/2006/relationships/tags" Target="../tags/tag25.xml"/><Relationship Id="rId35" Type="http://schemas.openxmlformats.org/officeDocument/2006/relationships/tags" Target="../tags/tag24.xml"/><Relationship Id="rId34" Type="http://schemas.openxmlformats.org/officeDocument/2006/relationships/tags" Target="../tags/tag23.xml"/><Relationship Id="rId33" Type="http://schemas.openxmlformats.org/officeDocument/2006/relationships/tags" Target="../tags/tag22.xml"/><Relationship Id="rId32" Type="http://schemas.openxmlformats.org/officeDocument/2006/relationships/image" Target="../media/image27.svg"/><Relationship Id="rId31" Type="http://schemas.openxmlformats.org/officeDocument/2006/relationships/image" Target="../media/image26.png"/><Relationship Id="rId30" Type="http://schemas.openxmlformats.org/officeDocument/2006/relationships/tags" Target="../tags/tag21.xml"/><Relationship Id="rId3" Type="http://schemas.openxmlformats.org/officeDocument/2006/relationships/tags" Target="../tags/tag2.xml"/><Relationship Id="rId29" Type="http://schemas.openxmlformats.org/officeDocument/2006/relationships/tags" Target="../tags/tag20.xml"/><Relationship Id="rId28" Type="http://schemas.openxmlformats.org/officeDocument/2006/relationships/tags" Target="../tags/tag19.xml"/><Relationship Id="rId27" Type="http://schemas.openxmlformats.org/officeDocument/2006/relationships/tags" Target="../tags/tag18.xml"/><Relationship Id="rId26" Type="http://schemas.openxmlformats.org/officeDocument/2006/relationships/image" Target="../media/image25.svg"/><Relationship Id="rId25" Type="http://schemas.openxmlformats.org/officeDocument/2006/relationships/image" Target="../media/image24.png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tags" Target="../tags/tag10.xml"/><Relationship Id="rId16" Type="http://schemas.openxmlformats.org/officeDocument/2006/relationships/tags" Target="../tags/tag9.xml"/><Relationship Id="rId15" Type="http://schemas.openxmlformats.org/officeDocument/2006/relationships/tags" Target="../tags/tag8.xml"/><Relationship Id="rId14" Type="http://schemas.openxmlformats.org/officeDocument/2006/relationships/tags" Target="../tags/tag7.xml"/><Relationship Id="rId13" Type="http://schemas.openxmlformats.org/officeDocument/2006/relationships/tags" Target="../tags/tag6.xml"/><Relationship Id="rId12" Type="http://schemas.openxmlformats.org/officeDocument/2006/relationships/image" Target="../media/image7.svg"/><Relationship Id="rId11" Type="http://schemas.openxmlformats.org/officeDocument/2006/relationships/image" Target="../media/image6.png"/><Relationship Id="rId10" Type="http://schemas.openxmlformats.org/officeDocument/2006/relationships/tags" Target="../tags/tag5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image" Target="../media/image2.png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image" Target="../media/image2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svg"/><Relationship Id="rId8" Type="http://schemas.openxmlformats.org/officeDocument/2006/relationships/image" Target="../media/image35.png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0.svg"/><Relationship Id="rId12" Type="http://schemas.openxmlformats.org/officeDocument/2006/relationships/image" Target="../media/image19.png"/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9.pn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0.png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0" y="0"/>
            <a:ext cx="18288000" cy="764382"/>
            <a:chOff x="0" y="0"/>
            <a:chExt cx="24384000" cy="1019176"/>
          </a:xfrm>
        </p:grpSpPr>
        <p:grpSp>
          <p:nvGrpSpPr>
            <p:cNvPr id="8" name="Group 8"/>
            <p:cNvGrpSpPr/>
            <p:nvPr/>
          </p:nvGrpSpPr>
          <p:grpSpPr>
            <a:xfrm rot="0">
              <a:off x="0" y="0"/>
              <a:ext cx="24384000" cy="1019176"/>
              <a:chOff x="0" y="0"/>
              <a:chExt cx="24813158" cy="103711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4813158" cy="1037114"/>
              </a:xfrm>
              <a:custGeom>
                <a:avLst/>
                <a:gdLst/>
                <a:ahLst/>
                <a:cxnLst/>
                <a:rect l="l" t="t" r="r" b="b"/>
                <a:pathLst>
                  <a:path w="24813158" h="1037114">
                    <a:moveTo>
                      <a:pt x="0" y="0"/>
                    </a:moveTo>
                    <a:lnTo>
                      <a:pt x="24813158" y="0"/>
                    </a:lnTo>
                    <a:lnTo>
                      <a:pt x="24813158" y="1037114"/>
                    </a:lnTo>
                    <a:lnTo>
                      <a:pt x="0" y="1037114"/>
                    </a:lnTo>
                    <a:close/>
                  </a:path>
                </a:pathLst>
              </a:custGeom>
              <a:solidFill>
                <a:srgbClr val="B10101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4813158" cy="10847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0"/>
                  </a:lnSpc>
                </a:pPr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21311395" y="212220"/>
              <a:ext cx="550402" cy="594737"/>
            </a:xfrm>
            <a:custGeom>
              <a:avLst/>
              <a:gdLst/>
              <a:ahLst/>
              <a:cxnLst/>
              <a:rect l="l" t="t" r="r" b="b"/>
              <a:pathLst>
                <a:path w="550402" h="594737">
                  <a:moveTo>
                    <a:pt x="0" y="0"/>
                  </a:moveTo>
                  <a:lnTo>
                    <a:pt x="550402" y="0"/>
                  </a:lnTo>
                  <a:lnTo>
                    <a:pt x="550402" y="594737"/>
                  </a:lnTo>
                  <a:lnTo>
                    <a:pt x="0" y="59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2" name="Freeform 12"/>
            <p:cNvSpPr/>
            <p:nvPr/>
          </p:nvSpPr>
          <p:spPr>
            <a:xfrm>
              <a:off x="22232178" y="200564"/>
              <a:ext cx="607935" cy="618048"/>
            </a:xfrm>
            <a:custGeom>
              <a:avLst/>
              <a:gdLst/>
              <a:ahLst/>
              <a:cxnLst/>
              <a:rect l="l" t="t" r="r" b="b"/>
              <a:pathLst>
                <a:path w="607935" h="618048">
                  <a:moveTo>
                    <a:pt x="0" y="0"/>
                  </a:moveTo>
                  <a:lnTo>
                    <a:pt x="607935" y="0"/>
                  </a:lnTo>
                  <a:lnTo>
                    <a:pt x="607935" y="618048"/>
                  </a:lnTo>
                  <a:lnTo>
                    <a:pt x="0" y="618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3" name="Freeform 13"/>
            <p:cNvSpPr/>
            <p:nvPr/>
          </p:nvSpPr>
          <p:spPr>
            <a:xfrm>
              <a:off x="20323392" y="200778"/>
              <a:ext cx="617621" cy="617621"/>
            </a:xfrm>
            <a:custGeom>
              <a:avLst/>
              <a:gdLst/>
              <a:ahLst/>
              <a:cxnLst/>
              <a:rect l="l" t="t" r="r" b="b"/>
              <a:pathLst>
                <a:path w="617621" h="617621">
                  <a:moveTo>
                    <a:pt x="0" y="0"/>
                  </a:moveTo>
                  <a:lnTo>
                    <a:pt x="617621" y="0"/>
                  </a:lnTo>
                  <a:lnTo>
                    <a:pt x="617621" y="617621"/>
                  </a:lnTo>
                  <a:lnTo>
                    <a:pt x="0" y="617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04190" y="319088"/>
              <a:ext cx="3475047" cy="394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925">
                  <a:solidFill>
                    <a:srgbClr val="FFFFFF"/>
                  </a:solidFill>
                  <a:latin typeface="思源黑体 2" panose="020B0500000000000000" charset="-122"/>
                  <a:ea typeface="思源黑体 2" panose="020B0500000000000000" charset="-122"/>
                  <a:cs typeface="思源黑体 2" panose="020B0500000000000000" charset="-122"/>
                  <a:sym typeface="思源黑体 2" panose="020B0500000000000000" charset="-122"/>
                </a:rPr>
                <a:t>选题</a:t>
              </a:r>
              <a:r>
                <a:rPr lang="zh-CN" altLang="en-US" sz="1925">
                  <a:solidFill>
                    <a:srgbClr val="FFFFFF"/>
                  </a:solidFill>
                  <a:latin typeface="思源黑体 2" panose="020B0500000000000000" charset="-122"/>
                  <a:ea typeface="思源黑体 2" panose="020B0500000000000000" charset="-122"/>
                  <a:cs typeface="思源黑体 2" panose="020B0500000000000000" charset="-122"/>
                  <a:sym typeface="思源黑体 2" panose="020B0500000000000000" charset="-122"/>
                </a:rPr>
                <a:t>的</a:t>
              </a:r>
              <a:r>
                <a:rPr lang="en-US" sz="1925">
                  <a:solidFill>
                    <a:srgbClr val="FFFFFF"/>
                  </a:solidFill>
                  <a:latin typeface="思源黑体 2" panose="020B0500000000000000" charset="-122"/>
                  <a:ea typeface="思源黑体 2" panose="020B0500000000000000" charset="-122"/>
                  <a:cs typeface="思源黑体 2" panose="020B0500000000000000" charset="-122"/>
                  <a:sym typeface="思源黑体 2" panose="020B0500000000000000" charset="-122"/>
                </a:rPr>
                <a:t>背景及意义</a:t>
              </a:r>
              <a:endPara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93015" y="319088"/>
              <a:ext cx="3407179" cy="381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925">
                  <a:solidFill>
                    <a:srgbClr val="FFFFFF"/>
                  </a:solidFill>
                  <a:latin typeface="思源黑体 2" panose="020B0500000000000000" charset="-122"/>
                  <a:ea typeface="思源黑体 2" panose="020B0500000000000000" charset="-122"/>
                  <a:cs typeface="思源黑体 2" panose="020B0500000000000000" charset="-122"/>
                  <a:sym typeface="思源黑体 2" panose="020B0500000000000000" charset="-122"/>
                </a:rPr>
                <a:t>研究现状</a:t>
              </a:r>
              <a:endPara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602772" y="319088"/>
              <a:ext cx="3475047" cy="381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925">
                  <a:solidFill>
                    <a:srgbClr val="FFFFFF"/>
                  </a:solidFill>
                  <a:latin typeface="思源黑体 2" panose="020B0500000000000000" charset="-122"/>
                  <a:ea typeface="思源黑体 2" panose="020B0500000000000000" charset="-122"/>
                  <a:cs typeface="思源黑体 2" panose="020B0500000000000000" charset="-122"/>
                  <a:sym typeface="思源黑体 2" panose="020B0500000000000000" charset="-122"/>
                </a:rPr>
                <a:t>HapTest</a:t>
              </a:r>
              <a:endPara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80398" y="319088"/>
              <a:ext cx="3407179" cy="381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925">
                  <a:solidFill>
                    <a:srgbClr val="FFFFFF"/>
                  </a:solidFill>
                  <a:latin typeface="思源黑体 2" panose="020B0500000000000000" charset="-122"/>
                  <a:ea typeface="思源黑体 2" panose="020B0500000000000000" charset="-122"/>
                  <a:cs typeface="思源黑体 2" panose="020B0500000000000000" charset="-122"/>
                  <a:sym typeface="思源黑体 2" panose="020B0500000000000000" charset="-122"/>
                </a:rPr>
                <a:t>改进方向</a:t>
              </a:r>
              <a:endPara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5335022" y="5646930"/>
            <a:ext cx="7617955" cy="645962"/>
            <a:chOff x="0" y="0"/>
            <a:chExt cx="2006375" cy="1701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06375" cy="170130"/>
            </a:xfrm>
            <a:custGeom>
              <a:avLst/>
              <a:gdLst/>
              <a:ahLst/>
              <a:cxnLst/>
              <a:rect l="l" t="t" r="r" b="b"/>
              <a:pathLst>
                <a:path w="2006375" h="170130">
                  <a:moveTo>
                    <a:pt x="85065" y="0"/>
                  </a:moveTo>
                  <a:lnTo>
                    <a:pt x="1921310" y="0"/>
                  </a:lnTo>
                  <a:cubicBezTo>
                    <a:pt x="1943871" y="0"/>
                    <a:pt x="1965507" y="8962"/>
                    <a:pt x="1981460" y="24915"/>
                  </a:cubicBezTo>
                  <a:cubicBezTo>
                    <a:pt x="1997413" y="40868"/>
                    <a:pt x="2006375" y="62504"/>
                    <a:pt x="2006375" y="85065"/>
                  </a:cubicBezTo>
                  <a:lnTo>
                    <a:pt x="2006375" y="85065"/>
                  </a:lnTo>
                  <a:cubicBezTo>
                    <a:pt x="2006375" y="132045"/>
                    <a:pt x="1968290" y="170130"/>
                    <a:pt x="1921310" y="170130"/>
                  </a:cubicBezTo>
                  <a:lnTo>
                    <a:pt x="85065" y="170130"/>
                  </a:lnTo>
                  <a:cubicBezTo>
                    <a:pt x="38085" y="170130"/>
                    <a:pt x="0" y="132045"/>
                    <a:pt x="0" y="85065"/>
                  </a:cubicBezTo>
                  <a:lnTo>
                    <a:pt x="0" y="85065"/>
                  </a:lnTo>
                  <a:cubicBezTo>
                    <a:pt x="0" y="38085"/>
                    <a:pt x="38085" y="0"/>
                    <a:pt x="85065" y="0"/>
                  </a:cubicBez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006375" cy="217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5"/>
                </a:lnSpc>
              </a:pPr>
            </a:p>
          </p:txBody>
        </p:sp>
      </p:grpSp>
      <p:sp>
        <p:nvSpPr>
          <p:cNvPr id="21" name="Freeform 21"/>
          <p:cNvSpPr/>
          <p:nvPr/>
        </p:nvSpPr>
        <p:spPr>
          <a:xfrm>
            <a:off x="5955275" y="7179536"/>
            <a:ext cx="382735" cy="407707"/>
          </a:xfrm>
          <a:custGeom>
            <a:avLst/>
            <a:gdLst/>
            <a:ahLst/>
            <a:cxnLst/>
            <a:rect l="l" t="t" r="r" b="b"/>
            <a:pathLst>
              <a:path w="382735" h="407707">
                <a:moveTo>
                  <a:pt x="0" y="0"/>
                </a:moveTo>
                <a:lnTo>
                  <a:pt x="382735" y="0"/>
                </a:lnTo>
                <a:lnTo>
                  <a:pt x="382735" y="407706"/>
                </a:lnTo>
                <a:lnTo>
                  <a:pt x="0" y="4077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2" name="TextBox 22"/>
          <p:cNvSpPr txBox="1"/>
          <p:nvPr/>
        </p:nvSpPr>
        <p:spPr>
          <a:xfrm>
            <a:off x="6448685" y="7167625"/>
            <a:ext cx="6119300" cy="38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05"/>
              </a:lnSpc>
              <a:spcBef>
                <a:spcPct val="0"/>
              </a:spcBef>
            </a:pPr>
            <a:r>
              <a:rPr lang="en-US" sz="222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组内成员：金煜晰  张欣洁  翟佳羽  孔妍  王雨萌 </a:t>
            </a:r>
            <a:endParaRPr lang="en-US" sz="2220">
              <a:solidFill>
                <a:srgbClr val="1E1E1E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720015" y="5565311"/>
            <a:ext cx="6847970" cy="69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5"/>
              </a:lnSpc>
            </a:pPr>
            <a:r>
              <a:rPr lang="en-US" sz="3440">
                <a:solidFill>
                  <a:srgbClr val="FFFFFF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汇报人：王雨萌</a:t>
            </a:r>
            <a:endParaRPr lang="en-US" sz="3440">
              <a:solidFill>
                <a:srgbClr val="FFFFFF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818495" y="2627712"/>
            <a:ext cx="14165051" cy="2404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30"/>
              </a:lnSpc>
            </a:pPr>
            <a:r>
              <a:rPr lang="en-US" sz="693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HapTest--面向OpenHarmony的动态分析框架设计与静动结合优化研究</a:t>
            </a:r>
            <a:endParaRPr lang="en-US" sz="693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pic>
        <p:nvPicPr>
          <p:cNvPr id="25" name="图片 24"/>
          <p:cNvPicPr/>
          <p:nvPr/>
        </p:nvPicPr>
        <p:blipFill>
          <a:blip r:embed="rId10"/>
          <a:srcRect l="31218" b="-10997"/>
          <a:stretch>
            <a:fillRect/>
          </a:stretch>
        </p:blipFill>
        <p:spPr>
          <a:xfrm>
            <a:off x="16695420" y="9618980"/>
            <a:ext cx="1459230" cy="62611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91"/>
          <a:stretch>
            <a:fillRect/>
          </a:stretch>
        </p:blipFill>
        <p:spPr>
          <a:xfrm>
            <a:off x="16086455" y="9611995"/>
            <a:ext cx="677545" cy="5759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39685" y="3864854"/>
            <a:ext cx="4902872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45"/>
              </a:lnSpc>
            </a:pPr>
            <a:r>
              <a:rPr lang="en-US" sz="1279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目录</a:t>
            </a:r>
            <a:endParaRPr lang="en-US" sz="1279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613668" y="2099157"/>
            <a:ext cx="5312774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选题的背景及意义</a:t>
            </a:r>
            <a:endParaRPr lang="en-US" sz="440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613668" y="2832073"/>
            <a:ext cx="531277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Background significance of the topic</a:t>
            </a:r>
            <a:endParaRPr lang="en-US" sz="1900">
              <a:solidFill>
                <a:srgbClr val="1E1E1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748016" y="1956282"/>
            <a:ext cx="1663632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0"/>
              </a:lnSpc>
            </a:pPr>
            <a:r>
              <a:rPr lang="en-US" sz="7575" b="1">
                <a:solidFill>
                  <a:srgbClr val="29323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01</a:t>
            </a:r>
            <a:endParaRPr lang="en-US" sz="7575" b="1">
              <a:solidFill>
                <a:srgbClr val="29323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613668" y="3779639"/>
            <a:ext cx="5312774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研究现状</a:t>
            </a:r>
            <a:endParaRPr lang="en-US" sz="440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613668" y="4512554"/>
            <a:ext cx="531277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Research Actuality</a:t>
            </a:r>
            <a:endParaRPr lang="en-US" sz="1900">
              <a:solidFill>
                <a:srgbClr val="1E1E1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613668" y="5460121"/>
            <a:ext cx="5312774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HapTest</a:t>
            </a:r>
            <a:endParaRPr lang="en-US" sz="440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13668" y="6193036"/>
            <a:ext cx="531277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HapTest</a:t>
            </a:r>
            <a:endParaRPr lang="en-US" sz="1900">
              <a:solidFill>
                <a:srgbClr val="1E1E1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613668" y="7140602"/>
            <a:ext cx="5312774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改进方向</a:t>
            </a:r>
            <a:endParaRPr lang="en-US" sz="440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613668" y="7873518"/>
            <a:ext cx="531277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improvement direction</a:t>
            </a:r>
            <a:endParaRPr lang="en-US" sz="1900">
              <a:solidFill>
                <a:srgbClr val="1E1E1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748016" y="3642207"/>
            <a:ext cx="1663632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0"/>
              </a:lnSpc>
            </a:pPr>
            <a:r>
              <a:rPr lang="en-US" sz="7575" b="1">
                <a:solidFill>
                  <a:srgbClr val="5F6B7D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02</a:t>
            </a:r>
            <a:endParaRPr lang="en-US" sz="7575" b="1">
              <a:solidFill>
                <a:srgbClr val="5F6B7D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748016" y="5328132"/>
            <a:ext cx="1663632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0"/>
              </a:lnSpc>
            </a:pPr>
            <a:r>
              <a:rPr lang="en-US" sz="7575" b="1">
                <a:solidFill>
                  <a:srgbClr val="29323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03</a:t>
            </a:r>
            <a:endParaRPr lang="en-US" sz="7575" b="1">
              <a:solidFill>
                <a:srgbClr val="29323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48016" y="7014057"/>
            <a:ext cx="1663632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0"/>
              </a:lnSpc>
            </a:pPr>
            <a:r>
              <a:rPr lang="en-US" sz="7575" b="1">
                <a:solidFill>
                  <a:srgbClr val="5F6B7D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04</a:t>
            </a:r>
            <a:endParaRPr lang="en-US" sz="7575" b="1">
              <a:solidFill>
                <a:srgbClr val="5F6B7D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0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21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2" name="Group 22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020257" y="9704974"/>
            <a:ext cx="4247486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CONTENTS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031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30" name="Group 30"/>
          <p:cNvGrpSpPr/>
          <p:nvPr/>
        </p:nvGrpSpPr>
        <p:grpSpPr>
          <a:xfrm rot="-5400000">
            <a:off x="8485838" y="2465629"/>
            <a:ext cx="310136" cy="271369"/>
            <a:chOff x="0" y="0"/>
            <a:chExt cx="812800" cy="711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id="33" name="Group 33"/>
          <p:cNvGrpSpPr/>
          <p:nvPr/>
        </p:nvGrpSpPr>
        <p:grpSpPr>
          <a:xfrm rot="-5400000">
            <a:off x="8485838" y="4146111"/>
            <a:ext cx="310136" cy="271369"/>
            <a:chOff x="0" y="0"/>
            <a:chExt cx="812800" cy="711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5F6B7D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id="36" name="Group 36"/>
          <p:cNvGrpSpPr/>
          <p:nvPr/>
        </p:nvGrpSpPr>
        <p:grpSpPr>
          <a:xfrm rot="-5400000">
            <a:off x="8485838" y="5826593"/>
            <a:ext cx="310136" cy="271369"/>
            <a:chOff x="0" y="0"/>
            <a:chExt cx="812800" cy="711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id="39" name="Group 39"/>
          <p:cNvGrpSpPr/>
          <p:nvPr/>
        </p:nvGrpSpPr>
        <p:grpSpPr>
          <a:xfrm rot="-5400000">
            <a:off x="8485838" y="7507074"/>
            <a:ext cx="310136" cy="271369"/>
            <a:chOff x="0" y="0"/>
            <a:chExt cx="812800" cy="711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5F6B7D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03143" y="239316"/>
            <a:ext cx="2606285" cy="295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 b="1">
                <a:solidFill>
                  <a:schemeClr val="bg1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 b="1">
              <a:solidFill>
                <a:schemeClr val="bg1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BACKGROUND SIGNIFICANCE OF THE TOPIC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56897" y="5847859"/>
            <a:ext cx="597420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1E1E1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Background significance of the topic</a:t>
            </a:r>
            <a:endParaRPr lang="en-US" sz="2200">
              <a:solidFill>
                <a:srgbClr val="1E1E1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294942" y="2147578"/>
            <a:ext cx="3698117" cy="26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70"/>
              </a:lnSpc>
            </a:pPr>
            <a:r>
              <a:rPr lang="en-US" sz="15475" b="1">
                <a:solidFill>
                  <a:srgbClr val="29323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01</a:t>
            </a:r>
            <a:endParaRPr lang="en-US" sz="15475" b="1">
              <a:solidFill>
                <a:srgbClr val="29323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126940" y="4424786"/>
            <a:ext cx="10034120" cy="1324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90"/>
              </a:lnSpc>
              <a:spcBef>
                <a:spcPct val="0"/>
              </a:spcBef>
            </a:pPr>
            <a:r>
              <a:rPr lang="en-US" sz="81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选题的背景及意义</a:t>
            </a:r>
            <a:endParaRPr lang="en-US" sz="81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2" name="Freeform 12"/>
          <p:cNvSpPr/>
          <p:nvPr/>
        </p:nvSpPr>
        <p:spPr>
          <a:xfrm>
            <a:off x="9725725" y="7507419"/>
            <a:ext cx="463536" cy="463536"/>
          </a:xfrm>
          <a:custGeom>
            <a:avLst/>
            <a:gdLst/>
            <a:ahLst/>
            <a:cxnLst/>
            <a:rect l="l" t="t" r="r" b="b"/>
            <a:pathLst>
              <a:path w="463536" h="463536">
                <a:moveTo>
                  <a:pt x="0" y="0"/>
                </a:moveTo>
                <a:lnTo>
                  <a:pt x="463536" y="0"/>
                </a:lnTo>
                <a:lnTo>
                  <a:pt x="463536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40295" y="6542451"/>
            <a:ext cx="14156053" cy="2294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2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            OpenHarmony作为新兴的开源分布式操作系统，自发布以来呈现出爆发式增长态势。根据HapTest: The Dynamic Analysis Framework for OpenHarmony的记载，截至2024年，OpenHarmony生态已累计超过15,000款应用，搭载设备突破9亿台，覆盖智能手机、智能家居、智慧屏、车载系统等多类IoT设备。Software Engineering for OpenHarmony: A Research Roadmap则进一步指出，OpenHarmony凭借其强大的跨平台能力和分布式架构，已迅速获得广泛 adoption，成为Gitee平台上最活跃的开源项目。</a:t>
            </a:r>
            <a:endParaRPr lang="en-US" sz="22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031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BACKGROUND SIGNIFICANCE OF THE TOPIC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97234" y="1483892"/>
            <a:ext cx="13005823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OpenHarmony生态发展迅速，但软件工具缺失严重</a:t>
            </a:r>
            <a:endParaRPr lang="en-US" sz="4000" b="1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pic>
        <p:nvPicPr>
          <p:cNvPr id="22" name="图片 1"/>
          <p:cNvPicPr>
            <a:picLocks noChangeAspect="1"/>
          </p:cNvPicPr>
          <p:nvPr/>
        </p:nvPicPr>
        <p:blipFill>
          <a:blip r:embed="rId10"/>
          <a:srcRect l="965" t="19050" r="688" b="2136"/>
          <a:stretch>
            <a:fillRect/>
          </a:stretch>
        </p:blipFill>
        <p:spPr>
          <a:xfrm>
            <a:off x="2133600" y="2552700"/>
            <a:ext cx="14269085" cy="3780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27283" y="644886"/>
            <a:ext cx="5977457" cy="6434572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031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BACKGROUND SIGNIFICANCE OF THE TOPIC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54001" y="7213780"/>
            <a:ext cx="11412365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    </a:t>
            </a: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为了量化"工具缺失"的程度，Research Roadmap中对Android和OpenHarmony的研究投入进行了对比。结果显示：在DBLP数据库中，以"Android"为关键词可检索到超过7,000篇论文，而OpenHarmony相关论文仅有8篇。这种近千倍的差距，直观地反映了OpenHarmony软件工程研究的空白状态，也意味着巨大的研究机遇。</a:t>
            </a: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13127418" y="6828993"/>
            <a:ext cx="4377185" cy="2019299"/>
            <a:chOff x="111" y="25400"/>
            <a:chExt cx="5836247" cy="2692399"/>
          </a:xfrm>
        </p:grpSpPr>
        <p:sp>
          <p:nvSpPr>
            <p:cNvPr id="21" name="AutoShape 21"/>
            <p:cNvSpPr/>
            <p:nvPr/>
          </p:nvSpPr>
          <p:spPr>
            <a:xfrm>
              <a:off x="442" y="25400"/>
              <a:ext cx="5835916" cy="254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332" y="914400"/>
              <a:ext cx="5835916" cy="254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221" y="1803400"/>
              <a:ext cx="5835916" cy="254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111" y="2692399"/>
              <a:ext cx="5835916" cy="254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59927" y="254000"/>
              <a:ext cx="1624754" cy="3945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  <a:spcBef>
                  <a:spcPct val="0"/>
                </a:spcBef>
              </a:pPr>
              <a:r>
                <a:rPr lang="en-US" sz="1925">
                  <a:solidFill>
                    <a:srgbClr val="000000"/>
                  </a:solidFill>
                  <a:latin typeface="思源黑体 2" panose="020B0500000000000000" charset="-122"/>
                  <a:ea typeface="思源黑体 2" panose="020B0500000000000000" charset="-122"/>
                  <a:cs typeface="思源黑体 2" panose="020B0500000000000000" charset="-122"/>
                  <a:sym typeface="思源黑体 2" panose="020B0500000000000000" charset="-122"/>
                </a:rPr>
                <a:t>Andriod</a:t>
              </a:r>
              <a:endParaRPr lang="en-US" sz="1925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0038" y="1181100"/>
              <a:ext cx="2736427" cy="3945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  <a:spcBef>
                  <a:spcPct val="0"/>
                </a:spcBef>
              </a:pPr>
              <a:r>
                <a:rPr lang="en-US" sz="1925">
                  <a:solidFill>
                    <a:srgbClr val="000000"/>
                  </a:solidFill>
                  <a:latin typeface="思源黑体 2" panose="020B0500000000000000" charset="-122"/>
                  <a:ea typeface="思源黑体 2" panose="020B0500000000000000" charset="-122"/>
                  <a:cs typeface="思源黑体 2" panose="020B0500000000000000" charset="-122"/>
                  <a:sym typeface="思源黑体 2" panose="020B0500000000000000" charset="-122"/>
                </a:rPr>
                <a:t>OpenHarmony</a:t>
              </a:r>
              <a:endParaRPr lang="en-US" sz="1925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0038" y="2108200"/>
              <a:ext cx="1342814" cy="3945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  <a:spcBef>
                  <a:spcPct val="0"/>
                </a:spcBef>
              </a:pPr>
              <a:r>
                <a:rPr lang="en-US" sz="1925">
                  <a:solidFill>
                    <a:srgbClr val="000000"/>
                  </a:solidFill>
                  <a:latin typeface="思源黑体 2" panose="020B0500000000000000" charset="-122"/>
                  <a:ea typeface="思源黑体 2" panose="020B0500000000000000" charset="-122"/>
                  <a:cs typeface="思源黑体 2" panose="020B0500000000000000" charset="-122"/>
                  <a:sym typeface="思源黑体 2" panose="020B0500000000000000" charset="-122"/>
                </a:rPr>
                <a:t>差距</a:t>
              </a:r>
              <a:endParaRPr lang="en-US" sz="1925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04486" y="1181100"/>
              <a:ext cx="181107" cy="381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  <a:spcBef>
                  <a:spcPct val="0"/>
                </a:spcBef>
              </a:pPr>
              <a:r>
                <a:rPr lang="en-US" sz="1925">
                  <a:solidFill>
                    <a:srgbClr val="000000"/>
                  </a:solidFill>
                  <a:latin typeface="思源黑体 2" panose="020B0500000000000000" charset="-122"/>
                  <a:ea typeface="思源黑体 2" panose="020B0500000000000000" charset="-122"/>
                  <a:cs typeface="思源黑体 2" panose="020B0500000000000000" charset="-122"/>
                  <a:sym typeface="思源黑体 2" panose="020B0500000000000000" charset="-122"/>
                </a:rPr>
                <a:t>8</a:t>
              </a:r>
              <a:endParaRPr lang="en-US" sz="1925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9732" y="254000"/>
              <a:ext cx="1255607" cy="3945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  <a:spcBef>
                  <a:spcPct val="0"/>
                </a:spcBef>
              </a:pPr>
              <a:r>
                <a:rPr lang="en-US" sz="1925">
                  <a:solidFill>
                    <a:srgbClr val="000000"/>
                  </a:solidFill>
                  <a:latin typeface="思源黑体 2" panose="020B0500000000000000" charset="-122"/>
                  <a:ea typeface="思源黑体 2" panose="020B0500000000000000" charset="-122"/>
                  <a:cs typeface="思源黑体 2" panose="020B0500000000000000" charset="-122"/>
                  <a:sym typeface="思源黑体 2" panose="020B0500000000000000" charset="-122"/>
                </a:rPr>
                <a:t>7000+</a:t>
              </a:r>
              <a:endParaRPr lang="en-US" sz="1925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79732" y="2108200"/>
              <a:ext cx="1256454" cy="3945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  <a:spcBef>
                  <a:spcPct val="0"/>
                </a:spcBef>
              </a:pPr>
              <a:r>
                <a:rPr lang="en-US" sz="1925">
                  <a:solidFill>
                    <a:srgbClr val="000000"/>
                  </a:solidFill>
                  <a:latin typeface="思源黑体 2" panose="020B0500000000000000" charset="-122"/>
                  <a:ea typeface="思源黑体 2" panose="020B0500000000000000" charset="-122"/>
                  <a:cs typeface="思源黑体 2" panose="020B0500000000000000" charset="-122"/>
                  <a:sym typeface="思源黑体 2" panose="020B0500000000000000" charset="-122"/>
                </a:rPr>
                <a:t>近千倍</a:t>
              </a:r>
              <a:endParaRPr lang="en-US" sz="1925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54075" y="6371590"/>
            <a:ext cx="5470525" cy="326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50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字由点字典楷" panose="00020600040101010101" charset="-122"/>
                <a:ea typeface="字由点字典楷" panose="00020600040101010101" charset="-122"/>
                <a:cs typeface="字由点字典楷" panose="00020600040101010101" charset="-122"/>
                <a:sym typeface="字由点字典楷" panose="00020600040101010101" charset="-122"/>
              </a:rPr>
              <a:t>表1.与OpenHarmony相关的主要出版物列表</a:t>
            </a:r>
            <a:endParaRPr lang="en-US" sz="2125">
              <a:solidFill>
                <a:srgbClr val="000000"/>
              </a:solidFill>
              <a:latin typeface="字由点字典楷" panose="00020600040101010101" charset="-122"/>
              <a:ea typeface="字由点字典楷" panose="00020600040101010101" charset="-122"/>
              <a:cs typeface="字由点字典楷" panose="00020600040101010101" charset="-122"/>
              <a:sym typeface="字由点字典楷" panose="00020600040101010101" charset="-122"/>
            </a:endParaRPr>
          </a:p>
        </p:txBody>
      </p:sp>
      <p:pic>
        <p:nvPicPr>
          <p:cNvPr id="32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075" y="1441450"/>
            <a:ext cx="11344910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031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BACKGROUND SIGNIFICANCE OF THE TOPIC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49344" y="3620644"/>
            <a:ext cx="14547003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       尽管OpenHarmony生态发展迅猛，但针对该平台的软件工程工具却严重滞后。Software Engineering for OpenHarmony: A Research Roadmap明确指出，现有的Android/iOS软件工程方法无法直接迁移到OpenHarmony，主要原因在于：</a:t>
            </a: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（1）OpenHarmony采用了全新的分层架构；</a:t>
            </a: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（2）OpenHarmony应用使用新设计的ArkTS语言开发。这种"生态快速发展"与"工具严重缺失"之间的矛盾，构成了本研究的核心动机。</a:t>
            </a: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      因此呼吁软件工程研究社区加大OpenHarmony的投入，填补这一空白。</a:t>
            </a: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所以我们需要针对表2中的这些具体环节（如静态分析，框架定制）进行研发，并从刚才分析出来的方向入手开展专门的软件工程研究。</a:t>
            </a: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048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031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BACKGROUND SIGNIFICANCE OF THE TOPIC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05726" y="8676973"/>
            <a:ext cx="9425235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字由点字典楷" panose="00020600040101010101" charset="-122"/>
                <a:ea typeface="字由点字典楷" panose="00020600040101010101" charset="-122"/>
                <a:cs typeface="字由点字典楷" panose="00020600040101010101" charset="-122"/>
                <a:sym typeface="字由点字典楷" panose="00020600040101010101" charset="-122"/>
              </a:rPr>
              <a:t>表2：OpenHarmony与成熟移动软件工程（MSE）之间的研究空白</a:t>
            </a:r>
            <a:endParaRPr lang="en-US" sz="2125">
              <a:solidFill>
                <a:srgbClr val="000000"/>
              </a:solidFill>
              <a:latin typeface="字由点字典楷" panose="00020600040101010101" charset="-122"/>
              <a:ea typeface="字由点字典楷" panose="00020600040101010101" charset="-122"/>
              <a:cs typeface="字由点字典楷" panose="00020600040101010101" charset="-122"/>
              <a:sym typeface="字由点字典楷" panose="00020600040101010101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808210" y="1379220"/>
            <a:ext cx="8148955" cy="12242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这是一张OpenHarmony软件工程研究现状与机遇的学术分析图，它系统梳理了OpenHarmony与成熟移动软件工程（MSE）之间的研究空白，并划分了三大研究方向与新机遇：</a:t>
            </a: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</a:p>
          <a:p>
            <a:pPr algn="l">
              <a:lnSpc>
                <a:spcPts val="2880"/>
              </a:lnSpc>
            </a:pP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</a:t>
            </a: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9525000" y="7505700"/>
            <a:ext cx="8712835" cy="1210310"/>
          </a:xfrm>
          <a:prstGeom prst="ellipse">
            <a:avLst/>
          </a:prstGeom>
          <a:gradFill>
            <a:gsLst>
              <a:gs pos="34000">
                <a:srgbClr val="C0DFE8">
                  <a:alpha val="100000"/>
                </a:srgbClr>
              </a:gs>
              <a:gs pos="0">
                <a:schemeClr val="accent5">
                  <a:lumMod val="60000"/>
                  <a:lumOff val="40000"/>
                  <a:alpha val="71000"/>
                </a:schemeClr>
              </a:gs>
              <a:gs pos="100000">
                <a:srgbClr val="EDF0F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4"/>
          <p:cNvPicPr>
            <a:picLocks noChangeAspect="1"/>
          </p:cNvPicPr>
          <p:nvPr/>
        </p:nvPicPr>
        <p:blipFill>
          <a:blip r:embed="rId8"/>
          <a:srcRect l="3271" r="3503"/>
          <a:stretch>
            <a:fillRect/>
          </a:stretch>
        </p:blipFill>
        <p:spPr>
          <a:xfrm>
            <a:off x="605790" y="1104900"/>
            <a:ext cx="8744585" cy="737997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10390505" y="7810500"/>
            <a:ext cx="7592060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是</a:t>
            </a:r>
            <a:r>
              <a:rPr 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开展相关课题（如HapTest测试框架）的核心依据</a:t>
            </a:r>
            <a:endParaRPr 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2" panose="020B0500000000000000" charset="-122"/>
            </a:endParaRPr>
          </a:p>
          <a:p>
            <a:endParaRPr lang="en-US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2" panose="020B0500000000000000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9753600" y="2781300"/>
            <a:ext cx="685800" cy="685800"/>
          </a:xfrm>
          <a:prstGeom prst="ellipse">
            <a:avLst/>
          </a:prstGeom>
          <a:solidFill>
            <a:srgbClr val="B101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9803130" y="2830195"/>
            <a:ext cx="587375" cy="587375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9906000" y="2933700"/>
            <a:ext cx="341630" cy="375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bg1"/>
                </a:solidFill>
                <a:latin typeface="方正超粗黑简体" panose="02000000000000000000" charset="-122"/>
                <a:ea typeface="方正超粗黑简体" panose="02000000000000000000" charset="-122"/>
              </a:rPr>
              <a:t>1</a:t>
            </a:r>
            <a:endParaRPr lang="en-US" altLang="zh-CN" sz="2400" b="1">
              <a:solidFill>
                <a:schemeClr val="bg1"/>
              </a:solidFill>
              <a:latin typeface="方正超粗黑简体" panose="02000000000000000000" charset="-122"/>
              <a:ea typeface="方正超粗黑简体" panose="02000000000000000000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906000" y="3503930"/>
            <a:ext cx="7951470" cy="1267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App-related Research（应用相关研究）</a:t>
            </a: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Framework-related Research（框架相关研究）</a:t>
            </a: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Ecosystem-related Research（生态相关研究）</a:t>
            </a: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endParaRPr lang="en-US" alt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906000" y="5423535"/>
            <a:ext cx="8864600" cy="1548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ts val="2880"/>
              </a:lnSpc>
            </a:pPr>
            <a:endParaRPr lang="en-US" sz="20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基于大语言模型（LLM）的OpenHarmony软件工程方法</a:t>
            </a: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支持OpenHarmony的跨平台框架</a:t>
            </a: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从海量Android/iOS资源中学习（迁移成熟生态经验）</a:t>
            </a:r>
            <a:endParaRPr 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endParaRPr lang="en-US" altLang="en-US" sz="2400">
              <a:solidFill>
                <a:srgbClr val="000000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0515600" y="2933700"/>
            <a:ext cx="43903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核心研究方向划分</a:t>
            </a:r>
            <a:endParaRPr lang="en-US" altLang="en-US" sz="2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9753600" y="5022215"/>
            <a:ext cx="685800" cy="685800"/>
          </a:xfrm>
          <a:prstGeom prst="ellipse">
            <a:avLst/>
          </a:prstGeom>
          <a:solidFill>
            <a:srgbClr val="B101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9803130" y="5071110"/>
            <a:ext cx="587375" cy="587375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9906000" y="5174615"/>
            <a:ext cx="341630" cy="375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bg1"/>
                </a:solidFill>
                <a:latin typeface="方正超粗黑简体" panose="02000000000000000000" charset="-122"/>
                <a:ea typeface="方正超粗黑简体" panose="02000000000000000000" charset="-122"/>
              </a:rPr>
              <a:t>2</a:t>
            </a:r>
            <a:endParaRPr lang="en-US" altLang="zh-CN" sz="2400" b="1">
              <a:solidFill>
                <a:schemeClr val="bg1"/>
              </a:solidFill>
              <a:latin typeface="方正超粗黑简体" panose="02000000000000000000" charset="-122"/>
              <a:ea typeface="方正超粗黑简体" panose="02000000000000000000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0515600" y="5143500"/>
            <a:ext cx="73012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新研究机遇（New Research Opportunities）</a:t>
            </a:r>
            <a:endParaRPr lang="en-US" altLang="en-US" sz="2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2" panose="020B05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031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RESEARCH ACTUALITY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56897" y="5847859"/>
            <a:ext cx="597420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1E1E1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Research Actuality</a:t>
            </a:r>
            <a:endParaRPr lang="en-US" sz="2200">
              <a:solidFill>
                <a:srgbClr val="1E1E1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294942" y="2147578"/>
            <a:ext cx="3698117" cy="26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70"/>
              </a:lnSpc>
            </a:pPr>
            <a:r>
              <a:rPr lang="en-US" sz="15475" b="1">
                <a:solidFill>
                  <a:srgbClr val="29323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02</a:t>
            </a:r>
            <a:endParaRPr lang="en-US" sz="15475" b="1">
              <a:solidFill>
                <a:srgbClr val="29323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126940" y="4424786"/>
            <a:ext cx="10034120" cy="1324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90"/>
              </a:lnSpc>
              <a:spcBef>
                <a:spcPct val="0"/>
              </a:spcBef>
            </a:pPr>
            <a:r>
              <a:rPr lang="en-US" sz="81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研究现状</a:t>
            </a:r>
            <a:endParaRPr lang="en-US" sz="81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031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RESEARCH ACTUALITY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-796260" y="1124908"/>
            <a:ext cx="7467806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静态分析研究现状</a:t>
            </a:r>
            <a:endParaRPr lang="en-US" sz="4200" b="1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08990" y="6515100"/>
            <a:ext cx="6047740" cy="326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50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字由点字典楷" panose="00020600040101010101" charset="-122"/>
                <a:ea typeface="字由点字典楷" panose="00020600040101010101" charset="-122"/>
                <a:cs typeface="字由点字典楷" panose="00020600040101010101" charset="-122"/>
                <a:sym typeface="字由点字典楷" panose="00020600040101010101" charset="-122"/>
              </a:rPr>
              <a:t>表3：首个针对OpenHarmony的静态分析框架</a:t>
            </a:r>
            <a:endParaRPr lang="en-US" sz="2125">
              <a:solidFill>
                <a:srgbClr val="000000"/>
              </a:solidFill>
              <a:latin typeface="字由点字典楷" panose="00020600040101010101" charset="-122"/>
              <a:ea typeface="字由点字典楷" panose="00020600040101010101" charset="-122"/>
              <a:cs typeface="字由点字典楷" panose="00020600040101010101" charset="-122"/>
              <a:sym typeface="字由点字典楷" panose="00020600040101010101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08816" y="6971030"/>
            <a:ext cx="7743250" cy="221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这张图清晰地展示了框架的双层设计</a:t>
            </a:r>
            <a:endParaRPr 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底层基础分析：代码表示（Scene Model、CFG）→ 代码转换（三地址码、去糖）→ 代码增强（Def-Use链、类型推导）。</a:t>
            </a:r>
            <a:endParaRPr 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518160" lvl="1" indent="-259080" algn="l">
              <a:lnSpc>
                <a:spcPts val="288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上层高级分析：调用图构建、数据流分析，支撑敏感 API 扫描、空指针检测等应用场景。</a:t>
            </a:r>
            <a:endParaRPr 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23" name="Group 23"/>
          <p:cNvGrpSpPr/>
          <p:nvPr/>
        </p:nvGrpSpPr>
        <p:grpSpPr>
          <a:xfrm rot="0">
            <a:off x="9676765" y="1506855"/>
            <a:ext cx="7776210" cy="2924175"/>
            <a:chOff x="0" y="0"/>
            <a:chExt cx="2156577" cy="8707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56577" cy="870780"/>
            </a:xfrm>
            <a:custGeom>
              <a:avLst/>
              <a:gdLst/>
              <a:ahLst/>
              <a:cxnLst/>
              <a:rect l="l" t="t" r="r" b="b"/>
              <a:pathLst>
                <a:path w="2156577" h="870780">
                  <a:moveTo>
                    <a:pt x="0" y="0"/>
                  </a:moveTo>
                  <a:lnTo>
                    <a:pt x="2156577" y="0"/>
                  </a:lnTo>
                  <a:lnTo>
                    <a:pt x="2156577" y="870780"/>
                  </a:lnTo>
                  <a:lnTo>
                    <a:pt x="0" y="870780"/>
                  </a:lnTo>
                  <a:close/>
                </a:path>
              </a:pathLst>
            </a:custGeom>
            <a:ln w="19050" cap="sq">
              <a:solidFill>
                <a:srgbClr val="B10101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2156577" cy="899355"/>
            </a:xfrm>
            <a:prstGeom prst="rect">
              <a:avLst/>
            </a:prstGeom>
          </p:spPr>
          <p:txBody>
            <a:bodyPr lIns="46746" tIns="46746" rIns="46746" bIns="46746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9116107" y="1201108"/>
            <a:ext cx="1378782" cy="1390785"/>
            <a:chOff x="0" y="0"/>
            <a:chExt cx="1838376" cy="1854380"/>
          </a:xfrm>
        </p:grpSpPr>
        <p:grpSp>
          <p:nvGrpSpPr>
            <p:cNvPr id="27" name="Group 27"/>
            <p:cNvGrpSpPr/>
            <p:nvPr/>
          </p:nvGrpSpPr>
          <p:grpSpPr>
            <a:xfrm rot="0">
              <a:off x="0" y="0"/>
              <a:ext cx="1838376" cy="1854380"/>
              <a:chOff x="0" y="0"/>
              <a:chExt cx="805785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0578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5785" h="812800">
                    <a:moveTo>
                      <a:pt x="402892" y="0"/>
                    </a:moveTo>
                    <a:cubicBezTo>
                      <a:pt x="180381" y="0"/>
                      <a:pt x="0" y="181951"/>
                      <a:pt x="0" y="406400"/>
                    </a:cubicBezTo>
                    <a:cubicBezTo>
                      <a:pt x="0" y="630849"/>
                      <a:pt x="180381" y="812800"/>
                      <a:pt x="402892" y="812800"/>
                    </a:cubicBezTo>
                    <a:cubicBezTo>
                      <a:pt x="625404" y="812800"/>
                      <a:pt x="805785" y="630849"/>
                      <a:pt x="805785" y="406400"/>
                    </a:cubicBezTo>
                    <a:cubicBezTo>
                      <a:pt x="805785" y="181951"/>
                      <a:pt x="625404" y="0"/>
                      <a:pt x="402892" y="0"/>
                    </a:cubicBezTo>
                    <a:close/>
                  </a:path>
                </a:pathLst>
              </a:custGeom>
              <a:solidFill>
                <a:srgbClr val="B10101">
                  <a:alpha val="5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5542" y="28575"/>
                <a:ext cx="654700" cy="708025"/>
              </a:xfrm>
              <a:prstGeom prst="rect">
                <a:avLst/>
              </a:prstGeom>
            </p:spPr>
            <p:txBody>
              <a:bodyPr lIns="46746" tIns="46746" rIns="46746" bIns="46746" rtlCol="0" anchor="ctr"/>
              <a:lstStyle/>
              <a:p>
                <a:pPr marL="0" lvl="0" indent="0" algn="ctr">
                  <a:lnSpc>
                    <a:spcPts val="310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0">
              <a:off x="115163" y="116166"/>
              <a:ext cx="1608049" cy="1622049"/>
              <a:chOff x="0" y="0"/>
              <a:chExt cx="805785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0578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5785" h="812800">
                    <a:moveTo>
                      <a:pt x="402892" y="0"/>
                    </a:moveTo>
                    <a:cubicBezTo>
                      <a:pt x="180381" y="0"/>
                      <a:pt x="0" y="181951"/>
                      <a:pt x="0" y="406400"/>
                    </a:cubicBezTo>
                    <a:cubicBezTo>
                      <a:pt x="0" y="630849"/>
                      <a:pt x="180381" y="812800"/>
                      <a:pt x="402892" y="812800"/>
                    </a:cubicBezTo>
                    <a:cubicBezTo>
                      <a:pt x="625404" y="812800"/>
                      <a:pt x="805785" y="630849"/>
                      <a:pt x="805785" y="406400"/>
                    </a:cubicBezTo>
                    <a:cubicBezTo>
                      <a:pt x="805785" y="181951"/>
                      <a:pt x="625404" y="0"/>
                      <a:pt x="402892" y="0"/>
                    </a:cubicBezTo>
                    <a:close/>
                  </a:path>
                </a:pathLst>
              </a:custGeom>
              <a:solidFill>
                <a:srgbClr val="B1010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5542" y="28575"/>
                <a:ext cx="654700" cy="708025"/>
              </a:xfrm>
              <a:prstGeom prst="rect">
                <a:avLst/>
              </a:prstGeom>
            </p:spPr>
            <p:txBody>
              <a:bodyPr lIns="46746" tIns="46746" rIns="46746" bIns="46746" rtlCol="0" anchor="ctr"/>
              <a:lstStyle/>
              <a:p>
                <a:pPr marL="0" lvl="0" indent="0" algn="ctr">
                  <a:lnSpc>
                    <a:spcPts val="310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499841" y="591713"/>
              <a:ext cx="838694" cy="670955"/>
            </a:xfrm>
            <a:custGeom>
              <a:avLst/>
              <a:gdLst/>
              <a:ahLst/>
              <a:cxnLst/>
              <a:rect l="l" t="t" r="r" b="b"/>
              <a:pathLst>
                <a:path w="838694" h="670955">
                  <a:moveTo>
                    <a:pt x="0" y="0"/>
                  </a:moveTo>
                  <a:lnTo>
                    <a:pt x="838694" y="0"/>
                  </a:lnTo>
                  <a:lnTo>
                    <a:pt x="838694" y="670955"/>
                  </a:lnTo>
                  <a:lnTo>
                    <a:pt x="0" y="67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10417175" y="2400300"/>
            <a:ext cx="6529705" cy="1971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4970" lvl="1" indent="-197485" algn="l">
              <a:lnSpc>
                <a:spcPts val="3075"/>
              </a:lnSpc>
              <a:buFont typeface="Arial" panose="020B0604020202020204"/>
              <a:buChar char="•"/>
            </a:pPr>
            <a:r>
              <a:rPr lang="en-US" sz="2100" b="1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开源 618 个真实 ArkTS 应用数据集；</a:t>
            </a:r>
            <a:endParaRPr lang="en-US" sz="2100" b="1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394970" lvl="1" indent="-197485" algn="just">
              <a:lnSpc>
                <a:spcPts val="3075"/>
              </a:lnSpc>
              <a:buFont typeface="Arial" panose="020B0604020202020204"/>
              <a:buChar char="•"/>
            </a:pPr>
            <a:r>
              <a:rPr lang="en-US" sz="2100" b="1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首个针对Openharmony的静态分析框架</a:t>
            </a:r>
            <a:endParaRPr lang="en-US" sz="2100" b="1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394970" lvl="1" indent="-197485" algn="just">
              <a:lnSpc>
                <a:spcPts val="3075"/>
              </a:lnSpc>
              <a:buFont typeface="Arial" panose="020B0604020202020204"/>
              <a:buChar char="•"/>
            </a:pPr>
            <a:r>
              <a:rPr lang="en-US" sz="2100" b="1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效率：多数应用分析在 1 秒内完成；</a:t>
            </a:r>
            <a:endParaRPr lang="en-US" sz="2100" b="1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394970" lvl="1" indent="-197485" algn="just">
              <a:lnSpc>
                <a:spcPts val="3075"/>
              </a:lnSpc>
              <a:buFont typeface="Arial" panose="020B0604020202020204"/>
              <a:buChar char="•"/>
            </a:pPr>
            <a:r>
              <a:rPr lang="en-US" sz="2100" b="1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精度：CHA 算法精度 96.39%，RTA 算法精度 100%。</a:t>
            </a:r>
            <a:endParaRPr lang="en-US" sz="2100" b="1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3075"/>
              </a:lnSpc>
            </a:pPr>
            <a:endParaRPr lang="en-US" sz="2100" b="1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372451" y="1652593"/>
            <a:ext cx="4116491" cy="571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015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核心成果</a:t>
            </a:r>
            <a:endParaRPr lang="en-US" sz="3015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pic>
        <p:nvPicPr>
          <p:cNvPr id="36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1881505"/>
            <a:ext cx="7943215" cy="4469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图片 13"/>
          <p:cNvPicPr>
            <a:picLocks noChangeAspect="1"/>
          </p:cNvPicPr>
          <p:nvPr/>
        </p:nvPicPr>
        <p:blipFill>
          <a:blip r:embed="rId11"/>
          <a:srcRect l="1678" t="7131" r="1686" b="8401"/>
          <a:stretch>
            <a:fillRect/>
          </a:stretch>
        </p:blipFill>
        <p:spPr>
          <a:xfrm>
            <a:off x="9677400" y="4754880"/>
            <a:ext cx="7783195" cy="2122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图片 12"/>
          <p:cNvPicPr>
            <a:picLocks noChangeAspect="1"/>
          </p:cNvPicPr>
          <p:nvPr/>
        </p:nvPicPr>
        <p:blipFill>
          <a:blip r:embed="rId12"/>
          <a:srcRect l="1100" r="2144"/>
          <a:stretch>
            <a:fillRect/>
          </a:stretch>
        </p:blipFill>
        <p:spPr>
          <a:xfrm>
            <a:off x="9677400" y="6875145"/>
            <a:ext cx="7782560" cy="23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>
            <p:custDataLst>
              <p:tags r:id="rId2"/>
            </p:custDataLst>
          </p:nvPr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>
            <p:custDataLst>
              <p:tags r:id="rId4"/>
            </p:custDataLst>
          </p:nvPr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>
            <p:custDataLst>
              <p:tags r:id="rId7"/>
            </p:custDataLst>
          </p:nvPr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>
            <p:custDataLst>
              <p:tags r:id="rId10"/>
            </p:custDataLst>
          </p:nvPr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2" name="TextBox 12"/>
          <p:cNvSpPr txBox="1"/>
          <p:nvPr>
            <p:custDataLst>
              <p:tags r:id="rId13"/>
            </p:custDataLst>
          </p:nvPr>
        </p:nvSpPr>
        <p:spPr>
          <a:xfrm>
            <a:off x="9031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14"/>
            </p:custDataLst>
          </p:nvPr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5"/>
            </p:custDataLst>
          </p:nvPr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16"/>
            </p:custDataLst>
          </p:nvPr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RESEARCH ACTUALITY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grpSp>
        <p:nvGrpSpPr>
          <p:cNvPr id="17" name="Group 17"/>
          <p:cNvGrpSpPr/>
          <p:nvPr>
            <p:custDataLst>
              <p:tags r:id="rId17"/>
            </p:custDataLst>
          </p:nvPr>
        </p:nvGrpSpPr>
        <p:grpSpPr>
          <a:xfrm rot="0">
            <a:off x="1028700" y="2196020"/>
            <a:ext cx="7800590" cy="6342612"/>
            <a:chOff x="0" y="0"/>
            <a:chExt cx="1948756" cy="1584521"/>
          </a:xfrm>
        </p:grpSpPr>
        <p:sp>
          <p:nvSpPr>
            <p:cNvPr id="18" name="Freeform 18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948755" cy="1584521"/>
            </a:xfrm>
            <a:custGeom>
              <a:avLst/>
              <a:gdLst/>
              <a:ahLst/>
              <a:cxnLst/>
              <a:rect l="l" t="t" r="r" b="b"/>
              <a:pathLst>
                <a:path w="1948755" h="1584521">
                  <a:moveTo>
                    <a:pt x="0" y="0"/>
                  </a:moveTo>
                  <a:lnTo>
                    <a:pt x="1948755" y="0"/>
                  </a:lnTo>
                  <a:lnTo>
                    <a:pt x="1948755" y="1584521"/>
                  </a:lnTo>
                  <a:lnTo>
                    <a:pt x="0" y="1584521"/>
                  </a:lnTo>
                  <a:close/>
                </a:path>
              </a:pathLst>
            </a:custGeom>
            <a:ln w="19050" cap="sq">
              <a:solidFill>
                <a:srgbClr val="5F6B7D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948756" cy="1613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>
            <p:custDataLst>
              <p:tags r:id="rId19"/>
            </p:custDataLst>
          </p:nvPr>
        </p:nvGrpSpPr>
        <p:grpSpPr>
          <a:xfrm rot="0">
            <a:off x="9144000" y="2196020"/>
            <a:ext cx="8352827" cy="6342612"/>
            <a:chOff x="0" y="0"/>
            <a:chExt cx="2111615" cy="1603428"/>
          </a:xfrm>
        </p:grpSpPr>
        <p:sp>
          <p:nvSpPr>
            <p:cNvPr id="21" name="Freeform 21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2111615" cy="1603428"/>
            </a:xfrm>
            <a:custGeom>
              <a:avLst/>
              <a:gdLst/>
              <a:ahLst/>
              <a:cxnLst/>
              <a:rect l="l" t="t" r="r" b="b"/>
              <a:pathLst>
                <a:path w="2111615" h="1603428">
                  <a:moveTo>
                    <a:pt x="0" y="0"/>
                  </a:moveTo>
                  <a:lnTo>
                    <a:pt x="2111615" y="0"/>
                  </a:lnTo>
                  <a:lnTo>
                    <a:pt x="2111615" y="1603428"/>
                  </a:lnTo>
                  <a:lnTo>
                    <a:pt x="0" y="1603428"/>
                  </a:lnTo>
                  <a:close/>
                </a:path>
              </a:pathLst>
            </a:custGeom>
            <a:ln w="19050" cap="sq">
              <a:solidFill>
                <a:srgbClr val="B10101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2111615" cy="1632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3" name="Group 23"/>
          <p:cNvGrpSpPr/>
          <p:nvPr>
            <p:custDataLst>
              <p:tags r:id="rId21"/>
            </p:custDataLst>
          </p:nvPr>
        </p:nvGrpSpPr>
        <p:grpSpPr>
          <a:xfrm rot="0">
            <a:off x="15111114" y="1505172"/>
            <a:ext cx="1543001" cy="1556434"/>
            <a:chOff x="0" y="0"/>
            <a:chExt cx="2057334" cy="2075245"/>
          </a:xfrm>
        </p:grpSpPr>
        <p:grpSp>
          <p:nvGrpSpPr>
            <p:cNvPr id="24" name="Group 24"/>
            <p:cNvGrpSpPr/>
            <p:nvPr/>
          </p:nvGrpSpPr>
          <p:grpSpPr>
            <a:xfrm rot="0">
              <a:off x="0" y="0"/>
              <a:ext cx="2057334" cy="2075245"/>
              <a:chOff x="0" y="0"/>
              <a:chExt cx="805785" cy="812800"/>
            </a:xfrm>
          </p:grpSpPr>
          <p:sp>
            <p:nvSpPr>
              <p:cNvPr id="25" name="Freeform 25"/>
              <p:cNvSpPr/>
              <p:nvPr>
                <p:custDataLst>
                  <p:tags r:id="rId22"/>
                </p:custDataLst>
              </p:nvPr>
            </p:nvSpPr>
            <p:spPr>
              <a:xfrm>
                <a:off x="0" y="0"/>
                <a:ext cx="80578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5785" h="812800">
                    <a:moveTo>
                      <a:pt x="402892" y="0"/>
                    </a:moveTo>
                    <a:cubicBezTo>
                      <a:pt x="180381" y="0"/>
                      <a:pt x="0" y="181951"/>
                      <a:pt x="0" y="406400"/>
                    </a:cubicBezTo>
                    <a:cubicBezTo>
                      <a:pt x="0" y="630849"/>
                      <a:pt x="180381" y="812800"/>
                      <a:pt x="402892" y="812800"/>
                    </a:cubicBezTo>
                    <a:cubicBezTo>
                      <a:pt x="625404" y="812800"/>
                      <a:pt x="805785" y="630849"/>
                      <a:pt x="805785" y="406400"/>
                    </a:cubicBezTo>
                    <a:cubicBezTo>
                      <a:pt x="805785" y="181951"/>
                      <a:pt x="625404" y="0"/>
                      <a:pt x="402892" y="0"/>
                    </a:cubicBezTo>
                    <a:close/>
                  </a:path>
                </a:pathLst>
              </a:custGeom>
              <a:solidFill>
                <a:srgbClr val="B10101">
                  <a:alpha val="5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5542" y="28575"/>
                <a:ext cx="6547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10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 rot="0">
              <a:off x="128880" y="130002"/>
              <a:ext cx="1799575" cy="1815242"/>
              <a:chOff x="0" y="0"/>
              <a:chExt cx="805785" cy="812800"/>
            </a:xfrm>
          </p:grpSpPr>
          <p:sp>
            <p:nvSpPr>
              <p:cNvPr id="28" name="Freeform 28"/>
              <p:cNvSpPr/>
              <p:nvPr>
                <p:custDataLst>
                  <p:tags r:id="rId23"/>
                </p:custDataLst>
              </p:nvPr>
            </p:nvSpPr>
            <p:spPr>
              <a:xfrm>
                <a:off x="0" y="0"/>
                <a:ext cx="80578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5785" h="812800">
                    <a:moveTo>
                      <a:pt x="402892" y="0"/>
                    </a:moveTo>
                    <a:cubicBezTo>
                      <a:pt x="180381" y="0"/>
                      <a:pt x="0" y="181951"/>
                      <a:pt x="0" y="406400"/>
                    </a:cubicBezTo>
                    <a:cubicBezTo>
                      <a:pt x="0" y="630849"/>
                      <a:pt x="180381" y="812800"/>
                      <a:pt x="402892" y="812800"/>
                    </a:cubicBezTo>
                    <a:cubicBezTo>
                      <a:pt x="625404" y="812800"/>
                      <a:pt x="805785" y="630849"/>
                      <a:pt x="805785" y="406400"/>
                    </a:cubicBezTo>
                    <a:cubicBezTo>
                      <a:pt x="805785" y="181951"/>
                      <a:pt x="625404" y="0"/>
                      <a:pt x="402892" y="0"/>
                    </a:cubicBezTo>
                    <a:close/>
                  </a:path>
                </a:pathLst>
              </a:custGeom>
              <a:solidFill>
                <a:srgbClr val="B1010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5542" y="28575"/>
                <a:ext cx="6547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10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30" name="Freeform 30"/>
            <p:cNvSpPr/>
            <p:nvPr>
              <p:custDataLst>
                <p:tags r:id="rId24"/>
              </p:custDataLst>
            </p:nvPr>
          </p:nvSpPr>
          <p:spPr>
            <a:xfrm>
              <a:off x="549644" y="662188"/>
              <a:ext cx="958047" cy="750869"/>
            </a:xfrm>
            <a:custGeom>
              <a:avLst/>
              <a:gdLst/>
              <a:ahLst/>
              <a:cxnLst/>
              <a:rect l="l" t="t" r="r" b="b"/>
              <a:pathLst>
                <a:path w="958047" h="750869">
                  <a:moveTo>
                    <a:pt x="0" y="0"/>
                  </a:moveTo>
                  <a:lnTo>
                    <a:pt x="958046" y="0"/>
                  </a:lnTo>
                  <a:lnTo>
                    <a:pt x="958046" y="750869"/>
                  </a:lnTo>
                  <a:lnTo>
                    <a:pt x="0" y="750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>
            <p:custDataLst>
              <p:tags r:id="rId27"/>
            </p:custDataLst>
          </p:nvPr>
        </p:nvGrpSpPr>
        <p:grpSpPr>
          <a:xfrm rot="0">
            <a:off x="1958979" y="1505172"/>
            <a:ext cx="1561412" cy="1575005"/>
            <a:chOff x="0" y="0"/>
            <a:chExt cx="2081882" cy="2100007"/>
          </a:xfrm>
        </p:grpSpPr>
        <p:grpSp>
          <p:nvGrpSpPr>
            <p:cNvPr id="32" name="Group 32"/>
            <p:cNvGrpSpPr/>
            <p:nvPr/>
          </p:nvGrpSpPr>
          <p:grpSpPr>
            <a:xfrm rot="0">
              <a:off x="0" y="0"/>
              <a:ext cx="2081882" cy="2100007"/>
              <a:chOff x="0" y="0"/>
              <a:chExt cx="805785" cy="812800"/>
            </a:xfrm>
          </p:grpSpPr>
          <p:sp>
            <p:nvSpPr>
              <p:cNvPr id="33" name="Freeform 33"/>
              <p:cNvSpPr/>
              <p:nvPr>
                <p:custDataLst>
                  <p:tags r:id="rId28"/>
                </p:custDataLst>
              </p:nvPr>
            </p:nvSpPr>
            <p:spPr>
              <a:xfrm>
                <a:off x="0" y="0"/>
                <a:ext cx="80578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5785" h="812800">
                    <a:moveTo>
                      <a:pt x="402892" y="0"/>
                    </a:moveTo>
                    <a:cubicBezTo>
                      <a:pt x="180381" y="0"/>
                      <a:pt x="0" y="181951"/>
                      <a:pt x="0" y="406400"/>
                    </a:cubicBezTo>
                    <a:cubicBezTo>
                      <a:pt x="0" y="630849"/>
                      <a:pt x="180381" y="812800"/>
                      <a:pt x="402892" y="812800"/>
                    </a:cubicBezTo>
                    <a:cubicBezTo>
                      <a:pt x="625404" y="812800"/>
                      <a:pt x="805785" y="630849"/>
                      <a:pt x="805785" y="406400"/>
                    </a:cubicBezTo>
                    <a:cubicBezTo>
                      <a:pt x="805785" y="181951"/>
                      <a:pt x="625404" y="0"/>
                      <a:pt x="402892" y="0"/>
                    </a:cubicBezTo>
                    <a:close/>
                  </a:path>
                </a:pathLst>
              </a:custGeom>
              <a:solidFill>
                <a:srgbClr val="5F6B7D">
                  <a:alpha val="5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5542" y="28575"/>
                <a:ext cx="6547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10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130417" y="131553"/>
              <a:ext cx="1821048" cy="1836901"/>
              <a:chOff x="0" y="0"/>
              <a:chExt cx="805785" cy="812800"/>
            </a:xfrm>
          </p:grpSpPr>
          <p:sp>
            <p:nvSpPr>
              <p:cNvPr id="36" name="Freeform 36"/>
              <p:cNvSpPr/>
              <p:nvPr>
                <p:custDataLst>
                  <p:tags r:id="rId29"/>
                </p:custDataLst>
              </p:nvPr>
            </p:nvSpPr>
            <p:spPr>
              <a:xfrm>
                <a:off x="0" y="0"/>
                <a:ext cx="80578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5785" h="812800">
                    <a:moveTo>
                      <a:pt x="402892" y="0"/>
                    </a:moveTo>
                    <a:cubicBezTo>
                      <a:pt x="180381" y="0"/>
                      <a:pt x="0" y="181951"/>
                      <a:pt x="0" y="406400"/>
                    </a:cubicBezTo>
                    <a:cubicBezTo>
                      <a:pt x="0" y="630849"/>
                      <a:pt x="180381" y="812800"/>
                      <a:pt x="402892" y="812800"/>
                    </a:cubicBezTo>
                    <a:cubicBezTo>
                      <a:pt x="625404" y="812800"/>
                      <a:pt x="805785" y="630849"/>
                      <a:pt x="805785" y="406400"/>
                    </a:cubicBezTo>
                    <a:cubicBezTo>
                      <a:pt x="805785" y="181951"/>
                      <a:pt x="625404" y="0"/>
                      <a:pt x="402892" y="0"/>
                    </a:cubicBezTo>
                    <a:close/>
                  </a:path>
                </a:pathLst>
              </a:custGeom>
              <a:solidFill>
                <a:srgbClr val="5F6B7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5542" y="28575"/>
                <a:ext cx="6547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10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38" name="Freeform 38"/>
            <p:cNvSpPr/>
            <p:nvPr>
              <p:custDataLst>
                <p:tags r:id="rId30"/>
              </p:custDataLst>
            </p:nvPr>
          </p:nvSpPr>
          <p:spPr>
            <a:xfrm>
              <a:off x="661027" y="670089"/>
              <a:ext cx="759828" cy="759828"/>
            </a:xfrm>
            <a:custGeom>
              <a:avLst/>
              <a:gdLst/>
              <a:ahLst/>
              <a:cxnLst/>
              <a:rect l="l" t="t" r="r" b="b"/>
              <a:pathLst>
                <a:path w="759828" h="759828">
                  <a:moveTo>
                    <a:pt x="0" y="0"/>
                  </a:moveTo>
                  <a:lnTo>
                    <a:pt x="759828" y="0"/>
                  </a:lnTo>
                  <a:lnTo>
                    <a:pt x="759828" y="759829"/>
                  </a:lnTo>
                  <a:lnTo>
                    <a:pt x="0" y="759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9" name="TextBox 39"/>
          <p:cNvSpPr txBox="1"/>
          <p:nvPr>
            <p:custDataLst>
              <p:tags r:id="rId33"/>
            </p:custDataLst>
          </p:nvPr>
        </p:nvSpPr>
        <p:spPr>
          <a:xfrm>
            <a:off x="1290451" y="3170726"/>
            <a:ext cx="7277087" cy="5787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30"/>
              </a:lnSpc>
            </a:pPr>
            <a:r>
              <a:rPr lang="en-US" sz="21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Context-Sensitive Pointer Analysis for ArkTS一文中明确指出，现有ArkTS调用图生成方法在支持高级静态分析任务（如数据流分析、漏洞模式检测）时精度有限，其技术瓶颈源于TypeScript动态语言特性带来的闭包机制，以及OpenHarmony框架API的交互模式。这种局限导致调用图的可达性出现拓扑断裂</a:t>
            </a:r>
            <a:r>
              <a:rPr lang="en-US" sz="21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，分析覆盖率下降。</a:t>
            </a:r>
            <a:endParaRPr lang="en-US" sz="21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3530"/>
              </a:lnSpc>
            </a:pPr>
            <a:r>
              <a:rPr lang="en-US" sz="21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具体而言，静态分析难以处理以下场景：</a:t>
            </a:r>
            <a:endParaRPr lang="en-US" sz="21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3530"/>
              </a:lnSpc>
            </a:pPr>
            <a:r>
              <a:rPr lang="en-US" sz="21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（1）动态创建的对象及其封装逻辑（如闭包）通过框架特有的响应式数据存储（如AppStorage）进行间接传播；</a:t>
            </a:r>
            <a:endParaRPr lang="en-US" sz="21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3530"/>
              </a:lnSpc>
            </a:pPr>
            <a:r>
              <a:rPr lang="en-US" sz="21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（2）反射机制和运行时绑定导致的调用关系不明确；</a:t>
            </a:r>
            <a:endParaRPr lang="en-US" sz="21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3530"/>
              </a:lnSpc>
            </a:pPr>
            <a:r>
              <a:rPr lang="en-US" sz="21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（3）多线程竞态条件等并发行为。</a:t>
            </a:r>
            <a:endParaRPr lang="en-US" sz="21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3530"/>
              </a:lnSpc>
            </a:pPr>
          </a:p>
          <a:p>
            <a:pPr algn="just">
              <a:lnSpc>
                <a:spcPts val="3530"/>
              </a:lnSpc>
            </a:pPr>
          </a:p>
        </p:txBody>
      </p:sp>
      <p:sp>
        <p:nvSpPr>
          <p:cNvPr id="40" name="TextBox 40"/>
          <p:cNvSpPr txBox="1"/>
          <p:nvPr>
            <p:custDataLst>
              <p:tags r:id="rId34"/>
            </p:custDataLst>
          </p:nvPr>
        </p:nvSpPr>
        <p:spPr>
          <a:xfrm>
            <a:off x="5307744" y="2322997"/>
            <a:ext cx="3521546" cy="641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5"/>
              </a:lnSpc>
            </a:pPr>
            <a:r>
              <a:rPr lang="en-US" sz="341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静态分析局限性</a:t>
            </a:r>
            <a:endParaRPr lang="en-US" sz="341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41" name="TextBox 41"/>
          <p:cNvSpPr txBox="1"/>
          <p:nvPr>
            <p:custDataLst>
              <p:tags r:id="rId35"/>
            </p:custDataLst>
          </p:nvPr>
        </p:nvSpPr>
        <p:spPr>
          <a:xfrm>
            <a:off x="9570837" y="3170726"/>
            <a:ext cx="7688463" cy="532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30"/>
              </a:lnSpc>
            </a:pPr>
            <a:r>
              <a:rPr lang="en-US" sz="21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静态分析的固有局限，呼唤动态分析方法的引入。</a:t>
            </a:r>
            <a:endParaRPr lang="en-US" sz="21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3530"/>
              </a:lnSpc>
            </a:pPr>
            <a:r>
              <a:rPr lang="en-US" sz="21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（1）OpenHarmony采用ArkUI声明式框架，具有独特的布局和组件系统；</a:t>
            </a:r>
            <a:endParaRPr lang="en-US" sz="21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3530"/>
              </a:lnSpc>
            </a:pPr>
            <a:r>
              <a:rPr lang="en-US" sz="21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（2）OpenHarmony应用采用Stage模型，通过内置router API实现页面导航，与Android的Activity+Fragment范式有本质不同。</a:t>
            </a:r>
            <a:endParaRPr lang="en-US" sz="21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3530"/>
              </a:lnSpc>
            </a:pPr>
            <a:r>
              <a:rPr lang="en-US" sz="21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因此，迫切需要专为OpenHarmony设计的动态分析框架，以支持平台特有的事件类型模拟、UI组件识别与操作、代码覆盖率测量、任务管理与导航机制验证等功能。动态分析能够捕捉程序运行时的真实行为，处理静态分析无法触及的动态特性（反射、运行时绑定、多线程竞态），从而更全面地保障应用质量——HapTest正是这一需求的回应。</a:t>
            </a:r>
            <a:endParaRPr lang="en-US" sz="21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3440"/>
              </a:lnSpc>
            </a:pPr>
          </a:p>
        </p:txBody>
      </p:sp>
      <p:sp>
        <p:nvSpPr>
          <p:cNvPr id="42" name="TextBox 42"/>
          <p:cNvSpPr txBox="1"/>
          <p:nvPr>
            <p:custDataLst>
              <p:tags r:id="rId36"/>
            </p:custDataLst>
          </p:nvPr>
        </p:nvSpPr>
        <p:spPr>
          <a:xfrm>
            <a:off x="8713630" y="2356029"/>
            <a:ext cx="4606784" cy="625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0"/>
              </a:lnSpc>
            </a:pPr>
            <a:r>
              <a:rPr lang="en-US" sz="337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动态分析必要性</a:t>
            </a:r>
            <a:endParaRPr lang="en-US" sz="337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65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HAPTEST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56897" y="5847859"/>
            <a:ext cx="597420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1E1E1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HapTest</a:t>
            </a:r>
            <a:endParaRPr lang="en-US" sz="2200">
              <a:solidFill>
                <a:srgbClr val="1E1E1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294942" y="2147578"/>
            <a:ext cx="3698117" cy="26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70"/>
              </a:lnSpc>
            </a:pPr>
            <a:r>
              <a:rPr lang="en-US" sz="15475" b="1">
                <a:solidFill>
                  <a:srgbClr val="29323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03</a:t>
            </a:r>
            <a:endParaRPr lang="en-US" sz="15475" b="1">
              <a:solidFill>
                <a:srgbClr val="29323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126940" y="4424786"/>
            <a:ext cx="10034120" cy="1324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90"/>
              </a:lnSpc>
              <a:spcBef>
                <a:spcPct val="0"/>
              </a:spcBef>
            </a:pPr>
            <a:r>
              <a:rPr lang="en-US" sz="81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HapTest</a:t>
            </a:r>
            <a:endParaRPr lang="en-US" sz="81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  <p:txBody>
          <a:bodyPr/>
          <a:p>
            <a:endParaRPr lang="zh-CN" altLang="en-US"/>
          </a:p>
        </p:txBody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65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HAPTEST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grpSp>
        <p:nvGrpSpPr>
          <p:cNvPr id="40" name="组合 12"/>
          <p:cNvGrpSpPr/>
          <p:nvPr>
            <p:custDataLst>
              <p:tags r:id="rId8"/>
            </p:custDataLst>
          </p:nvPr>
        </p:nvGrpSpPr>
        <p:grpSpPr bwMode="auto">
          <a:xfrm>
            <a:off x="533418" y="2247820"/>
            <a:ext cx="3192902" cy="725044"/>
            <a:chOff x="-102083" y="-111058"/>
            <a:chExt cx="3243397" cy="736592"/>
          </a:xfrm>
        </p:grpSpPr>
        <p:sp>
          <p:nvSpPr>
            <p:cNvPr id="41" name="TextBox 1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-102083" y="-111058"/>
              <a:ext cx="462042" cy="420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1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1</a:t>
              </a:r>
              <a:endParaRPr lang="zh-CN" altLang="en-US" sz="2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2" name="直接连接符 15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0" y="0"/>
              <a:ext cx="590550" cy="590550"/>
            </a:xfrm>
            <a:prstGeom prst="line">
              <a:avLst/>
            </a:prstGeom>
            <a:noFill/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3" name="矩形 7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52435" y="95251"/>
              <a:ext cx="2688879" cy="530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定位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4" name="矩形 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33730" y="3238500"/>
            <a:ext cx="7489190" cy="2342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68579" tIns="34289" rIns="68579" bIns="34289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OpenHarmony 生态下首个专门的动态分析框架（HapTest The Dynamic Analysis Framework for OpenHarmony Abstract、Section 1），填补了 “无针对 OpenHarmony 动态测试工具” 的空白（现有工具仅支持 Android，因架构差异无法复用）。</a:t>
            </a:r>
            <a:endParaRPr lang="en-US" sz="20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+mn-lt"/>
            </a:endParaRPr>
          </a:p>
        </p:txBody>
      </p:sp>
      <p:grpSp>
        <p:nvGrpSpPr>
          <p:cNvPr id="45" name="组合 18"/>
          <p:cNvGrpSpPr/>
          <p:nvPr>
            <p:custDataLst>
              <p:tags r:id="rId13"/>
            </p:custDataLst>
          </p:nvPr>
        </p:nvGrpSpPr>
        <p:grpSpPr bwMode="auto">
          <a:xfrm>
            <a:off x="609618" y="5581174"/>
            <a:ext cx="2403960" cy="771825"/>
            <a:chOff x="-106851" y="-158584"/>
            <a:chExt cx="2442121" cy="784117"/>
          </a:xfrm>
        </p:grpSpPr>
        <p:sp>
          <p:nvSpPr>
            <p:cNvPr id="46" name="TextBox 10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06851" y="-158584"/>
              <a:ext cx="462069" cy="420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1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2</a:t>
              </a:r>
              <a:endParaRPr lang="zh-CN" altLang="en-US" sz="2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7" name="直接连接符 20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0" y="0"/>
              <a:ext cx="590550" cy="590550"/>
            </a:xfrm>
            <a:prstGeom prst="line">
              <a:avLst/>
            </a:prstGeom>
            <a:noFill/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8" name="矩形 12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47673" y="95250"/>
              <a:ext cx="1887597" cy="530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核心使命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9" name="矩形 9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85800" y="6764020"/>
            <a:ext cx="7364730" cy="2209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68579" tIns="34289" rIns="68579" bIns="34289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解决 OpenHarmony apps 的 bug 检测（崩溃、性能、安全问题）、提升测试覆盖率，支撑 app 质量保障（文献 HapTest The Dynamic Analysis Framework for OpenHarmony Abstract）。</a:t>
            </a:r>
            <a:endParaRPr lang="en-US" sz="20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+mn-lt"/>
            </a:endParaRPr>
          </a:p>
        </p:txBody>
      </p:sp>
      <p:grpSp>
        <p:nvGrpSpPr>
          <p:cNvPr id="50" name="组合 49"/>
          <p:cNvGrpSpPr/>
          <p:nvPr>
            <p:custDataLst>
              <p:tags r:id="rId18"/>
            </p:custDataLst>
          </p:nvPr>
        </p:nvGrpSpPr>
        <p:grpSpPr bwMode="auto">
          <a:xfrm>
            <a:off x="9905807" y="2236013"/>
            <a:ext cx="2759710" cy="771525"/>
            <a:chOff x="-106851" y="-158584"/>
            <a:chExt cx="2803519" cy="783813"/>
          </a:xfrm>
        </p:grpSpPr>
        <p:sp>
          <p:nvSpPr>
            <p:cNvPr id="51" name="TextBox 10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-106851" y="-158584"/>
              <a:ext cx="462069" cy="420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1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</a:t>
              </a:r>
              <a:endParaRPr lang="zh-CN" altLang="en-US" sz="2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" name="直接连接符 51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0" y="0"/>
              <a:ext cx="590550" cy="590550"/>
            </a:xfrm>
            <a:prstGeom prst="line">
              <a:avLst/>
            </a:prstGeom>
            <a:noFill/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 12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47918" y="94946"/>
              <a:ext cx="2248750" cy="530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生态适配性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4" name="矩形 9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0010775" y="3314700"/>
            <a:ext cx="801179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68579" tIns="34289" rIns="68579" bIns="34289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完全兼容 OpenHarmony 的独特特性</a:t>
            </a:r>
            <a:r>
              <a:rPr lang="zh-CN" altLang="en-US" sz="20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；</a:t>
            </a:r>
            <a:endParaRPr lang="en-US" sz="20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+mn-lt"/>
            </a:endParaRPr>
          </a:p>
          <a:p>
            <a:pPr algn="just">
              <a:lnSpc>
                <a:spcPct val="150000"/>
              </a:lnSpc>
            </a:pPr>
            <a:r>
              <a:rPr lang="en-US" sz="20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支持 ArkTS 语言、ArkUI 框架（ declarative UI）；</a:t>
            </a:r>
            <a:endParaRPr lang="en-US" sz="20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+mn-lt"/>
            </a:endParaRPr>
          </a:p>
          <a:p>
            <a:pPr algn="just">
              <a:lnSpc>
                <a:spcPct val="150000"/>
              </a:lnSpc>
            </a:pPr>
            <a:r>
              <a:rPr lang="en-US" sz="20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支持 OpenHarmony 的事件驱动机制（系统事件 + 交互事件）</a:t>
            </a:r>
            <a:r>
              <a:rPr lang="zh-CN" altLang="en-US" sz="20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。</a:t>
            </a:r>
            <a:endParaRPr lang="zh-CN" altLang="en-US" sz="2000" dirty="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+mn-lt"/>
            </a:endParaRPr>
          </a:p>
        </p:txBody>
      </p:sp>
      <p:sp>
        <p:nvSpPr>
          <p:cNvPr id="55" name="TextBox 20"/>
          <p:cNvSpPr txBox="1"/>
          <p:nvPr/>
        </p:nvSpPr>
        <p:spPr>
          <a:xfrm>
            <a:off x="304800" y="1257300"/>
            <a:ext cx="7870825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altLang="zh-CN" sz="4200" b="1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HapTest </a:t>
            </a:r>
            <a:r>
              <a:rPr lang="zh-CN" altLang="en-US" sz="4200" b="1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的核心定位与核心价值</a:t>
            </a:r>
            <a:endParaRPr lang="zh-CN" altLang="en-US" sz="4200" b="1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utoUpdateAnimBg="0"/>
      <p:bldP spid="49" grpId="0" bldLvl="0" autoUpdateAnimBg="0"/>
      <p:bldP spid="54" grpId="0" bldLvl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492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65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HAPTEST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-152400" y="1104900"/>
            <a:ext cx="8359775" cy="784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zh-CN" altLang="en-US" sz="4200" b="1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HapTest 的技术架构与核心特性</a:t>
            </a:r>
            <a:endParaRPr lang="zh-CN" altLang="en-US" sz="4200" b="1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pic>
        <p:nvPicPr>
          <p:cNvPr id="48" name="图片 47" descr="_- visual selection"/>
          <p:cNvPicPr>
            <a:picLocks noChangeAspect="1"/>
          </p:cNvPicPr>
          <p:nvPr/>
        </p:nvPicPr>
        <p:blipFill>
          <a:blip r:embed="rId8"/>
          <a:srcRect b="8503"/>
          <a:stretch>
            <a:fillRect/>
          </a:stretch>
        </p:blipFill>
        <p:spPr>
          <a:xfrm>
            <a:off x="4572000" y="1257300"/>
            <a:ext cx="9214485" cy="7047230"/>
          </a:xfrm>
          <a:prstGeom prst="rect">
            <a:avLst/>
          </a:prstGeom>
        </p:spPr>
      </p:pic>
      <p:sp>
        <p:nvSpPr>
          <p:cNvPr id="54" name="矩形 9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1887200" y="4000500"/>
            <a:ext cx="633603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68579" tIns="34289" rIns="68579" bIns="34289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 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基于</a:t>
            </a: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AST 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的精准插桩，支持覆盖率</a:t>
            </a: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/ 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性能</a:t>
            </a: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/ 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日志监控（已集成到</a:t>
            </a: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DevEco Studio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，开发者可直接复用）；</a:t>
            </a:r>
            <a:endParaRPr lang="zh-CN" altLang="en-US" sz="2400" dirty="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+mn-lt"/>
            </a:endParaRPr>
          </a:p>
        </p:txBody>
      </p:sp>
      <p:sp>
        <p:nvSpPr>
          <p:cNvPr id="49" name="矩形 9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1887200" y="7886700"/>
            <a:ext cx="633603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68579" tIns="34289" rIns="68579" bIns="34289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 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支持自定义测试策略（如贪婪</a:t>
            </a: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DFS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、</a:t>
            </a: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BFS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、随机策略），适配不同测试场景；</a:t>
            </a:r>
            <a:endParaRPr lang="zh-CN" altLang="en-US" sz="2400" dirty="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+mn-lt"/>
            </a:endParaRPr>
          </a:p>
        </p:txBody>
      </p:sp>
      <p:sp>
        <p:nvSpPr>
          <p:cNvPr id="50" name="矩形 9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33400" y="3918585"/>
            <a:ext cx="633603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68579" tIns="34289" rIns="68579" bIns="34289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 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支持</a:t>
            </a: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OpenHarmony 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专属工具（</a:t>
            </a: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uitest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、</a:t>
            </a: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hdc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），精准模拟</a:t>
            </a: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UI 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事件、按键事件、系统事件；</a:t>
            </a:r>
            <a:endParaRPr lang="zh-CN" altLang="en-US" sz="2400" dirty="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+mn-lt"/>
            </a:endParaRPr>
          </a:p>
        </p:txBody>
      </p:sp>
      <p:sp>
        <p:nvSpPr>
          <p:cNvPr id="51" name="矩形 9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31800" y="7931785"/>
            <a:ext cx="633603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68579" tIns="34289" rIns="68579" bIns="34289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  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构建动态</a:t>
            </a: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PTG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（页面跳转图）和</a:t>
            </a: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DataHub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（结构化日志</a:t>
            </a:r>
            <a:r>
              <a:rPr lang="en-US" altLang="zh-CN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 / </a:t>
            </a:r>
            <a:r>
              <a:rPr lang="zh-CN" altLang="en-US" sz="2400" dirty="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+mn-lt"/>
              </a:rPr>
              <a:t>覆盖率数据），支持闭环反馈优化；</a:t>
            </a:r>
            <a:endParaRPr lang="zh-CN" altLang="en-US" sz="2400" dirty="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ldLvl="0" autoUpdateAnimBg="0"/>
      <p:bldP spid="49" grpId="0" bldLvl="0" autoUpdateAnimBg="0"/>
      <p:bldP spid="50" grpId="0" bldLvl="0" autoUpdateAnimBg="0"/>
      <p:bldP spid="51" grpId="0" bldLvl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031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318344" y="9704974"/>
            <a:ext cx="7651312" cy="32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HAPTEST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75340" y="1124908"/>
            <a:ext cx="7467806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altLang="zh-CN" sz="4200" b="1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HapTest </a:t>
            </a:r>
            <a:r>
              <a:rPr lang="zh-CN" altLang="en-US" sz="4200" b="1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的实测效果与实用性</a:t>
            </a:r>
            <a:endParaRPr lang="zh-CN" altLang="en-US" sz="4200" b="1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90600" y="2400300"/>
            <a:ext cx="5189220" cy="21228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在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10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个开源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app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实现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100%UIAbility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覆盖率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语句覆盖率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40%-90%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，分支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/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函数覆盖率表现优异；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26" name="Group 26"/>
          <p:cNvGrpSpPr/>
          <p:nvPr/>
        </p:nvGrpSpPr>
        <p:grpSpPr>
          <a:xfrm rot="0">
            <a:off x="634365" y="1958975"/>
            <a:ext cx="749300" cy="744220"/>
            <a:chOff x="0" y="0"/>
            <a:chExt cx="1838376" cy="1854380"/>
          </a:xfrm>
        </p:grpSpPr>
        <p:grpSp>
          <p:nvGrpSpPr>
            <p:cNvPr id="27" name="Group 27"/>
            <p:cNvGrpSpPr/>
            <p:nvPr/>
          </p:nvGrpSpPr>
          <p:grpSpPr>
            <a:xfrm rot="0">
              <a:off x="0" y="0"/>
              <a:ext cx="1838376" cy="1854380"/>
              <a:chOff x="0" y="0"/>
              <a:chExt cx="805785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0578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5785" h="812800">
                    <a:moveTo>
                      <a:pt x="402892" y="0"/>
                    </a:moveTo>
                    <a:cubicBezTo>
                      <a:pt x="180381" y="0"/>
                      <a:pt x="0" y="181951"/>
                      <a:pt x="0" y="406400"/>
                    </a:cubicBezTo>
                    <a:cubicBezTo>
                      <a:pt x="0" y="630849"/>
                      <a:pt x="180381" y="812800"/>
                      <a:pt x="402892" y="812800"/>
                    </a:cubicBezTo>
                    <a:cubicBezTo>
                      <a:pt x="625404" y="812800"/>
                      <a:pt x="805785" y="630849"/>
                      <a:pt x="805785" y="406400"/>
                    </a:cubicBezTo>
                    <a:cubicBezTo>
                      <a:pt x="805785" y="181951"/>
                      <a:pt x="625404" y="0"/>
                      <a:pt x="402892" y="0"/>
                    </a:cubicBezTo>
                    <a:close/>
                  </a:path>
                </a:pathLst>
              </a:custGeom>
              <a:solidFill>
                <a:srgbClr val="B10101">
                  <a:alpha val="5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5542" y="28575"/>
                <a:ext cx="654700" cy="708025"/>
              </a:xfrm>
              <a:prstGeom prst="rect">
                <a:avLst/>
              </a:prstGeom>
            </p:spPr>
            <p:txBody>
              <a:bodyPr lIns="46746" tIns="46746" rIns="46746" bIns="46746" rtlCol="0" anchor="ctr"/>
              <a:lstStyle/>
              <a:p>
                <a:pPr marL="0" lvl="0" indent="0" algn="ctr">
                  <a:lnSpc>
                    <a:spcPts val="310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0">
              <a:off x="115163" y="116166"/>
              <a:ext cx="1608049" cy="1622049"/>
              <a:chOff x="0" y="0"/>
              <a:chExt cx="805785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0578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5785" h="812800">
                    <a:moveTo>
                      <a:pt x="402892" y="0"/>
                    </a:moveTo>
                    <a:cubicBezTo>
                      <a:pt x="180381" y="0"/>
                      <a:pt x="0" y="181951"/>
                      <a:pt x="0" y="406400"/>
                    </a:cubicBezTo>
                    <a:cubicBezTo>
                      <a:pt x="0" y="630849"/>
                      <a:pt x="180381" y="812800"/>
                      <a:pt x="402892" y="812800"/>
                    </a:cubicBezTo>
                    <a:cubicBezTo>
                      <a:pt x="625404" y="812800"/>
                      <a:pt x="805785" y="630849"/>
                      <a:pt x="805785" y="406400"/>
                    </a:cubicBezTo>
                    <a:cubicBezTo>
                      <a:pt x="805785" y="181951"/>
                      <a:pt x="625404" y="0"/>
                      <a:pt x="402892" y="0"/>
                    </a:cubicBezTo>
                    <a:close/>
                  </a:path>
                </a:pathLst>
              </a:custGeom>
              <a:solidFill>
                <a:srgbClr val="B1010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5542" y="28575"/>
                <a:ext cx="654700" cy="708025"/>
              </a:xfrm>
              <a:prstGeom prst="rect">
                <a:avLst/>
              </a:prstGeom>
            </p:spPr>
            <p:txBody>
              <a:bodyPr lIns="46746" tIns="46746" rIns="46746" bIns="46746" rtlCol="0" anchor="ctr"/>
              <a:lstStyle/>
              <a:p>
                <a:pPr marL="0" lvl="0" indent="0" algn="ctr">
                  <a:lnSpc>
                    <a:spcPts val="310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499841" y="591713"/>
              <a:ext cx="838694" cy="670955"/>
            </a:xfrm>
            <a:custGeom>
              <a:avLst/>
              <a:gdLst/>
              <a:ahLst/>
              <a:cxnLst/>
              <a:rect l="l" t="t" r="r" b="b"/>
              <a:pathLst>
                <a:path w="838694" h="670955">
                  <a:moveTo>
                    <a:pt x="0" y="0"/>
                  </a:moveTo>
                  <a:lnTo>
                    <a:pt x="838694" y="0"/>
                  </a:lnTo>
                  <a:lnTo>
                    <a:pt x="838694" y="670955"/>
                  </a:lnTo>
                  <a:lnTo>
                    <a:pt x="0" y="67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p>
              <a:endParaRPr lang="zh-CN" altLang="en-US"/>
            </a:p>
          </p:txBody>
        </p:sp>
      </p:grpSp>
      <p:pic>
        <p:nvPicPr>
          <p:cNvPr id="395384524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829435"/>
            <a:ext cx="11228070" cy="3919220"/>
          </a:xfrm>
          <a:prstGeom prst="rect">
            <a:avLst/>
          </a:prstGeom>
        </p:spPr>
      </p:pic>
      <p:sp>
        <p:nvSpPr>
          <p:cNvPr id="12" name="TextBox 22"/>
          <p:cNvSpPr txBox="1"/>
          <p:nvPr/>
        </p:nvSpPr>
        <p:spPr>
          <a:xfrm>
            <a:off x="1066800" y="4610100"/>
            <a:ext cx="5212715" cy="13804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动态生成的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d-PTG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比静态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PTG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s-PTG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）更全面，能识别静态分析无法捕捉的动态组件和页面跳转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pic>
        <p:nvPicPr>
          <p:cNvPr id="209194169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5941060"/>
            <a:ext cx="8747125" cy="3452495"/>
          </a:xfrm>
          <a:prstGeom prst="rect">
            <a:avLst/>
          </a:prstGeom>
        </p:spPr>
      </p:pic>
      <p:sp>
        <p:nvSpPr>
          <p:cNvPr id="53" name="Freeform 33"/>
          <p:cNvSpPr/>
          <p:nvPr/>
        </p:nvSpPr>
        <p:spPr>
          <a:xfrm>
            <a:off x="965094" y="2323448"/>
            <a:ext cx="341842" cy="269275"/>
          </a:xfrm>
          <a:custGeom>
            <a:avLst/>
            <a:gdLst/>
            <a:ahLst/>
            <a:cxnLst/>
            <a:rect l="l" t="t" r="r" b="b"/>
            <a:pathLst>
              <a:path w="838694" h="670955">
                <a:moveTo>
                  <a:pt x="0" y="0"/>
                </a:moveTo>
                <a:lnTo>
                  <a:pt x="838694" y="0"/>
                </a:lnTo>
                <a:lnTo>
                  <a:pt x="838694" y="670955"/>
                </a:lnTo>
                <a:lnTo>
                  <a:pt x="0" y="67095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p>
            <a:endParaRPr lang="zh-CN" altLang="en-US"/>
          </a:p>
        </p:txBody>
      </p:sp>
      <p:grpSp>
        <p:nvGrpSpPr>
          <p:cNvPr id="54" name="Group 26"/>
          <p:cNvGrpSpPr/>
          <p:nvPr/>
        </p:nvGrpSpPr>
        <p:grpSpPr>
          <a:xfrm rot="0">
            <a:off x="612775" y="4354830"/>
            <a:ext cx="779780" cy="757555"/>
            <a:chOff x="0" y="0"/>
            <a:chExt cx="1838376" cy="1854380"/>
          </a:xfrm>
        </p:grpSpPr>
        <p:grpSp>
          <p:nvGrpSpPr>
            <p:cNvPr id="55" name="Group 27"/>
            <p:cNvGrpSpPr/>
            <p:nvPr/>
          </p:nvGrpSpPr>
          <p:grpSpPr>
            <a:xfrm rot="0">
              <a:off x="0" y="0"/>
              <a:ext cx="1838376" cy="1854380"/>
              <a:chOff x="0" y="0"/>
              <a:chExt cx="805785" cy="812800"/>
            </a:xfrm>
          </p:grpSpPr>
          <p:sp>
            <p:nvSpPr>
              <p:cNvPr id="56" name="Freeform 28"/>
              <p:cNvSpPr/>
              <p:nvPr/>
            </p:nvSpPr>
            <p:spPr>
              <a:xfrm>
                <a:off x="0" y="0"/>
                <a:ext cx="80578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5785" h="812800">
                    <a:moveTo>
                      <a:pt x="402892" y="0"/>
                    </a:moveTo>
                    <a:cubicBezTo>
                      <a:pt x="180381" y="0"/>
                      <a:pt x="0" y="181951"/>
                      <a:pt x="0" y="406400"/>
                    </a:cubicBezTo>
                    <a:cubicBezTo>
                      <a:pt x="0" y="630849"/>
                      <a:pt x="180381" y="812800"/>
                      <a:pt x="402892" y="812800"/>
                    </a:cubicBezTo>
                    <a:cubicBezTo>
                      <a:pt x="625404" y="812800"/>
                      <a:pt x="805785" y="630849"/>
                      <a:pt x="805785" y="406400"/>
                    </a:cubicBezTo>
                    <a:cubicBezTo>
                      <a:pt x="805785" y="181951"/>
                      <a:pt x="625404" y="0"/>
                      <a:pt x="402892" y="0"/>
                    </a:cubicBezTo>
                    <a:close/>
                  </a:path>
                </a:pathLst>
              </a:custGeom>
              <a:solidFill>
                <a:srgbClr val="B10101">
                  <a:alpha val="5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7" name="TextBox 29"/>
              <p:cNvSpPr txBox="1"/>
              <p:nvPr/>
            </p:nvSpPr>
            <p:spPr>
              <a:xfrm>
                <a:off x="75542" y="28575"/>
                <a:ext cx="654700" cy="708025"/>
              </a:xfrm>
              <a:prstGeom prst="rect">
                <a:avLst/>
              </a:prstGeom>
            </p:spPr>
            <p:txBody>
              <a:bodyPr lIns="46746" tIns="46746" rIns="46746" bIns="46746" rtlCol="0" anchor="ctr"/>
              <a:lstStyle/>
              <a:p>
                <a:pPr marL="0" lvl="0" indent="0" algn="ctr">
                  <a:lnSpc>
                    <a:spcPts val="310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id="58" name="Group 30"/>
            <p:cNvGrpSpPr/>
            <p:nvPr/>
          </p:nvGrpSpPr>
          <p:grpSpPr>
            <a:xfrm rot="0">
              <a:off x="115163" y="116166"/>
              <a:ext cx="1608049" cy="1622049"/>
              <a:chOff x="0" y="0"/>
              <a:chExt cx="805785" cy="812800"/>
            </a:xfrm>
          </p:grpSpPr>
          <p:sp>
            <p:nvSpPr>
              <p:cNvPr id="59" name="Freeform 31"/>
              <p:cNvSpPr/>
              <p:nvPr/>
            </p:nvSpPr>
            <p:spPr>
              <a:xfrm>
                <a:off x="0" y="0"/>
                <a:ext cx="80578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5785" h="812800">
                    <a:moveTo>
                      <a:pt x="402892" y="0"/>
                    </a:moveTo>
                    <a:cubicBezTo>
                      <a:pt x="180381" y="0"/>
                      <a:pt x="0" y="181951"/>
                      <a:pt x="0" y="406400"/>
                    </a:cubicBezTo>
                    <a:cubicBezTo>
                      <a:pt x="0" y="630849"/>
                      <a:pt x="180381" y="812800"/>
                      <a:pt x="402892" y="812800"/>
                    </a:cubicBezTo>
                    <a:cubicBezTo>
                      <a:pt x="625404" y="812800"/>
                      <a:pt x="805785" y="630849"/>
                      <a:pt x="805785" y="406400"/>
                    </a:cubicBezTo>
                    <a:cubicBezTo>
                      <a:pt x="805785" y="181951"/>
                      <a:pt x="625404" y="0"/>
                      <a:pt x="402892" y="0"/>
                    </a:cubicBezTo>
                    <a:close/>
                  </a:path>
                </a:pathLst>
              </a:custGeom>
              <a:solidFill>
                <a:srgbClr val="B1010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0" name="TextBox 32"/>
              <p:cNvSpPr txBox="1"/>
              <p:nvPr/>
            </p:nvSpPr>
            <p:spPr>
              <a:xfrm>
                <a:off x="75542" y="28575"/>
                <a:ext cx="654700" cy="708025"/>
              </a:xfrm>
              <a:prstGeom prst="rect">
                <a:avLst/>
              </a:prstGeom>
            </p:spPr>
            <p:txBody>
              <a:bodyPr lIns="46746" tIns="46746" rIns="46746" bIns="46746" rtlCol="0" anchor="ctr"/>
              <a:lstStyle/>
              <a:p>
                <a:pPr marL="0" lvl="0" indent="0" algn="ctr">
                  <a:lnSpc>
                    <a:spcPts val="310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1" name="Freeform 33"/>
            <p:cNvSpPr/>
            <p:nvPr/>
          </p:nvSpPr>
          <p:spPr>
            <a:xfrm>
              <a:off x="499841" y="591713"/>
              <a:ext cx="838694" cy="670955"/>
            </a:xfrm>
            <a:custGeom>
              <a:avLst/>
              <a:gdLst/>
              <a:ahLst/>
              <a:cxnLst/>
              <a:rect l="l" t="t" r="r" b="b"/>
              <a:pathLst>
                <a:path w="838694" h="670955">
                  <a:moveTo>
                    <a:pt x="0" y="0"/>
                  </a:moveTo>
                  <a:lnTo>
                    <a:pt x="838694" y="0"/>
                  </a:lnTo>
                  <a:lnTo>
                    <a:pt x="838694" y="670955"/>
                  </a:lnTo>
                  <a:lnTo>
                    <a:pt x="0" y="67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2" name="Group 26"/>
          <p:cNvGrpSpPr/>
          <p:nvPr/>
        </p:nvGrpSpPr>
        <p:grpSpPr>
          <a:xfrm rot="0">
            <a:off x="9776460" y="6877050"/>
            <a:ext cx="779780" cy="757555"/>
            <a:chOff x="0" y="0"/>
            <a:chExt cx="1838376" cy="1854380"/>
          </a:xfrm>
        </p:grpSpPr>
        <p:grpSp>
          <p:nvGrpSpPr>
            <p:cNvPr id="63" name="Group 27"/>
            <p:cNvGrpSpPr/>
            <p:nvPr/>
          </p:nvGrpSpPr>
          <p:grpSpPr>
            <a:xfrm rot="0">
              <a:off x="0" y="0"/>
              <a:ext cx="1838376" cy="1854380"/>
              <a:chOff x="0" y="0"/>
              <a:chExt cx="805785" cy="812800"/>
            </a:xfrm>
          </p:grpSpPr>
          <p:sp>
            <p:nvSpPr>
              <p:cNvPr id="64" name="Freeform 28"/>
              <p:cNvSpPr/>
              <p:nvPr/>
            </p:nvSpPr>
            <p:spPr>
              <a:xfrm>
                <a:off x="0" y="0"/>
                <a:ext cx="80578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5785" h="812800">
                    <a:moveTo>
                      <a:pt x="402892" y="0"/>
                    </a:moveTo>
                    <a:cubicBezTo>
                      <a:pt x="180381" y="0"/>
                      <a:pt x="0" y="181951"/>
                      <a:pt x="0" y="406400"/>
                    </a:cubicBezTo>
                    <a:cubicBezTo>
                      <a:pt x="0" y="630849"/>
                      <a:pt x="180381" y="812800"/>
                      <a:pt x="402892" y="812800"/>
                    </a:cubicBezTo>
                    <a:cubicBezTo>
                      <a:pt x="625404" y="812800"/>
                      <a:pt x="805785" y="630849"/>
                      <a:pt x="805785" y="406400"/>
                    </a:cubicBezTo>
                    <a:cubicBezTo>
                      <a:pt x="805785" y="181951"/>
                      <a:pt x="625404" y="0"/>
                      <a:pt x="402892" y="0"/>
                    </a:cubicBezTo>
                    <a:close/>
                  </a:path>
                </a:pathLst>
              </a:custGeom>
              <a:solidFill>
                <a:srgbClr val="B10101">
                  <a:alpha val="5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5" name="TextBox 29"/>
              <p:cNvSpPr txBox="1"/>
              <p:nvPr/>
            </p:nvSpPr>
            <p:spPr>
              <a:xfrm>
                <a:off x="75542" y="28575"/>
                <a:ext cx="654700" cy="708025"/>
              </a:xfrm>
              <a:prstGeom prst="rect">
                <a:avLst/>
              </a:prstGeom>
            </p:spPr>
            <p:txBody>
              <a:bodyPr lIns="46746" tIns="46746" rIns="46746" bIns="46746" rtlCol="0" anchor="ctr"/>
              <a:lstStyle/>
              <a:p>
                <a:pPr marL="0" lvl="0" indent="0" algn="ctr">
                  <a:lnSpc>
                    <a:spcPts val="310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id="66" name="Group 30"/>
            <p:cNvGrpSpPr/>
            <p:nvPr/>
          </p:nvGrpSpPr>
          <p:grpSpPr>
            <a:xfrm rot="0">
              <a:off x="115163" y="116166"/>
              <a:ext cx="1608049" cy="1622049"/>
              <a:chOff x="0" y="0"/>
              <a:chExt cx="805785" cy="812800"/>
            </a:xfrm>
          </p:grpSpPr>
          <p:sp>
            <p:nvSpPr>
              <p:cNvPr id="67" name="Freeform 31"/>
              <p:cNvSpPr/>
              <p:nvPr/>
            </p:nvSpPr>
            <p:spPr>
              <a:xfrm>
                <a:off x="0" y="0"/>
                <a:ext cx="80578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5785" h="812800">
                    <a:moveTo>
                      <a:pt x="402892" y="0"/>
                    </a:moveTo>
                    <a:cubicBezTo>
                      <a:pt x="180381" y="0"/>
                      <a:pt x="0" y="181951"/>
                      <a:pt x="0" y="406400"/>
                    </a:cubicBezTo>
                    <a:cubicBezTo>
                      <a:pt x="0" y="630849"/>
                      <a:pt x="180381" y="812800"/>
                      <a:pt x="402892" y="812800"/>
                    </a:cubicBezTo>
                    <a:cubicBezTo>
                      <a:pt x="625404" y="812800"/>
                      <a:pt x="805785" y="630849"/>
                      <a:pt x="805785" y="406400"/>
                    </a:cubicBezTo>
                    <a:cubicBezTo>
                      <a:pt x="805785" y="181951"/>
                      <a:pt x="625404" y="0"/>
                      <a:pt x="402892" y="0"/>
                    </a:cubicBezTo>
                    <a:close/>
                  </a:path>
                </a:pathLst>
              </a:custGeom>
              <a:solidFill>
                <a:srgbClr val="B1010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8" name="TextBox 32"/>
              <p:cNvSpPr txBox="1"/>
              <p:nvPr/>
            </p:nvSpPr>
            <p:spPr>
              <a:xfrm>
                <a:off x="75542" y="28575"/>
                <a:ext cx="654700" cy="708025"/>
              </a:xfrm>
              <a:prstGeom prst="rect">
                <a:avLst/>
              </a:prstGeom>
            </p:spPr>
            <p:txBody>
              <a:bodyPr lIns="46746" tIns="46746" rIns="46746" bIns="46746" rtlCol="0" anchor="ctr"/>
              <a:lstStyle/>
              <a:p>
                <a:pPr marL="0" lvl="0" indent="0" algn="ctr">
                  <a:lnSpc>
                    <a:spcPts val="310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9" name="Freeform 33"/>
            <p:cNvSpPr/>
            <p:nvPr/>
          </p:nvSpPr>
          <p:spPr>
            <a:xfrm>
              <a:off x="499841" y="591713"/>
              <a:ext cx="838694" cy="670955"/>
            </a:xfrm>
            <a:custGeom>
              <a:avLst/>
              <a:gdLst/>
              <a:ahLst/>
              <a:cxnLst/>
              <a:rect l="l" t="t" r="r" b="b"/>
              <a:pathLst>
                <a:path w="838694" h="670955">
                  <a:moveTo>
                    <a:pt x="0" y="0"/>
                  </a:moveTo>
                  <a:lnTo>
                    <a:pt x="838694" y="0"/>
                  </a:lnTo>
                  <a:lnTo>
                    <a:pt x="838694" y="670955"/>
                  </a:lnTo>
                  <a:lnTo>
                    <a:pt x="0" y="67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0" name="TextBox 22"/>
          <p:cNvSpPr txBox="1"/>
          <p:nvPr/>
        </p:nvSpPr>
        <p:spPr>
          <a:xfrm>
            <a:off x="10304780" y="7200900"/>
            <a:ext cx="7098030" cy="17360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在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OpenHarmony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应用市场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top20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商业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app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（均百万级下载）中，检测出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26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个未上报崩溃（涉及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11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个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app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）；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覆盖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ArkTS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崩溃、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C++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崩溃、界面冻结三类核心问题，其中抖音（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7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个）、高德地图（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5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个）等高频应用的问题均被成功识别（文献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1 Table 4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）。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71" name="TextBox 22"/>
          <p:cNvSpPr txBox="1"/>
          <p:nvPr/>
        </p:nvSpPr>
        <p:spPr>
          <a:xfrm>
            <a:off x="10363200" y="6059170"/>
            <a:ext cx="7814310" cy="10598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遗漏关键页面跳转，支持复杂路径导航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65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IMPROVEMENT DIRECTION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56897" y="5847859"/>
            <a:ext cx="597420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1E1E1E"/>
                </a:solidFill>
                <a:latin typeface="Akzidenz-Grotesk" panose="02000503030000020003"/>
                <a:ea typeface="Akzidenz-Grotesk" panose="02000503030000020003"/>
                <a:cs typeface="Akzidenz-Grotesk" panose="02000503030000020003"/>
                <a:sym typeface="Akzidenz-Grotesk" panose="02000503030000020003"/>
              </a:rPr>
              <a:t>improvement direction</a:t>
            </a:r>
            <a:endParaRPr lang="en-US" sz="2200">
              <a:solidFill>
                <a:srgbClr val="1E1E1E"/>
              </a:solidFill>
              <a:latin typeface="Akzidenz-Grotesk" panose="02000503030000020003"/>
              <a:ea typeface="Akzidenz-Grotesk" panose="02000503030000020003"/>
              <a:cs typeface="Akzidenz-Grotesk" panose="02000503030000020003"/>
              <a:sym typeface="Akzidenz-Grotesk" panose="020005030300000200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294942" y="2147578"/>
            <a:ext cx="3698117" cy="26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70"/>
              </a:lnSpc>
            </a:pPr>
            <a:r>
              <a:rPr lang="en-US" sz="15475" b="1">
                <a:solidFill>
                  <a:srgbClr val="29323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04</a:t>
            </a:r>
            <a:endParaRPr lang="en-US" sz="15475" b="1">
              <a:solidFill>
                <a:srgbClr val="29323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126940" y="4424786"/>
            <a:ext cx="10034120" cy="1324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90"/>
              </a:lnSpc>
              <a:spcBef>
                <a:spcPct val="0"/>
              </a:spcBef>
            </a:pPr>
            <a:r>
              <a:rPr lang="en-US" sz="8100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改进方向</a:t>
            </a:r>
            <a:endParaRPr lang="en-US" sz="8100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531748" y="6409834"/>
            <a:ext cx="9224505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endParaRPr lang="en-US" sz="15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65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IMPROVEMENT DIRECTION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410097" y="1066800"/>
            <a:ext cx="7467806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5100" b="1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改进方向</a:t>
            </a:r>
            <a:endParaRPr lang="en-US" sz="5100" b="1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grpSp>
        <p:nvGrpSpPr>
          <p:cNvPr id="18" name="Group 18"/>
          <p:cNvGrpSpPr/>
          <p:nvPr/>
        </p:nvGrpSpPr>
        <p:grpSpPr>
          <a:xfrm rot="0">
            <a:off x="1376045" y="4882515"/>
            <a:ext cx="7567930" cy="1073785"/>
            <a:chOff x="0" y="0"/>
            <a:chExt cx="1354831" cy="533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54831" cy="533400"/>
            </a:xfrm>
            <a:custGeom>
              <a:avLst/>
              <a:gdLst/>
              <a:ahLst/>
              <a:cxnLst/>
              <a:rect l="l" t="t" r="r" b="b"/>
              <a:pathLst>
                <a:path w="1354831" h="533400">
                  <a:moveTo>
                    <a:pt x="273050" y="0"/>
                  </a:moveTo>
                  <a:lnTo>
                    <a:pt x="0" y="266700"/>
                  </a:lnTo>
                  <a:lnTo>
                    <a:pt x="273050" y="533400"/>
                  </a:lnTo>
                  <a:lnTo>
                    <a:pt x="273050" y="400050"/>
                  </a:lnTo>
                  <a:lnTo>
                    <a:pt x="1081781" y="400050"/>
                  </a:lnTo>
                  <a:lnTo>
                    <a:pt x="1081781" y="533400"/>
                  </a:lnTo>
                  <a:lnTo>
                    <a:pt x="1354831" y="266700"/>
                  </a:lnTo>
                  <a:lnTo>
                    <a:pt x="1081781" y="0"/>
                  </a:lnTo>
                  <a:lnTo>
                    <a:pt x="1081781" y="133350"/>
                  </a:lnTo>
                  <a:lnTo>
                    <a:pt x="273050" y="133350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ADB5C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01600" y="53975"/>
              <a:ext cx="1151631" cy="339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5"/>
                </a:lnSpc>
              </a:pPr>
            </a:p>
          </p:txBody>
        </p:sp>
      </p:grpSp>
      <p:sp>
        <p:nvSpPr>
          <p:cNvPr id="34" name="Freeform 21"/>
          <p:cNvSpPr/>
          <p:nvPr>
            <p:custDataLst>
              <p:tags r:id="rId8"/>
            </p:custDataLst>
          </p:nvPr>
        </p:nvSpPr>
        <p:spPr>
          <a:xfrm>
            <a:off x="762000" y="1891665"/>
            <a:ext cx="8564245" cy="6261735"/>
          </a:xfrm>
          <a:custGeom>
            <a:avLst/>
            <a:gdLst/>
            <a:ahLst/>
            <a:cxnLst/>
            <a:rect l="l" t="t" r="r" b="b"/>
            <a:pathLst>
              <a:path w="2111615" h="1603428">
                <a:moveTo>
                  <a:pt x="0" y="0"/>
                </a:moveTo>
                <a:lnTo>
                  <a:pt x="2111615" y="0"/>
                </a:lnTo>
                <a:lnTo>
                  <a:pt x="2111615" y="1603428"/>
                </a:lnTo>
                <a:lnTo>
                  <a:pt x="0" y="1603428"/>
                </a:lnTo>
                <a:close/>
              </a:path>
            </a:pathLst>
          </a:custGeom>
          <a:ln w="19050" cap="sq">
            <a:solidFill>
              <a:srgbClr val="B10101"/>
            </a:solidFill>
            <a:prstDash val="solid"/>
            <a:miter/>
          </a:ln>
        </p:spPr>
      </p:sp>
      <p:sp>
        <p:nvSpPr>
          <p:cNvPr id="36" name="TextBox 22"/>
          <p:cNvSpPr txBox="1"/>
          <p:nvPr/>
        </p:nvSpPr>
        <p:spPr>
          <a:xfrm>
            <a:off x="1121410" y="2191385"/>
            <a:ext cx="7896225" cy="26955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用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ArkAnalyzer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静态分析结果指导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动态测试路径，并通过可视化图表直观呈现覆盖率提升，实现静动结合、增强测试效果。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可以把这个改进方向理解为：给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HapTest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（动态测试工具）配一张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“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精准静态地图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ArkAnalyzer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的分析结果），从而有策略地优先走关键路径，最终让测试更高效全面，并且通过图表清晰看到进步。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endParaRPr lang="en-US" altLang="zh-CN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7" name="TextBox 22"/>
          <p:cNvSpPr txBox="1"/>
          <p:nvPr/>
        </p:nvSpPr>
        <p:spPr>
          <a:xfrm>
            <a:off x="1943735" y="4816475"/>
            <a:ext cx="6425565" cy="5308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endParaRPr lang="en-US" altLang="zh-CN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核心逻辑：静动结合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=“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先看地图再导航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</a:t>
            </a:r>
            <a:endParaRPr lang="en-US" altLang="zh-CN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endParaRPr lang="en-US" altLang="zh-CN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。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8" name="TextBox 22"/>
          <p:cNvSpPr txBox="1"/>
          <p:nvPr/>
        </p:nvSpPr>
        <p:spPr>
          <a:xfrm>
            <a:off x="990600" y="5857875"/>
            <a:ext cx="8128000" cy="19373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endParaRPr lang="en-US" altLang="zh-CN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现状：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目前只能靠预设策略（如随机点击、贪婪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DFS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）探索测试路径。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改进后：测试前先让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ArkAnalyzer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（静态分析工具）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“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扫描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 App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的源代码，画出一张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“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详细地图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。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40" name="Freeform 18"/>
          <p:cNvSpPr/>
          <p:nvPr>
            <p:custDataLst>
              <p:tags r:id="rId9"/>
            </p:custDataLst>
          </p:nvPr>
        </p:nvSpPr>
        <p:spPr>
          <a:xfrm>
            <a:off x="10084435" y="1876425"/>
            <a:ext cx="7774305" cy="3848735"/>
          </a:xfrm>
          <a:custGeom>
            <a:avLst/>
            <a:gdLst/>
            <a:ahLst/>
            <a:cxnLst/>
            <a:rect l="l" t="t" r="r" b="b"/>
            <a:pathLst>
              <a:path w="1948755" h="1584521">
                <a:moveTo>
                  <a:pt x="0" y="0"/>
                </a:moveTo>
                <a:lnTo>
                  <a:pt x="1948755" y="0"/>
                </a:lnTo>
                <a:lnTo>
                  <a:pt x="1948755" y="1584521"/>
                </a:lnTo>
                <a:lnTo>
                  <a:pt x="0" y="1584521"/>
                </a:lnTo>
                <a:close/>
              </a:path>
            </a:pathLst>
          </a:custGeom>
          <a:ln w="19050" cap="sq">
            <a:solidFill>
              <a:srgbClr val="5F6B7D"/>
            </a:solidFill>
            <a:prstDash val="solid"/>
            <a:miter/>
          </a:ln>
        </p:spPr>
        <p:txBody>
          <a:bodyPr/>
          <a:p>
            <a:endParaRPr lang="zh-CN" altLang="en-US"/>
          </a:p>
        </p:txBody>
      </p:sp>
      <p:pic>
        <p:nvPicPr>
          <p:cNvPr id="1987673521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4435" y="5833110"/>
            <a:ext cx="5034280" cy="3677920"/>
          </a:xfrm>
          <a:prstGeom prst="rect">
            <a:avLst/>
          </a:prstGeom>
        </p:spPr>
      </p:pic>
      <p:sp>
        <p:nvSpPr>
          <p:cNvPr id="42" name="TextBox 22"/>
          <p:cNvSpPr txBox="1"/>
          <p:nvPr/>
        </p:nvSpPr>
        <p:spPr>
          <a:xfrm>
            <a:off x="15450820" y="7810500"/>
            <a:ext cx="2456180" cy="698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控制流图（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CFG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）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43" name="TextBox 22"/>
          <p:cNvSpPr txBox="1"/>
          <p:nvPr/>
        </p:nvSpPr>
        <p:spPr>
          <a:xfrm>
            <a:off x="10134600" y="2019300"/>
            <a:ext cx="4440555" cy="698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1.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核心静态分析信息提取与适配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44" name="TextBox 22"/>
          <p:cNvSpPr txBox="1"/>
          <p:nvPr/>
        </p:nvSpPr>
        <p:spPr>
          <a:xfrm>
            <a:off x="10328275" y="2400300"/>
            <a:ext cx="7399655" cy="34112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a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）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ArkAnalyzer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提取内容：控制流图（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CFG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）、调用图（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CHA/RTA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算法）、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UI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组件树结构、未覆盖代码分支、潜在风险点（如空指针、敏感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API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调用）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（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b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）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静态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PTG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构建依赖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ArkAnalyzer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的视图树和调用图提取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(c)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静态信息与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测试流程的适配机制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将静态分析得到的代码结构信息（如未覆盖分支、组件关联关系）转化为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可识别的测试目标，用于指导事件生成策略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223" r="-2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764382"/>
            <a:chOff x="0" y="0"/>
            <a:chExt cx="24813158" cy="1037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5983546" y="159165"/>
            <a:ext cx="412802" cy="446053"/>
          </a:xfrm>
          <a:custGeom>
            <a:avLst/>
            <a:gdLst/>
            <a:ahLst/>
            <a:cxnLst/>
            <a:rect l="l" t="t" r="r" b="b"/>
            <a:pathLst>
              <a:path w="412802" h="446053">
                <a:moveTo>
                  <a:pt x="0" y="0"/>
                </a:moveTo>
                <a:lnTo>
                  <a:pt x="412801" y="0"/>
                </a:lnTo>
                <a:lnTo>
                  <a:pt x="412801" y="446052"/>
                </a:lnTo>
                <a:lnTo>
                  <a:pt x="0" y="44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674134" y="150423"/>
            <a:ext cx="455951" cy="463536"/>
          </a:xfrm>
          <a:custGeom>
            <a:avLst/>
            <a:gdLst/>
            <a:ahLst/>
            <a:cxnLst/>
            <a:rect l="l" t="t" r="r" b="b"/>
            <a:pathLst>
              <a:path w="455951" h="463536">
                <a:moveTo>
                  <a:pt x="0" y="0"/>
                </a:moveTo>
                <a:lnTo>
                  <a:pt x="455951" y="0"/>
                </a:lnTo>
                <a:lnTo>
                  <a:pt x="455951" y="463536"/>
                </a:lnTo>
                <a:lnTo>
                  <a:pt x="0" y="463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242544" y="150583"/>
            <a:ext cx="463216" cy="463216"/>
          </a:xfrm>
          <a:custGeom>
            <a:avLst/>
            <a:gdLst/>
            <a:ahLst/>
            <a:cxnLst/>
            <a:rect l="l" t="t" r="r" b="b"/>
            <a:pathLst>
              <a:path w="463216" h="463216">
                <a:moveTo>
                  <a:pt x="0" y="0"/>
                </a:moveTo>
                <a:lnTo>
                  <a:pt x="463216" y="0"/>
                </a:lnTo>
                <a:lnTo>
                  <a:pt x="463216" y="463216"/>
                </a:lnTo>
                <a:lnTo>
                  <a:pt x="0" y="463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 rot="0">
            <a:off x="0" y="9522618"/>
            <a:ext cx="18288000" cy="764382"/>
            <a:chOff x="0" y="0"/>
            <a:chExt cx="24813158" cy="10371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813158" cy="1037114"/>
            </a:xfrm>
            <a:custGeom>
              <a:avLst/>
              <a:gdLst/>
              <a:ahLst/>
              <a:cxnLst/>
              <a:rect l="l" t="t" r="r" b="b"/>
              <a:pathLst>
                <a:path w="24813158" h="1037114">
                  <a:moveTo>
                    <a:pt x="0" y="0"/>
                  </a:moveTo>
                  <a:lnTo>
                    <a:pt x="24813158" y="0"/>
                  </a:lnTo>
                  <a:lnTo>
                    <a:pt x="24813158" y="1037114"/>
                  </a:lnTo>
                  <a:lnTo>
                    <a:pt x="0" y="1037114"/>
                  </a:lnTo>
                  <a:close/>
                </a:path>
              </a:pathLst>
            </a:custGeom>
            <a:solidFill>
              <a:srgbClr val="B101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813158" cy="1084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6543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选题的背景及意义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344762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研究现状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202079" y="239316"/>
            <a:ext cx="260628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HapTest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10298" y="239316"/>
            <a:ext cx="255538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925">
                <a:solidFill>
                  <a:srgbClr val="FFFFFF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改进方向</a:t>
            </a:r>
            <a:endParaRPr lang="en-US" sz="1925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318344" y="9704974"/>
            <a:ext cx="7651312" cy="35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00" b="1" spc="186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IMPROVEMENT DIRECTION</a:t>
            </a:r>
            <a:endParaRPr lang="en-US" sz="1900" b="1" spc="186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410097" y="1066800"/>
            <a:ext cx="7467806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5100" b="1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改进方向</a:t>
            </a:r>
            <a:endParaRPr lang="en-US" sz="5100" b="1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sp>
        <p:nvSpPr>
          <p:cNvPr id="40" name="Freeform 18"/>
          <p:cNvSpPr/>
          <p:nvPr>
            <p:custDataLst>
              <p:tags r:id="rId8"/>
            </p:custDataLst>
          </p:nvPr>
        </p:nvSpPr>
        <p:spPr>
          <a:xfrm>
            <a:off x="533400" y="2095500"/>
            <a:ext cx="7774305" cy="3848735"/>
          </a:xfrm>
          <a:custGeom>
            <a:avLst/>
            <a:gdLst/>
            <a:ahLst/>
            <a:cxnLst/>
            <a:rect l="l" t="t" r="r" b="b"/>
            <a:pathLst>
              <a:path w="1948755" h="1584521">
                <a:moveTo>
                  <a:pt x="0" y="0"/>
                </a:moveTo>
                <a:lnTo>
                  <a:pt x="1948755" y="0"/>
                </a:lnTo>
                <a:lnTo>
                  <a:pt x="1948755" y="1584521"/>
                </a:lnTo>
                <a:lnTo>
                  <a:pt x="0" y="1584521"/>
                </a:lnTo>
                <a:close/>
              </a:path>
            </a:pathLst>
          </a:custGeom>
          <a:ln w="19050" cap="sq">
            <a:solidFill>
              <a:srgbClr val="5F6B7D"/>
            </a:solidFill>
            <a:prstDash val="solid"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44" name="TextBox 22"/>
          <p:cNvSpPr txBox="1"/>
          <p:nvPr/>
        </p:nvSpPr>
        <p:spPr>
          <a:xfrm>
            <a:off x="685800" y="2552700"/>
            <a:ext cx="7597775" cy="34016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(a)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基于静态分析的测试优先级排序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根据静态分析识别的高风险代码（如未覆盖分支、敏感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API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调用点）提升对应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UI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组件的测试权重，优先生成相关事件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.</a:t>
            </a:r>
            <a:endParaRPr lang="en-US" altLang="zh-CN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endParaRPr lang="en-US" altLang="zh-CN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(b)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静态辅助的页面跳转与分支覆盖优化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	</a:t>
            </a:r>
            <a:endParaRPr lang="en-US" altLang="zh-CN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利用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ArkAnalyzer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生成的调用图和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UI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组件树，预测页面跳转路径，避免动态测试的无效探索；针对静态识别的未覆盖分支，生成定向事件（如特定输入、组件交互）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43" name="TextBox 22"/>
          <p:cNvSpPr txBox="1"/>
          <p:nvPr/>
        </p:nvSpPr>
        <p:spPr>
          <a:xfrm>
            <a:off x="685800" y="2171700"/>
            <a:ext cx="6729095" cy="698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2.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静态指导动态测试路径优化（实现静动结合）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4" name="Freeform 21"/>
          <p:cNvSpPr/>
          <p:nvPr>
            <p:custDataLst>
              <p:tags r:id="rId9"/>
            </p:custDataLst>
          </p:nvPr>
        </p:nvSpPr>
        <p:spPr>
          <a:xfrm>
            <a:off x="10134600" y="2092960"/>
            <a:ext cx="7652385" cy="3882390"/>
          </a:xfrm>
          <a:custGeom>
            <a:avLst/>
            <a:gdLst/>
            <a:ahLst/>
            <a:cxnLst/>
            <a:rect l="l" t="t" r="r" b="b"/>
            <a:pathLst>
              <a:path w="2111615" h="1603428">
                <a:moveTo>
                  <a:pt x="0" y="0"/>
                </a:moveTo>
                <a:lnTo>
                  <a:pt x="2111615" y="0"/>
                </a:lnTo>
                <a:lnTo>
                  <a:pt x="2111615" y="1603428"/>
                </a:lnTo>
                <a:lnTo>
                  <a:pt x="0" y="1603428"/>
                </a:lnTo>
                <a:close/>
              </a:path>
            </a:pathLst>
          </a:custGeom>
          <a:ln w="19050" cap="sq">
            <a:solidFill>
              <a:srgbClr val="B10101"/>
            </a:solidFill>
            <a:prstDash val="solid"/>
            <a:miter/>
          </a:ln>
        </p:spPr>
      </p:sp>
      <p:sp>
        <p:nvSpPr>
          <p:cNvPr id="29" name="TextBox 22"/>
          <p:cNvSpPr txBox="1"/>
          <p:nvPr/>
        </p:nvSpPr>
        <p:spPr>
          <a:xfrm>
            <a:off x="10210800" y="2197735"/>
            <a:ext cx="6729095" cy="698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3.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覆盖率提升可视化图表设计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0" name="TextBox 22"/>
          <p:cNvSpPr txBox="1"/>
          <p:nvPr/>
        </p:nvSpPr>
        <p:spPr>
          <a:xfrm>
            <a:off x="10287000" y="2705100"/>
            <a:ext cx="7597775" cy="34016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a)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核心覆盖率指标定义与数据对接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指标类型：语句覆盖、分支覆盖、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UIAbility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覆盖、页面跳转覆盖（动态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PTG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与静态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PTG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的覆盖率对比）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b)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可视化图表类型与呈现逻辑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l">
              <a:lnSpc>
                <a:spcPts val="2880"/>
              </a:lnSpc>
            </a:pP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图表类型：覆盖率趋势对比图（静态指导前后）、代码覆盖热力图（关联静态未覆盖分支）、</a:t>
            </a:r>
            <a:r>
              <a:rPr lang="en-US" altLang="zh-CN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PTG</a:t>
            </a:r>
            <a:r>
              <a:rPr lang="zh-CN" altLang="en-US" sz="24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覆盖对比图（静态预测路径与动态实际覆盖路径）</a:t>
            </a:r>
            <a:endParaRPr lang="zh-CN" altLang="en-US" sz="24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pic>
        <p:nvPicPr>
          <p:cNvPr id="31" name="图片 30" descr="_- visual selection"/>
          <p:cNvPicPr>
            <a:picLocks noChangeAspect="1"/>
          </p:cNvPicPr>
          <p:nvPr/>
        </p:nvPicPr>
        <p:blipFill>
          <a:blip r:embed="rId10"/>
          <a:srcRect t="29003" b="17801"/>
          <a:stretch>
            <a:fillRect/>
          </a:stretch>
        </p:blipFill>
        <p:spPr>
          <a:xfrm>
            <a:off x="2286000" y="6286500"/>
            <a:ext cx="13550265" cy="30079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0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61146" y="920676"/>
            <a:ext cx="16165707" cy="8445649"/>
            <a:chOff x="0" y="0"/>
            <a:chExt cx="4257635" cy="2224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7635" cy="2224368"/>
            </a:xfrm>
            <a:custGeom>
              <a:avLst/>
              <a:gdLst/>
              <a:ahLst/>
              <a:cxnLst/>
              <a:rect l="l" t="t" r="r" b="b"/>
              <a:pathLst>
                <a:path w="4257635" h="2224368">
                  <a:moveTo>
                    <a:pt x="0" y="0"/>
                  </a:moveTo>
                  <a:lnTo>
                    <a:pt x="4257635" y="0"/>
                  </a:lnTo>
                  <a:lnTo>
                    <a:pt x="4257635" y="2224368"/>
                  </a:lnTo>
                  <a:lnTo>
                    <a:pt x="0" y="2224368"/>
                  </a:lnTo>
                  <a:close/>
                </a:path>
              </a:pathLst>
            </a:custGeom>
            <a:solidFill>
              <a:srgbClr val="5F6B7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57635" cy="2271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5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407867" y="1303317"/>
            <a:ext cx="15472267" cy="7680367"/>
            <a:chOff x="0" y="0"/>
            <a:chExt cx="14570172" cy="72325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570171" cy="7232571"/>
            </a:xfrm>
            <a:custGeom>
              <a:avLst/>
              <a:gdLst/>
              <a:ahLst/>
              <a:cxnLst/>
              <a:rect l="l" t="t" r="r" b="b"/>
              <a:pathLst>
                <a:path w="14570171" h="7232571">
                  <a:moveTo>
                    <a:pt x="0" y="0"/>
                  </a:moveTo>
                  <a:lnTo>
                    <a:pt x="14570171" y="0"/>
                  </a:lnTo>
                  <a:lnTo>
                    <a:pt x="14570171" y="7232571"/>
                  </a:lnTo>
                  <a:lnTo>
                    <a:pt x="0" y="723257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570172" cy="7261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770370" y="5295900"/>
            <a:ext cx="12266930" cy="55003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just">
              <a:lnSpc>
                <a:spcPts val="2855"/>
              </a:lnSpc>
            </a:pPr>
            <a:r>
              <a:rPr lang="zh-CN" altLang="en-US" sz="960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谢谢观看</a:t>
            </a:r>
            <a:endParaRPr lang="zh-CN" altLang="en-US" sz="960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2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3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4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5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6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7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8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9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10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11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12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13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14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15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16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17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18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19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20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21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22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23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24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25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26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27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28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29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30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31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32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33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34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35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36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37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38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39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40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41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42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43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44.xml><?xml version="1.0" encoding="utf-8"?>
<p:tagLst xmlns:p="http://schemas.openxmlformats.org/presentationml/2006/main">
  <p:tag name="KSO_WM_DIAGRAM_VIRTUALLY_FRAME" val="{&quot;height&quot;:528.706994726648,&quot;left&quot;:589.8014173228346,&quot;top&quot;:163.64370078740157,&quot;width&quot;:714.3862992125984}"/>
</p:tagLst>
</file>

<file path=ppt/tags/tag45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46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47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ags/tag48.xml><?xml version="1.0" encoding="utf-8"?>
<p:tagLst xmlns:p="http://schemas.openxmlformats.org/presentationml/2006/main">
  <p:tag name="KSO_WM_DIAGRAM_VIRTUALLY_FRAME" val="{&quot;height&quot;:705.333464566929,&quot;left&quot;:0,&quot;top&quot;:0,&quot;width&quot;:144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5080</Words>
  <Application>WPS 演示</Application>
  <PresentationFormat>On-screen Show (4:3)</PresentationFormat>
  <Paragraphs>400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3" baseType="lpstr">
      <vt:lpstr>Arial</vt:lpstr>
      <vt:lpstr>宋体</vt:lpstr>
      <vt:lpstr>Wingdings</vt:lpstr>
      <vt:lpstr>思源黑体 2</vt:lpstr>
      <vt:lpstr>黑体</vt:lpstr>
      <vt:lpstr>思源黑体 1</vt:lpstr>
      <vt:lpstr>Akzidenz-Grotesk</vt:lpstr>
      <vt:lpstr>思源黑体 2 Bold</vt:lpstr>
      <vt:lpstr>Akzidenz-Grotesk Bold</vt:lpstr>
      <vt:lpstr>Akzidenz-Grotesk Medium</vt:lpstr>
      <vt:lpstr>思源黑体 1 Bold</vt:lpstr>
      <vt:lpstr>思源黑体 2 Heavy</vt:lpstr>
      <vt:lpstr>字由点字典楷</vt:lpstr>
      <vt:lpstr>微软雅黑</vt:lpstr>
      <vt:lpstr>方正超粗黑简体</vt:lpstr>
      <vt:lpstr>Arial</vt:lpstr>
      <vt:lpstr>思源黑体 2 Medium</vt:lpstr>
      <vt:lpstr>DejaVu Math TeX Gyre</vt:lpstr>
      <vt:lpstr>Calibri</vt:lpstr>
      <vt:lpstr>Arial Unicode MS</vt:lpstr>
      <vt:lpstr>Yu Gothic UI Semibold</vt:lpstr>
      <vt:lpstr>Segoe Print</vt:lpstr>
      <vt:lpstr>Roboto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选题背景及意义</dc:title>
  <dc:creator/>
  <cp:lastModifiedBy>kayy</cp:lastModifiedBy>
  <cp:revision>10</cp:revision>
  <dcterms:created xsi:type="dcterms:W3CDTF">2006-08-16T00:00:00Z</dcterms:created>
  <dcterms:modified xsi:type="dcterms:W3CDTF">2026-03-20T09:11:18Z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{"Label":"1","ContentProducer":"001191110105MA01AN806X00000","ProduceID":"DAHEYy8AIL0","ReservedCode1":"","ContentPropagator":"001191110105MA01AN806X00000","PropagateID":"DAHEYy8AIL0","ReservedCode2":""}</vt:lpwstr>
  </property>
  <property fmtid="{D5CDD505-2E9C-101B-9397-08002B2CF9AE}" pid="3" name="KSOProductBuildVer">
    <vt:lpwstr>2052-12.1.0.23542</vt:lpwstr>
  </property>
  <property fmtid="{D5CDD505-2E9C-101B-9397-08002B2CF9AE}" pid="4" name="ICV">
    <vt:lpwstr>6DF8136CE87F4A6DAD788B701EE81B08_13</vt:lpwstr>
  </property>
</Properties>
</file>